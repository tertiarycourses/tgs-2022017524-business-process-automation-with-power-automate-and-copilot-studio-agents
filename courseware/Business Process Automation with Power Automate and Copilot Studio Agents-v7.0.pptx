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thumbnail" Target="docProps/thumbnail.jpeg"/><Relationship Id="rId4" Type="http://schemas.openxmlformats.org/package/2006/relationships/metadata/core-properties" Target="docProps/core.xml"/><Relationship Id="rId5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sldIdLst>
    <p:sldId id="258" r:id="rId2"/>
    <p:sldId id="352" r:id="rId100"/>
    <p:sldId id="353" r:id="rId101"/>
    <p:sldId id="354" r:id="rId102"/>
    <p:sldId id="355" r:id="rId103"/>
    <p:sldId id="356" r:id="rId104"/>
    <p:sldId id="259" r:id="rId3"/>
    <p:sldId id="260" r:id="rId4"/>
    <p:sldId id="261" r:id="rId5"/>
    <p:sldId id="357" r:id="rId105"/>
    <p:sldId id="361" r:id="rId109"/>
    <p:sldId id="262" r:id="rId6"/>
    <p:sldId id="263" r:id="rId7"/>
    <p:sldId id="264" r:id="rId8"/>
    <p:sldId id="265" r:id="rId9"/>
    <p:sldId id="266" r:id="rId10"/>
    <p:sldId id="267" r:id="rId11"/>
    <p:sldId id="268" r:id="rId12"/>
    <p:sldId id="269" r:id="rId13"/>
    <p:sldId id="270" r:id="rId14"/>
    <p:sldId id="271" r:id="rId15"/>
    <p:sldId id="272" r:id="rId16"/>
    <p:sldId id="273" r:id="rId17"/>
    <p:sldId id="274" r:id="rId18"/>
    <p:sldId id="275" r:id="rId19"/>
    <p:sldId id="276" r:id="rId20"/>
    <p:sldId id="277" r:id="rId21"/>
    <p:sldId id="278" r:id="rId22"/>
    <p:sldId id="279" r:id="rId23"/>
    <p:sldId id="280" r:id="rId24"/>
    <p:sldId id="281" r:id="rId25"/>
    <p:sldId id="282" r:id="rId26"/>
    <p:sldId id="283" r:id="rId27"/>
    <p:sldId id="284" r:id="rId28"/>
    <p:sldId id="285" r:id="rId29"/>
    <p:sldId id="286" r:id="rId30"/>
    <p:sldId id="287" r:id="rId31"/>
    <p:sldId id="288" r:id="rId32"/>
    <p:sldId id="289" r:id="rId33"/>
    <p:sldId id="290" r:id="rId34"/>
    <p:sldId id="291" r:id="rId35"/>
    <p:sldId id="345" r:id="rId93"/>
    <p:sldId id="346" r:id="rId94"/>
    <p:sldId id="292" r:id="rId36"/>
    <p:sldId id="293" r:id="rId37"/>
    <p:sldId id="294" r:id="rId38"/>
    <p:sldId id="295" r:id="rId39"/>
    <p:sldId id="296" r:id="rId40"/>
    <p:sldId id="297" r:id="rId41"/>
    <p:sldId id="298" r:id="rId42"/>
    <p:sldId id="299" r:id="rId43"/>
    <p:sldId id="300" r:id="rId44"/>
    <p:sldId id="301" r:id="rId45"/>
    <p:sldId id="302" r:id="rId46"/>
    <p:sldId id="303" r:id="rId47"/>
    <p:sldId id="304" r:id="rId48"/>
    <p:sldId id="305" r:id="rId49"/>
    <p:sldId id="306" r:id="rId50"/>
    <p:sldId id="307" r:id="rId51"/>
    <p:sldId id="392" r:id="rId118"/>
    <p:sldId id="358" r:id="rId106"/>
    <p:sldId id="359" r:id="rId107"/>
    <p:sldId id="360" r:id="rId108"/>
    <p:sldId id="362" r:id="rId110"/>
    <p:sldId id="363" r:id="rId111"/>
    <p:sldId id="364" r:id="rId112"/>
    <p:sldId id="365" r:id="rId113"/>
    <p:sldId id="344" r:id="rId8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534"/>
    <p:restoredTop sz="94651"/>
  </p:normalViewPr>
  <p:slideViewPr>
    <p:cSldViewPr snapToGrid="0">
      <p:cViewPr varScale="1">
        <p:scale>
          <a:sx n="90" d="100"/>
          <a:sy n="90" d="100"/>
        </p:scale>
        <p:origin x="216" y="72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7.xml"/><Relationship Id="rId4" Type="http://schemas.openxmlformats.org/officeDocument/2006/relationships/slide" Target="slides/slide8.xml"/><Relationship Id="rId5" Type="http://schemas.openxmlformats.org/officeDocument/2006/relationships/slide" Target="slides/slide9.xml"/><Relationship Id="rId6" Type="http://schemas.openxmlformats.org/officeDocument/2006/relationships/slide" Target="slides/slide15.xml"/><Relationship Id="rId7" Type="http://schemas.openxmlformats.org/officeDocument/2006/relationships/slide" Target="slides/slide16.xml"/><Relationship Id="rId8" Type="http://schemas.openxmlformats.org/officeDocument/2006/relationships/slide" Target="slides/slide17.xml"/><Relationship Id="rId9" Type="http://schemas.openxmlformats.org/officeDocument/2006/relationships/slide" Target="slides/slide18.xml"/><Relationship Id="rId10" Type="http://schemas.openxmlformats.org/officeDocument/2006/relationships/slide" Target="slides/slide19.xml"/><Relationship Id="rId11" Type="http://schemas.openxmlformats.org/officeDocument/2006/relationships/slide" Target="slides/slide20.xml"/><Relationship Id="rId12" Type="http://schemas.openxmlformats.org/officeDocument/2006/relationships/slide" Target="slides/slide21.xml"/><Relationship Id="rId13" Type="http://schemas.openxmlformats.org/officeDocument/2006/relationships/slide" Target="slides/slide22.xml"/><Relationship Id="rId14" Type="http://schemas.openxmlformats.org/officeDocument/2006/relationships/slide" Target="slides/slide23.xml"/><Relationship Id="rId15" Type="http://schemas.openxmlformats.org/officeDocument/2006/relationships/slide" Target="slides/slide24.xml"/><Relationship Id="rId16" Type="http://schemas.openxmlformats.org/officeDocument/2006/relationships/slide" Target="slides/slide25.xml"/><Relationship Id="rId17" Type="http://schemas.openxmlformats.org/officeDocument/2006/relationships/slide" Target="slides/slide26.xml"/><Relationship Id="rId18" Type="http://schemas.openxmlformats.org/officeDocument/2006/relationships/slide" Target="slides/slide27.xml"/><Relationship Id="rId19" Type="http://schemas.openxmlformats.org/officeDocument/2006/relationships/slide" Target="slides/slide28.xml"/><Relationship Id="rId20" Type="http://schemas.openxmlformats.org/officeDocument/2006/relationships/slide" Target="slides/slide29.xml"/><Relationship Id="rId21" Type="http://schemas.openxmlformats.org/officeDocument/2006/relationships/slide" Target="slides/slide30.xml"/><Relationship Id="rId22" Type="http://schemas.openxmlformats.org/officeDocument/2006/relationships/slide" Target="slides/slide31.xml"/><Relationship Id="rId23" Type="http://schemas.openxmlformats.org/officeDocument/2006/relationships/slide" Target="slides/slide32.xml"/><Relationship Id="rId24" Type="http://schemas.openxmlformats.org/officeDocument/2006/relationships/slide" Target="slides/slide33.xml"/><Relationship Id="rId25" Type="http://schemas.openxmlformats.org/officeDocument/2006/relationships/slide" Target="slides/slide34.xml"/><Relationship Id="rId26" Type="http://schemas.openxmlformats.org/officeDocument/2006/relationships/slide" Target="slides/slide35.xml"/><Relationship Id="rId27" Type="http://schemas.openxmlformats.org/officeDocument/2006/relationships/slide" Target="slides/slide36.xml"/><Relationship Id="rId28" Type="http://schemas.openxmlformats.org/officeDocument/2006/relationships/slide" Target="slides/slide37.xml"/><Relationship Id="rId29" Type="http://schemas.openxmlformats.org/officeDocument/2006/relationships/slide" Target="slides/slide38.xml"/><Relationship Id="rId30" Type="http://schemas.openxmlformats.org/officeDocument/2006/relationships/slide" Target="slides/slide39.xml"/><Relationship Id="rId31" Type="http://schemas.openxmlformats.org/officeDocument/2006/relationships/slide" Target="slides/slide40.xml"/><Relationship Id="rId32" Type="http://schemas.openxmlformats.org/officeDocument/2006/relationships/slide" Target="slides/slide41.xml"/><Relationship Id="rId33" Type="http://schemas.openxmlformats.org/officeDocument/2006/relationships/slide" Target="slides/slide42.xml"/><Relationship Id="rId34" Type="http://schemas.openxmlformats.org/officeDocument/2006/relationships/slide" Target="slides/slide43.xml"/><Relationship Id="rId35" Type="http://schemas.openxmlformats.org/officeDocument/2006/relationships/slide" Target="slides/slide44.xml"/><Relationship Id="rId36" Type="http://schemas.openxmlformats.org/officeDocument/2006/relationships/slide" Target="slides/slide47.xml"/><Relationship Id="rId37" Type="http://schemas.openxmlformats.org/officeDocument/2006/relationships/slide" Target="slides/slide48.xml"/><Relationship Id="rId38" Type="http://schemas.openxmlformats.org/officeDocument/2006/relationships/slide" Target="slides/slide49.xml"/><Relationship Id="rId39" Type="http://schemas.openxmlformats.org/officeDocument/2006/relationships/slide" Target="slides/slide50.xml"/><Relationship Id="rId40" Type="http://schemas.openxmlformats.org/officeDocument/2006/relationships/slide" Target="slides/slide51.xml"/><Relationship Id="rId41" Type="http://schemas.openxmlformats.org/officeDocument/2006/relationships/slide" Target="slides/slide52.xml"/><Relationship Id="rId42" Type="http://schemas.openxmlformats.org/officeDocument/2006/relationships/slide" Target="slides/slide53.xml"/><Relationship Id="rId43" Type="http://schemas.openxmlformats.org/officeDocument/2006/relationships/slide" Target="slides/slide54.xml"/><Relationship Id="rId44" Type="http://schemas.openxmlformats.org/officeDocument/2006/relationships/slide" Target="slides/slide55.xml"/><Relationship Id="rId45" Type="http://schemas.openxmlformats.org/officeDocument/2006/relationships/slide" Target="slides/slide56.xml"/><Relationship Id="rId46" Type="http://schemas.openxmlformats.org/officeDocument/2006/relationships/slide" Target="slides/slide57.xml"/><Relationship Id="rId47" Type="http://schemas.openxmlformats.org/officeDocument/2006/relationships/slide" Target="slides/slide58.xml"/><Relationship Id="rId48" Type="http://schemas.openxmlformats.org/officeDocument/2006/relationships/slide" Target="slides/slide59.xml"/><Relationship Id="rId49" Type="http://schemas.openxmlformats.org/officeDocument/2006/relationships/slide" Target="slides/slide60.xml"/><Relationship Id="rId50" Type="http://schemas.openxmlformats.org/officeDocument/2006/relationships/slide" Target="slides/slide61.xml"/><Relationship Id="rId51" Type="http://schemas.openxmlformats.org/officeDocument/2006/relationships/slide" Target="slides/slide62.xml"/><Relationship Id="rId52" Type="http://schemas.openxmlformats.org/officeDocument/2006/relationships/slide" Target="slides/slide63.xml"/><Relationship Id="rId53" Type="http://schemas.openxmlformats.org/officeDocument/2006/relationships/slide" Target="slides/slide64.xml"/><Relationship Id="rId54" Type="http://schemas.openxmlformats.org/officeDocument/2006/relationships/slide" Target="slides/slide65.xml"/><Relationship Id="rId55" Type="http://schemas.openxmlformats.org/officeDocument/2006/relationships/slide" Target="slides/slide69.xml"/><Relationship Id="rId56" Type="http://schemas.openxmlformats.org/officeDocument/2006/relationships/slide" Target="slides/slide70.xml"/><Relationship Id="rId57" Type="http://schemas.openxmlformats.org/officeDocument/2006/relationships/slide" Target="slides/slide71.xml"/><Relationship Id="rId58" Type="http://schemas.openxmlformats.org/officeDocument/2006/relationships/slide" Target="slides/slide72.xml"/><Relationship Id="rId59" Type="http://schemas.openxmlformats.org/officeDocument/2006/relationships/slide" Target="slides/slide73.xml"/><Relationship Id="rId60" Type="http://schemas.openxmlformats.org/officeDocument/2006/relationships/slide" Target="slides/slide103.xml"/><Relationship Id="rId61" Type="http://schemas.openxmlformats.org/officeDocument/2006/relationships/slide" Target="slides/slide102.xml"/><Relationship Id="rId62" Type="http://schemas.openxmlformats.org/officeDocument/2006/relationships/slide" Target="slides/slide101.xml"/><Relationship Id="rId63" Type="http://schemas.openxmlformats.org/officeDocument/2006/relationships/slide" Target="slides/slide100.xml"/><Relationship Id="rId64" Type="http://schemas.openxmlformats.org/officeDocument/2006/relationships/slide" Target="slides/slide99.xml"/><Relationship Id="rId65" Type="http://schemas.openxmlformats.org/officeDocument/2006/relationships/slide" Target="slides/slide98.xml"/><Relationship Id="rId66" Type="http://schemas.openxmlformats.org/officeDocument/2006/relationships/slide" Target="slides/slide97.xml"/><Relationship Id="rId67" Type="http://schemas.openxmlformats.org/officeDocument/2006/relationships/slide" Target="slides/slide96.xml"/><Relationship Id="rId68" Type="http://schemas.openxmlformats.org/officeDocument/2006/relationships/slide" Target="slides/slide95.xml"/><Relationship Id="rId69" Type="http://schemas.openxmlformats.org/officeDocument/2006/relationships/slide" Target="slides/slide94.xml"/><Relationship Id="rId70" Type="http://schemas.openxmlformats.org/officeDocument/2006/relationships/slide" Target="slides/slide93.xml"/><Relationship Id="rId71" Type="http://schemas.openxmlformats.org/officeDocument/2006/relationships/slide" Target="slides/slide92.xml"/><Relationship Id="rId72" Type="http://schemas.openxmlformats.org/officeDocument/2006/relationships/slide" Target="slides/slide91.xml"/><Relationship Id="rId73" Type="http://schemas.openxmlformats.org/officeDocument/2006/relationships/slide" Target="slides/slide90.xml"/><Relationship Id="rId74" Type="http://schemas.openxmlformats.org/officeDocument/2006/relationships/slide" Target="slides/slide89.xml"/><Relationship Id="rId75" Type="http://schemas.openxmlformats.org/officeDocument/2006/relationships/slide" Target="slides/slide87.xml"/><Relationship Id="rId76" Type="http://schemas.openxmlformats.org/officeDocument/2006/relationships/slide" Target="slides/slide86.xml"/><Relationship Id="rId77" Type="http://schemas.openxmlformats.org/officeDocument/2006/relationships/slide" Target="slides/slide85.xml"/><Relationship Id="rId78" Type="http://schemas.openxmlformats.org/officeDocument/2006/relationships/slide" Target="slides/slide84.xml"/><Relationship Id="rId79" Type="http://schemas.openxmlformats.org/officeDocument/2006/relationships/slide" Target="slides/slide83.xml"/><Relationship Id="rId80" Type="http://schemas.openxmlformats.org/officeDocument/2006/relationships/slide" Target="slides/slide82.xml"/><Relationship Id="rId81" Type="http://schemas.openxmlformats.org/officeDocument/2006/relationships/slide" Target="slides/slide74.xml"/><Relationship Id="rId82" Type="http://schemas.openxmlformats.org/officeDocument/2006/relationships/slide" Target="slides/slide75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113.xml"/><Relationship Id="rId89" Type="http://schemas.openxmlformats.org/officeDocument/2006/relationships/presProps" Target="presProps.xml"/><Relationship Id="rId90" Type="http://schemas.openxmlformats.org/officeDocument/2006/relationships/viewProps" Target="viewProps.xml"/><Relationship Id="rId91" Type="http://schemas.openxmlformats.org/officeDocument/2006/relationships/theme" Target="theme/theme1.xml"/><Relationship Id="rId92" Type="http://schemas.openxmlformats.org/officeDocument/2006/relationships/tableStyles" Target="tableStyles.xml"/><Relationship Id="rId93" Type="http://schemas.openxmlformats.org/officeDocument/2006/relationships/slide" Target="slides/slide45.xml"/><Relationship Id="rId94" Type="http://schemas.openxmlformats.org/officeDocument/2006/relationships/slide" Target="slides/slide46.xml"/><Relationship Id="rId95" Type="http://schemas.openxmlformats.org/officeDocument/2006/relationships/slide" Target="slides/slide66.xml"/><Relationship Id="rId96" Type="http://schemas.openxmlformats.org/officeDocument/2006/relationships/slide" Target="slides/slide67.xml"/><Relationship Id="rId97" Type="http://schemas.openxmlformats.org/officeDocument/2006/relationships/slide" Target="slides/slide68.xml"/><Relationship Id="rId98" Type="http://schemas.openxmlformats.org/officeDocument/2006/relationships/slide" Target="slides/slide88.xml"/><Relationship Id="rId99" Type="http://schemas.openxmlformats.org/officeDocument/2006/relationships/slide" Target="slides/slide76.xml"/><Relationship Id="rId100" Type="http://schemas.openxmlformats.org/officeDocument/2006/relationships/slide" Target="slides/slide2.xml"/><Relationship Id="rId101" Type="http://schemas.openxmlformats.org/officeDocument/2006/relationships/slide" Target="slides/slide3.xml"/><Relationship Id="rId102" Type="http://schemas.openxmlformats.org/officeDocument/2006/relationships/slide" Target="slides/slide4.xml"/><Relationship Id="rId103" Type="http://schemas.openxmlformats.org/officeDocument/2006/relationships/slide" Target="slides/slide5.xml"/><Relationship Id="rId104" Type="http://schemas.openxmlformats.org/officeDocument/2006/relationships/slide" Target="slides/slide6.xml"/><Relationship Id="rId105" Type="http://schemas.openxmlformats.org/officeDocument/2006/relationships/slide" Target="slides/slide10.xml"/><Relationship Id="rId106" Type="http://schemas.openxmlformats.org/officeDocument/2006/relationships/slide" Target="slides/slide11.xml"/><Relationship Id="rId107" Type="http://schemas.openxmlformats.org/officeDocument/2006/relationships/slide" Target="slides/slide12.xml"/><Relationship Id="rId108" Type="http://schemas.openxmlformats.org/officeDocument/2006/relationships/slide" Target="slides/slide13.xml"/><Relationship Id="rId109" Type="http://schemas.openxmlformats.org/officeDocument/2006/relationships/slide" Target="slides/slide14.xml"/><Relationship Id="rId110" Type="http://schemas.openxmlformats.org/officeDocument/2006/relationships/slide" Target="slides/slide109.xml"/><Relationship Id="rId111" Type="http://schemas.openxmlformats.org/officeDocument/2006/relationships/slide" Target="slides/slide110.xml"/><Relationship Id="rId112" Type="http://schemas.openxmlformats.org/officeDocument/2006/relationships/slide" Target="slides/slide111.xml"/><Relationship Id="rId113" Type="http://schemas.openxmlformats.org/officeDocument/2006/relationships/slide" Target="slides/slide112.xml"/><Relationship Id="rId114" Type="http://schemas.openxmlformats.org/officeDocument/2006/relationships/slide" Target="slides/slide104.xml"/><Relationship Id="rId115" Type="http://schemas.openxmlformats.org/officeDocument/2006/relationships/slide" Target="slides/slide105.xml"/><Relationship Id="rId116" Type="http://schemas.openxmlformats.org/officeDocument/2006/relationships/slide" Target="slides/slide106.xml"/><Relationship Id="rId117" Type="http://schemas.openxmlformats.org/officeDocument/2006/relationships/slide" Target="slides/slide107.xml"/><Relationship Id="rId118" Type="http://schemas.openxmlformats.org/officeDocument/2006/relationships/slide" Target="slides/slide10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946D94-6626-3BFF-0A17-61948D6E3E7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7B82959-52E1-24EA-654D-899B4BD852B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DCEC601-C670-DE5C-B4B0-7A9A0C1D16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07F4EC-F5FE-2D4B-BE07-2A0946F33E8D}" type="datetimeFigureOut">
              <a:rPr lang="en-US" smtClean="0"/>
              <a:t>6/23/26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08A4546-02A5-E0E4-1B88-DDD5C23286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EE49858-4AC1-6BEE-F28D-B259566E42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6755A7-B2F0-374C-BC3B-9231083D87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606325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C708F2-2494-FD25-40BA-7A458F90F9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4D68CF-139A-1485-F8C3-1135EBA75DA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C795C4C-F738-AC92-997B-00880EDFFF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07F4EC-F5FE-2D4B-BE07-2A0946F33E8D}" type="datetimeFigureOut">
              <a:rPr lang="en-US" smtClean="0"/>
              <a:t>6/23/26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9EB43F1-EC25-F65B-2464-2BB178DDEA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48E87FA-9C49-DA04-2AEC-CE02D08448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6755A7-B2F0-374C-BC3B-9231083D87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432517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3621AD-FA2B-E962-1895-0B829208A4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E0FC836-5AF6-11F1-ABDC-F6A1CD43882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6EFEB5A-83F2-D22F-1013-D078D5F988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07F4EC-F5FE-2D4B-BE07-2A0946F33E8D}" type="datetimeFigureOut">
              <a:rPr lang="en-US" smtClean="0"/>
              <a:t>6/23/26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9D6E6E4-9057-95F7-57F5-42B4228D00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135C075-54A9-7B26-2083-EAEF01DE47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6755A7-B2F0-374C-BC3B-9231083D87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015129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ACEEAB-96C8-B417-18FB-A71942AA24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ED5E33-F4BD-5B41-65F4-A233430D459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D030329-B6CA-2C59-7CE7-8211A389709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89AF930-D68C-D4BB-D655-76183CA60C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07F4EC-F5FE-2D4B-BE07-2A0946F33E8D}" type="datetimeFigureOut">
              <a:rPr lang="en-US" smtClean="0"/>
              <a:t>6/23/26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3ED846B-938E-E072-48D2-C7D94D9591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4ACB0EE-912C-A444-3339-E1B54EF3B2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6755A7-B2F0-374C-BC3B-9231083D87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15280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772965-DF3B-ED3E-7532-71CC7BC907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90DB5A2-A181-E7B2-6ED3-6A3E56EE463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67B1024-7DAF-4B66-9FB5-FC3C33D7311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8D5716D-854D-ACD7-D87B-1AF011AEDF5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AD5961B-F921-8CBD-BC63-8FE4505D574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8E2C8CF-7AD9-FDC8-5CD5-04645E926A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07F4EC-F5FE-2D4B-BE07-2A0946F33E8D}" type="datetimeFigureOut">
              <a:rPr lang="en-US" smtClean="0"/>
              <a:t>6/23/26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C47C7EC-D94D-F23D-3AD7-F978DC38F0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C0BC93F-DE87-5D34-711A-0A7C96BC89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6755A7-B2F0-374C-BC3B-9231083D87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434934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385314-FF69-9488-55AA-609B6D6C45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0D0D748-7526-E5B4-882B-CD1974BE7A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07F4EC-F5FE-2D4B-BE07-2A0946F33E8D}" type="datetimeFigureOut">
              <a:rPr lang="en-US" smtClean="0"/>
              <a:t>6/23/26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51BB65D-3C7C-330F-F2E4-68BE6A78C3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B33AB25-A9B3-E208-BB21-C2850A87C7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6755A7-B2F0-374C-BC3B-9231083D87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21783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BCC9D19-4C72-6EBE-BEBB-990F367C8E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07F4EC-F5FE-2D4B-BE07-2A0946F33E8D}" type="datetimeFigureOut">
              <a:rPr lang="en-US" smtClean="0"/>
              <a:t>6/23/26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C7E9465-1D86-3400-70F7-6C14221D64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04DA129-7B6B-7A0C-6CD8-225A88BC49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6755A7-B2F0-374C-BC3B-9231083D87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166388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C83D7A-3E00-B6C8-FC83-37E63C7A33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D8F536C-DEC8-9406-DD9A-A159888086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D01E554-74F9-4F2B-DACA-7437D1FAD93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25B9C74-1F4A-2756-20E0-3A30ED8FDF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07F4EC-F5FE-2D4B-BE07-2A0946F33E8D}" type="datetimeFigureOut">
              <a:rPr lang="en-US" smtClean="0"/>
              <a:t>6/23/26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FB6718F-0AFB-B05B-56DD-676CA42EC6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1C6564F-EB95-772B-629C-CA39D04B36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6755A7-B2F0-374C-BC3B-9231083D87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96015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7F3D48-84A0-3F37-1AE1-A5DA0976C0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D64D8CE-7D33-3A1C-0B10-C0B372A0E3D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8818348-DD38-2ED9-AC93-F0E0BC5AFE9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1CF0CDE-79A3-51A3-3B3F-A9FD15F516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07F4EC-F5FE-2D4B-BE07-2A0946F33E8D}" type="datetimeFigureOut">
              <a:rPr lang="en-US" smtClean="0"/>
              <a:t>6/23/26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FD91F49-8EAB-7B01-7B0F-F33734242F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F3271A9-A83C-0006-00BD-C17BB3DE7C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6755A7-B2F0-374C-BC3B-9231083D87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489464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9BBB60-560A-1F72-035E-D28F19A92A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C3B78FD-69CC-9F5B-3C11-CA323EC93BB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736BB40-F65B-5299-E32D-CB9858A594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07F4EC-F5FE-2D4B-BE07-2A0946F33E8D}" type="datetimeFigureOut">
              <a:rPr lang="en-US" smtClean="0"/>
              <a:t>6/23/26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8487E16-F02D-E203-D4E9-10D833FCA5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0882DCF-D6B7-31C6-D936-E12073FA20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6755A7-B2F0-374C-BC3B-9231083D87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086344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BFF187E-5DCA-9F88-B1CD-F03AB7AF3A1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2412709-B093-275F-2926-9D91A5824F6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56667EC-5ABA-1D42-42D4-EC9393BBC3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07F4EC-F5FE-2D4B-BE07-2A0946F33E8D}" type="datetimeFigureOut">
              <a:rPr lang="en-US" smtClean="0"/>
              <a:t>6/23/26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6A2F67-6755-C1B8-DF06-6E0417CD32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80EB6B-719C-9679-CCF7-F153C3A2B7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6755A7-B2F0-374C-BC3B-9231083D87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367043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EE80EE1-0B02-5C56-7378-94DD6DA055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5AE5EFC-134F-BED3-F8A7-9FE56534CD2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F202C69-0810-50C4-85CE-437D064ED2E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507F4EC-F5FE-2D4B-BE07-2A0946F33E8D}" type="datetimeFigureOut">
              <a:rPr lang="en-US" smtClean="0"/>
              <a:t>6/23/26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0AED32-ED41-42FF-749B-D7F0BB6346E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98D752B-E364-D67C-7654-6A11A46BA23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B6755A7-B2F0-374C-BC3B-9231083D8773}" type="slidenum">
              <a:rPr lang="en-US" smtClean="0"/>
              <a:t>‹#›</a:t>
            </a:fld>
            <a:endParaRPr lang="en-US"/>
          </a:p>
        </p:txBody>
      </p:sp>
      <p:sp>
        <p:nvSpPr>
          <p:cNvPr id="900" name="AccentBar"/>
          <p:cNvSpPr/>
          <p:nvPr/>
        </p:nvSpPr>
        <p:spPr>
          <a:xfrm>
            <a:off x="0" y="6784848"/>
            <a:ext cx="12192000" cy="73152"/>
          </a:xfrm>
          <a:prstGeom prst="rect">
            <a:avLst/>
          </a:prstGeom>
          <a:gradFill>
            <a:gsLst>
              <a:gs pos="0">
                <a:srgbClr val="2563EB"/>
              </a:gs>
              <a:gs pos="50000">
                <a:srgbClr val="7C3AED"/>
              </a:gs>
              <a:gs pos="100000">
                <a:srgbClr val="06B6D4"/>
              </a:gs>
            </a:gsLst>
            <a:lin ang="0" scaled="1"/>
          </a:gradFill>
          <a:ln>
            <a:noFill/>
          </a:ln>
        </p:spPr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22140535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rgbClr val="1B1B2F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rgbClr val="2B2B40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tertiarycourses/TGS-2022017524---Business-Process-Automation-with-Power-Automate-and-Copilot-Studio-Agents" TargetMode="Externa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12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Relationship Id="rId3" Type="http://schemas.openxmlformats.org/officeDocument/2006/relationships/image" Target="../media/image13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image" Target="../media/image14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5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5.png"/><Relationship Id="rId3" Type="http://schemas.openxmlformats.org/officeDocument/2006/relationships/image" Target="../media/image16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4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6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7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7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8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9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9.png"/><Relationship Id="rId3" Type="http://schemas.openxmlformats.org/officeDocument/2006/relationships/image" Target="../media/image5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0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1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.pn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0.pn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7.pn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.png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D2EDD3-BAC6-2E59-FAA8-908301B1194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algn="ctr"/>
            <a:r>
              <a:rPr lang="en-US" sz="4000" b="1" dirty="0"/>
              <a:t>Business Process Automation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C0574B3-66A5-8402-1E67-380A6A832EE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algn="ctr"/>
            <a:r>
              <a:rPr lang="en-US" sz="2400" b="1" dirty="0">
                <a:solidFill>
                  <a:schemeClr val="accent2"/>
                </a:solidFill>
              </a:rPr>
              <a:t>with Power Automate and Copilot Studio Agents</a:t>
            </a:r>
          </a:p>
          <a:p>
            <a:pPr algn="ctr"/>
            <a:r>
              <a:rPr lang="en-US" sz="1600" dirty="0">
                <a:solidFill>
                  <a:schemeClr val="dk2"/>
                </a:solidFill>
              </a:rPr>
              <a:t>WSQ Course Code: TGS-2022017524  ·  2-Day Hands-On Training  ·  Modules 1–5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527048" y="5623560"/>
            <a:ext cx="914400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Conducted by Tertiary Infotech Academy Pte Ltd  ·  UEN 201200696W</a:t>
            </a:r>
          </a:p>
          <a:p>
            <a:pPr algn="ctr">
              <a:spcAft>
                <a:spcPts val="4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Version 7.0 (2 Aug 2026)  ·  www.tertiarycourses.com.sg  ·  https://lms-tms.tertiaryinfotech.com/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73952"/>
            <a:ext cx="84124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Business Process Automation with Power Automate &amp; Copilot Studio Agents  ·  TGS-2022017524  ·  © 2026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6473952"/>
            <a:ext cx="566928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288028645"/>
      </p:ext>
    </p:extLst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TRAQOM · SSG DIGITAL ATTENDANCE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Digital Attendance (Mandatory)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8308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>
                <a:solidFill>
                  <a:srgbClr val="161B26"/>
                </a:solidFill>
                <a:latin typeface="Arial"/>
              </a:rPr>
              <a:t>•  It is mandatory to take the AM, PM and Assessment digital attendance for WSQ-funded courses.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161B26"/>
                </a:solidFill>
                <a:latin typeface="Arial"/>
              </a:rPr>
              <a:t>•  The trainer/administrator displays the digital attendance QR code from the SSG portal.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161B26"/>
                </a:solidFill>
                <a:latin typeface="Arial"/>
              </a:rPr>
              <a:t>•  Scan the QR code with your mobile phone camera and submit your attendance.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161B26"/>
                </a:solidFill>
                <a:latin typeface="Arial"/>
              </a:rPr>
              <a:t>•  A minimum of 75% attendance is required to be eligible for assessment and funding.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73952"/>
            <a:ext cx="84124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Business Process Automation with Power Automate &amp; Copilot Studio Agents  ·  TGS-2022017524  ·  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73952"/>
            <a:ext cx="566928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5B63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5B6372"/>
                </a:solidFill>
                <a:latin typeface="Arial"/>
              </a:rPr>
              <a:t>YOUR TRAINER · GENERAL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About the Trainer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3337560" cy="109728"/>
          </a:xfrm>
          <a:prstGeom prst="rect">
            <a:avLst/>
          </a:prstGeom>
          <a:solidFill>
            <a:srgbClr val="5B63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668780" y="2286000"/>
            <a:ext cx="1554480" cy="1554480"/>
          </a:xfrm>
          <a:prstGeom prst="ellipse">
            <a:avLst/>
          </a:prstGeom>
          <a:solidFill>
            <a:srgbClr val="5B63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68780" y="2286000"/>
            <a:ext cx="1554480" cy="1554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4400" b="1">
                <a:solidFill>
                  <a:srgbClr val="FFFFFF"/>
                </a:solidFill>
                <a:latin typeface="Arial"/>
              </a:rPr>
              <a:t>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160520"/>
            <a:ext cx="3063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2100" b="1">
                <a:solidFill>
                  <a:srgbClr val="161B26"/>
                </a:solidFill>
                <a:latin typeface="Arial"/>
              </a:rPr>
              <a:t>Your Trainer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754880"/>
            <a:ext cx="30632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General Trainer template —
to be completed by the trainer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480560" y="1783080"/>
            <a:ext cx="6949440" cy="5638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80560" y="1783080"/>
            <a:ext cx="91440" cy="56388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73168" y="1783080"/>
            <a:ext cx="6400800" cy="563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NAME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E2E8F0"/>
                </a:solidFill>
                <a:latin typeface="Arial"/>
              </a:rPr>
              <a:t>____________________________________________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480560" y="2529840"/>
            <a:ext cx="6949440" cy="5638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480560" y="2529840"/>
            <a:ext cx="91440" cy="56388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773168" y="2529840"/>
            <a:ext cx="6400800" cy="563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TITLE / DESIGNATION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E2E8F0"/>
                </a:solidFill>
                <a:latin typeface="Arial"/>
              </a:rPr>
              <a:t>____________________________________________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480560" y="3276600"/>
            <a:ext cx="6949440" cy="5638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480560" y="3276600"/>
            <a:ext cx="91440" cy="56388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773168" y="3276600"/>
            <a:ext cx="6400800" cy="563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7C3AED"/>
                </a:solidFill>
                <a:latin typeface="Arial"/>
              </a:rPr>
              <a:t>QUALIFICATIONS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E2E8F0"/>
                </a:solidFill>
                <a:latin typeface="Arial"/>
              </a:rPr>
              <a:t>____________________________________________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480560" y="4023360"/>
            <a:ext cx="6949440" cy="5638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480560" y="4023360"/>
            <a:ext cx="91440" cy="56388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773168" y="4023360"/>
            <a:ext cx="6400800" cy="563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F59E0B"/>
                </a:solidFill>
                <a:latin typeface="Arial"/>
              </a:rPr>
              <a:t>AREAS OF EXPERTISE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E2E8F0"/>
                </a:solidFill>
                <a:latin typeface="Arial"/>
              </a:rPr>
              <a:t>____________________________________________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480560" y="4770120"/>
            <a:ext cx="6949440" cy="5638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480560" y="4770120"/>
            <a:ext cx="91440" cy="56388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773168" y="4770120"/>
            <a:ext cx="6400800" cy="563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TRAINING &amp; INDUSTRY EXPERIENCE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E2E8F0"/>
                </a:solidFill>
                <a:latin typeface="Arial"/>
              </a:rPr>
              <a:t>____________________________________________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480560" y="5516880"/>
            <a:ext cx="6949440" cy="5638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480560" y="5516880"/>
            <a:ext cx="91440" cy="56388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773168" y="5516880"/>
            <a:ext cx="6400800" cy="563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CONTACT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E2E8F0"/>
                </a:solidFill>
                <a:latin typeface="Arial"/>
              </a:rPr>
              <a:t>____________________________________________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60" y="6473952"/>
            <a:ext cx="84124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Business Process Automation with Power Automate &amp; Copilot Studio Agents  ·  TGS-2022017524  ·  © 2026 Tertiary Infotech Academy Pte Ltd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292840" y="6473952"/>
            <a:ext cx="566928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YOUR TRAINER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About the Trainer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3337560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668780" y="2286000"/>
            <a:ext cx="1554480" cy="155448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68780" y="2286000"/>
            <a:ext cx="1554480" cy="1554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4400" b="1">
                <a:solidFill>
                  <a:srgbClr val="FFFFFF"/>
                </a:solidFill>
                <a:latin typeface="Arial"/>
              </a:rPr>
              <a:t>AA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160520"/>
            <a:ext cx="3063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2100" b="1">
                <a:solidFill>
                  <a:srgbClr val="161B26"/>
                </a:solidFill>
                <a:latin typeface="Arial"/>
              </a:rPr>
              <a:t>Dr. Alfred Ang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754880"/>
            <a:ext cx="30632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Principal Trainer
Tertiary Infotech Academy Pte. Ltd.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480560" y="1783080"/>
            <a:ext cx="6949440" cy="9372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80560" y="1783080"/>
            <a:ext cx="91440" cy="93726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73168" y="1783080"/>
            <a:ext cx="6400800" cy="9372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ROLE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Principal Trainer, Tertiary Infotech Academy Pte. Ltd.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480560" y="2903220"/>
            <a:ext cx="6949440" cy="9372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480560" y="2903220"/>
            <a:ext cx="91440" cy="9372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773168" y="2903220"/>
            <a:ext cx="6400800" cy="9372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CERTIFICATION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Microsoft Power Platform, AI and data analytics — 20+ years of training experience.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480560" y="4023360"/>
            <a:ext cx="6949440" cy="9372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480560" y="4023360"/>
            <a:ext cx="91440" cy="93726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773168" y="4023360"/>
            <a:ext cx="6400800" cy="9372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7C3AED"/>
                </a:solidFill>
                <a:latin typeface="Arial"/>
              </a:rPr>
              <a:t>DELIVERS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WSQ courses on AI, business automation, data science and software engineering.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480560" y="5143500"/>
            <a:ext cx="6949440" cy="9372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480560" y="5143500"/>
            <a:ext cx="91440" cy="93726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773168" y="5143500"/>
            <a:ext cx="6400800" cy="9372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F59E0B"/>
                </a:solidFill>
                <a:latin typeface="Arial"/>
              </a:rPr>
              <a:t>FOUNDER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Founder and lead instructor at Tertiary Infotech / Tertiary Courses.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5760" y="6473952"/>
            <a:ext cx="84124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Business Process Automation with Power Automate &amp; Copilot Studio Agents  ·  TGS-2022017524  ·  © 2026 Tertiary Infotech Academy Pte Ltd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292840" y="6473952"/>
            <a:ext cx="566928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ICE-BREAKER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Let's Know Each Other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8308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>
                <a:solidFill>
                  <a:srgbClr val="161B26"/>
                </a:solidFill>
                <a:latin typeface="Arial"/>
              </a:rPr>
              <a:t>•  Your name and organisation / role.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161B26"/>
                </a:solidFill>
                <a:latin typeface="Arial"/>
              </a:rPr>
              <a:t>•  Your experience with Power Automate, Copilot Studio or other automation tools (if any).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161B26"/>
                </a:solidFill>
                <a:latin typeface="Arial"/>
              </a:rPr>
              <a:t>•  One repetitive business process you would love to automate after this course.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73952"/>
            <a:ext cx="84124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Business Process Automation with Power Automate &amp; Copilot Studio Agents  ·  TGS-2022017524  ·  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73952"/>
            <a:ext cx="566928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HOUSEKEEPING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Ground Rules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15798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874520"/>
            <a:ext cx="3973068" cy="11521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Set your mobile phone to silent mode.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15798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874520"/>
            <a:ext cx="3973068" cy="11521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Participate actively — no question is too small.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19272"/>
            <a:ext cx="91440" cy="129844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3694176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3410712"/>
            <a:ext cx="3973068" cy="11521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Mutual respect: agree to disagree.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19272"/>
            <a:ext cx="91440" cy="129844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36941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3410712"/>
            <a:ext cx="3973068" cy="11521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One conversation at a time.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55464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33272" y="5230368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33272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64792" y="4946904"/>
            <a:ext cx="3973068" cy="11521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Be punctual; return from breaks on time.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55464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87668" y="5230368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87668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19188" y="4946904"/>
            <a:ext cx="3973068" cy="11521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75% attendance is required.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73952"/>
            <a:ext cx="84124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Business Process Automation with Power Automate &amp; Copilot Studio Agents  ·  TGS-2022017524  ·  © 2026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292840" y="6473952"/>
            <a:ext cx="566928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56032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COURSE OUTCOMES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789920" cy="603504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What You'll Learn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3716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783080"/>
            <a:ext cx="2393441" cy="11887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1837943"/>
            <a:ext cx="2283713" cy="1078992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400" b="1">
                <a:solidFill>
                  <a:srgbClr val="161B26"/>
                </a:solidFill>
                <a:latin typeface="Arial"/>
              </a:rPr>
              <a:t>Automate</a:t>
            </a:r>
          </a:p>
          <a:p>
            <a:pPr algn="ctr"/>
            <a:r>
              <a:rPr sz="1400" b="1">
                <a:solidFill>
                  <a:srgbClr val="161B26"/>
                </a:solidFill>
                <a:latin typeface="Arial"/>
              </a:rPr>
              <a:t>the workflow</a:t>
            </a:r>
          </a:p>
        </p:txBody>
      </p:sp>
      <p:sp>
        <p:nvSpPr>
          <p:cNvPr id="8" name="Chevron 7"/>
          <p:cNvSpPr/>
          <p:nvPr/>
        </p:nvSpPr>
        <p:spPr>
          <a:xfrm>
            <a:off x="3115817" y="2221992"/>
            <a:ext cx="274320" cy="310896"/>
          </a:xfrm>
          <a:prstGeom prst="chevron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923793" y="1508760"/>
            <a:ext cx="676656" cy="237744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900" b="0">
                <a:solidFill>
                  <a:srgbClr val="5B6372"/>
                </a:solidFill>
                <a:latin typeface="Arial"/>
              </a:rPr>
              <a:t>add AI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72433" y="1783080"/>
            <a:ext cx="2393441" cy="11887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6D3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27297" y="1837943"/>
            <a:ext cx="2283713" cy="1078992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400" b="1">
                <a:solidFill>
                  <a:srgbClr val="161B26"/>
                </a:solidFill>
                <a:latin typeface="Arial"/>
              </a:rPr>
              <a:t>Build</a:t>
            </a:r>
          </a:p>
          <a:p>
            <a:pPr algn="ctr"/>
            <a:r>
              <a:rPr sz="1400" b="1">
                <a:solidFill>
                  <a:srgbClr val="161B26"/>
                </a:solidFill>
                <a:latin typeface="Arial"/>
              </a:rPr>
              <a:t>the agent</a:t>
            </a:r>
          </a:p>
        </p:txBody>
      </p:sp>
      <p:sp>
        <p:nvSpPr>
          <p:cNvPr id="12" name="Chevron 11"/>
          <p:cNvSpPr/>
          <p:nvPr/>
        </p:nvSpPr>
        <p:spPr>
          <a:xfrm>
            <a:off x="5929882" y="2221992"/>
            <a:ext cx="274320" cy="310896"/>
          </a:xfrm>
          <a:prstGeom prst="chevron">
            <a:avLst/>
          </a:prstGeom>
          <a:solidFill>
            <a:srgbClr val="6D3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737858" y="1508760"/>
            <a:ext cx="676656" cy="237744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900" b="0">
                <a:solidFill>
                  <a:srgbClr val="5B6372"/>
                </a:solidFill>
                <a:latin typeface="Arial"/>
              </a:rPr>
              <a:t>expose it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86499" y="1783080"/>
            <a:ext cx="2393441" cy="11887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1684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41363" y="1837943"/>
            <a:ext cx="2283713" cy="1078992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400" b="1">
                <a:solidFill>
                  <a:srgbClr val="161B26"/>
                </a:solidFill>
                <a:latin typeface="Arial"/>
              </a:rPr>
              <a:t>Connect it</a:t>
            </a:r>
          </a:p>
          <a:p>
            <a:pPr algn="ctr"/>
            <a:r>
              <a:rPr sz="1400" b="1">
                <a:solidFill>
                  <a:srgbClr val="161B26"/>
                </a:solidFill>
                <a:latin typeface="Arial"/>
              </a:rPr>
              <a:t>over HTTP</a:t>
            </a:r>
          </a:p>
        </p:txBody>
      </p:sp>
      <p:sp>
        <p:nvSpPr>
          <p:cNvPr id="16" name="Chevron 15"/>
          <p:cNvSpPr/>
          <p:nvPr/>
        </p:nvSpPr>
        <p:spPr>
          <a:xfrm>
            <a:off x="8743948" y="2221992"/>
            <a:ext cx="274320" cy="310896"/>
          </a:xfrm>
          <a:prstGeom prst="chevron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51924" y="1508760"/>
            <a:ext cx="676656" cy="237744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900" b="0">
                <a:solidFill>
                  <a:srgbClr val="5B6372"/>
                </a:solidFill>
                <a:latin typeface="Arial"/>
              </a:rPr>
              <a:t>make it true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00565" y="1783080"/>
            <a:ext cx="2393441" cy="11887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77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55429" y="1837943"/>
            <a:ext cx="2283713" cy="1078992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400" b="1">
                <a:solidFill>
                  <a:srgbClr val="161B26"/>
                </a:solidFill>
                <a:latin typeface="Arial"/>
              </a:rPr>
              <a:t>Ground it</a:t>
            </a:r>
          </a:p>
          <a:p>
            <a:pPr algn="ctr"/>
            <a:r>
              <a:rPr sz="1400" b="1">
                <a:solidFill>
                  <a:srgbClr val="161B26"/>
                </a:solidFill>
                <a:latin typeface="Arial"/>
              </a:rPr>
              <a:t>with RAG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3611880"/>
            <a:ext cx="3392424" cy="1691640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58368" y="3611880"/>
            <a:ext cx="82296" cy="16916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77824" y="3794760"/>
            <a:ext cx="420624" cy="42062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77824" y="3794760"/>
            <a:ext cx="420624" cy="420624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08176" y="3739896"/>
            <a:ext cx="2441448" cy="402336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600" b="1">
                <a:solidFill>
                  <a:srgbClr val="1F6FEB"/>
                </a:solidFill>
                <a:latin typeface="Arial"/>
              </a:rPr>
              <a:t>Design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" y="4215384"/>
            <a:ext cx="2898648" cy="960120"/>
          </a:xfrm>
          <a:prstGeom prst="rect">
            <a:avLst/>
          </a:prstGeom>
          <a:noFill/>
        </p:spPr>
        <p:txBody>
          <a:bodyPr wrap="square" anchor="t" lIns="73152" rIns="73152" tIns="73152" bIns="73152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Read a business process and decide which parts must be deterministic and which may be AI.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306824" y="3611880"/>
            <a:ext cx="3392424" cy="1691640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306824" y="3611880"/>
            <a:ext cx="82296" cy="1691640"/>
          </a:xfrm>
          <a:prstGeom prst="rect">
            <a:avLst/>
          </a:prstGeom>
          <a:solidFill>
            <a:srgbClr val="6D3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4526280" y="3794760"/>
            <a:ext cx="420624" cy="420624"/>
          </a:xfrm>
          <a:prstGeom prst="ellipse">
            <a:avLst/>
          </a:prstGeom>
          <a:solidFill>
            <a:srgbClr val="6D3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526280" y="3794760"/>
            <a:ext cx="420624" cy="420624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56632" y="3739896"/>
            <a:ext cx="2441448" cy="402336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600" b="1">
                <a:solidFill>
                  <a:srgbClr val="6D3FD2"/>
                </a:solidFill>
                <a:latin typeface="Arial"/>
              </a:rPr>
              <a:t>Build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62856" y="4215384"/>
            <a:ext cx="2898648" cy="960120"/>
          </a:xfrm>
          <a:prstGeom prst="rect">
            <a:avLst/>
          </a:prstGeom>
          <a:noFill/>
        </p:spPr>
        <p:txBody>
          <a:bodyPr wrap="square" anchor="t" lIns="73152" rIns="73152" tIns="73152" bIns="73152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Create Power Automate flows and Copilot Studio agents with tools, skills and knowledge.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955280" y="3611880"/>
            <a:ext cx="3392424" cy="1691640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955280" y="3611880"/>
            <a:ext cx="82296" cy="1691640"/>
          </a:xfrm>
          <a:prstGeom prst="rect">
            <a:avLst/>
          </a:prstGeom>
          <a:solidFill>
            <a:srgbClr val="C24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8174736" y="3794760"/>
            <a:ext cx="420624" cy="420624"/>
          </a:xfrm>
          <a:prstGeom prst="ellipse">
            <a:avLst/>
          </a:prstGeom>
          <a:solidFill>
            <a:srgbClr val="C24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174736" y="3794760"/>
            <a:ext cx="420624" cy="420624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705088" y="3739896"/>
            <a:ext cx="2441448" cy="402336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600" b="1">
                <a:solidFill>
                  <a:srgbClr val="C2413A"/>
                </a:solidFill>
                <a:latin typeface="Arial"/>
              </a:rPr>
              <a:t>Govern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11312" y="4215384"/>
            <a:ext cx="2898648" cy="960120"/>
          </a:xfrm>
          <a:prstGeom prst="rect">
            <a:avLst/>
          </a:prstGeom>
          <a:noFill/>
        </p:spPr>
        <p:txBody>
          <a:bodyPr wrap="square" anchor="t" lIns="73152" rIns="73152" tIns="73152" bIns="73152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Place a human where the consequence lands, and test what the agent must refuse.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58368" y="5577840"/>
            <a:ext cx="10835640" cy="566928"/>
          </a:xfrm>
          <a:prstGeom prst="roundRect">
            <a:avLst/>
          </a:prstGeom>
          <a:solidFill>
            <a:srgbClr val="F5F8FC"/>
          </a:solidFill>
          <a:ln w="20320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14400" y="5577840"/>
            <a:ext cx="10332720" cy="566928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400" b="1">
                <a:solidFill>
                  <a:srgbClr val="161B26"/>
                </a:solidFill>
                <a:latin typeface="Arial"/>
              </a:rPr>
              <a:t>By the end you can build the automation, add the agent, and defend where you put the human.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Business Process Automation with Power Automate &amp; Copilot Studio Agents  ·  TGS-2022017524  ·  © 2026 Tertiary Infotech Academy Pte Ltd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135091610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56032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THE JOURNEY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789920" cy="603504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Eleven Connected Labs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3716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517904"/>
            <a:ext cx="5349240" cy="585216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68096" y="1591056"/>
            <a:ext cx="438912" cy="438912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" y="1591056"/>
            <a:ext cx="438912" cy="438912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16736" y="1536192"/>
            <a:ext cx="4590288" cy="292608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200" b="1">
                <a:solidFill>
                  <a:srgbClr val="161B26"/>
                </a:solidFill>
                <a:latin typeface="Arial"/>
              </a:rPr>
              <a:t>Environment Setup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16736" y="1810512"/>
            <a:ext cx="4590288" cy="27432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950" b="0">
                <a:solidFill>
                  <a:srgbClr val="5B6372"/>
                </a:solidFill>
                <a:latin typeface="Arial"/>
              </a:rPr>
              <a:t>Developer environment, Dataverse, credits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2176272"/>
            <a:ext cx="5349240" cy="585216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68096" y="2249424"/>
            <a:ext cx="438912" cy="438912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249424"/>
            <a:ext cx="438912" cy="438912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16736" y="2194560"/>
            <a:ext cx="4590288" cy="292608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200" b="1">
                <a:solidFill>
                  <a:srgbClr val="161B26"/>
                </a:solidFill>
                <a:latin typeface="Arial"/>
              </a:rPr>
              <a:t>Trigger and Actions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16736" y="2468880"/>
            <a:ext cx="4590288" cy="27432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950" b="0">
                <a:solidFill>
                  <a:srgbClr val="5B6372"/>
                </a:solidFill>
                <a:latin typeface="Arial"/>
              </a:rPr>
              <a:t>Form → email; dynamic content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2834639"/>
            <a:ext cx="5349240" cy="585216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68096" y="2907791"/>
            <a:ext cx="438912" cy="438912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8096" y="2907791"/>
            <a:ext cx="438912" cy="438912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16736" y="2852927"/>
            <a:ext cx="4590288" cy="292608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200" b="1">
                <a:solidFill>
                  <a:srgbClr val="161B26"/>
                </a:solidFill>
                <a:latin typeface="Arial"/>
              </a:rPr>
              <a:t>Log to Excel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16736" y="3127247"/>
            <a:ext cx="4590288" cy="27432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950" b="0">
                <a:solidFill>
                  <a:srgbClr val="5B6372"/>
                </a:solidFill>
                <a:latin typeface="Arial"/>
              </a:rPr>
              <a:t>Commit the audit row before confirming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58368" y="3493008"/>
            <a:ext cx="5349240" cy="585216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768096" y="3566160"/>
            <a:ext cx="438912" cy="438912"/>
          </a:xfrm>
          <a:prstGeom prst="roundRect">
            <a:avLst/>
          </a:prstGeom>
          <a:solidFill>
            <a:srgbClr val="108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3566160"/>
            <a:ext cx="438912" cy="438912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16736" y="3511296"/>
            <a:ext cx="4590288" cy="292608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200" b="1">
                <a:solidFill>
                  <a:srgbClr val="161B26"/>
                </a:solidFill>
                <a:latin typeface="Arial"/>
              </a:rPr>
              <a:t>Leave Application Approval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16736" y="3785616"/>
            <a:ext cx="4590288" cy="27432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950" b="0">
                <a:solidFill>
                  <a:srgbClr val="5B6372"/>
                </a:solidFill>
                <a:latin typeface="Arial"/>
              </a:rPr>
              <a:t>The flow pauses for a manager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58368" y="4151376"/>
            <a:ext cx="5349240" cy="585216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768096" y="4224528"/>
            <a:ext cx="438912" cy="438912"/>
          </a:xfrm>
          <a:prstGeom prst="roundRect">
            <a:avLst/>
          </a:prstGeom>
          <a:solidFill>
            <a:srgbClr val="6D3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68096" y="4224528"/>
            <a:ext cx="438912" cy="438912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16736" y="4169664"/>
            <a:ext cx="4590288" cy="292608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200" b="1">
                <a:solidFill>
                  <a:srgbClr val="161B26"/>
                </a:solidFill>
                <a:latin typeface="Arial"/>
              </a:rPr>
              <a:t>Agents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16736" y="4443984"/>
            <a:ext cx="4590288" cy="27432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950" b="0">
                <a:solidFill>
                  <a:srgbClr val="5B6372"/>
                </a:solidFill>
                <a:latin typeface="Arial"/>
              </a:rPr>
              <a:t>Instructions · skills · knowledge · tools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8368" y="4809744"/>
            <a:ext cx="5349240" cy="585216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768096" y="4882896"/>
            <a:ext cx="438912" cy="438912"/>
          </a:xfrm>
          <a:prstGeom prst="roundRect">
            <a:avLst/>
          </a:prstGeom>
          <a:solidFill>
            <a:srgbClr val="6D3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68096" y="4882896"/>
            <a:ext cx="438912" cy="438912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316736" y="4828032"/>
            <a:ext cx="4590288" cy="292608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200" b="1">
                <a:solidFill>
                  <a:srgbClr val="161B26"/>
                </a:solidFill>
                <a:latin typeface="Arial"/>
              </a:rPr>
              <a:t>Invoke Agents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16736" y="5102352"/>
            <a:ext cx="4590288" cy="27432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950" b="0">
                <a:solidFill>
                  <a:srgbClr val="5B6372"/>
                </a:solidFill>
                <a:latin typeface="Arial"/>
              </a:rPr>
              <a:t>SharePoint grounding, published to Teams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144768" y="1517904"/>
            <a:ext cx="5349240" cy="585216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254496" y="1591056"/>
            <a:ext cx="438912" cy="438912"/>
          </a:xfrm>
          <a:prstGeom prst="round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254496" y="1591056"/>
            <a:ext cx="438912" cy="438912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03136" y="1536192"/>
            <a:ext cx="4590288" cy="292608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200" b="1">
                <a:solidFill>
                  <a:srgbClr val="161B26"/>
                </a:solidFill>
                <a:latin typeface="Arial"/>
              </a:rPr>
              <a:t>HTTP + Approval Agent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03136" y="1810512"/>
            <a:ext cx="4590288" cy="27432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950" b="0">
                <a:solidFill>
                  <a:srgbClr val="5B6372"/>
                </a:solidFill>
                <a:latin typeface="Arial"/>
              </a:rPr>
              <a:t>Structured output; the AI never writes the record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144768" y="2176272"/>
            <a:ext cx="5349240" cy="585216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6254496" y="2249424"/>
            <a:ext cx="438912" cy="438912"/>
          </a:xfrm>
          <a:prstGeom prst="round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254496" y="2249424"/>
            <a:ext cx="438912" cy="438912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803136" y="2194560"/>
            <a:ext cx="4590288" cy="292608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200" b="1">
                <a:solidFill>
                  <a:srgbClr val="161B26"/>
                </a:solidFill>
                <a:latin typeface="Arial"/>
              </a:rPr>
              <a:t>HTTP + Chatbot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803136" y="2468880"/>
            <a:ext cx="4590288" cy="27432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950" b="0">
                <a:solidFill>
                  <a:srgbClr val="5B6372"/>
                </a:solidFill>
                <a:latin typeface="Arial"/>
              </a:rPr>
              <a:t>The agent alone, in public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144768" y="2834639"/>
            <a:ext cx="5349240" cy="585216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6254496" y="2907791"/>
            <a:ext cx="438912" cy="438912"/>
          </a:xfrm>
          <a:prstGeom prst="roundRect">
            <a:avLst/>
          </a:prstGeom>
          <a:solidFill>
            <a:srgbClr val="C24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254496" y="2907791"/>
            <a:ext cx="438912" cy="438912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8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803136" y="2852927"/>
            <a:ext cx="4590288" cy="292608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200" b="1">
                <a:solidFill>
                  <a:srgbClr val="161B26"/>
                </a:solidFill>
                <a:latin typeface="Arial"/>
              </a:rPr>
              <a:t>HTTP + Human Review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803136" y="3127247"/>
            <a:ext cx="4590288" cy="27432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950" b="0">
                <a:solidFill>
                  <a:srgbClr val="5B6372"/>
                </a:solidFill>
                <a:latin typeface="Arial"/>
              </a:rPr>
              <a:t>The run that will not proceed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6144768" y="3493008"/>
            <a:ext cx="5349240" cy="585216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6254496" y="3566160"/>
            <a:ext cx="438912" cy="438912"/>
          </a:xfrm>
          <a:prstGeom prst="roundRect">
            <a:avLst/>
          </a:prstGeom>
          <a:solidFill>
            <a:srgbClr val="C77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254496" y="3566160"/>
            <a:ext cx="438912" cy="438912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9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803136" y="3511296"/>
            <a:ext cx="4590288" cy="292608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200" b="1">
                <a:solidFill>
                  <a:srgbClr val="161B26"/>
                </a:solidFill>
                <a:latin typeface="Arial"/>
              </a:rPr>
              <a:t>RAG with Knowledge Base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803136" y="3785616"/>
            <a:ext cx="4590288" cy="27432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950" b="0">
                <a:solidFill>
                  <a:srgbClr val="5B6372"/>
                </a:solidFill>
                <a:latin typeface="Arial"/>
              </a:rPr>
              <a:t>Three nodes, no ingestion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6144768" y="4151376"/>
            <a:ext cx="5349240" cy="585216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6254496" y="4224528"/>
            <a:ext cx="438912" cy="438912"/>
          </a:xfrm>
          <a:prstGeom prst="roundRect">
            <a:avLst/>
          </a:prstGeom>
          <a:solidFill>
            <a:srgbClr val="C77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254496" y="4224528"/>
            <a:ext cx="438912" cy="438912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10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803136" y="4169664"/>
            <a:ext cx="4590288" cy="292608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200" b="1">
                <a:solidFill>
                  <a:srgbClr val="161B26"/>
                </a:solidFill>
                <a:latin typeface="Arial"/>
              </a:rPr>
              <a:t>RAG with Pinecone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803136" y="4443984"/>
            <a:ext cx="4590288" cy="27432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950" b="0">
                <a:solidFill>
                  <a:srgbClr val="5B6372"/>
                </a:solidFill>
                <a:latin typeface="Arial"/>
              </a:rPr>
              <a:t>Chunking, embeddings, top_k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658368" y="5577840"/>
            <a:ext cx="10835640" cy="566928"/>
          </a:xfrm>
          <a:prstGeom prst="roundRect">
            <a:avLst/>
          </a:prstGeom>
          <a:solidFill>
            <a:srgbClr val="F5F8FC"/>
          </a:solidFill>
          <a:ln w="20320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914400" y="5577840"/>
            <a:ext cx="10332720" cy="566928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400" b="1">
                <a:solidFill>
                  <a:srgbClr val="161B26"/>
                </a:solidFill>
                <a:latin typeface="Arial"/>
              </a:rPr>
              <a:t>Eleven labs, each reusing the one before it. Nothing is rebuilt from scratch.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Business Process Automation with Power Automate &amp; Copilot Studio Agents  ·  TGS-2022017524  ·  © 2026 Tertiary Infotech Academy Pte Ltd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110023931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56032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LEARNING APPROACH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789920" cy="603504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How This Course Works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3716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828800"/>
            <a:ext cx="2011680" cy="2286000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828800"/>
            <a:ext cx="82296" cy="2286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2011680"/>
            <a:ext cx="420624" cy="42062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2011680"/>
            <a:ext cx="420624" cy="420624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56816"/>
            <a:ext cx="1060704" cy="402336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500" b="1">
                <a:solidFill>
                  <a:srgbClr val="1F6FEB"/>
                </a:solidFill>
                <a:latin typeface="Arial"/>
              </a:rPr>
              <a:t>Concept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32304"/>
            <a:ext cx="1517904" cy="1554480"/>
          </a:xfrm>
          <a:prstGeom prst="rect">
            <a:avLst/>
          </a:prstGeom>
          <a:noFill/>
        </p:spPr>
        <p:txBody>
          <a:bodyPr wrap="square" anchor="t" lIns="73152" rIns="73152" tIns="73152" bIns="73152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The idea and the decision rule, before the product is opened.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871215" y="1828800"/>
            <a:ext cx="2011680" cy="2286000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871215" y="1828800"/>
            <a:ext cx="82296" cy="2286000"/>
          </a:xfrm>
          <a:prstGeom prst="rect">
            <a:avLst/>
          </a:prstGeom>
          <a:solidFill>
            <a:srgbClr val="108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090671" y="2011680"/>
            <a:ext cx="420624" cy="420624"/>
          </a:xfrm>
          <a:prstGeom prst="ellipse">
            <a:avLst/>
          </a:prstGeom>
          <a:solidFill>
            <a:srgbClr val="108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090671" y="2011680"/>
            <a:ext cx="420624" cy="420624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21023" y="1956816"/>
            <a:ext cx="1060704" cy="402336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500" b="1">
                <a:solidFill>
                  <a:srgbClr val="108A73"/>
                </a:solidFill>
                <a:latin typeface="Arial"/>
              </a:rPr>
              <a:t>Pattern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27247" y="2432304"/>
            <a:ext cx="1517904" cy="1554480"/>
          </a:xfrm>
          <a:prstGeom prst="rect">
            <a:avLst/>
          </a:prstGeom>
          <a:noFill/>
        </p:spPr>
        <p:txBody>
          <a:bodyPr wrap="square" anchor="t" lIns="73152" rIns="73152" tIns="73152" bIns="73152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The same idea drawn as a business workflow you could hand to a colleague.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84064" y="1828800"/>
            <a:ext cx="2011680" cy="2286000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84064" y="1828800"/>
            <a:ext cx="82296" cy="2286000"/>
          </a:xfrm>
          <a:prstGeom prst="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5303520" y="2011680"/>
            <a:ext cx="420624" cy="420624"/>
          </a:xfrm>
          <a:prstGeom prst="ellipse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03520" y="2011680"/>
            <a:ext cx="420624" cy="420624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833872" y="1956816"/>
            <a:ext cx="1060704" cy="402336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500" b="1">
                <a:solidFill>
                  <a:srgbClr val="16845B"/>
                </a:solidFill>
                <a:latin typeface="Arial"/>
              </a:rPr>
              <a:t>Lab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40096" y="2432304"/>
            <a:ext cx="1517904" cy="1554480"/>
          </a:xfrm>
          <a:prstGeom prst="rect">
            <a:avLst/>
          </a:prstGeom>
          <a:noFill/>
        </p:spPr>
        <p:txBody>
          <a:bodyPr wrap="square" anchor="t" lIns="73152" rIns="73152" tIns="73152" bIns="73152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You build it, in the numbered lab named on the concept slide.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296912" y="1828800"/>
            <a:ext cx="2011680" cy="2286000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296912" y="1828800"/>
            <a:ext cx="82296" cy="2286000"/>
          </a:xfrm>
          <a:prstGeom prst="rect">
            <a:avLst/>
          </a:prstGeom>
          <a:solidFill>
            <a:srgbClr val="C24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516368" y="2011680"/>
            <a:ext cx="420624" cy="420624"/>
          </a:xfrm>
          <a:prstGeom prst="ellipse">
            <a:avLst/>
          </a:prstGeom>
          <a:solidFill>
            <a:srgbClr val="C24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516368" y="2011680"/>
            <a:ext cx="420624" cy="420624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46720" y="1956816"/>
            <a:ext cx="1060704" cy="402336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500" b="1">
                <a:solidFill>
                  <a:srgbClr val="C2413A"/>
                </a:solidFill>
                <a:latin typeface="Arial"/>
              </a:rPr>
              <a:t>Probe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552944" y="2432304"/>
            <a:ext cx="1517904" cy="1554480"/>
          </a:xfrm>
          <a:prstGeom prst="rect">
            <a:avLst/>
          </a:prstGeom>
          <a:noFill/>
        </p:spPr>
        <p:txBody>
          <a:bodyPr wrap="square" anchor="t" lIns="73152" rIns="73152" tIns="73152" bIns="73152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You try to break it — the refusals and wrong answers are the lesson.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509760" y="1828800"/>
            <a:ext cx="2011680" cy="2286000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509760" y="1828800"/>
            <a:ext cx="82296" cy="2286000"/>
          </a:xfrm>
          <a:prstGeom prst="rect">
            <a:avLst/>
          </a:prstGeom>
          <a:solidFill>
            <a:srgbClr val="6D3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9729216" y="2011680"/>
            <a:ext cx="420624" cy="420624"/>
          </a:xfrm>
          <a:prstGeom prst="ellipse">
            <a:avLst/>
          </a:prstGeom>
          <a:solidFill>
            <a:srgbClr val="6D3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729216" y="2011680"/>
            <a:ext cx="420624" cy="420624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259568" y="1956816"/>
            <a:ext cx="1060704" cy="402336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500" b="1">
                <a:solidFill>
                  <a:srgbClr val="6D3FD2"/>
                </a:solidFill>
                <a:latin typeface="Arial"/>
              </a:rPr>
              <a:t>Reuse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765792" y="2432304"/>
            <a:ext cx="1517904" cy="1554480"/>
          </a:xfrm>
          <a:prstGeom prst="rect">
            <a:avLst/>
          </a:prstGeom>
          <a:noFill/>
        </p:spPr>
        <p:txBody>
          <a:bodyPr wrap="square" anchor="t" lIns="73152" rIns="73152" tIns="73152" bIns="73152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The working artefact becomes the starting point of the next lab.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58368" y="4572000"/>
            <a:ext cx="10835640" cy="566928"/>
          </a:xfrm>
          <a:prstGeom prst="roundRect">
            <a:avLst/>
          </a:prstGeom>
          <a:solidFill>
            <a:srgbClr val="F5F8FC"/>
          </a:solidFill>
          <a:ln w="20320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14400" y="4572000"/>
            <a:ext cx="10332720" cy="566928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400" b="1">
                <a:solidFill>
                  <a:srgbClr val="161B26"/>
                </a:solidFill>
                <a:latin typeface="Arial"/>
              </a:rPr>
              <a:t>Concepts first. Every lab in this course is an application of a concept you have already seen.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8368" y="5349240"/>
            <a:ext cx="10835640" cy="822960"/>
          </a:xfrm>
          <a:prstGeom prst="rect">
            <a:avLst/>
          </a:prstGeom>
          <a:noFill/>
        </p:spPr>
        <p:txBody>
          <a:bodyPr wrap="square" anchor="t" lIns="73152" rIns="73152" tIns="73152" bIns="73152">
            <a:spAutoFit/>
          </a:bodyPr>
          <a:lstStyle/>
          <a:p>
            <a:pPr algn="l"/>
            <a:r>
              <a:rPr sz="1300" b="0">
                <a:solidFill>
                  <a:srgbClr val="5B6372"/>
                </a:solidFill>
                <a:latin typeface="Arial"/>
              </a:rPr>
              <a:t>The probes matter as much as the builds. An agent that answers ten questions correctly and the eleventh</a:t>
            </a:r>
          </a:p>
          <a:p>
            <a:pPr algn="l"/>
            <a:r>
              <a:rPr sz="1300" b="0">
                <a:solidFill>
                  <a:srgbClr val="5B6372"/>
                </a:solidFill>
                <a:latin typeface="Arial"/>
              </a:rPr>
              <a:t>confidently wrong has not been tested — it has been demonstrated.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Business Process Automation with Power Automate &amp; Copilot Studio Agents  ·  TGS-2022017524  ·  © 2026 Tertiary Infotech Academy Pte Ltd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2259203294"/>
      </p:ext>
    </p:extLst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56032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SCHEDULE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789920" cy="603504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Lesson Plan — 2 Days, 9:00am–6:00pm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3716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572768"/>
            <a:ext cx="5303520" cy="420624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572768"/>
            <a:ext cx="5303520" cy="51206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9536" y="1572768"/>
            <a:ext cx="4937760" cy="512064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Arial"/>
              </a:rPr>
              <a:t>Day 1 — Automate, then add the agent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7824" y="2212848"/>
            <a:ext cx="1325880" cy="530352"/>
          </a:xfrm>
          <a:prstGeom prst="rect">
            <a:avLst/>
          </a:prstGeom>
          <a:noFill/>
        </p:spPr>
        <p:txBody>
          <a:bodyPr wrap="square" anchor="t" lIns="73152" rIns="73152" tIns="73152" bIns="73152">
            <a:spAutoFit/>
          </a:bodyPr>
          <a:lstStyle/>
          <a:p>
            <a:pPr algn="l"/>
            <a:r>
              <a:rPr sz="950" b="1">
                <a:solidFill>
                  <a:srgbClr val="1F6FEB"/>
                </a:solidFill>
                <a:latin typeface="Arial"/>
              </a:rPr>
              <a:t>9:00 – 9:45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31136" y="2212848"/>
            <a:ext cx="3566160" cy="530352"/>
          </a:xfrm>
          <a:prstGeom prst="rect">
            <a:avLst/>
          </a:prstGeom>
          <a:noFill/>
        </p:spPr>
        <p:txBody>
          <a:bodyPr wrap="square" anchor="t" lIns="73152" rIns="73152" tIns="73152" bIns="73152">
            <a:spAutoFit/>
          </a:bodyPr>
          <a:lstStyle/>
          <a:p>
            <a:pPr algn="l"/>
            <a:r>
              <a:rPr sz="1000" b="0">
                <a:solidFill>
                  <a:srgbClr val="5B6372"/>
                </a:solidFill>
                <a:latin typeface="Arial"/>
              </a:rPr>
              <a:t>Welcome, admin, course map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7824" y="2788920"/>
            <a:ext cx="1325880" cy="530352"/>
          </a:xfrm>
          <a:prstGeom prst="rect">
            <a:avLst/>
          </a:prstGeom>
          <a:noFill/>
        </p:spPr>
        <p:txBody>
          <a:bodyPr wrap="square" anchor="t" lIns="73152" rIns="73152" tIns="73152" bIns="73152">
            <a:spAutoFit/>
          </a:bodyPr>
          <a:lstStyle/>
          <a:p>
            <a:pPr algn="l"/>
            <a:r>
              <a:rPr sz="950" b="1">
                <a:solidFill>
                  <a:srgbClr val="1F6FEB"/>
                </a:solidFill>
                <a:latin typeface="Arial"/>
              </a:rPr>
              <a:t>9:45 – 10:40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31136" y="2788920"/>
            <a:ext cx="3566160" cy="530352"/>
          </a:xfrm>
          <a:prstGeom prst="rect">
            <a:avLst/>
          </a:prstGeom>
          <a:noFill/>
        </p:spPr>
        <p:txBody>
          <a:bodyPr wrap="square" anchor="t" lIns="73152" rIns="73152" tIns="73152" bIns="73152">
            <a:spAutoFit/>
          </a:bodyPr>
          <a:lstStyle/>
          <a:p>
            <a:pPr algn="l"/>
            <a:r>
              <a:rPr sz="1000" b="0">
                <a:solidFill>
                  <a:srgbClr val="5B6372"/>
                </a:solidFill>
                <a:latin typeface="Arial"/>
              </a:rPr>
              <a:t>Module 1: BPA, Power Platform, flows, triggers, actions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7824" y="3364991"/>
            <a:ext cx="1325880" cy="530352"/>
          </a:xfrm>
          <a:prstGeom prst="rect">
            <a:avLst/>
          </a:prstGeom>
          <a:noFill/>
        </p:spPr>
        <p:txBody>
          <a:bodyPr wrap="square" anchor="t" lIns="73152" rIns="73152" tIns="73152" bIns="73152">
            <a:spAutoFit/>
          </a:bodyPr>
          <a:lstStyle/>
          <a:p>
            <a:pPr algn="l"/>
            <a:r>
              <a:rPr sz="950" b="1">
                <a:solidFill>
                  <a:srgbClr val="1F6FEB"/>
                </a:solidFill>
                <a:latin typeface="Arial"/>
              </a:rPr>
              <a:t>10:55 – 12:15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31136" y="3364991"/>
            <a:ext cx="3566160" cy="530352"/>
          </a:xfrm>
          <a:prstGeom prst="rect">
            <a:avLst/>
          </a:prstGeom>
          <a:noFill/>
        </p:spPr>
        <p:txBody>
          <a:bodyPr wrap="square" anchor="t" lIns="73152" rIns="73152" tIns="73152" bIns="73152">
            <a:spAutoFit/>
          </a:bodyPr>
          <a:lstStyle/>
          <a:p>
            <a:pPr algn="l"/>
            <a:r>
              <a:rPr sz="1000" b="0">
                <a:solidFill>
                  <a:srgbClr val="5B6372"/>
                </a:solidFill>
                <a:latin typeface="Arial"/>
              </a:rPr>
              <a:t>Lab 0 · Lab 1 — environment, trigger and actions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7824" y="3941064"/>
            <a:ext cx="1325880" cy="530352"/>
          </a:xfrm>
          <a:prstGeom prst="rect">
            <a:avLst/>
          </a:prstGeom>
          <a:noFill/>
        </p:spPr>
        <p:txBody>
          <a:bodyPr wrap="square" anchor="t" lIns="73152" rIns="73152" tIns="73152" bIns="73152">
            <a:spAutoFit/>
          </a:bodyPr>
          <a:lstStyle/>
          <a:p>
            <a:pPr algn="l"/>
            <a:r>
              <a:rPr sz="950" b="1">
                <a:solidFill>
                  <a:srgbClr val="1F6FEB"/>
                </a:solidFill>
                <a:latin typeface="Arial"/>
              </a:rPr>
              <a:t>12:15 – 12:45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31136" y="3941064"/>
            <a:ext cx="3566160" cy="530352"/>
          </a:xfrm>
          <a:prstGeom prst="rect">
            <a:avLst/>
          </a:prstGeom>
          <a:noFill/>
        </p:spPr>
        <p:txBody>
          <a:bodyPr wrap="square" anchor="t" lIns="73152" rIns="73152" tIns="73152" bIns="73152">
            <a:spAutoFit/>
          </a:bodyPr>
          <a:lstStyle/>
          <a:p>
            <a:pPr algn="l"/>
            <a:r>
              <a:rPr sz="1000" b="0">
                <a:solidFill>
                  <a:srgbClr val="5B6372"/>
                </a:solidFill>
                <a:latin typeface="Arial"/>
              </a:rPr>
              <a:t>Module 1: dynamic content, run history, commit order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77824" y="4517136"/>
            <a:ext cx="1325880" cy="530352"/>
          </a:xfrm>
          <a:prstGeom prst="rect">
            <a:avLst/>
          </a:prstGeom>
          <a:noFill/>
        </p:spPr>
        <p:txBody>
          <a:bodyPr wrap="square" anchor="t" lIns="73152" rIns="73152" tIns="73152" bIns="73152">
            <a:spAutoFit/>
          </a:bodyPr>
          <a:lstStyle/>
          <a:p>
            <a:pPr algn="l"/>
            <a:r>
              <a:rPr sz="950" b="1">
                <a:solidFill>
                  <a:srgbClr val="1F6FEB"/>
                </a:solidFill>
                <a:latin typeface="Arial"/>
              </a:rPr>
              <a:t>1:45 – 3:15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231136" y="4517136"/>
            <a:ext cx="3566160" cy="530352"/>
          </a:xfrm>
          <a:prstGeom prst="rect">
            <a:avLst/>
          </a:prstGeom>
          <a:noFill/>
        </p:spPr>
        <p:txBody>
          <a:bodyPr wrap="square" anchor="t" lIns="73152" rIns="73152" tIns="73152" bIns="73152">
            <a:spAutoFit/>
          </a:bodyPr>
          <a:lstStyle/>
          <a:p>
            <a:pPr algn="l"/>
            <a:r>
              <a:rPr sz="1000" b="0">
                <a:solidFill>
                  <a:srgbClr val="5B6372"/>
                </a:solidFill>
                <a:latin typeface="Arial"/>
              </a:rPr>
              <a:t>Lab 2 · Module 2 — Excel logging, conditions, human in the loop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7824" y="5093208"/>
            <a:ext cx="1325880" cy="530352"/>
          </a:xfrm>
          <a:prstGeom prst="rect">
            <a:avLst/>
          </a:prstGeom>
          <a:noFill/>
        </p:spPr>
        <p:txBody>
          <a:bodyPr wrap="square" anchor="t" lIns="73152" rIns="73152" tIns="73152" bIns="73152">
            <a:spAutoFit/>
          </a:bodyPr>
          <a:lstStyle/>
          <a:p>
            <a:pPr algn="l"/>
            <a:r>
              <a:rPr sz="950" b="1">
                <a:solidFill>
                  <a:srgbClr val="1F6FEB"/>
                </a:solidFill>
                <a:latin typeface="Arial"/>
              </a:rPr>
              <a:t>3:30 – 6:00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231136" y="5093208"/>
            <a:ext cx="3566160" cy="530352"/>
          </a:xfrm>
          <a:prstGeom prst="rect">
            <a:avLst/>
          </a:prstGeom>
          <a:noFill/>
        </p:spPr>
        <p:txBody>
          <a:bodyPr wrap="square" anchor="t" lIns="73152" rIns="73152" tIns="73152" bIns="73152">
            <a:spAutoFit/>
          </a:bodyPr>
          <a:lstStyle/>
          <a:p>
            <a:pPr algn="l"/>
            <a:r>
              <a:rPr sz="1000" b="0">
                <a:solidFill>
                  <a:srgbClr val="5B6372"/>
                </a:solidFill>
                <a:latin typeface="Arial"/>
              </a:rPr>
              <a:t>Lab 3 · Module 3 · Lab 4 — approval, agent anatomy, four agents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90488" y="1572768"/>
            <a:ext cx="5303520" cy="420624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6D3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90488" y="1572768"/>
            <a:ext cx="5303520" cy="512064"/>
          </a:xfrm>
          <a:prstGeom prst="rect">
            <a:avLst/>
          </a:prstGeom>
          <a:solidFill>
            <a:srgbClr val="6D3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91656" y="1572768"/>
            <a:ext cx="4937760" cy="512064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Arial"/>
              </a:rPr>
              <a:t>Day 2 — Connect, supervise, ground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9944" y="2212848"/>
            <a:ext cx="1325880" cy="530352"/>
          </a:xfrm>
          <a:prstGeom prst="rect">
            <a:avLst/>
          </a:prstGeom>
          <a:noFill/>
        </p:spPr>
        <p:txBody>
          <a:bodyPr wrap="square" anchor="t" lIns="73152" rIns="73152" tIns="73152" bIns="73152">
            <a:spAutoFit/>
          </a:bodyPr>
          <a:lstStyle/>
          <a:p>
            <a:pPr algn="l"/>
            <a:r>
              <a:rPr sz="950" b="1">
                <a:solidFill>
                  <a:srgbClr val="6D3FD2"/>
                </a:solidFill>
                <a:latin typeface="Arial"/>
              </a:rPr>
              <a:t>9:00 – 9:40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63256" y="2212848"/>
            <a:ext cx="3566160" cy="530352"/>
          </a:xfrm>
          <a:prstGeom prst="rect">
            <a:avLst/>
          </a:prstGeom>
          <a:noFill/>
        </p:spPr>
        <p:txBody>
          <a:bodyPr wrap="square" anchor="t" lIns="73152" rIns="73152" tIns="73152" bIns="73152">
            <a:spAutoFit/>
          </a:bodyPr>
          <a:lstStyle/>
          <a:p>
            <a:pPr algn="l"/>
            <a:r>
              <a:rPr sz="1000" b="0">
                <a:solidFill>
                  <a:srgbClr val="5B6372"/>
                </a:solidFill>
                <a:latin typeface="Arial"/>
              </a:rPr>
              <a:t>Recap · Lab 5 — grounding and publishing to Teams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9944" y="2788920"/>
            <a:ext cx="1325880" cy="530352"/>
          </a:xfrm>
          <a:prstGeom prst="rect">
            <a:avLst/>
          </a:prstGeom>
          <a:noFill/>
        </p:spPr>
        <p:txBody>
          <a:bodyPr wrap="square" anchor="t" lIns="73152" rIns="73152" tIns="73152" bIns="73152">
            <a:spAutoFit/>
          </a:bodyPr>
          <a:lstStyle/>
          <a:p>
            <a:pPr algn="l"/>
            <a:r>
              <a:rPr sz="950" b="1">
                <a:solidFill>
                  <a:srgbClr val="6D3FD2"/>
                </a:solidFill>
                <a:latin typeface="Arial"/>
              </a:rPr>
              <a:t>9:40 – 11:10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63256" y="2788920"/>
            <a:ext cx="3566160" cy="530352"/>
          </a:xfrm>
          <a:prstGeom prst="rect">
            <a:avLst/>
          </a:prstGeom>
          <a:noFill/>
        </p:spPr>
        <p:txBody>
          <a:bodyPr wrap="square" anchor="t" lIns="73152" rIns="73152" tIns="73152" bIns="73152">
            <a:spAutoFit/>
          </a:bodyPr>
          <a:lstStyle/>
          <a:p>
            <a:pPr algn="l"/>
            <a:r>
              <a:rPr sz="1000" b="0">
                <a:solidFill>
                  <a:srgbClr val="5B6372"/>
                </a:solidFill>
                <a:latin typeface="Arial"/>
              </a:rPr>
              <a:t>Module 4 · Lab 6 — HTTP, structured output, boundary of agency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9944" y="3364991"/>
            <a:ext cx="1325880" cy="530352"/>
          </a:xfrm>
          <a:prstGeom prst="rect">
            <a:avLst/>
          </a:prstGeom>
          <a:noFill/>
        </p:spPr>
        <p:txBody>
          <a:bodyPr wrap="square" anchor="t" lIns="73152" rIns="73152" tIns="73152" bIns="73152">
            <a:spAutoFit/>
          </a:bodyPr>
          <a:lstStyle/>
          <a:p>
            <a:pPr algn="l"/>
            <a:r>
              <a:rPr sz="950" b="1">
                <a:solidFill>
                  <a:srgbClr val="6D3FD2"/>
                </a:solidFill>
                <a:latin typeface="Arial"/>
              </a:rPr>
              <a:t>11:25 – 12:05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63256" y="3364991"/>
            <a:ext cx="3566160" cy="530352"/>
          </a:xfrm>
          <a:prstGeom prst="rect">
            <a:avLst/>
          </a:prstGeom>
          <a:noFill/>
        </p:spPr>
        <p:txBody>
          <a:bodyPr wrap="square" anchor="t" lIns="73152" rIns="73152" tIns="73152" bIns="73152">
            <a:spAutoFit/>
          </a:bodyPr>
          <a:lstStyle/>
          <a:p>
            <a:pPr algn="l"/>
            <a:r>
              <a:rPr sz="1000" b="0">
                <a:solidFill>
                  <a:srgbClr val="5B6372"/>
                </a:solidFill>
                <a:latin typeface="Arial"/>
              </a:rPr>
              <a:t>Lab 7 — the agent alone in public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9944" y="3941064"/>
            <a:ext cx="1325880" cy="530352"/>
          </a:xfrm>
          <a:prstGeom prst="rect">
            <a:avLst/>
          </a:prstGeom>
          <a:noFill/>
        </p:spPr>
        <p:txBody>
          <a:bodyPr wrap="square" anchor="t" lIns="73152" rIns="73152" tIns="73152" bIns="73152">
            <a:spAutoFit/>
          </a:bodyPr>
          <a:lstStyle/>
          <a:p>
            <a:pPr algn="l"/>
            <a:r>
              <a:rPr sz="950" b="1">
                <a:solidFill>
                  <a:srgbClr val="6D3FD2"/>
                </a:solidFill>
                <a:latin typeface="Arial"/>
              </a:rPr>
              <a:t>1:05 – 2:05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63256" y="3941064"/>
            <a:ext cx="3566160" cy="530352"/>
          </a:xfrm>
          <a:prstGeom prst="rect">
            <a:avLst/>
          </a:prstGeom>
          <a:noFill/>
        </p:spPr>
        <p:txBody>
          <a:bodyPr wrap="square" anchor="t" lIns="73152" rIns="73152" tIns="73152" bIns="73152">
            <a:spAutoFit/>
          </a:bodyPr>
          <a:lstStyle/>
          <a:p>
            <a:pPr algn="l"/>
            <a:r>
              <a:rPr sz="1000" b="0">
                <a:solidFill>
                  <a:srgbClr val="5B6372"/>
                </a:solidFill>
                <a:latin typeface="Arial"/>
              </a:rPr>
              <a:t>Lab 8 — the human review gate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9944" y="4517136"/>
            <a:ext cx="1325880" cy="530352"/>
          </a:xfrm>
          <a:prstGeom prst="rect">
            <a:avLst/>
          </a:prstGeom>
          <a:noFill/>
        </p:spPr>
        <p:txBody>
          <a:bodyPr wrap="square" anchor="t" lIns="73152" rIns="73152" tIns="73152" bIns="73152">
            <a:spAutoFit/>
          </a:bodyPr>
          <a:lstStyle/>
          <a:p>
            <a:pPr algn="l"/>
            <a:r>
              <a:rPr sz="950" b="1">
                <a:solidFill>
                  <a:srgbClr val="6D3FD2"/>
                </a:solidFill>
                <a:latin typeface="Arial"/>
              </a:rPr>
              <a:t>2:05 – 3:55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63256" y="4517136"/>
            <a:ext cx="3566160" cy="530352"/>
          </a:xfrm>
          <a:prstGeom prst="rect">
            <a:avLst/>
          </a:prstGeom>
          <a:noFill/>
        </p:spPr>
        <p:txBody>
          <a:bodyPr wrap="square" anchor="t" lIns="73152" rIns="73152" tIns="73152" bIns="73152">
            <a:spAutoFit/>
          </a:bodyPr>
          <a:lstStyle/>
          <a:p>
            <a:pPr algn="l"/>
            <a:r>
              <a:rPr sz="1000" b="0">
                <a:solidFill>
                  <a:srgbClr val="5B6372"/>
                </a:solidFill>
                <a:latin typeface="Arial"/>
              </a:rPr>
              <a:t>Module 5 · Lab 9 · Lab 10 — RAG, built-in then Pinecone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9944" y="5093208"/>
            <a:ext cx="1325880" cy="530352"/>
          </a:xfrm>
          <a:prstGeom prst="rect">
            <a:avLst/>
          </a:prstGeom>
          <a:noFill/>
        </p:spPr>
        <p:txBody>
          <a:bodyPr wrap="square" anchor="t" lIns="73152" rIns="73152" tIns="73152" bIns="73152">
            <a:spAutoFit/>
          </a:bodyPr>
          <a:lstStyle/>
          <a:p>
            <a:pPr algn="l"/>
            <a:r>
              <a:rPr sz="950" b="1">
                <a:solidFill>
                  <a:srgbClr val="6D3FD2"/>
                </a:solidFill>
                <a:latin typeface="Arial"/>
              </a:rPr>
              <a:t>4:00 – 6:00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63256" y="5093208"/>
            <a:ext cx="3566160" cy="530352"/>
          </a:xfrm>
          <a:prstGeom prst="rect">
            <a:avLst/>
          </a:prstGeom>
          <a:noFill/>
        </p:spPr>
        <p:txBody>
          <a:bodyPr wrap="square" anchor="t" lIns="73152" rIns="73152" tIns="73152" bIns="73152">
            <a:spAutoFit/>
          </a:bodyPr>
          <a:lstStyle/>
          <a:p>
            <a:pPr algn="l"/>
            <a:r>
              <a:rPr sz="1000" b="0">
                <a:solidFill>
                  <a:srgbClr val="5B6372"/>
                </a:solidFill>
                <a:latin typeface="Arial"/>
              </a:rPr>
              <a:t>Written Assessment (SAQ) 1 hr + Practical Performance 1 hr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58368" y="5532120"/>
            <a:ext cx="10835640" cy="566928"/>
          </a:xfrm>
          <a:prstGeom prst="roundRect">
            <a:avLst/>
          </a:prstGeom>
          <a:solidFill>
            <a:srgbClr val="F5F8FC"/>
          </a:solidFill>
          <a:ln w="20320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14400" y="5532120"/>
            <a:ext cx="10332720" cy="566928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400" b="1">
                <a:solidFill>
                  <a:srgbClr val="161B26"/>
                </a:solidFill>
                <a:latin typeface="Arial"/>
              </a:rPr>
              <a:t>Each day runs 9:00am–6:00pm — 8 scheduled hours after a 1-hour lunch, with the two 15-minute tea breaks counted within.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Business Process Automation with Power Automate &amp; Copilot Studio Agents  ·  TGS-2022017524  ·  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BEFORE THE ASSESSMENT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Briefing for Assessment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8308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>
                <a:solidFill>
                  <a:srgbClr val="161B26"/>
                </a:solidFill>
                <a:latin typeface="Arial"/>
              </a:rPr>
              <a:t>•  Place phones and other materials under the table or on the floor.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161B26"/>
                </a:solidFill>
                <a:latin typeface="Arial"/>
              </a:rPr>
              <a:t>•  No photos or recording of assessment scripts.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161B26"/>
                </a:solidFill>
                <a:latin typeface="Arial"/>
              </a:rPr>
              <a:t>•  No discussion during the assessment.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161B26"/>
                </a:solidFill>
                <a:latin typeface="Arial"/>
              </a:rPr>
              <a:t>•  Use a black/blue pen for hard-copy assessments.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161B26"/>
                </a:solidFill>
                <a:latin typeface="Arial"/>
              </a:rPr>
              <a:t>•  No liquid paper / correction tape.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161B26"/>
                </a:solidFill>
                <a:latin typeface="Arial"/>
              </a:rPr>
              <a:t>•  Scripts are collected when time is up.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73952"/>
            <a:ext cx="84124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Business Process Automation with Power Automate &amp; Copilot Studio Agents  ·  TGS-2022017524  ·  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73952"/>
            <a:ext cx="566928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61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47472"/>
            <a:ext cx="10789920" cy="256032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FINAL ASSESSMENT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789920" cy="566928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Assessment &amp; Funding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3716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828800"/>
            <a:ext cx="3383280" cy="3977639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828800"/>
            <a:ext cx="82296" cy="3977639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59536" y="2029968"/>
            <a:ext cx="457200" cy="457200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536" y="2029968"/>
            <a:ext cx="457200" cy="45720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26464" y="1975104"/>
            <a:ext cx="2423160" cy="41148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700" b="1">
                <a:solidFill>
                  <a:srgbClr val="1F6FEB"/>
                </a:solidFill>
                <a:latin typeface="Arial"/>
              </a:rPr>
              <a:t>Written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68880"/>
            <a:ext cx="2907792" cy="3227831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400" b="0">
                <a:solidFill>
                  <a:srgbClr val="5B6372"/>
                </a:solidFill>
                <a:latin typeface="Arial"/>
              </a:rPr>
              <a:t>1 hour · open book
Modules 1–5 and the lab concepts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15968" y="1828800"/>
            <a:ext cx="3383280" cy="3977639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15968" y="1828800"/>
            <a:ext cx="82296" cy="3977639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517136" y="2029968"/>
            <a:ext cx="457200" cy="457200"/>
          </a:xfrm>
          <a:prstGeom prst="ellipse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17136" y="2029968"/>
            <a:ext cx="457200" cy="45720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84064" y="1975104"/>
            <a:ext cx="2423160" cy="41148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700" b="1">
                <a:solidFill>
                  <a:srgbClr val="108A73"/>
                </a:solidFill>
                <a:latin typeface="Arial"/>
              </a:rPr>
              <a:t>Practical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2468880"/>
            <a:ext cx="2907792" cy="3227831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400" b="0">
                <a:solidFill>
                  <a:srgbClr val="5B6372"/>
                </a:solidFill>
                <a:latin typeface="Arial"/>
              </a:rPr>
              <a:t>1 hour · open book
Build and verify a working flow and agent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973568" y="1828800"/>
            <a:ext cx="3383280" cy="3977639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973568" y="1828800"/>
            <a:ext cx="82296" cy="3977639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174736" y="2029968"/>
            <a:ext cx="457200" cy="457200"/>
          </a:xfrm>
          <a:prstGeom prst="ellipse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174736" y="2029968"/>
            <a:ext cx="457200" cy="45720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741664" y="1975104"/>
            <a:ext cx="2423160" cy="41148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700" b="1">
                <a:solidFill>
                  <a:srgbClr val="6D3FD2"/>
                </a:solidFill>
                <a:latin typeface="Arial"/>
              </a:rPr>
              <a:t>Evidence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0" y="2468880"/>
            <a:ext cx="2907792" cy="3227831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400" b="0">
                <a:solidFill>
                  <a:srgbClr val="5B6372"/>
                </a:solidFill>
                <a:latin typeface="Arial"/>
              </a:rPr>
              <a:t>Submit on the LMS
Competent result + attendance requirement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6492240"/>
            <a:ext cx="10835640" cy="18288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Business Process Automation with Power Automate and Copilot Studio Agents   |   62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ON ASSESSMENT DAY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Assessment 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41424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41424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TRAQOM survey — scan the QR code on the LMS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8841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66313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966313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530497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30497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12617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Assessment digital attendance — scan the SSG QR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07914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55386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55386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19570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19570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1690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Sit WA (SAQ) then PP — open book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6987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44459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344459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908643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08643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90763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Submit your answers on the LMS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86060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533532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533532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097716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97716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79836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Sign the Assessment Summary Record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5760" y="6473952"/>
            <a:ext cx="84124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Business Process Automation with Power Automate &amp; Copilot Studio Agents  ·  TGS-2022017524  ·  © 2026 Tertiary Infotech Academy Pte Ltd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292840" y="6473952"/>
            <a:ext cx="566928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63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56032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COURSE REPOSITORY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789920" cy="603504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Access the Hands-On Labs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3716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828800"/>
            <a:ext cx="5303520" cy="1783080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828800"/>
            <a:ext cx="82296" cy="178308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2011680"/>
            <a:ext cx="420624" cy="42062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2011680"/>
            <a:ext cx="420624" cy="420624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56816"/>
            <a:ext cx="4352544" cy="402336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600" b="1">
                <a:solidFill>
                  <a:srgbClr val="1F6FEB"/>
                </a:solidFill>
                <a:latin typeface="Arial"/>
              </a:rPr>
              <a:t>11 labs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32304"/>
            <a:ext cx="4809744" cy="1051560"/>
          </a:xfrm>
          <a:prstGeom prst="rect">
            <a:avLst/>
          </a:prstGeom>
          <a:noFill/>
        </p:spPr>
        <p:txBody>
          <a:bodyPr wrap="square" anchor="t" lIns="73152" rIns="73152" tIns="73152" bIns="73152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Lab 0 setup plus Labs 1–10, each with its own step-by-step guide.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8368" y="3840480"/>
            <a:ext cx="5303520" cy="1783080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58368" y="3840480"/>
            <a:ext cx="82296" cy="1783080"/>
          </a:xfrm>
          <a:prstGeom prst="rect">
            <a:avLst/>
          </a:prstGeom>
          <a:solidFill>
            <a:srgbClr val="108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77824" y="4023360"/>
            <a:ext cx="420624" cy="420624"/>
          </a:xfrm>
          <a:prstGeom prst="ellipse">
            <a:avLst/>
          </a:prstGeom>
          <a:solidFill>
            <a:srgbClr val="108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77824" y="4023360"/>
            <a:ext cx="420624" cy="420624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08176" y="3968496"/>
            <a:ext cx="4352544" cy="402336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600" b="1">
                <a:solidFill>
                  <a:srgbClr val="108A73"/>
                </a:solidFill>
                <a:latin typeface="Arial"/>
              </a:rPr>
              <a:t>Ready assets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443984"/>
            <a:ext cx="4809744" cy="1051560"/>
          </a:xfrm>
          <a:prstGeom prst="rect">
            <a:avLst/>
          </a:prstGeom>
          <a:noFill/>
        </p:spPr>
        <p:txBody>
          <a:bodyPr wrap="square" anchor="t" lIns="73152" rIns="73152" tIns="73152" bIns="73152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Excel workbooks, brochure PDFs, HTML pages, JSON schemas and flow packages.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90488" y="1828800"/>
            <a:ext cx="5303520" cy="1783080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90488" y="1828800"/>
            <a:ext cx="82296" cy="1783080"/>
          </a:xfrm>
          <a:prstGeom prst="rect">
            <a:avLst/>
          </a:prstGeom>
          <a:solidFill>
            <a:srgbClr val="C77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409944" y="2011680"/>
            <a:ext cx="420624" cy="420624"/>
          </a:xfrm>
          <a:prstGeom prst="ellipse">
            <a:avLst/>
          </a:prstGeom>
          <a:solidFill>
            <a:srgbClr val="C77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9944" y="2011680"/>
            <a:ext cx="420624" cy="420624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40296" y="1956816"/>
            <a:ext cx="4352544" cy="402336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600" b="1">
                <a:solidFill>
                  <a:srgbClr val="C77600"/>
                </a:solidFill>
                <a:latin typeface="Arial"/>
              </a:rPr>
              <a:t>Test data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46520" y="2432304"/>
            <a:ext cx="4809744" cy="1051560"/>
          </a:xfrm>
          <a:prstGeom prst="rect">
            <a:avLst/>
          </a:prstGeom>
          <a:noFill/>
        </p:spPr>
        <p:txBody>
          <a:bodyPr wrap="square" anchor="t" lIns="73152" rIns="73152" tIns="73152" bIns="73152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Sample question sets and probe cases written to make each agent fail.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90488" y="3840480"/>
            <a:ext cx="5303520" cy="1783080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190488" y="3840480"/>
            <a:ext cx="82296" cy="1783080"/>
          </a:xfrm>
          <a:prstGeom prst="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409944" y="4023360"/>
            <a:ext cx="420624" cy="420624"/>
          </a:xfrm>
          <a:prstGeom prst="ellipse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9944" y="4023360"/>
            <a:ext cx="420624" cy="420624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40296" y="3968496"/>
            <a:ext cx="4352544" cy="402336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600" b="1">
                <a:solidFill>
                  <a:srgbClr val="16845B"/>
                </a:solidFill>
                <a:latin typeface="Arial"/>
              </a:rPr>
              <a:t>Work in order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46520" y="4443984"/>
            <a:ext cx="4809744" cy="1051560"/>
          </a:xfrm>
          <a:prstGeom prst="rect">
            <a:avLst/>
          </a:prstGeom>
          <a:noFill/>
        </p:spPr>
        <p:txBody>
          <a:bodyPr wrap="square" anchor="t" lIns="73152" rIns="73152" tIns="73152" bIns="73152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Open labs/README.md and follow the Next link at the foot of each lab.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8368" y="5687568"/>
            <a:ext cx="10835640" cy="566928"/>
          </a:xfrm>
          <a:prstGeom prst="roundRect">
            <a:avLst/>
          </a:prstGeom>
          <a:solidFill>
            <a:srgbClr val="F5F8FC"/>
          </a:solidFill>
          <a:ln w="20320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14400" y="5687568"/>
            <a:ext cx="10332720" cy="566928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400" b="1">
                <a:solidFill>
                  <a:srgbClr val="161B26"/>
                </a:solidFill>
                <a:latin typeface="Arial"/>
              </a:rPr>
              <a:t>Everything is in the course repository; the Learner Guide reproduces every lab in full.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Business Process Automation with Power Automate &amp; Copilot Studio Agents  ·  TGS-2022017524  ·  © 2026 Tertiary Infotech Academy Pte Ltd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11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658368" y="1737360"/>
            <a:ext cx="10835640" cy="3291840"/>
          </a:xfrm>
          <a:prstGeom prst="roundRect">
            <a:avLst/>
          </a:prstGeom>
          <a:solidFill>
            <a:srgbClr val="F5F8FC"/>
          </a:solidFill>
          <a:ln w="25400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58368" y="1737360"/>
            <a:ext cx="128016" cy="32918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2148840"/>
            <a:ext cx="9875520" cy="36576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500" b="1">
                <a:solidFill>
                  <a:srgbClr val="1F6FEB"/>
                </a:solidFill>
                <a:latin typeface="Arial"/>
              </a:rPr>
              <a:t>MODULE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2606040"/>
            <a:ext cx="9875520" cy="86868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3400" b="1">
                <a:solidFill>
                  <a:srgbClr val="161B26"/>
                </a:solidFill>
                <a:latin typeface="Arial"/>
              </a:rPr>
              <a:t>Business Process Automation and Power Automate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3611880"/>
            <a:ext cx="9875520" cy="1005840"/>
          </a:xfrm>
          <a:prstGeom prst="rect">
            <a:avLst/>
          </a:prstGeom>
          <a:noFill/>
        </p:spPr>
        <p:txBody>
          <a:bodyPr wrap="square" anchor="t" lIns="73152" rIns="73152" tIns="73152" bIns="73152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B6372"/>
                </a:solidFill>
                <a:latin typeface="Arial"/>
              </a:rPr>
              <a:t>What automation actually removes  ·  the Power Platform  ·  flows, triggers and actions  ·  dynamic content and run history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5B6372"/>
                </a:solidFill>
                <a:latin typeface="Arial"/>
              </a:rPr>
              <a:t>Applied in Lab 0, Lab 1 and Lab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Business Process Automation with Power Automate &amp; Copilot Studio Agents  ·  TGS-2022017524  ·  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202947079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56032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MODULE 1 · CONCEPT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789920" cy="603504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What Business Process Automation Removes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3716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1600200"/>
            <a:ext cx="10835640" cy="457200"/>
          </a:xfrm>
          <a:prstGeom prst="rect">
            <a:avLst/>
          </a:prstGeom>
          <a:noFill/>
        </p:spPr>
        <p:txBody>
          <a:bodyPr wrap="square" anchor="t" lIns="73152" rIns="73152" tIns="73152" bIns="73152">
            <a:spAutoFit/>
          </a:bodyPr>
          <a:lstStyle/>
          <a:p>
            <a:pPr algn="l"/>
            <a:r>
              <a:rPr sz="1500" b="0">
                <a:solidFill>
                  <a:srgbClr val="161B26"/>
                </a:solidFill>
                <a:latin typeface="Arial"/>
              </a:rPr>
              <a:t>Business process automation is not “software that does work faster”. It is the removal of the hand-off</a:t>
            </a:r>
          </a:p>
          <a:p>
            <a:pPr algn="l"/>
            <a:r>
              <a:rPr sz="1500" b="0">
                <a:solidFill>
                  <a:srgbClr val="161B26"/>
                </a:solidFill>
                <a:latin typeface="Arial"/>
              </a:rPr>
              <a:t>where a person re-types what another system already knows.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2514600"/>
            <a:ext cx="1371600" cy="45720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200" b="1">
                <a:solidFill>
                  <a:srgbClr val="C2413A"/>
                </a:solidFill>
                <a:latin typeface="Arial"/>
              </a:rPr>
              <a:t>MANUAL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103120" y="2487168"/>
            <a:ext cx="2027681" cy="86868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5B63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157984" y="2542032"/>
            <a:ext cx="1917953" cy="758952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200" b="1">
                <a:solidFill>
                  <a:srgbClr val="161B26"/>
                </a:solidFill>
                <a:latin typeface="Arial"/>
              </a:rPr>
              <a:t>Form filled in</a:t>
            </a:r>
          </a:p>
        </p:txBody>
      </p:sp>
      <p:sp>
        <p:nvSpPr>
          <p:cNvPr id="10" name="Chevron 9"/>
          <p:cNvSpPr/>
          <p:nvPr/>
        </p:nvSpPr>
        <p:spPr>
          <a:xfrm>
            <a:off x="4194809" y="2766060"/>
            <a:ext cx="274320" cy="310896"/>
          </a:xfrm>
          <a:prstGeom prst="chevron">
            <a:avLst/>
          </a:prstGeom>
          <a:solidFill>
            <a:srgbClr val="5B63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551425" y="2487168"/>
            <a:ext cx="2027681" cy="86868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5B63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06289" y="2542032"/>
            <a:ext cx="1917953" cy="758952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200" b="1">
                <a:solidFill>
                  <a:srgbClr val="161B26"/>
                </a:solidFill>
                <a:latin typeface="Arial"/>
              </a:rPr>
              <a:t>Someone reads it</a:t>
            </a:r>
          </a:p>
        </p:txBody>
      </p:sp>
      <p:sp>
        <p:nvSpPr>
          <p:cNvPr id="13" name="Chevron 12"/>
          <p:cNvSpPr/>
          <p:nvPr/>
        </p:nvSpPr>
        <p:spPr>
          <a:xfrm>
            <a:off x="6643114" y="2766060"/>
            <a:ext cx="274320" cy="310896"/>
          </a:xfrm>
          <a:prstGeom prst="chevron">
            <a:avLst/>
          </a:prstGeom>
          <a:solidFill>
            <a:srgbClr val="5B63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999731" y="2487168"/>
            <a:ext cx="2027681" cy="86868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5B63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054595" y="2542032"/>
            <a:ext cx="1917953" cy="758952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200" b="1">
                <a:solidFill>
                  <a:srgbClr val="161B26"/>
                </a:solidFill>
                <a:latin typeface="Arial"/>
              </a:rPr>
              <a:t>Re-typed into Excel</a:t>
            </a:r>
          </a:p>
        </p:txBody>
      </p:sp>
      <p:sp>
        <p:nvSpPr>
          <p:cNvPr id="16" name="Chevron 15"/>
          <p:cNvSpPr/>
          <p:nvPr/>
        </p:nvSpPr>
        <p:spPr>
          <a:xfrm>
            <a:off x="9091420" y="2766060"/>
            <a:ext cx="274320" cy="310896"/>
          </a:xfrm>
          <a:prstGeom prst="chevron">
            <a:avLst/>
          </a:prstGeom>
          <a:solidFill>
            <a:srgbClr val="5B63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448038" y="2487168"/>
            <a:ext cx="2027681" cy="86868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5B63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502902" y="2542032"/>
            <a:ext cx="1917953" cy="758952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200" b="1">
                <a:solidFill>
                  <a:srgbClr val="161B26"/>
                </a:solidFill>
                <a:latin typeface="Arial"/>
              </a:rPr>
              <a:t>Someone remembers</a:t>
            </a:r>
          </a:p>
          <a:p>
            <a:pPr algn="ctr"/>
            <a:r>
              <a:rPr sz="1200" b="1">
                <a:solidFill>
                  <a:srgbClr val="161B26"/>
                </a:solidFill>
                <a:latin typeface="Arial"/>
              </a:rPr>
              <a:t>to reply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3749039"/>
            <a:ext cx="1371600" cy="45720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200" b="1">
                <a:solidFill>
                  <a:srgbClr val="16845B"/>
                </a:solidFill>
                <a:latin typeface="Arial"/>
              </a:rPr>
              <a:t>AUTOMATED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103120" y="3703320"/>
            <a:ext cx="2027681" cy="86868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157984" y="3758183"/>
            <a:ext cx="1917953" cy="758952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200" b="1">
                <a:solidFill>
                  <a:srgbClr val="161B26"/>
                </a:solidFill>
                <a:latin typeface="Arial"/>
              </a:rPr>
              <a:t>Form submitted</a:t>
            </a:r>
          </a:p>
        </p:txBody>
      </p:sp>
      <p:sp>
        <p:nvSpPr>
          <p:cNvPr id="22" name="Chevron 21"/>
          <p:cNvSpPr/>
          <p:nvPr/>
        </p:nvSpPr>
        <p:spPr>
          <a:xfrm>
            <a:off x="4194809" y="3982211"/>
            <a:ext cx="274320" cy="310896"/>
          </a:xfrm>
          <a:prstGeom prst="chevron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4551425" y="3703320"/>
            <a:ext cx="2027681" cy="86868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606289" y="3758183"/>
            <a:ext cx="1917953" cy="758952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200" b="1">
                <a:solidFill>
                  <a:srgbClr val="161B26"/>
                </a:solidFill>
                <a:latin typeface="Arial"/>
              </a:rPr>
              <a:t>Flow triggered</a:t>
            </a:r>
          </a:p>
        </p:txBody>
      </p:sp>
      <p:sp>
        <p:nvSpPr>
          <p:cNvPr id="25" name="Chevron 24"/>
          <p:cNvSpPr/>
          <p:nvPr/>
        </p:nvSpPr>
        <p:spPr>
          <a:xfrm>
            <a:off x="6643114" y="3982211"/>
            <a:ext cx="274320" cy="310896"/>
          </a:xfrm>
          <a:prstGeom prst="chevron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999731" y="3703320"/>
            <a:ext cx="2027681" cy="86868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108A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054595" y="3758183"/>
            <a:ext cx="1917953" cy="758952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200" b="1">
                <a:solidFill>
                  <a:srgbClr val="161B26"/>
                </a:solidFill>
                <a:latin typeface="Arial"/>
              </a:rPr>
              <a:t>Row written</a:t>
            </a:r>
          </a:p>
        </p:txBody>
      </p:sp>
      <p:sp>
        <p:nvSpPr>
          <p:cNvPr id="28" name="Chevron 27"/>
          <p:cNvSpPr/>
          <p:nvPr/>
        </p:nvSpPr>
        <p:spPr>
          <a:xfrm>
            <a:off x="9091420" y="3982211"/>
            <a:ext cx="274320" cy="310896"/>
          </a:xfrm>
          <a:prstGeom prst="chevron">
            <a:avLst/>
          </a:prstGeom>
          <a:solidFill>
            <a:srgbClr val="108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9448038" y="3703320"/>
            <a:ext cx="2027681" cy="86868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1684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502902" y="3758183"/>
            <a:ext cx="1917953" cy="758952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200" b="1">
                <a:solidFill>
                  <a:srgbClr val="161B26"/>
                </a:solidFill>
                <a:latin typeface="Arial"/>
              </a:rPr>
              <a:t>Reply sent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8368" y="4800600"/>
            <a:ext cx="3392424" cy="1371600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58368" y="4800600"/>
            <a:ext cx="82296" cy="1371600"/>
          </a:xfrm>
          <a:prstGeom prst="rect">
            <a:avLst/>
          </a:prstGeom>
          <a:solidFill>
            <a:srgbClr val="108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14400" y="4928616"/>
            <a:ext cx="2916936" cy="402336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600" b="1">
                <a:solidFill>
                  <a:srgbClr val="108A73"/>
                </a:solidFill>
                <a:latin typeface="Arial"/>
              </a:rPr>
              <a:t>Consistency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4400" y="5404104"/>
            <a:ext cx="2898648" cy="640080"/>
          </a:xfrm>
          <a:prstGeom prst="rect">
            <a:avLst/>
          </a:prstGeom>
          <a:noFill/>
        </p:spPr>
        <p:txBody>
          <a:bodyPr wrap="square" anchor="t" lIns="73152" rIns="73152" tIns="73152" bIns="73152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The same input produces the same output, every time, at 3am.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306824" y="4800600"/>
            <a:ext cx="3392424" cy="1371600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306824" y="4800600"/>
            <a:ext cx="82296" cy="13716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562856" y="4928616"/>
            <a:ext cx="2916936" cy="402336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600" b="1">
                <a:solidFill>
                  <a:srgbClr val="1F6FEB"/>
                </a:solidFill>
                <a:latin typeface="Arial"/>
              </a:rPr>
              <a:t>Traceability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62856" y="5404104"/>
            <a:ext cx="2898648" cy="640080"/>
          </a:xfrm>
          <a:prstGeom prst="rect">
            <a:avLst/>
          </a:prstGeom>
          <a:noFill/>
        </p:spPr>
        <p:txBody>
          <a:bodyPr wrap="square" anchor="t" lIns="73152" rIns="73152" tIns="73152" bIns="73152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Every run leaves a history someone can read a year later.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955280" y="4800600"/>
            <a:ext cx="3392424" cy="1371600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55280" y="4800600"/>
            <a:ext cx="82296" cy="1371600"/>
          </a:xfrm>
          <a:prstGeom prst="rect">
            <a:avLst/>
          </a:prstGeom>
          <a:solidFill>
            <a:srgbClr val="6D3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211312" y="4928616"/>
            <a:ext cx="2916936" cy="402336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600" b="1">
                <a:solidFill>
                  <a:srgbClr val="6D3FD2"/>
                </a:solidFill>
                <a:latin typeface="Arial"/>
              </a:rPr>
              <a:t>Capacity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211312" y="5404104"/>
            <a:ext cx="2898648" cy="640080"/>
          </a:xfrm>
          <a:prstGeom prst="rect">
            <a:avLst/>
          </a:prstGeom>
          <a:noFill/>
        </p:spPr>
        <p:txBody>
          <a:bodyPr wrap="square" anchor="t" lIns="73152" rIns="73152" tIns="73152" bIns="73152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People are moved to the judgement calls the machine cannot make.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Business Process Automation with Power Automate &amp; Copilot Studio Agents  ·  TGS-2022017524  ·  © 2026 Tertiary Infotech Academy Pte Ltd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229397290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56032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MODULE 1 · CONCEPT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789920" cy="603504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The Power Platform, and the Environment That Holds It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3716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691640"/>
            <a:ext cx="2487168" cy="2286000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691640"/>
            <a:ext cx="82296" cy="2286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874520"/>
            <a:ext cx="420624" cy="42062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1874520"/>
            <a:ext cx="420624" cy="420624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819656"/>
            <a:ext cx="1536192" cy="402336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400" b="1">
                <a:solidFill>
                  <a:srgbClr val="1F6FEB"/>
                </a:solidFill>
                <a:latin typeface="Arial"/>
              </a:rPr>
              <a:t>Power Automate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295144"/>
            <a:ext cx="1993392" cy="1554480"/>
          </a:xfrm>
          <a:prstGeom prst="rect">
            <a:avLst/>
          </a:prstGeom>
          <a:noFill/>
        </p:spPr>
        <p:txBody>
          <a:bodyPr wrap="square" anchor="t" lIns="73152" rIns="73152" tIns="73152" bIns="73152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Workflows. Triggers and actions that run without a person.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14400" y="3529584"/>
            <a:ext cx="1371600" cy="310896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3529584"/>
            <a:ext cx="1371600" cy="310896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Labs 1–3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401568" y="1691640"/>
            <a:ext cx="2487168" cy="2286000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401568" y="1691640"/>
            <a:ext cx="82296" cy="2286000"/>
          </a:xfrm>
          <a:prstGeom prst="rect">
            <a:avLst/>
          </a:prstGeom>
          <a:solidFill>
            <a:srgbClr val="6D3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621024" y="1874520"/>
            <a:ext cx="420624" cy="420624"/>
          </a:xfrm>
          <a:prstGeom prst="ellipse">
            <a:avLst/>
          </a:prstGeom>
          <a:solidFill>
            <a:srgbClr val="6D3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21024" y="1874520"/>
            <a:ext cx="420624" cy="420624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51376" y="1819656"/>
            <a:ext cx="1536192" cy="402336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400" b="1">
                <a:solidFill>
                  <a:srgbClr val="6D3FD2"/>
                </a:solidFill>
                <a:latin typeface="Arial"/>
              </a:rPr>
              <a:t>Copilot Studio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0" y="2295144"/>
            <a:ext cx="1993392" cy="1554480"/>
          </a:xfrm>
          <a:prstGeom prst="rect">
            <a:avLst/>
          </a:prstGeom>
          <a:noFill/>
        </p:spPr>
        <p:txBody>
          <a:bodyPr wrap="square" anchor="t" lIns="73152" rIns="73152" tIns="73152" bIns="73152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Conversational agents with instructions, knowledge and tools.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657600" y="3529584"/>
            <a:ext cx="1371600" cy="310896"/>
          </a:xfrm>
          <a:prstGeom prst="roundRect">
            <a:avLst/>
          </a:prstGeom>
          <a:solidFill>
            <a:srgbClr val="6D3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0" y="3529584"/>
            <a:ext cx="1371600" cy="310896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Labs 4–10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44768" y="1691640"/>
            <a:ext cx="2487168" cy="2286000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44768" y="1691640"/>
            <a:ext cx="82296" cy="2286000"/>
          </a:xfrm>
          <a:prstGeom prst="rect">
            <a:avLst/>
          </a:prstGeom>
          <a:solidFill>
            <a:srgbClr val="108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364224" y="1874520"/>
            <a:ext cx="420624" cy="420624"/>
          </a:xfrm>
          <a:prstGeom prst="ellipse">
            <a:avLst/>
          </a:prstGeom>
          <a:solidFill>
            <a:srgbClr val="108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64224" y="1874520"/>
            <a:ext cx="420624" cy="420624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94576" y="1819656"/>
            <a:ext cx="1536192" cy="402336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400" b="1">
                <a:solidFill>
                  <a:srgbClr val="108A73"/>
                </a:solidFill>
                <a:latin typeface="Arial"/>
              </a:rPr>
              <a:t>Dataverse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2295144"/>
            <a:ext cx="1993392" cy="1554480"/>
          </a:xfrm>
          <a:prstGeom prst="rect">
            <a:avLst/>
          </a:prstGeom>
          <a:noFill/>
        </p:spPr>
        <p:txBody>
          <a:bodyPr wrap="square" anchor="t" lIns="73152" rIns="73152" tIns="73152" bIns="73152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The managed data store behind the environment.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400800" y="3529584"/>
            <a:ext cx="1371600" cy="310896"/>
          </a:xfrm>
          <a:prstGeom prst="roundRect">
            <a:avLst/>
          </a:prstGeom>
          <a:solidFill>
            <a:srgbClr val="108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0" y="3529584"/>
            <a:ext cx="1371600" cy="310896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Lab 0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887968" y="1691640"/>
            <a:ext cx="2487168" cy="2286000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887968" y="1691640"/>
            <a:ext cx="82296" cy="2286000"/>
          </a:xfrm>
          <a:prstGeom prst="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9107424" y="1874520"/>
            <a:ext cx="420624" cy="420624"/>
          </a:xfrm>
          <a:prstGeom prst="ellipse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107424" y="1874520"/>
            <a:ext cx="420624" cy="420624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37776" y="1819656"/>
            <a:ext cx="1536192" cy="402336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400" b="1">
                <a:solidFill>
                  <a:srgbClr val="16845B"/>
                </a:solidFill>
                <a:latin typeface="Arial"/>
              </a:rPr>
              <a:t>Connectors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44000" y="2295144"/>
            <a:ext cx="1993392" cy="1554480"/>
          </a:xfrm>
          <a:prstGeom prst="rect">
            <a:avLst/>
          </a:prstGeom>
          <a:noFill/>
        </p:spPr>
        <p:txBody>
          <a:bodyPr wrap="square" anchor="t" lIns="73152" rIns="73152" tIns="73152" bIns="73152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Outlook, Excel, SharePoint, Teams, Forms, HTTP — 1,000+.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144000" y="3529584"/>
            <a:ext cx="1371600" cy="310896"/>
          </a:xfrm>
          <a:prstGeom prst="round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144000" y="3529584"/>
            <a:ext cx="1371600" cy="310896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Every lab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58368" y="4224528"/>
            <a:ext cx="10835640" cy="1371600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14400" y="4343400"/>
            <a:ext cx="10332720" cy="329184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THE ENVIRONMENT IS THE CONTAINER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4400" y="4681728"/>
            <a:ext cx="10332720" cy="822960"/>
          </a:xfrm>
          <a:prstGeom prst="rect">
            <a:avLst/>
          </a:prstGeom>
          <a:noFill/>
        </p:spPr>
        <p:txBody>
          <a:bodyPr wrap="square" anchor="t" lIns="73152" rIns="73152" tIns="73152" bIns="73152">
            <a:spAutoFit/>
          </a:bodyPr>
          <a:lstStyle/>
          <a:p>
            <a:pPr algn="l"/>
            <a:r>
              <a:rPr sz="1200" b="0">
                <a:solidFill>
                  <a:srgbClr val="5B6372"/>
                </a:solidFill>
                <a:latin typeface="Arial"/>
              </a:rPr>
              <a:t>Flows, agents and data all live inside one environment. Power Automate and Copilot Studio must be pointed at the</a:t>
            </a:r>
          </a:p>
          <a:p>
            <a:pPr algn="l"/>
            <a:r>
              <a:rPr sz="1200" b="0">
                <a:solidFill>
                  <a:srgbClr val="5B6372"/>
                </a:solidFill>
                <a:latin typeface="Arial"/>
              </a:rPr>
              <a:t>same one, or your agent cannot see your flow. This is the single most common "where did it go?" in the course.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58368" y="5559552"/>
            <a:ext cx="10835640" cy="7132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1684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841248" y="5687568"/>
            <a:ext cx="1051560" cy="457200"/>
          </a:xfrm>
          <a:prstGeom prst="round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41248" y="5687568"/>
            <a:ext cx="1051560" cy="45720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LAB 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057400" y="5577840"/>
            <a:ext cx="9235440" cy="329184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400" b="1">
                <a:solidFill>
                  <a:srgbClr val="161B26"/>
                </a:solidFill>
                <a:latin typeface="Arial"/>
              </a:rPr>
              <a:t>Lab 0 — Environment Setup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057400" y="5907024"/>
            <a:ext cx="9235440" cy="310896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100" b="0">
                <a:solidFill>
                  <a:srgbClr val="5B6372"/>
                </a:solidFill>
                <a:latin typeface="Arial"/>
              </a:rPr>
              <a:t>Copilot Studio Training (Developer) environment  ·  Power Platform admin centre  ·  40 min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Business Process Automation with Power Automate &amp; Copilot Studio Agents  ·  TGS-2022017524  ·  © 2026 Tertiary Infotech Academy Pte Ltd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250702251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56032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MODULE 1 · CONCEPT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789920" cy="603504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Every Flow Is the Same Four Parts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3716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828800"/>
            <a:ext cx="2393441" cy="128016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1883664"/>
            <a:ext cx="2283713" cy="1170431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400" b="1">
                <a:solidFill>
                  <a:srgbClr val="161B26"/>
                </a:solidFill>
                <a:latin typeface="Arial"/>
              </a:rPr>
              <a:t>TRIGGER</a:t>
            </a:r>
          </a:p>
          <a:p>
            <a:pPr algn="ctr"/>
            <a:r>
              <a:rPr sz="1400" b="1">
                <a:solidFill>
                  <a:srgbClr val="161B26"/>
                </a:solidFill>
                <a:latin typeface="Arial"/>
              </a:rPr>
              <a:t>what starts it</a:t>
            </a:r>
          </a:p>
        </p:txBody>
      </p:sp>
      <p:sp>
        <p:nvSpPr>
          <p:cNvPr id="8" name="Chevron 7"/>
          <p:cNvSpPr/>
          <p:nvPr/>
        </p:nvSpPr>
        <p:spPr>
          <a:xfrm>
            <a:off x="3115817" y="2313432"/>
            <a:ext cx="274320" cy="310896"/>
          </a:xfrm>
          <a:prstGeom prst="chevron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923793" y="1554480"/>
            <a:ext cx="676656" cy="237744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900" b="0">
                <a:solidFill>
                  <a:srgbClr val="5B6372"/>
                </a:solidFill>
                <a:latin typeface="Arial"/>
              </a:rPr>
              <a:t>outputs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72433" y="1828800"/>
            <a:ext cx="2393441" cy="128016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108A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27297" y="1883664"/>
            <a:ext cx="2283713" cy="1170431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400" b="1">
                <a:solidFill>
                  <a:srgbClr val="161B26"/>
                </a:solidFill>
                <a:latin typeface="Arial"/>
              </a:rPr>
              <a:t>ACTION</a:t>
            </a:r>
          </a:p>
          <a:p>
            <a:pPr algn="ctr"/>
            <a:r>
              <a:rPr sz="1400" b="1">
                <a:solidFill>
                  <a:srgbClr val="161B26"/>
                </a:solidFill>
                <a:latin typeface="Arial"/>
              </a:rPr>
              <a:t>do the work</a:t>
            </a:r>
          </a:p>
        </p:txBody>
      </p:sp>
      <p:sp>
        <p:nvSpPr>
          <p:cNvPr id="12" name="Chevron 11"/>
          <p:cNvSpPr/>
          <p:nvPr/>
        </p:nvSpPr>
        <p:spPr>
          <a:xfrm>
            <a:off x="5929882" y="2313432"/>
            <a:ext cx="274320" cy="310896"/>
          </a:xfrm>
          <a:prstGeom prst="chevron">
            <a:avLst/>
          </a:prstGeom>
          <a:solidFill>
            <a:srgbClr val="108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737858" y="1554480"/>
            <a:ext cx="676656" cy="237744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900" b="0">
                <a:solidFill>
                  <a:srgbClr val="5B6372"/>
                </a:solidFill>
                <a:latin typeface="Arial"/>
              </a:rPr>
              <a:t>outputs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86499" y="1828800"/>
            <a:ext cx="2393441" cy="128016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108A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41363" y="1883664"/>
            <a:ext cx="2283713" cy="1170431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400" b="1">
                <a:solidFill>
                  <a:srgbClr val="161B26"/>
                </a:solidFill>
                <a:latin typeface="Arial"/>
              </a:rPr>
              <a:t>ACTION</a:t>
            </a:r>
          </a:p>
          <a:p>
            <a:pPr algn="ctr"/>
            <a:r>
              <a:rPr sz="1400" b="1">
                <a:solidFill>
                  <a:srgbClr val="161B26"/>
                </a:solidFill>
                <a:latin typeface="Arial"/>
              </a:rPr>
              <a:t>do more work</a:t>
            </a:r>
          </a:p>
        </p:txBody>
      </p:sp>
      <p:sp>
        <p:nvSpPr>
          <p:cNvPr id="16" name="Chevron 15"/>
          <p:cNvSpPr/>
          <p:nvPr/>
        </p:nvSpPr>
        <p:spPr>
          <a:xfrm>
            <a:off x="8743948" y="2313432"/>
            <a:ext cx="274320" cy="310896"/>
          </a:xfrm>
          <a:prstGeom prst="chevron">
            <a:avLst/>
          </a:prstGeom>
          <a:solidFill>
            <a:srgbClr val="108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51924" y="1554480"/>
            <a:ext cx="676656" cy="237744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900" b="0">
                <a:solidFill>
                  <a:srgbClr val="5B6372"/>
                </a:solidFill>
                <a:latin typeface="Arial"/>
              </a:rPr>
              <a:t>outputs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00565" y="1828800"/>
            <a:ext cx="2393441" cy="128016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77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55429" y="1883664"/>
            <a:ext cx="2283713" cy="1170431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400" b="1">
                <a:solidFill>
                  <a:srgbClr val="161B26"/>
                </a:solidFill>
                <a:latin typeface="Arial"/>
              </a:rPr>
              <a:t>OUTPUT</a:t>
            </a:r>
          </a:p>
          <a:p>
            <a:pPr algn="ctr"/>
            <a:r>
              <a:rPr sz="1400" b="1">
                <a:solidFill>
                  <a:srgbClr val="161B26"/>
                </a:solidFill>
                <a:latin typeface="Arial"/>
              </a:rPr>
              <a:t>notify or return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" y="3383280"/>
            <a:ext cx="10835640" cy="36576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500" b="1">
                <a:solidFill>
                  <a:srgbClr val="161B26"/>
                </a:solidFill>
                <a:latin typeface="Arial"/>
              </a:rPr>
              <a:t>Every flow, in every lab, is this shape. Only the trigger and the actions change.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58368" y="3886200"/>
            <a:ext cx="3392424" cy="1691640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58368" y="3886200"/>
            <a:ext cx="82296" cy="16916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877824" y="4069080"/>
            <a:ext cx="420624" cy="42062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77824" y="4069080"/>
            <a:ext cx="420624" cy="420624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08176" y="4014216"/>
            <a:ext cx="2441448" cy="402336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600" b="1">
                <a:solidFill>
                  <a:srgbClr val="1F6FEB"/>
                </a:solidFill>
                <a:latin typeface="Arial"/>
              </a:rPr>
              <a:t>One trigger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" y="4489704"/>
            <a:ext cx="2898648" cy="960120"/>
          </a:xfrm>
          <a:prstGeom prst="rect">
            <a:avLst/>
          </a:prstGeom>
          <a:noFill/>
        </p:spPr>
        <p:txBody>
          <a:bodyPr wrap="square" anchor="t" lIns="73152" rIns="73152" tIns="73152" bIns="73152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A flow has exactly one trigger. Change the trigger and you have a different flow — the actions may not change at all.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306824" y="3886200"/>
            <a:ext cx="3392424" cy="1691640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306824" y="3886200"/>
            <a:ext cx="82296" cy="1691640"/>
          </a:xfrm>
          <a:prstGeom prst="rect">
            <a:avLst/>
          </a:prstGeom>
          <a:solidFill>
            <a:srgbClr val="108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4526280" y="4069080"/>
            <a:ext cx="420624" cy="420624"/>
          </a:xfrm>
          <a:prstGeom prst="ellipse">
            <a:avLst/>
          </a:prstGeom>
          <a:solidFill>
            <a:srgbClr val="108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26280" y="4069080"/>
            <a:ext cx="420624" cy="420624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56632" y="4014216"/>
            <a:ext cx="2441448" cy="402336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600" b="1">
                <a:solidFill>
                  <a:srgbClr val="108A73"/>
                </a:solidFill>
                <a:latin typeface="Arial"/>
              </a:rPr>
              <a:t>Actions are ordered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62856" y="4489704"/>
            <a:ext cx="2898648" cy="960120"/>
          </a:xfrm>
          <a:prstGeom prst="rect">
            <a:avLst/>
          </a:prstGeom>
          <a:noFill/>
        </p:spPr>
        <p:txBody>
          <a:bodyPr wrap="square" anchor="t" lIns="73152" rIns="73152" tIns="73152" bIns="73152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Each action runs after the one above it, and can read the outputs of every step before it.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955280" y="3886200"/>
            <a:ext cx="3392424" cy="1691640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7955280" y="3886200"/>
            <a:ext cx="82296" cy="1691640"/>
          </a:xfrm>
          <a:prstGeom prst="rect">
            <a:avLst/>
          </a:prstGeom>
          <a:solidFill>
            <a:srgbClr val="6D3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8174736" y="4069080"/>
            <a:ext cx="420624" cy="420624"/>
          </a:xfrm>
          <a:prstGeom prst="ellipse">
            <a:avLst/>
          </a:prstGeom>
          <a:solidFill>
            <a:srgbClr val="6D3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174736" y="4069080"/>
            <a:ext cx="420624" cy="420624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705088" y="4014216"/>
            <a:ext cx="2441448" cy="402336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600" b="1">
                <a:solidFill>
                  <a:srgbClr val="6D3FD2"/>
                </a:solidFill>
                <a:latin typeface="Arial"/>
              </a:rPr>
              <a:t>Dynamic content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11312" y="4489704"/>
            <a:ext cx="2898648" cy="960120"/>
          </a:xfrm>
          <a:prstGeom prst="rect">
            <a:avLst/>
          </a:prstGeom>
          <a:noFill/>
        </p:spPr>
        <p:txBody>
          <a:bodyPr wrap="square" anchor="t" lIns="73152" rIns="73152" tIns="73152" bIns="73152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Those earlier outputs are inserted as tokens, not typed. A typed value is a constant that will be wrong tomorrow.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58368" y="5724144"/>
            <a:ext cx="10835640" cy="566928"/>
          </a:xfrm>
          <a:prstGeom prst="roundRect">
            <a:avLst/>
          </a:prstGeom>
          <a:solidFill>
            <a:srgbClr val="F5F8FC"/>
          </a:solidFill>
          <a:ln w="20320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14400" y="5724144"/>
            <a:ext cx="10332720" cy="566928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400" b="1">
                <a:solidFill>
                  <a:srgbClr val="161B26"/>
                </a:solidFill>
                <a:latin typeface="Arial"/>
              </a:rPr>
              <a:t>Trigger, actions, outputs. Learn this once in Lab 1 and every later lab is a variation.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Business Process Automation with Power Automate &amp; Copilot Studio Agents  ·  TGS-2022017524  ·  © 2026 Tertiary Infotech Academy Pte Ltd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208364452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56032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MODULE 1 · CONCEPT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789920" cy="603504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Triggers — What Is Allowed to Start a Process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3716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1554480"/>
            <a:ext cx="10835640" cy="365760"/>
          </a:xfrm>
          <a:prstGeom prst="rect">
            <a:avLst/>
          </a:prstGeom>
          <a:noFill/>
        </p:spPr>
        <p:txBody>
          <a:bodyPr wrap="square" anchor="t" lIns="73152" rIns="73152" tIns="73152" bIns="73152">
            <a:spAutoFit/>
          </a:bodyPr>
          <a:lstStyle/>
          <a:p>
            <a:pPr algn="l"/>
            <a:r>
              <a:rPr sz="1400" b="0">
                <a:solidFill>
                  <a:srgbClr val="161B26"/>
                </a:solidFill>
                <a:latin typeface="Arial"/>
              </a:rPr>
              <a:t>Four trigger families. The one you choose is a statement about who or what is allowed to start the process.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2057400"/>
            <a:ext cx="2487168" cy="27432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58368" y="2057400"/>
            <a:ext cx="2487168" cy="4754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2057400"/>
            <a:ext cx="2487168" cy="475488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Manual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651760"/>
            <a:ext cx="2157984" cy="64008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300" b="1">
                <a:solidFill>
                  <a:srgbClr val="161B26"/>
                </a:solidFill>
                <a:latin typeface="Arial"/>
              </a:rPr>
              <a:t>A person presses Run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337560"/>
            <a:ext cx="2157984" cy="1325880"/>
          </a:xfrm>
          <a:prstGeom prst="rect">
            <a:avLst/>
          </a:prstGeom>
          <a:noFill/>
        </p:spPr>
        <p:txBody>
          <a:bodyPr wrap="square" anchor="t" lIns="73152" rIns="73152" tIns="73152" bIns="73152">
            <a:spAutoFit/>
          </a:bodyPr>
          <a:lstStyle/>
          <a:p>
            <a:pPr algn="ctr"/>
            <a:r>
              <a:rPr sz="1000" b="0">
                <a:solidFill>
                  <a:srgbClr val="5B6372"/>
                </a:solidFill>
                <a:latin typeface="Arial"/>
              </a:rPr>
              <a:t>Instant cloud flow · button in</a:t>
            </a:r>
          </a:p>
          <a:p>
            <a:pPr algn="ctr"/>
            <a:r>
              <a:rPr sz="1000" b="0">
                <a:solidFill>
                  <a:srgbClr val="5B6372"/>
                </a:solidFill>
                <a:latin typeface="Arial"/>
              </a:rPr>
              <a:t>the mobile app or Teams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01568" y="2057400"/>
            <a:ext cx="2487168" cy="27432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108A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401568" y="2057400"/>
            <a:ext cx="2487168" cy="475488"/>
          </a:xfrm>
          <a:prstGeom prst="rect">
            <a:avLst/>
          </a:prstGeom>
          <a:solidFill>
            <a:srgbClr val="108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01568" y="2057400"/>
            <a:ext cx="2487168" cy="475488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Scheduled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6160" y="2651760"/>
            <a:ext cx="2157984" cy="64008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300" b="1">
                <a:solidFill>
                  <a:srgbClr val="161B26"/>
                </a:solidFill>
                <a:latin typeface="Arial"/>
              </a:rPr>
              <a:t>A clock reaches a time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66160" y="3337560"/>
            <a:ext cx="2157984" cy="1325880"/>
          </a:xfrm>
          <a:prstGeom prst="rect">
            <a:avLst/>
          </a:prstGeom>
          <a:noFill/>
        </p:spPr>
        <p:txBody>
          <a:bodyPr wrap="square" anchor="t" lIns="73152" rIns="73152" tIns="73152" bIns="73152">
            <a:spAutoFit/>
          </a:bodyPr>
          <a:lstStyle/>
          <a:p>
            <a:pPr algn="ctr"/>
            <a:r>
              <a:rPr sz="1000" b="0">
                <a:solidFill>
                  <a:srgbClr val="5B6372"/>
                </a:solidFill>
                <a:latin typeface="Arial"/>
              </a:rPr>
              <a:t>Recurrence — set the time zone</a:t>
            </a:r>
          </a:p>
          <a:p>
            <a:pPr algn="ctr"/>
            <a:r>
              <a:rPr sz="1000" b="0">
                <a:solidFill>
                  <a:srgbClr val="5B6372"/>
                </a:solidFill>
                <a:latin typeface="Arial"/>
              </a:rPr>
              <a:t>or it runs on UTC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44768" y="2057400"/>
            <a:ext cx="2487168" cy="27432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6D3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44768" y="2057400"/>
            <a:ext cx="2487168" cy="475488"/>
          </a:xfrm>
          <a:prstGeom prst="rect">
            <a:avLst/>
          </a:prstGeom>
          <a:solidFill>
            <a:srgbClr val="6D3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44768" y="2057400"/>
            <a:ext cx="2487168" cy="475488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Automated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2651760"/>
            <a:ext cx="2157984" cy="64008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300" b="1">
                <a:solidFill>
                  <a:srgbClr val="161B26"/>
                </a:solidFill>
                <a:latin typeface="Arial"/>
              </a:rPr>
              <a:t>An event happens</a:t>
            </a:r>
          </a:p>
          <a:p>
            <a:pPr algn="ctr"/>
            <a:r>
              <a:rPr sz="1300" b="1">
                <a:solidFill>
                  <a:srgbClr val="161B26"/>
                </a:solidFill>
                <a:latin typeface="Arial"/>
              </a:rPr>
              <a:t>in a system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337560"/>
            <a:ext cx="2157984" cy="1325880"/>
          </a:xfrm>
          <a:prstGeom prst="rect">
            <a:avLst/>
          </a:prstGeom>
          <a:noFill/>
        </p:spPr>
        <p:txBody>
          <a:bodyPr wrap="square" anchor="t" lIns="73152" rIns="73152" tIns="73152" bIns="73152">
            <a:spAutoFit/>
          </a:bodyPr>
          <a:lstStyle/>
          <a:p>
            <a:pPr algn="ctr"/>
            <a:r>
              <a:rPr sz="1000" b="0">
                <a:solidFill>
                  <a:srgbClr val="5B6372"/>
                </a:solidFill>
                <a:latin typeface="Arial"/>
              </a:rPr>
              <a:t>New form response · new email ·</a:t>
            </a:r>
          </a:p>
          <a:p>
            <a:pPr algn="ctr"/>
            <a:r>
              <a:rPr sz="1000" b="0">
                <a:solidFill>
                  <a:srgbClr val="5B6372"/>
                </a:solidFill>
                <a:latin typeface="Arial"/>
              </a:rPr>
              <a:t>new SharePoint item · new file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887968" y="2057400"/>
            <a:ext cx="2487168" cy="27432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1684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887968" y="2057400"/>
            <a:ext cx="2487168" cy="475488"/>
          </a:xfrm>
          <a:prstGeom prst="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887968" y="2057400"/>
            <a:ext cx="2487168" cy="475488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Request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52560" y="2651760"/>
            <a:ext cx="2157984" cy="64008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300" b="1">
                <a:solidFill>
                  <a:srgbClr val="161B26"/>
                </a:solidFill>
                <a:latin typeface="Arial"/>
              </a:rPr>
              <a:t>Something calls in</a:t>
            </a:r>
          </a:p>
          <a:p>
            <a:pPr algn="ctr"/>
            <a:r>
              <a:rPr sz="1300" b="1">
                <a:solidFill>
                  <a:srgbClr val="161B26"/>
                </a:solidFill>
                <a:latin typeface="Arial"/>
              </a:rPr>
              <a:t>from outside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52560" y="3337560"/>
            <a:ext cx="2157984" cy="1325880"/>
          </a:xfrm>
          <a:prstGeom prst="rect">
            <a:avLst/>
          </a:prstGeom>
          <a:noFill/>
        </p:spPr>
        <p:txBody>
          <a:bodyPr wrap="square" anchor="t" lIns="73152" rIns="73152" tIns="73152" bIns="73152">
            <a:spAutoFit/>
          </a:bodyPr>
          <a:lstStyle/>
          <a:p>
            <a:pPr algn="ctr"/>
            <a:r>
              <a:rPr sz="1000" b="0">
                <a:solidFill>
                  <a:srgbClr val="5B6372"/>
                </a:solidFill>
                <a:latin typeface="Arial"/>
              </a:rPr>
              <a:t>HTTP request received ·</a:t>
            </a:r>
          </a:p>
          <a:p>
            <a:pPr algn="ctr"/>
            <a:r>
              <a:rPr sz="1000" b="0">
                <a:solidFill>
                  <a:srgbClr val="5B6372"/>
                </a:solidFill>
                <a:latin typeface="Arial"/>
              </a:rPr>
              <a:t>When an agent calls the workflow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58368" y="4617720"/>
            <a:ext cx="10835640" cy="34747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86384" y="4617720"/>
            <a:ext cx="4389120" cy="347472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Arial"/>
              </a:rPr>
              <a:t>Trigger used in this course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358383" y="4617720"/>
            <a:ext cx="1828800" cy="347472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Arial"/>
              </a:rPr>
              <a:t>Where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70064" y="4617720"/>
            <a:ext cx="4069080" cy="347472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Arial"/>
              </a:rPr>
              <a:t>What it means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58368" y="4965192"/>
            <a:ext cx="10835640" cy="331470"/>
          </a:xfrm>
          <a:prstGeom prst="rect">
            <a:avLst/>
          </a:prstGeom>
          <a:solidFill>
            <a:srgbClr val="FFFFFF"/>
          </a:solidFill>
          <a:ln w="9525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86384" y="4965192"/>
            <a:ext cx="4389120" cy="33147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000" b="1">
                <a:solidFill>
                  <a:srgbClr val="161B26"/>
                </a:solidFill>
                <a:latin typeface="Arial"/>
              </a:rPr>
              <a:t>Automated — new form response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358383" y="4965192"/>
            <a:ext cx="1828800" cy="33147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000" b="0">
                <a:solidFill>
                  <a:srgbClr val="5B6372"/>
                </a:solidFill>
                <a:latin typeface="Arial"/>
              </a:rPr>
              <a:t>Labs 1, 2, 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70064" y="4965192"/>
            <a:ext cx="4069080" cy="33147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000" b="0">
                <a:solidFill>
                  <a:srgbClr val="5B6372"/>
                </a:solidFill>
                <a:latin typeface="Arial"/>
              </a:rPr>
              <a:t>A business event starts the process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58368" y="5296662"/>
            <a:ext cx="10835640" cy="331470"/>
          </a:xfrm>
          <a:prstGeom prst="rect">
            <a:avLst/>
          </a:prstGeom>
          <a:solidFill>
            <a:srgbClr val="F5F8FC"/>
          </a:solidFill>
          <a:ln w="9525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86384" y="5296662"/>
            <a:ext cx="4389120" cy="33147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000" b="1">
                <a:solidFill>
                  <a:srgbClr val="161B26"/>
                </a:solidFill>
                <a:latin typeface="Arial"/>
              </a:rPr>
              <a:t>Request — HTTP request received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358383" y="5296662"/>
            <a:ext cx="1828800" cy="33147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000" b="0">
                <a:solidFill>
                  <a:srgbClr val="5B6372"/>
                </a:solidFill>
                <a:latin typeface="Arial"/>
              </a:rPr>
              <a:t>Labs 6, 7, 8, 10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370064" y="5296662"/>
            <a:ext cx="4069080" cy="33147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000" b="0">
                <a:solidFill>
                  <a:srgbClr val="5B6372"/>
                </a:solidFill>
                <a:latin typeface="Arial"/>
              </a:rPr>
              <a:t>A website posts JSON and waits for JSON back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58368" y="5628132"/>
            <a:ext cx="10835640" cy="331470"/>
          </a:xfrm>
          <a:prstGeom prst="rect">
            <a:avLst/>
          </a:prstGeom>
          <a:solidFill>
            <a:srgbClr val="FFFFFF"/>
          </a:solidFill>
          <a:ln w="9525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86384" y="5628132"/>
            <a:ext cx="4389120" cy="33147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000" b="1">
                <a:solidFill>
                  <a:srgbClr val="161B26"/>
                </a:solidFill>
                <a:latin typeface="Arial"/>
              </a:rPr>
              <a:t>Request — when an agent calls the workflow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358383" y="5628132"/>
            <a:ext cx="1828800" cy="33147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000" b="0">
                <a:solidFill>
                  <a:srgbClr val="5B6372"/>
                </a:solidFill>
                <a:latin typeface="Arial"/>
              </a:rPr>
              <a:t>Labs 4, 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370064" y="5628132"/>
            <a:ext cx="4069080" cy="33147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000" b="0">
                <a:solidFill>
                  <a:srgbClr val="5B6372"/>
                </a:solidFill>
                <a:latin typeface="Arial"/>
              </a:rPr>
              <a:t>A conversation decides to call a tool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58368" y="5959602"/>
            <a:ext cx="10835640" cy="331470"/>
          </a:xfrm>
          <a:prstGeom prst="rect">
            <a:avLst/>
          </a:prstGeom>
          <a:solidFill>
            <a:srgbClr val="F5F8FC"/>
          </a:solidFill>
          <a:ln w="9525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86384" y="5959602"/>
            <a:ext cx="4389120" cy="33147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000" b="1">
                <a:solidFill>
                  <a:srgbClr val="161B26"/>
                </a:solidFill>
                <a:latin typeface="Arial"/>
              </a:rPr>
              <a:t>Scheduled / Manual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358383" y="5959602"/>
            <a:ext cx="1828800" cy="33147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000" b="0">
                <a:solidFill>
                  <a:srgbClr val="5B6372"/>
                </a:solidFill>
                <a:latin typeface="Arial"/>
              </a:rPr>
              <a:t>Reference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370064" y="5959602"/>
            <a:ext cx="4069080" cy="33147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000" b="0">
                <a:solidFill>
                  <a:srgbClr val="5B6372"/>
                </a:solidFill>
                <a:latin typeface="Arial"/>
              </a:rPr>
              <a:t>A clock, or a person, starts it deliberately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Business Process Automation with Power Automate &amp; Copilot Studio Agents  ·  TGS-2022017524  ·  © 2026 Tertiary Infotech Academy Pte Ltd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204918093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56032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MODULE 1 · CONCEPT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789920" cy="603504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Actions — The Six Families You Will Use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3716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1536192"/>
            <a:ext cx="10835640" cy="329184"/>
          </a:xfrm>
          <a:prstGeom prst="rect">
            <a:avLst/>
          </a:prstGeom>
          <a:noFill/>
        </p:spPr>
        <p:txBody>
          <a:bodyPr wrap="square" anchor="t" lIns="73152" rIns="73152" tIns="73152" bIns="73152">
            <a:spAutoFit/>
          </a:bodyPr>
          <a:lstStyle/>
          <a:p>
            <a:pPr algn="l"/>
            <a:r>
              <a:rPr sz="1400" b="0">
                <a:solidFill>
                  <a:srgbClr val="161B26"/>
                </a:solidFill>
                <a:latin typeface="Arial"/>
              </a:rPr>
              <a:t>An action either moves data, decides something, waits for a person, or calls something outside the flow.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965960"/>
            <a:ext cx="3392424" cy="1783080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58368" y="1965960"/>
            <a:ext cx="82296" cy="178308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2057400"/>
            <a:ext cx="3017520" cy="329184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400" b="1">
                <a:solidFill>
                  <a:srgbClr val="1F6FEB"/>
                </a:solidFill>
                <a:latin typeface="Arial"/>
              </a:rPr>
              <a:t>Data actions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" y="2423160"/>
            <a:ext cx="3017520" cy="658368"/>
          </a:xfrm>
          <a:prstGeom prst="rect">
            <a:avLst/>
          </a:prstGeom>
          <a:noFill/>
        </p:spPr>
        <p:txBody>
          <a:bodyPr wrap="square" anchor="t" lIns="73152" rIns="73152" tIns="73152" bIns="73152">
            <a:spAutoFit/>
          </a:bodyPr>
          <a:lstStyle/>
          <a:p>
            <a:pPr algn="l"/>
            <a:r>
              <a:rPr sz="1000" b="0">
                <a:solidFill>
                  <a:srgbClr val="161B26"/>
                </a:solidFill>
                <a:latin typeface="Arial"/>
              </a:rPr>
              <a:t>Compose · Parse JSON · Initialize</a:t>
            </a:r>
          </a:p>
          <a:p>
            <a:pPr algn="l"/>
            <a:r>
              <a:rPr sz="1000" b="0">
                <a:solidFill>
                  <a:srgbClr val="161B26"/>
                </a:solidFill>
                <a:latin typeface="Arial"/>
              </a:rPr>
              <a:t>variable · Select · Filter array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3154680"/>
            <a:ext cx="3017520" cy="548640"/>
          </a:xfrm>
          <a:prstGeom prst="rect">
            <a:avLst/>
          </a:prstGeom>
          <a:noFill/>
        </p:spPr>
        <p:txBody>
          <a:bodyPr wrap="square" anchor="t" lIns="73152" rIns="73152" tIns="73152" bIns="73152">
            <a:spAutoFit/>
          </a:bodyPr>
          <a:lstStyle/>
          <a:p>
            <a:pPr algn="l"/>
            <a:r>
              <a:rPr sz="1000" b="0">
                <a:solidFill>
                  <a:srgbClr val="5B6372"/>
                </a:solidFill>
                <a:latin typeface="Arial"/>
              </a:rPr>
              <a:t>Shape and normalise values before anything trusts them.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06824" y="1965960"/>
            <a:ext cx="3392424" cy="1783080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06824" y="1965960"/>
            <a:ext cx="82296" cy="1783080"/>
          </a:xfrm>
          <a:prstGeom prst="rect">
            <a:avLst/>
          </a:prstGeom>
          <a:solidFill>
            <a:srgbClr val="108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44568" y="2057400"/>
            <a:ext cx="3017520" cy="329184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400" b="1">
                <a:solidFill>
                  <a:srgbClr val="108A73"/>
                </a:solidFill>
                <a:latin typeface="Arial"/>
              </a:rPr>
              <a:t>Connector actions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44568" y="2423160"/>
            <a:ext cx="3017520" cy="658368"/>
          </a:xfrm>
          <a:prstGeom prst="rect">
            <a:avLst/>
          </a:prstGeom>
          <a:noFill/>
        </p:spPr>
        <p:txBody>
          <a:bodyPr wrap="square" anchor="t" lIns="73152" rIns="73152" tIns="73152" bIns="73152">
            <a:spAutoFit/>
          </a:bodyPr>
          <a:lstStyle/>
          <a:p>
            <a:pPr algn="l"/>
            <a:r>
              <a:rPr sz="1000" b="0">
                <a:solidFill>
                  <a:srgbClr val="161B26"/>
                </a:solidFill>
                <a:latin typeface="Arial"/>
              </a:rPr>
              <a:t>Send an email (Outlook) · Add a row</a:t>
            </a:r>
          </a:p>
          <a:p>
            <a:pPr algn="l"/>
            <a:r>
              <a:rPr sz="1000" b="0">
                <a:solidFill>
                  <a:srgbClr val="161B26"/>
                </a:solidFill>
                <a:latin typeface="Arial"/>
              </a:rPr>
              <a:t>(Excel) · Create item (SharePoint)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44568" y="3154680"/>
            <a:ext cx="3017520" cy="548640"/>
          </a:xfrm>
          <a:prstGeom prst="rect">
            <a:avLst/>
          </a:prstGeom>
          <a:noFill/>
        </p:spPr>
        <p:txBody>
          <a:bodyPr wrap="square" anchor="t" lIns="73152" rIns="73152" tIns="73152" bIns="73152">
            <a:spAutoFit/>
          </a:bodyPr>
          <a:lstStyle/>
          <a:p>
            <a:pPr algn="l"/>
            <a:r>
              <a:rPr sz="1000" b="0">
                <a:solidFill>
                  <a:srgbClr val="5B6372"/>
                </a:solidFill>
                <a:latin typeface="Arial"/>
              </a:rPr>
              <a:t>Do the real work in a business system.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955280" y="1965960"/>
            <a:ext cx="3392424" cy="1783080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955280" y="1965960"/>
            <a:ext cx="82296" cy="1783080"/>
          </a:xfrm>
          <a:prstGeom prst="rect">
            <a:avLst/>
          </a:prstGeom>
          <a:solidFill>
            <a:srgbClr val="6D3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193024" y="2057400"/>
            <a:ext cx="3017520" cy="329184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400" b="1">
                <a:solidFill>
                  <a:srgbClr val="6D3FD2"/>
                </a:solidFill>
                <a:latin typeface="Arial"/>
              </a:rPr>
              <a:t>Control actions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93024" y="2423160"/>
            <a:ext cx="3017520" cy="658368"/>
          </a:xfrm>
          <a:prstGeom prst="rect">
            <a:avLst/>
          </a:prstGeom>
          <a:noFill/>
        </p:spPr>
        <p:txBody>
          <a:bodyPr wrap="square" anchor="t" lIns="73152" rIns="73152" tIns="73152" bIns="73152">
            <a:spAutoFit/>
          </a:bodyPr>
          <a:lstStyle/>
          <a:p>
            <a:pPr algn="l"/>
            <a:r>
              <a:rPr sz="1000" b="0">
                <a:solidFill>
                  <a:srgbClr val="161B26"/>
                </a:solidFill>
                <a:latin typeface="Arial"/>
              </a:rPr>
              <a:t>Condition · Switch · Apply to each ·</a:t>
            </a:r>
          </a:p>
          <a:p>
            <a:pPr algn="l"/>
            <a:r>
              <a:rPr sz="1000" b="0">
                <a:solidFill>
                  <a:srgbClr val="161B26"/>
                </a:solidFill>
                <a:latin typeface="Arial"/>
              </a:rPr>
              <a:t>Scope · Terminate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93024" y="3154680"/>
            <a:ext cx="3017520" cy="548640"/>
          </a:xfrm>
          <a:prstGeom prst="rect">
            <a:avLst/>
          </a:prstGeom>
          <a:noFill/>
        </p:spPr>
        <p:txBody>
          <a:bodyPr wrap="square" anchor="t" lIns="73152" rIns="73152" tIns="73152" bIns="73152">
            <a:spAutoFit/>
          </a:bodyPr>
          <a:lstStyle/>
          <a:p>
            <a:pPr algn="l"/>
            <a:r>
              <a:rPr sz="1000" b="0">
                <a:solidFill>
                  <a:srgbClr val="5B6372"/>
                </a:solidFill>
                <a:latin typeface="Arial"/>
              </a:rPr>
              <a:t>Decide which path the run takes.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3904487"/>
            <a:ext cx="3392424" cy="1783080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58368" y="3904487"/>
            <a:ext cx="82296" cy="1783080"/>
          </a:xfrm>
          <a:prstGeom prst="rect">
            <a:avLst/>
          </a:prstGeom>
          <a:solidFill>
            <a:srgbClr val="C24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96112" y="3995927"/>
            <a:ext cx="3017520" cy="329184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400" b="1">
                <a:solidFill>
                  <a:srgbClr val="C2413A"/>
                </a:solidFill>
                <a:latin typeface="Arial"/>
              </a:rPr>
              <a:t>Human actions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6112" y="4361687"/>
            <a:ext cx="3017520" cy="658368"/>
          </a:xfrm>
          <a:prstGeom prst="rect">
            <a:avLst/>
          </a:prstGeom>
          <a:noFill/>
        </p:spPr>
        <p:txBody>
          <a:bodyPr wrap="square" anchor="t" lIns="73152" rIns="73152" tIns="73152" bIns="73152">
            <a:spAutoFit/>
          </a:bodyPr>
          <a:lstStyle/>
          <a:p>
            <a:pPr algn="l"/>
            <a:r>
              <a:rPr sz="1000" b="0">
                <a:solidFill>
                  <a:srgbClr val="161B26"/>
                </a:solidFill>
                <a:latin typeface="Arial"/>
              </a:rPr>
              <a:t>Start and wait for an approval ·</a:t>
            </a:r>
          </a:p>
          <a:p>
            <a:pPr algn="l"/>
            <a:r>
              <a:rPr sz="1000" b="0">
                <a:solidFill>
                  <a:srgbClr val="161B26"/>
                </a:solidFill>
                <a:latin typeface="Arial"/>
              </a:rPr>
              <a:t>Human review (agent flows)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6112" y="5093207"/>
            <a:ext cx="3017520" cy="548640"/>
          </a:xfrm>
          <a:prstGeom prst="rect">
            <a:avLst/>
          </a:prstGeom>
          <a:noFill/>
        </p:spPr>
        <p:txBody>
          <a:bodyPr wrap="square" anchor="t" lIns="73152" rIns="73152" tIns="73152" bIns="73152">
            <a:spAutoFit/>
          </a:bodyPr>
          <a:lstStyle/>
          <a:p>
            <a:pPr algn="l"/>
            <a:r>
              <a:rPr sz="1000" b="0">
                <a:solidFill>
                  <a:srgbClr val="5B6372"/>
                </a:solidFill>
                <a:latin typeface="Arial"/>
              </a:rPr>
              <a:t>Suspend the run until a person responds.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306824" y="3904487"/>
            <a:ext cx="3392424" cy="1783080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306824" y="3904487"/>
            <a:ext cx="82296" cy="1783080"/>
          </a:xfrm>
          <a:prstGeom prst="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544568" y="3995927"/>
            <a:ext cx="3017520" cy="329184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400" b="1">
                <a:solidFill>
                  <a:srgbClr val="16845B"/>
                </a:solidFill>
                <a:latin typeface="Arial"/>
              </a:rPr>
              <a:t>Integration actions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44568" y="4361687"/>
            <a:ext cx="3017520" cy="658368"/>
          </a:xfrm>
          <a:prstGeom prst="rect">
            <a:avLst/>
          </a:prstGeom>
          <a:noFill/>
        </p:spPr>
        <p:txBody>
          <a:bodyPr wrap="square" anchor="t" lIns="73152" rIns="73152" tIns="73152" bIns="73152">
            <a:spAutoFit/>
          </a:bodyPr>
          <a:lstStyle/>
          <a:p>
            <a:pPr algn="l"/>
            <a:r>
              <a:rPr sz="1000" b="0">
                <a:solidFill>
                  <a:srgbClr val="161B26"/>
                </a:solidFill>
                <a:latin typeface="Arial"/>
              </a:rPr>
              <a:t>HTTP · Response · Invoke another flow ·</a:t>
            </a:r>
          </a:p>
          <a:p>
            <a:pPr algn="l"/>
            <a:r>
              <a:rPr sz="1000" b="0">
                <a:solidFill>
                  <a:srgbClr val="161B26"/>
                </a:solidFill>
                <a:latin typeface="Arial"/>
              </a:rPr>
              <a:t>Run a prompt (AI Builder)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44568" y="5093207"/>
            <a:ext cx="3017520" cy="548640"/>
          </a:xfrm>
          <a:prstGeom prst="rect">
            <a:avLst/>
          </a:prstGeom>
          <a:noFill/>
        </p:spPr>
        <p:txBody>
          <a:bodyPr wrap="square" anchor="t" lIns="73152" rIns="73152" tIns="73152" bIns="73152">
            <a:spAutoFit/>
          </a:bodyPr>
          <a:lstStyle/>
          <a:p>
            <a:pPr algn="l"/>
            <a:r>
              <a:rPr sz="1000" b="0">
                <a:solidFill>
                  <a:srgbClr val="5B6372"/>
                </a:solidFill>
                <a:latin typeface="Arial"/>
              </a:rPr>
              <a:t>Reach outside the Power Platform, or answer the caller.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955280" y="3904487"/>
            <a:ext cx="3392424" cy="1783080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955280" y="3904487"/>
            <a:ext cx="82296" cy="1783080"/>
          </a:xfrm>
          <a:prstGeom prst="rect">
            <a:avLst/>
          </a:prstGeom>
          <a:solidFill>
            <a:srgbClr val="C77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193024" y="3995927"/>
            <a:ext cx="3017520" cy="329184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400" b="1">
                <a:solidFill>
                  <a:srgbClr val="C77600"/>
                </a:solidFill>
                <a:latin typeface="Arial"/>
              </a:rPr>
              <a:t>Agent actions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193024" y="4361687"/>
            <a:ext cx="3017520" cy="658368"/>
          </a:xfrm>
          <a:prstGeom prst="rect">
            <a:avLst/>
          </a:prstGeom>
          <a:noFill/>
        </p:spPr>
        <p:txBody>
          <a:bodyPr wrap="square" anchor="t" lIns="73152" rIns="73152" tIns="73152" bIns="73152">
            <a:spAutoFit/>
          </a:bodyPr>
          <a:lstStyle/>
          <a:p>
            <a:pPr algn="l"/>
            <a:r>
              <a:rPr sz="1000" b="0">
                <a:solidFill>
                  <a:srgbClr val="161B26"/>
                </a:solidFill>
                <a:latin typeface="Arial"/>
              </a:rPr>
              <a:t>Agent node · Respond to the agent ·</a:t>
            </a:r>
          </a:p>
          <a:p>
            <a:pPr algn="l"/>
            <a:r>
              <a:rPr sz="1000" b="0">
                <a:solidFill>
                  <a:srgbClr val="161B26"/>
                </a:solidFill>
                <a:latin typeface="Arial"/>
              </a:rPr>
              <a:t>structured output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193024" y="5093207"/>
            <a:ext cx="3017520" cy="548640"/>
          </a:xfrm>
          <a:prstGeom prst="rect">
            <a:avLst/>
          </a:prstGeom>
          <a:noFill/>
        </p:spPr>
        <p:txBody>
          <a:bodyPr wrap="square" anchor="t" lIns="73152" rIns="73152" tIns="73152" bIns="73152">
            <a:spAutoFit/>
          </a:bodyPr>
          <a:lstStyle/>
          <a:p>
            <a:pPr algn="l"/>
            <a:r>
              <a:rPr sz="1000" b="0">
                <a:solidFill>
                  <a:srgbClr val="5B6372"/>
                </a:solidFill>
                <a:latin typeface="Arial"/>
              </a:rPr>
              <a:t>Let the model decide, inside a flow that does not.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58368" y="5724144"/>
            <a:ext cx="10835640" cy="566928"/>
          </a:xfrm>
          <a:prstGeom prst="roundRect">
            <a:avLst/>
          </a:prstGeom>
          <a:solidFill>
            <a:srgbClr val="F5F8FC"/>
          </a:solidFill>
          <a:ln w="20320">
            <a:solidFill>
              <a:srgbClr val="C77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14400" y="5724144"/>
            <a:ext cx="10332720" cy="566928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400" b="1">
                <a:solidFill>
                  <a:srgbClr val="161B26"/>
                </a:solidFill>
                <a:latin typeface="Arial"/>
              </a:rPr>
              <a:t>You will use every one of these families by the end of Lab 10.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Business Process Automation with Power Automate &amp; Copilot Studio Agents  ·  TGS-2022017524  ·  © 2026 Tertiary Infotech Academy Pte Ltd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17</a:t>
            </a:r>
          </a:p>
        </p:txBody>
      </p:sp>
    </p:spTree>
    <p:extLst>
      <p:ext uri="{BB962C8B-B14F-4D97-AF65-F5344CB8AC3E}">
        <p14:creationId xmlns:p14="http://schemas.microsoft.com/office/powerpoint/2010/main" val="349313055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56032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MODULE 1 · CONCEPT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789920" cy="603504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Dynamic Content — The Token, Not the Text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3716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783080"/>
            <a:ext cx="2393441" cy="105156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1837943"/>
            <a:ext cx="2283713" cy="941831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300" b="1">
                <a:solidFill>
                  <a:srgbClr val="161B26"/>
                </a:solidFill>
                <a:latin typeface="Arial"/>
              </a:rPr>
              <a:t>Trigger runs</a:t>
            </a:r>
          </a:p>
        </p:txBody>
      </p:sp>
      <p:sp>
        <p:nvSpPr>
          <p:cNvPr id="8" name="Chevron 7"/>
          <p:cNvSpPr/>
          <p:nvPr/>
        </p:nvSpPr>
        <p:spPr>
          <a:xfrm>
            <a:off x="3115817" y="2153412"/>
            <a:ext cx="274320" cy="310896"/>
          </a:xfrm>
          <a:prstGeom prst="chevron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923793" y="1508760"/>
            <a:ext cx="676656" cy="237744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900" b="0">
                <a:solidFill>
                  <a:srgbClr val="5B6372"/>
                </a:solidFill>
                <a:latin typeface="Arial"/>
              </a:rPr>
              <a:t>produces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72433" y="1783080"/>
            <a:ext cx="2393441" cy="105156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27297" y="1837943"/>
            <a:ext cx="2283713" cy="941831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300" b="1">
                <a:solidFill>
                  <a:srgbClr val="161B26"/>
                </a:solidFill>
                <a:latin typeface="Arial"/>
              </a:rPr>
              <a:t>Outputs exist</a:t>
            </a:r>
          </a:p>
        </p:txBody>
      </p:sp>
      <p:sp>
        <p:nvSpPr>
          <p:cNvPr id="12" name="Chevron 11"/>
          <p:cNvSpPr/>
          <p:nvPr/>
        </p:nvSpPr>
        <p:spPr>
          <a:xfrm>
            <a:off x="5929882" y="2153412"/>
            <a:ext cx="274320" cy="310896"/>
          </a:xfrm>
          <a:prstGeom prst="chevron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737858" y="1508760"/>
            <a:ext cx="676656" cy="237744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900" b="0">
                <a:solidFill>
                  <a:srgbClr val="5B6372"/>
                </a:solidFill>
                <a:latin typeface="Arial"/>
              </a:rPr>
              <a:t>picker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86499" y="1783080"/>
            <a:ext cx="2393441" cy="105156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108A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41363" y="1837943"/>
            <a:ext cx="2283713" cy="941831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300" b="1">
                <a:solidFill>
                  <a:srgbClr val="161B26"/>
                </a:solidFill>
                <a:latin typeface="Arial"/>
              </a:rPr>
              <a:t>Later action</a:t>
            </a:r>
          </a:p>
          <a:p>
            <a:pPr algn="ctr"/>
            <a:r>
              <a:rPr sz="1300" b="1">
                <a:solidFill>
                  <a:srgbClr val="161B26"/>
                </a:solidFill>
                <a:latin typeface="Arial"/>
              </a:rPr>
              <a:t>references them</a:t>
            </a:r>
          </a:p>
        </p:txBody>
      </p:sp>
      <p:sp>
        <p:nvSpPr>
          <p:cNvPr id="16" name="Chevron 15"/>
          <p:cNvSpPr/>
          <p:nvPr/>
        </p:nvSpPr>
        <p:spPr>
          <a:xfrm>
            <a:off x="8743948" y="2153412"/>
            <a:ext cx="274320" cy="310896"/>
          </a:xfrm>
          <a:prstGeom prst="chevron">
            <a:avLst/>
          </a:prstGeom>
          <a:solidFill>
            <a:srgbClr val="108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51924" y="1508760"/>
            <a:ext cx="676656" cy="237744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900" b="0">
                <a:solidFill>
                  <a:srgbClr val="5B6372"/>
                </a:solidFill>
                <a:latin typeface="Arial"/>
              </a:rPr>
              <a:t>resolved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00565" y="1783080"/>
            <a:ext cx="2393441" cy="105156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1684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55429" y="1837943"/>
            <a:ext cx="2283713" cy="941831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300" b="1">
                <a:solidFill>
                  <a:srgbClr val="161B26"/>
                </a:solidFill>
                <a:latin typeface="Arial"/>
              </a:rPr>
              <a:t>Value arrives</a:t>
            </a:r>
          </a:p>
          <a:p>
            <a:pPr algn="ctr"/>
            <a:r>
              <a:rPr sz="1300" b="1">
                <a:solidFill>
                  <a:srgbClr val="161B26"/>
                </a:solidFill>
                <a:latin typeface="Arial"/>
              </a:rPr>
              <a:t>at run time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3108960"/>
            <a:ext cx="5303520" cy="196596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1684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96112" y="3218688"/>
            <a:ext cx="4846320" cy="329184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200" b="1">
                <a:solidFill>
                  <a:srgbClr val="16845B"/>
                </a:solidFill>
                <a:latin typeface="Arial"/>
              </a:rPr>
              <a:t>✓  INSERTED WITH THE PICKER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6112" y="3584448"/>
            <a:ext cx="4846320" cy="1371600"/>
          </a:xfrm>
          <a:prstGeom prst="rect">
            <a:avLst/>
          </a:prstGeom>
          <a:noFill/>
        </p:spPr>
        <p:txBody>
          <a:bodyPr wrap="square" anchor="t" lIns="73152" rIns="73152" tIns="73152" bIns="73152">
            <a:spAutoFit/>
          </a:bodyPr>
          <a:lstStyle/>
          <a:p>
            <a:pPr algn="l"/>
            <a:r>
              <a:rPr sz="1200" b="0">
                <a:solidFill>
                  <a:srgbClr val="5B6372"/>
                </a:solidFill>
                <a:latin typeface="Arial"/>
              </a:rPr>
              <a:t>The value renders as a coloured token. It resolves at run</a:t>
            </a:r>
          </a:p>
          <a:p>
            <a:pPr algn="l"/>
            <a:r>
              <a:rPr sz="1200" b="0">
                <a:solidFill>
                  <a:srgbClr val="5B6372"/>
                </a:solidFill>
                <a:latin typeface="Arial"/>
              </a:rPr>
              <a:t>time to whatever the earlier step actually produced.</a:t>
            </a:r>
          </a:p>
          <a:p>
            <a:pPr algn="l"/>
            <a:r>
              <a:rPr sz="1200" b="0">
                <a:solidFill>
                  <a:srgbClr val="5B6372"/>
                </a:solidFill>
                <a:latin typeface="Arial"/>
              </a:rPr>
              <a:t/>
            </a:r>
          </a:p>
          <a:p>
            <a:pPr algn="l"/>
            <a:r>
              <a:rPr sz="1200" b="0">
                <a:solidFill>
                  <a:srgbClr val="5B6372"/>
                </a:solidFill>
                <a:latin typeface="Arial"/>
              </a:rPr>
              <a:t>Every dynamic value in every lab is inserted this way.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90488" y="3108960"/>
            <a:ext cx="5303520" cy="196596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241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28232" y="3218688"/>
            <a:ext cx="4846320" cy="329184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200" b="1">
                <a:solidFill>
                  <a:srgbClr val="C2413A"/>
                </a:solidFill>
                <a:latin typeface="Arial"/>
              </a:rPr>
              <a:t>✗  TYPED BY HAND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28232" y="3584448"/>
            <a:ext cx="4846320" cy="1371600"/>
          </a:xfrm>
          <a:prstGeom prst="rect">
            <a:avLst/>
          </a:prstGeom>
          <a:noFill/>
        </p:spPr>
        <p:txBody>
          <a:bodyPr wrap="square" anchor="t" lIns="73152" rIns="73152" tIns="73152" bIns="73152">
            <a:spAutoFit/>
          </a:bodyPr>
          <a:lstStyle/>
          <a:p>
            <a:pPr algn="l"/>
            <a:r>
              <a:rPr sz="1200" b="0">
                <a:solidFill>
                  <a:srgbClr val="5B6372"/>
                </a:solidFill>
                <a:latin typeface="Arial"/>
              </a:rPr>
              <a:t>It stays dead text. The flow runs green and the value</a:t>
            </a:r>
          </a:p>
          <a:p>
            <a:pPr algn="l"/>
            <a:r>
              <a:rPr sz="1200" b="0">
                <a:solidFill>
                  <a:srgbClr val="5B6372"/>
                </a:solidFill>
                <a:latin typeface="Arial"/>
              </a:rPr>
              <a:t>arrives empty — because a reference to nothing resolves</a:t>
            </a:r>
          </a:p>
          <a:p>
            <a:pPr algn="l"/>
            <a:r>
              <a:rPr sz="1200" b="0">
                <a:solidFill>
                  <a:srgbClr val="5B6372"/>
                </a:solidFill>
                <a:latin typeface="Arial"/>
              </a:rPr>
              <a:t>to empty, not to an error.</a:t>
            </a:r>
          </a:p>
          <a:p>
            <a:pPr algn="l"/>
            <a:r>
              <a:rPr sz="1200" b="0">
                <a:solidFill>
                  <a:srgbClr val="5B6372"/>
                </a:solidFill>
                <a:latin typeface="Arial"/>
              </a:rPr>
              <a:t/>
            </a:r>
          </a:p>
          <a:p>
            <a:pPr algn="l"/>
            <a:r>
              <a:rPr sz="1200" b="0">
                <a:solidFill>
                  <a:srgbClr val="5B6372"/>
                </a:solidFill>
                <a:latin typeface="Arial"/>
              </a:rPr>
              <a:t>This costs more class time than any other single mistake.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58368" y="4864608"/>
            <a:ext cx="10835640" cy="566928"/>
          </a:xfrm>
          <a:prstGeom prst="roundRect">
            <a:avLst/>
          </a:prstGeom>
          <a:solidFill>
            <a:srgbClr val="F5F8FC"/>
          </a:solidFill>
          <a:ln w="20320">
            <a:solidFill>
              <a:srgbClr val="C241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4864608"/>
            <a:ext cx="10332720" cy="566928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400" b="1">
                <a:solidFill>
                  <a:srgbClr val="161B26"/>
                </a:solidFill>
                <a:latin typeface="Arial"/>
              </a:rPr>
              <a:t>A green run is not a correct run. Open the run history and read what each step actually received.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" y="5559552"/>
            <a:ext cx="10835640" cy="7132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1684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841248" y="5687568"/>
            <a:ext cx="1051560" cy="457200"/>
          </a:xfrm>
          <a:prstGeom prst="round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41248" y="5687568"/>
            <a:ext cx="1051560" cy="45720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LAB 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057400" y="5577840"/>
            <a:ext cx="9235440" cy="329184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400" b="1">
                <a:solidFill>
                  <a:srgbClr val="161B26"/>
                </a:solidFill>
                <a:latin typeface="Arial"/>
              </a:rPr>
              <a:t>Lab 1 — Trigger and Actions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057400" y="5907024"/>
            <a:ext cx="9235440" cy="310896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100" b="0">
                <a:solidFill>
                  <a:srgbClr val="5B6372"/>
                </a:solidFill>
                <a:latin typeface="Arial"/>
              </a:rPr>
              <a:t>Form to email confirmation  ·  Power Automate + Microsoft Forms + Outlook  ·  40 min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Business Process Automation with Power Automate &amp; Copilot Studio Agents  ·  TGS-2022017524  ·  © 2026 Tertiary Infotech Academy Pte Ltd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118249289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56032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MODULE 1 · CONCEPT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789920" cy="603504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Run History — The Only Honest Account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3716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1554480"/>
            <a:ext cx="10835640" cy="329184"/>
          </a:xfrm>
          <a:prstGeom prst="rect">
            <a:avLst/>
          </a:prstGeom>
          <a:noFill/>
        </p:spPr>
        <p:txBody>
          <a:bodyPr wrap="square" anchor="t" lIns="73152" rIns="73152" tIns="73152" bIns="73152">
            <a:spAutoFit/>
          </a:bodyPr>
          <a:lstStyle/>
          <a:p>
            <a:pPr algn="l"/>
            <a:r>
              <a:rPr sz="1400" b="0">
                <a:solidFill>
                  <a:srgbClr val="161B26"/>
                </a:solidFill>
                <a:latin typeface="Arial"/>
              </a:rPr>
              <a:t>The run history is the only honest account of what happened. Every lab in this course is verified from it.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2103120"/>
            <a:ext cx="2487168" cy="2103120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58368" y="2103120"/>
            <a:ext cx="82296" cy="21031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77824" y="2286000"/>
            <a:ext cx="420624" cy="42062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7824" y="2286000"/>
            <a:ext cx="420624" cy="420624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08176" y="2231136"/>
            <a:ext cx="1536192" cy="402336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400" b="1">
                <a:solidFill>
                  <a:srgbClr val="1F6FEB"/>
                </a:solidFill>
                <a:latin typeface="Arial"/>
              </a:rPr>
              <a:t>Open the run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706624"/>
            <a:ext cx="1993392" cy="1371600"/>
          </a:xfrm>
          <a:prstGeom prst="rect">
            <a:avLst/>
          </a:prstGeom>
          <a:noFill/>
        </p:spPr>
        <p:txBody>
          <a:bodyPr wrap="square" anchor="t" lIns="73152" rIns="73152" tIns="73152" bIns="73152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My flows → the flow → Run history, or the Activity tab in an agent flow.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01568" y="2103120"/>
            <a:ext cx="2487168" cy="2103120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401568" y="2103120"/>
            <a:ext cx="82296" cy="2103120"/>
          </a:xfrm>
          <a:prstGeom prst="rect">
            <a:avLst/>
          </a:prstGeom>
          <a:solidFill>
            <a:srgbClr val="108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621024" y="2286000"/>
            <a:ext cx="420624" cy="420624"/>
          </a:xfrm>
          <a:prstGeom prst="ellipse">
            <a:avLst/>
          </a:prstGeom>
          <a:solidFill>
            <a:srgbClr val="108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21024" y="2286000"/>
            <a:ext cx="420624" cy="420624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51376" y="2231136"/>
            <a:ext cx="1536192" cy="402336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400" b="1">
                <a:solidFill>
                  <a:srgbClr val="108A73"/>
                </a:solidFill>
                <a:latin typeface="Arial"/>
              </a:rPr>
              <a:t>Read each step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0" y="2706624"/>
            <a:ext cx="1993392" cy="1371600"/>
          </a:xfrm>
          <a:prstGeom prst="rect">
            <a:avLst/>
          </a:prstGeom>
          <a:noFill/>
        </p:spPr>
        <p:txBody>
          <a:bodyPr wrap="square" anchor="t" lIns="73152" rIns="73152" tIns="73152" bIns="73152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Expand a step to see its inputs and its outputs — what it was given, what it produced.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44768" y="2103120"/>
            <a:ext cx="2487168" cy="2103120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144768" y="2103120"/>
            <a:ext cx="82296" cy="2103120"/>
          </a:xfrm>
          <a:prstGeom prst="rect">
            <a:avLst/>
          </a:prstGeom>
          <a:solidFill>
            <a:srgbClr val="C77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364224" y="2286000"/>
            <a:ext cx="420624" cy="420624"/>
          </a:xfrm>
          <a:prstGeom prst="ellipse">
            <a:avLst/>
          </a:prstGeom>
          <a:solidFill>
            <a:srgbClr val="C77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64224" y="2286000"/>
            <a:ext cx="420624" cy="420624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94576" y="2231136"/>
            <a:ext cx="1536192" cy="402336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400" b="1">
                <a:solidFill>
                  <a:srgbClr val="C77600"/>
                </a:solidFill>
                <a:latin typeface="Arial"/>
              </a:rPr>
              <a:t>Find the empty one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0" y="2706624"/>
            <a:ext cx="1993392" cy="1371600"/>
          </a:xfrm>
          <a:prstGeom prst="rect">
            <a:avLst/>
          </a:prstGeom>
          <a:noFill/>
        </p:spPr>
        <p:txBody>
          <a:bodyPr wrap="square" anchor="t" lIns="73152" rIns="73152" tIns="73152" bIns="73152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A wrong answer usually traces to a step whose input was blank, not to a red error.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887968" y="2103120"/>
            <a:ext cx="2487168" cy="2103120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887968" y="2103120"/>
            <a:ext cx="82296" cy="2103120"/>
          </a:xfrm>
          <a:prstGeom prst="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107424" y="2286000"/>
            <a:ext cx="420624" cy="420624"/>
          </a:xfrm>
          <a:prstGeom prst="ellipse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07424" y="2286000"/>
            <a:ext cx="420624" cy="420624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37776" y="2231136"/>
            <a:ext cx="1536192" cy="402336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400" b="1">
                <a:solidFill>
                  <a:srgbClr val="16845B"/>
                </a:solidFill>
                <a:latin typeface="Arial"/>
              </a:rPr>
              <a:t>Fix the reference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44000" y="2706624"/>
            <a:ext cx="1993392" cy="1371600"/>
          </a:xfrm>
          <a:prstGeom prst="rect">
            <a:avLst/>
          </a:prstGeom>
          <a:noFill/>
        </p:spPr>
        <p:txBody>
          <a:bodyPr wrap="square" anchor="t" lIns="73152" rIns="73152" tIns="73152" bIns="73152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Re-insert the token with the picker, republish, and run one test — one change per cycle.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8368" y="4526280"/>
            <a:ext cx="10835640" cy="1234440"/>
          </a:xfrm>
          <a:prstGeom prst="roundRect">
            <a:avLst/>
          </a:prstGeom>
          <a:solidFill>
            <a:srgbClr val="F5F8FC"/>
          </a:solidFill>
          <a:ln w="20320">
            <a:solidFill>
              <a:srgbClr val="C241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14400" y="4645152"/>
            <a:ext cx="10332720" cy="329184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200" b="1">
                <a:solidFill>
                  <a:srgbClr val="C2413A"/>
                </a:solidFill>
                <a:latin typeface="Arial"/>
              </a:rPr>
              <a:t>THE THREE STATES THAT LOOK ALIKE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4400" y="4992624"/>
            <a:ext cx="10332720" cy="731520"/>
          </a:xfrm>
          <a:prstGeom prst="rect">
            <a:avLst/>
          </a:prstGeom>
          <a:noFill/>
        </p:spPr>
        <p:txBody>
          <a:bodyPr wrap="square" anchor="t" lIns="73152" rIns="73152" tIns="73152" bIns="73152">
            <a:spAutoFit/>
          </a:bodyPr>
          <a:lstStyle/>
          <a:p>
            <a:pPr algn="l"/>
            <a:r>
              <a:rPr sz="1200" b="0">
                <a:solidFill>
                  <a:srgbClr val="5B6372"/>
                </a:solidFill>
                <a:latin typeface="Arial"/>
              </a:rPr>
              <a:t>Succeeded with the right data  ·  Succeeded with empty data  ·  Still Running because it is waiting for a person.</a:t>
            </a:r>
          </a:p>
          <a:p>
            <a:pPr algn="l"/>
            <a:r>
              <a:rPr sz="1200" b="0">
                <a:solidFill>
                  <a:srgbClr val="5B6372"/>
                </a:solidFill>
                <a:latin typeface="Arial"/>
              </a:rPr>
              <a:t>Only the first is done. The second is the dangerous one — it looks exactly like success.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58368" y="5559552"/>
            <a:ext cx="10835640" cy="7132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1684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841248" y="5687568"/>
            <a:ext cx="1051560" cy="457200"/>
          </a:xfrm>
          <a:prstGeom prst="round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41248" y="5687568"/>
            <a:ext cx="1051560" cy="45720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LAB 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057400" y="5577840"/>
            <a:ext cx="9235440" cy="329184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400" b="1">
                <a:solidFill>
                  <a:srgbClr val="161B26"/>
                </a:solidFill>
                <a:latin typeface="Arial"/>
              </a:rPr>
              <a:t>Lab 2 — Log to Excel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057400" y="5907024"/>
            <a:ext cx="9235440" cy="310896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100" b="0">
                <a:solidFill>
                  <a:srgbClr val="5B6372"/>
                </a:solidFill>
                <a:latin typeface="Arial"/>
              </a:rPr>
              <a:t>Log the enquiry, then send the email  ·  Power Automate + Excel Online  ·  45 min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Business Process Automation with Power Automate &amp; Copilot Studio Agents  ·  TGS-2022017524  ·  © 2026 Tertiary Infotech Academy Pte Ltd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19</a:t>
            </a:r>
          </a:p>
        </p:txBody>
      </p:sp>
    </p:spTree>
    <p:extLst>
      <p:ext uri="{BB962C8B-B14F-4D97-AF65-F5344CB8AC3E}">
        <p14:creationId xmlns:p14="http://schemas.microsoft.com/office/powerpoint/2010/main" val="195361747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56032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MODULE 1 · CONCEPT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789920" cy="603504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Order Matters — Commit Before You Confirm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3716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1554480"/>
            <a:ext cx="10835640" cy="329184"/>
          </a:xfrm>
          <a:prstGeom prst="rect">
            <a:avLst/>
          </a:prstGeom>
          <a:noFill/>
        </p:spPr>
        <p:txBody>
          <a:bodyPr wrap="square" anchor="t" lIns="73152" rIns="73152" tIns="73152" bIns="73152">
            <a:spAutoFit/>
          </a:bodyPr>
          <a:lstStyle/>
          <a:p>
            <a:pPr algn="l"/>
            <a:r>
              <a:rPr sz="1500" b="0">
                <a:solidFill>
                  <a:srgbClr val="161B26"/>
                </a:solidFill>
                <a:latin typeface="Arial"/>
              </a:rPr>
              <a:t>The order of two actions is a business decision, not a technical one.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2057400"/>
            <a:ext cx="5303520" cy="22860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1684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176272"/>
            <a:ext cx="4846320" cy="329184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300" b="1">
                <a:solidFill>
                  <a:srgbClr val="16845B"/>
                </a:solidFill>
                <a:latin typeface="Arial"/>
              </a:rPr>
              <a:t>LOG, THEN CONFIRM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60120" y="2606040"/>
            <a:ext cx="2194560" cy="685800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1684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2606040"/>
            <a:ext cx="2194560" cy="68580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200" b="1">
                <a:solidFill>
                  <a:srgbClr val="161B26"/>
                </a:solidFill>
                <a:latin typeface="Arial"/>
              </a:rPr>
              <a:t>Write the row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74720" y="2606040"/>
            <a:ext cx="2194560" cy="685800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1684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74720" y="2606040"/>
            <a:ext cx="2194560" cy="68580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200" b="1">
                <a:solidFill>
                  <a:srgbClr val="161B26"/>
                </a:solidFill>
                <a:latin typeface="Arial"/>
              </a:rPr>
              <a:t>Send the email</a:t>
            </a:r>
          </a:p>
        </p:txBody>
      </p:sp>
      <p:sp>
        <p:nvSpPr>
          <p:cNvPr id="13" name="Chevron 12"/>
          <p:cNvSpPr/>
          <p:nvPr/>
        </p:nvSpPr>
        <p:spPr>
          <a:xfrm>
            <a:off x="3218688" y="2788920"/>
            <a:ext cx="274320" cy="310896"/>
          </a:xfrm>
          <a:prstGeom prst="chevron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96112" y="3429000"/>
            <a:ext cx="4846320" cy="822960"/>
          </a:xfrm>
          <a:prstGeom prst="rect">
            <a:avLst/>
          </a:prstGeom>
          <a:noFill/>
        </p:spPr>
        <p:txBody>
          <a:bodyPr wrap="square" anchor="t" lIns="73152" rIns="73152" tIns="73152" bIns="73152">
            <a:spAutoFit/>
          </a:bodyPr>
          <a:lstStyle/>
          <a:p>
            <a:pPr algn="l"/>
            <a:r>
              <a:rPr sz="1100" b="0">
                <a:solidFill>
                  <a:srgbClr val="5B6372"/>
                </a:solidFill>
                <a:latin typeface="Arial"/>
              </a:rPr>
              <a:t>If the email fails, the enquiry is still on the register and</a:t>
            </a:r>
          </a:p>
          <a:p>
            <a:pPr algn="l"/>
            <a:r>
              <a:rPr sz="1100" b="0">
                <a:solidFill>
                  <a:srgbClr val="5B6372"/>
                </a:solidFill>
                <a:latin typeface="Arial"/>
              </a:rPr>
              <a:t>someone can chase it. You have a record of a missed reply.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90488" y="2057400"/>
            <a:ext cx="5303520" cy="22860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241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28232" y="2176272"/>
            <a:ext cx="4846320" cy="329184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300" b="1">
                <a:solidFill>
                  <a:srgbClr val="C2413A"/>
                </a:solidFill>
                <a:latin typeface="Arial"/>
              </a:rPr>
              <a:t>CONFIRM, THEN LOG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92240" y="2606040"/>
            <a:ext cx="2194560" cy="685800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C241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0" y="2606040"/>
            <a:ext cx="2194560" cy="68580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200" b="1">
                <a:solidFill>
                  <a:srgbClr val="161B26"/>
                </a:solidFill>
                <a:latin typeface="Arial"/>
              </a:rPr>
              <a:t>Send the email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06840" y="2606040"/>
            <a:ext cx="2194560" cy="685800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C241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06840" y="2606040"/>
            <a:ext cx="2194560" cy="68580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200" b="1">
                <a:solidFill>
                  <a:srgbClr val="161B26"/>
                </a:solidFill>
                <a:latin typeface="Arial"/>
              </a:rPr>
              <a:t>Write the row</a:t>
            </a:r>
          </a:p>
        </p:txBody>
      </p:sp>
      <p:sp>
        <p:nvSpPr>
          <p:cNvPr id="21" name="Chevron 20"/>
          <p:cNvSpPr/>
          <p:nvPr/>
        </p:nvSpPr>
        <p:spPr>
          <a:xfrm>
            <a:off x="8750808" y="2788920"/>
            <a:ext cx="274320" cy="310896"/>
          </a:xfrm>
          <a:prstGeom prst="chevron">
            <a:avLst/>
          </a:prstGeom>
          <a:solidFill>
            <a:srgbClr val="C24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429000"/>
            <a:ext cx="4846320" cy="822960"/>
          </a:xfrm>
          <a:prstGeom prst="rect">
            <a:avLst/>
          </a:prstGeom>
          <a:noFill/>
        </p:spPr>
        <p:txBody>
          <a:bodyPr wrap="square" anchor="t" lIns="73152" rIns="73152" tIns="73152" bIns="73152">
            <a:spAutoFit/>
          </a:bodyPr>
          <a:lstStyle/>
          <a:p>
            <a:pPr algn="l"/>
            <a:r>
              <a:rPr sz="1100" b="0">
                <a:solidFill>
                  <a:srgbClr val="5B6372"/>
                </a:solidFill>
                <a:latin typeface="Arial"/>
              </a:rPr>
              <a:t>If the row fails, you have promised a customer a reply that</a:t>
            </a:r>
          </a:p>
          <a:p>
            <a:pPr algn="l"/>
            <a:r>
              <a:rPr sz="1100" b="0">
                <a:solidFill>
                  <a:srgbClr val="5B6372"/>
                </a:solidFill>
                <a:latin typeface="Arial"/>
              </a:rPr>
              <a:t>nobody can see. The evidence of the promise is gone.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58368" y="4572000"/>
            <a:ext cx="10835640" cy="566928"/>
          </a:xfrm>
          <a:prstGeom prst="roundRect">
            <a:avLst/>
          </a:prstGeom>
          <a:solidFill>
            <a:srgbClr val="F5F8FC"/>
          </a:solidFill>
          <a:ln w="20320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" y="4572000"/>
            <a:ext cx="10332720" cy="566928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400" b="1">
                <a:solidFill>
                  <a:srgbClr val="161B26"/>
                </a:solidFill>
                <a:latin typeface="Arial"/>
              </a:rPr>
              <a:t>Commit the record of the obligation before you create the obligation. This is Lab 2 in one sentence.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5559552"/>
            <a:ext cx="10835640" cy="7132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1684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841248" y="5687568"/>
            <a:ext cx="1051560" cy="457200"/>
          </a:xfrm>
          <a:prstGeom prst="round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41248" y="5687568"/>
            <a:ext cx="1051560" cy="45720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LAB 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057400" y="5577840"/>
            <a:ext cx="9235440" cy="329184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400" b="1">
                <a:solidFill>
                  <a:srgbClr val="161B26"/>
                </a:solidFill>
                <a:latin typeface="Arial"/>
              </a:rPr>
              <a:t>Lab 2 — Log to Excel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057400" y="5907024"/>
            <a:ext cx="9235440" cy="310896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100" b="0">
                <a:solidFill>
                  <a:srgbClr val="5B6372"/>
                </a:solidFill>
                <a:latin typeface="Arial"/>
              </a:rPr>
              <a:t>Log the enquiry, then send the email  ·  Power Automate + Excel Online  ·  45 min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Business Process Automation with Power Automate &amp; Copilot Studio Agents  ·  TGS-2022017524  ·  © 2026 Tertiary Infotech Academy Pte Ltd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20</a:t>
            </a:r>
          </a:p>
        </p:txBody>
      </p:sp>
    </p:spTree>
    <p:extLst>
      <p:ext uri="{BB962C8B-B14F-4D97-AF65-F5344CB8AC3E}">
        <p14:creationId xmlns:p14="http://schemas.microsoft.com/office/powerpoint/2010/main" val="139516361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56032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MODULE 1 · LAB WORKFLOW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789920" cy="603504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Lab 0 — The Shared Course Environment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3716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1517904"/>
            <a:ext cx="10835640" cy="310896"/>
          </a:xfrm>
          <a:prstGeom prst="rect">
            <a:avLst/>
          </a:prstGeom>
          <a:noFill/>
        </p:spPr>
        <p:txBody>
          <a:bodyPr wrap="square" anchor="t" lIns="73152" rIns="73152" tIns="73152" bIns="73152">
            <a:spAutoFit/>
          </a:bodyPr>
          <a:lstStyle/>
          <a:p>
            <a:pPr algn="l"/>
            <a:r>
              <a:rPr sz="1300" b="0">
                <a:solidFill>
                  <a:srgbClr val="5B6372"/>
                </a:solidFill>
                <a:latin typeface="Arial"/>
              </a:rPr>
              <a:t>One Copilot Studio Training (Developer) environment, with Dataverse and Copilot Credits, stands behind every later lab.</a:t>
            </a:r>
          </a:p>
        </p:txBody>
      </p:sp>
      <p:pic>
        <p:nvPicPr>
          <p:cNvPr id="7" name="Picture 6" descr="flowch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2446208"/>
            <a:ext cx="10972800" cy="2294768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658368" y="5559552"/>
            <a:ext cx="10835640" cy="7132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1684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41248" y="5687568"/>
            <a:ext cx="1051560" cy="457200"/>
          </a:xfrm>
          <a:prstGeom prst="round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" y="5687568"/>
            <a:ext cx="1051560" cy="45720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LAB 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57400" y="5577840"/>
            <a:ext cx="9235440" cy="329184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400" b="1">
                <a:solidFill>
                  <a:srgbClr val="161B26"/>
                </a:solidFill>
                <a:latin typeface="Arial"/>
              </a:rPr>
              <a:t>Lab 0 — Environment Setup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57400" y="5907024"/>
            <a:ext cx="9235440" cy="310896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100" b="0">
                <a:solidFill>
                  <a:srgbClr val="5B6372"/>
                </a:solidFill>
                <a:latin typeface="Arial"/>
              </a:rPr>
              <a:t>Copilot Studio Training (Developer) environment  ·  Power Platform admin centre  ·  40 min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Business Process Automation with Power Automate &amp; Copilot Studio Agents  ·  TGS-2022017524  ·  © 2026 Tertiary Infotech Academy Pte Ltd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21</a:t>
            </a:r>
          </a:p>
        </p:txBody>
      </p:sp>
    </p:spTree>
    <p:extLst>
      <p:ext uri="{BB962C8B-B14F-4D97-AF65-F5344CB8AC3E}">
        <p14:creationId xmlns:p14="http://schemas.microsoft.com/office/powerpoint/2010/main" val="96391155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56032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MODULE 1 · LAB WORKFLOW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789920" cy="603504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Lab 1 — Form to Email Confirmation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3716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1517904"/>
            <a:ext cx="10835640" cy="310896"/>
          </a:xfrm>
          <a:prstGeom prst="rect">
            <a:avLst/>
          </a:prstGeom>
          <a:noFill/>
        </p:spPr>
        <p:txBody>
          <a:bodyPr wrap="square" anchor="t" lIns="73152" rIns="73152" tIns="73152" bIns="73152">
            <a:spAutoFit/>
          </a:bodyPr>
          <a:lstStyle/>
          <a:p>
            <a:pPr algn="l"/>
            <a:r>
              <a:rPr sz="1300" b="0">
                <a:solidFill>
                  <a:srgbClr val="5B6372"/>
                </a:solidFill>
                <a:latin typeface="Arial"/>
              </a:rPr>
              <a:t>A trigger starts a flow; actions consume the trigger's outputs as dynamic content.</a:t>
            </a:r>
          </a:p>
        </p:txBody>
      </p:sp>
      <p:pic>
        <p:nvPicPr>
          <p:cNvPr id="7" name="Picture 6" descr="flowchar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" y="3058835"/>
            <a:ext cx="10972800" cy="1069513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658368" y="5559552"/>
            <a:ext cx="10835640" cy="7132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1684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41248" y="5687568"/>
            <a:ext cx="1051560" cy="457200"/>
          </a:xfrm>
          <a:prstGeom prst="round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" y="5687568"/>
            <a:ext cx="1051560" cy="45720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LAB 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57400" y="5577840"/>
            <a:ext cx="9235440" cy="329184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400" b="1">
                <a:solidFill>
                  <a:srgbClr val="161B26"/>
                </a:solidFill>
                <a:latin typeface="Arial"/>
              </a:rPr>
              <a:t>Lab 1 — Trigger and Actions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57400" y="5907024"/>
            <a:ext cx="9235440" cy="310896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100" b="0">
                <a:solidFill>
                  <a:srgbClr val="5B6372"/>
                </a:solidFill>
                <a:latin typeface="Arial"/>
              </a:rPr>
              <a:t>Form to email confirmation  ·  Power Automate + Microsoft Forms + Outlook  ·  40 min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Business Process Automation with Power Automate &amp; Copilot Studio Agents  ·  TGS-2022017524  ·  © 2026 Tertiary Infotech Academy Pte Ltd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22</a:t>
            </a:r>
          </a:p>
        </p:txBody>
      </p:sp>
    </p:spTree>
    <p:extLst>
      <p:ext uri="{BB962C8B-B14F-4D97-AF65-F5344CB8AC3E}">
        <p14:creationId xmlns:p14="http://schemas.microsoft.com/office/powerpoint/2010/main" val="365956691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56032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MODULE 1 · LAB WORKFLOW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789920" cy="603504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Lab 2 — Log the Enquiry, Then Send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3716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1517904"/>
            <a:ext cx="10835640" cy="310896"/>
          </a:xfrm>
          <a:prstGeom prst="rect">
            <a:avLst/>
          </a:prstGeom>
          <a:noFill/>
        </p:spPr>
        <p:txBody>
          <a:bodyPr wrap="square" anchor="t" lIns="73152" rIns="73152" tIns="73152" bIns="73152">
            <a:spAutoFit/>
          </a:bodyPr>
          <a:lstStyle/>
          <a:p>
            <a:pPr algn="l"/>
            <a:r>
              <a:rPr sz="1300" b="0">
                <a:solidFill>
                  <a:srgbClr val="5B6372"/>
                </a:solidFill>
                <a:latin typeface="Arial"/>
              </a:rPr>
              <a:t>Commit before you confirm — the audit row is written before the acknowledgement is sent.</a:t>
            </a:r>
          </a:p>
        </p:txBody>
      </p:sp>
      <p:pic>
        <p:nvPicPr>
          <p:cNvPr id="7" name="Picture 6" descr="flowchar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" y="3143248"/>
            <a:ext cx="10972800" cy="900687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658368" y="5559552"/>
            <a:ext cx="10835640" cy="7132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1684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41248" y="5687568"/>
            <a:ext cx="1051560" cy="457200"/>
          </a:xfrm>
          <a:prstGeom prst="round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" y="5687568"/>
            <a:ext cx="1051560" cy="45720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LAB 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57400" y="5577840"/>
            <a:ext cx="9235440" cy="329184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400" b="1">
                <a:solidFill>
                  <a:srgbClr val="161B26"/>
                </a:solidFill>
                <a:latin typeface="Arial"/>
              </a:rPr>
              <a:t>Lab 2 — Log to Excel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57400" y="5907024"/>
            <a:ext cx="9235440" cy="310896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100" b="0">
                <a:solidFill>
                  <a:srgbClr val="5B6372"/>
                </a:solidFill>
                <a:latin typeface="Arial"/>
              </a:rPr>
              <a:t>Log the enquiry, then send the email  ·  Power Automate + Excel Online  ·  45 min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Business Process Automation with Power Automate &amp; Copilot Studio Agents  ·  TGS-2022017524  ·  © 2026 Tertiary Infotech Academy Pte Ltd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23</a:t>
            </a:r>
          </a:p>
        </p:txBody>
      </p:sp>
    </p:spTree>
    <p:extLst>
      <p:ext uri="{BB962C8B-B14F-4D97-AF65-F5344CB8AC3E}">
        <p14:creationId xmlns:p14="http://schemas.microsoft.com/office/powerpoint/2010/main" val="389272657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658368" y="1737360"/>
            <a:ext cx="10835640" cy="3291840"/>
          </a:xfrm>
          <a:prstGeom prst="roundRect">
            <a:avLst/>
          </a:prstGeom>
          <a:solidFill>
            <a:srgbClr val="F5F8FC"/>
          </a:solidFill>
          <a:ln w="25400">
            <a:solidFill>
              <a:srgbClr val="108A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58368" y="1737360"/>
            <a:ext cx="128016" cy="3291840"/>
          </a:xfrm>
          <a:prstGeom prst="rect">
            <a:avLst/>
          </a:prstGeom>
          <a:solidFill>
            <a:srgbClr val="108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2148840"/>
            <a:ext cx="9875520" cy="36576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500" b="1">
                <a:solidFill>
                  <a:srgbClr val="108A73"/>
                </a:solidFill>
                <a:latin typeface="Arial"/>
              </a:rPr>
              <a:t>MODULE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2606040"/>
            <a:ext cx="9875520" cy="86868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3400" b="1">
                <a:solidFill>
                  <a:srgbClr val="161B26"/>
                </a:solidFill>
                <a:latin typeface="Arial"/>
              </a:rPr>
              <a:t>Control Flow and Human in the Loop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3611880"/>
            <a:ext cx="9875520" cy="1005840"/>
          </a:xfrm>
          <a:prstGeom prst="rect">
            <a:avLst/>
          </a:prstGeom>
          <a:noFill/>
        </p:spPr>
        <p:txBody>
          <a:bodyPr wrap="square" anchor="t" lIns="73152" rIns="73152" tIns="73152" bIns="73152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B6372"/>
                </a:solidFill>
                <a:latin typeface="Arial"/>
              </a:rPr>
              <a:t>Conditions and branching  ·  approvals  ·  in / on / out of the loop  ·  where the human belongs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5B6372"/>
                </a:solidFill>
                <a:latin typeface="Arial"/>
              </a:rPr>
              <a:t>Applied in Lab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Business Process Automation with Power Automate &amp; Copilot Studio Agents  ·  TGS-2022017524  ·  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24</a:t>
            </a:r>
          </a:p>
        </p:txBody>
      </p:sp>
    </p:spTree>
    <p:extLst>
      <p:ext uri="{BB962C8B-B14F-4D97-AF65-F5344CB8AC3E}">
        <p14:creationId xmlns:p14="http://schemas.microsoft.com/office/powerpoint/2010/main" val="16113717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56032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MODULE 2 · CONCEPT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789920" cy="603504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Conditions — Both Paths Must Exist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3716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1554480"/>
            <a:ext cx="10835640" cy="329184"/>
          </a:xfrm>
          <a:prstGeom prst="rect">
            <a:avLst/>
          </a:prstGeom>
          <a:noFill/>
        </p:spPr>
        <p:txBody>
          <a:bodyPr wrap="square" anchor="t" lIns="73152" rIns="73152" tIns="73152" bIns="73152">
            <a:spAutoFit/>
          </a:bodyPr>
          <a:lstStyle/>
          <a:p>
            <a:pPr algn="l"/>
            <a:r>
              <a:rPr sz="1400" b="0">
                <a:solidFill>
                  <a:srgbClr val="161B26"/>
                </a:solidFill>
                <a:latin typeface="Arial"/>
              </a:rPr>
              <a:t>A condition splits one run into two paths. Both paths must be built — including the one you hope never runs.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80560" y="2057400"/>
            <a:ext cx="3200400" cy="777240"/>
          </a:xfrm>
          <a:prstGeom prst="roundRect">
            <a:avLst/>
          </a:prstGeom>
          <a:solidFill>
            <a:srgbClr val="F5F8FC"/>
          </a:solidFill>
          <a:ln w="22860">
            <a:solidFill>
              <a:srgbClr val="6D3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560" y="2057400"/>
            <a:ext cx="3200400" cy="77724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300" b="1">
                <a:solidFill>
                  <a:srgbClr val="161B26"/>
                </a:solidFill>
                <a:latin typeface="Arial"/>
              </a:rPr>
              <a:t>Condition</a:t>
            </a:r>
          </a:p>
          <a:p>
            <a:pPr algn="ctr"/>
            <a:r>
              <a:rPr sz="1300" b="1">
                <a:solidFill>
                  <a:srgbClr val="161B26"/>
                </a:solidFill>
                <a:latin typeface="Arial"/>
              </a:rPr>
              <a:t>is the value X?</a:t>
            </a:r>
          </a:p>
        </p:txBody>
      </p:sp>
      <p:sp>
        <p:nvSpPr>
          <p:cNvPr id="9" name="Down Arrow 8"/>
          <p:cNvSpPr/>
          <p:nvPr/>
        </p:nvSpPr>
        <p:spPr>
          <a:xfrm>
            <a:off x="3108960" y="3063240"/>
            <a:ext cx="310896" cy="365760"/>
          </a:xfrm>
          <a:prstGeom prst="downArrow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own Arrow 9"/>
          <p:cNvSpPr/>
          <p:nvPr/>
        </p:nvSpPr>
        <p:spPr>
          <a:xfrm>
            <a:off x="8732520" y="3063240"/>
            <a:ext cx="310896" cy="365760"/>
          </a:xfrm>
          <a:prstGeom prst="downArrow">
            <a:avLst/>
          </a:prstGeom>
          <a:solidFill>
            <a:srgbClr val="C24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280160" y="3456432"/>
            <a:ext cx="4114800" cy="9601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1684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508760" y="3511296"/>
            <a:ext cx="3657600" cy="27432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100" b="1">
                <a:solidFill>
                  <a:srgbClr val="16845B"/>
                </a:solidFill>
                <a:latin typeface="Arial"/>
              </a:rPr>
              <a:t>IF YES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08760" y="3785615"/>
            <a:ext cx="3657600" cy="566928"/>
          </a:xfrm>
          <a:prstGeom prst="rect">
            <a:avLst/>
          </a:prstGeom>
          <a:noFill/>
        </p:spPr>
        <p:txBody>
          <a:bodyPr wrap="square" anchor="t" lIns="73152" rIns="73152" tIns="73152" bIns="73152">
            <a:spAutoFit/>
          </a:bodyPr>
          <a:lstStyle/>
          <a:p>
            <a:pPr algn="l"/>
            <a:r>
              <a:rPr sz="1100" b="0">
                <a:solidFill>
                  <a:srgbClr val="5B6372"/>
                </a:solidFill>
                <a:latin typeface="Arial"/>
              </a:rPr>
              <a:t>The approved path. Continue the business process.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766560" y="3456432"/>
            <a:ext cx="4114800" cy="9601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241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95160" y="3511296"/>
            <a:ext cx="3657600" cy="27432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100" b="1">
                <a:solidFill>
                  <a:srgbClr val="C2413A"/>
                </a:solidFill>
                <a:latin typeface="Arial"/>
              </a:rPr>
              <a:t>IF NO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95160" y="3785615"/>
            <a:ext cx="3657600" cy="566928"/>
          </a:xfrm>
          <a:prstGeom prst="rect">
            <a:avLst/>
          </a:prstGeom>
          <a:noFill/>
        </p:spPr>
        <p:txBody>
          <a:bodyPr wrap="square" anchor="t" lIns="73152" rIns="73152" tIns="73152" bIns="73152">
            <a:spAutoFit/>
          </a:bodyPr>
          <a:lstStyle/>
          <a:p>
            <a:pPr algn="l"/>
            <a:r>
              <a:rPr sz="1100" b="0">
                <a:solidFill>
                  <a:srgbClr val="5B6372"/>
                </a:solidFill>
                <a:latin typeface="Arial"/>
              </a:rPr>
              <a:t>The rejected path. Notify, record and stop — never fall silent.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8368" y="4553712"/>
            <a:ext cx="10835640" cy="34747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86384" y="4553712"/>
            <a:ext cx="2194560" cy="347472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Arial"/>
              </a:rPr>
              <a:t>Control action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163824" y="4553712"/>
            <a:ext cx="3108960" cy="347472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Arial"/>
              </a:rPr>
              <a:t>What it does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55664" y="4553712"/>
            <a:ext cx="4983480" cy="347472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Arial"/>
              </a:rPr>
              <a:t>Example in this course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8368" y="4901184"/>
            <a:ext cx="10835640" cy="347471"/>
          </a:xfrm>
          <a:prstGeom prst="rect">
            <a:avLst/>
          </a:prstGeom>
          <a:solidFill>
            <a:srgbClr val="FFFFFF"/>
          </a:solidFill>
          <a:ln w="9525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86384" y="4901184"/>
            <a:ext cx="2194560" cy="347471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000" b="1">
                <a:solidFill>
                  <a:srgbClr val="161B26"/>
                </a:solidFill>
                <a:latin typeface="Arial"/>
              </a:rPr>
              <a:t>Condition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163824" y="4901184"/>
            <a:ext cx="3108960" cy="347471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000" b="0">
                <a:solidFill>
                  <a:srgbClr val="5B6372"/>
                </a:solidFill>
                <a:latin typeface="Arial"/>
              </a:rPr>
              <a:t>One test, two branches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4901184"/>
            <a:ext cx="4983480" cy="347471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000" b="0">
                <a:solidFill>
                  <a:srgbClr val="5B6372"/>
                </a:solidFill>
                <a:latin typeface="Arial"/>
              </a:rPr>
              <a:t>Approved or rejected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58368" y="5248656"/>
            <a:ext cx="10835640" cy="347471"/>
          </a:xfrm>
          <a:prstGeom prst="rect">
            <a:avLst/>
          </a:prstGeom>
          <a:solidFill>
            <a:srgbClr val="F5F8FC"/>
          </a:solidFill>
          <a:ln w="9525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86384" y="5248656"/>
            <a:ext cx="2194560" cy="347471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000" b="1">
                <a:solidFill>
                  <a:srgbClr val="161B26"/>
                </a:solidFill>
                <a:latin typeface="Arial"/>
              </a:rPr>
              <a:t>Switch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163824" y="5248656"/>
            <a:ext cx="3108960" cy="347471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000" b="0">
                <a:solidFill>
                  <a:srgbClr val="5B6372"/>
                </a:solidFill>
                <a:latin typeface="Arial"/>
              </a:rPr>
              <a:t>One value, many branches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55664" y="5248656"/>
            <a:ext cx="4983480" cy="347471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000" b="0">
                <a:solidFill>
                  <a:srgbClr val="5B6372"/>
                </a:solidFill>
                <a:latin typeface="Arial"/>
              </a:rPr>
              <a:t>Leave type: Annual / Medical / Unpaid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58368" y="5596128"/>
            <a:ext cx="10835640" cy="347471"/>
          </a:xfrm>
          <a:prstGeom prst="rect">
            <a:avLst/>
          </a:prstGeom>
          <a:solidFill>
            <a:srgbClr val="FFFFFF"/>
          </a:solidFill>
          <a:ln w="9525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86384" y="5596128"/>
            <a:ext cx="2194560" cy="347471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000" b="1">
                <a:solidFill>
                  <a:srgbClr val="161B26"/>
                </a:solidFill>
                <a:latin typeface="Arial"/>
              </a:rPr>
              <a:t>Apply to each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163824" y="5596128"/>
            <a:ext cx="3108960" cy="347471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000" b="0">
                <a:solidFill>
                  <a:srgbClr val="5B6372"/>
                </a:solidFill>
                <a:latin typeface="Arial"/>
              </a:rPr>
              <a:t>Repeat actions over a list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55664" y="5596128"/>
            <a:ext cx="4983480" cy="347471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000" b="0">
                <a:solidFill>
                  <a:srgbClr val="5B6372"/>
                </a:solidFill>
                <a:latin typeface="Arial"/>
              </a:rPr>
              <a:t>Every row returned by a lookup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58368" y="5943600"/>
            <a:ext cx="10835640" cy="347471"/>
          </a:xfrm>
          <a:prstGeom prst="rect">
            <a:avLst/>
          </a:prstGeom>
          <a:solidFill>
            <a:srgbClr val="F5F8FC"/>
          </a:solidFill>
          <a:ln w="9525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86384" y="5943600"/>
            <a:ext cx="2194560" cy="347471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000" b="1">
                <a:solidFill>
                  <a:srgbClr val="161B26"/>
                </a:solidFill>
                <a:latin typeface="Arial"/>
              </a:rPr>
              <a:t>Terminate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163824" y="5943600"/>
            <a:ext cx="3108960" cy="347471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000" b="0">
                <a:solidFill>
                  <a:srgbClr val="5B6372"/>
                </a:solidFill>
                <a:latin typeface="Arial"/>
              </a:rPr>
              <a:t>End the run deliberately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55664" y="5943600"/>
            <a:ext cx="4983480" cy="347471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000" b="0">
                <a:solidFill>
                  <a:srgbClr val="5B6372"/>
                </a:solidFill>
                <a:latin typeface="Arial"/>
              </a:rPr>
              <a:t>Stop with a status a reader can interpret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Business Process Automation with Power Automate &amp; Copilot Studio Agents  ·  TGS-2022017524  ·  © 2026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25</a:t>
            </a:r>
          </a:p>
        </p:txBody>
      </p:sp>
    </p:spTree>
    <p:extLst>
      <p:ext uri="{BB962C8B-B14F-4D97-AF65-F5344CB8AC3E}">
        <p14:creationId xmlns:p14="http://schemas.microsoft.com/office/powerpoint/2010/main" val="340397184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56032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MODULE 2 · CONCEPT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789920" cy="603504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Human In, On, and Out of the Loop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3716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1536192"/>
            <a:ext cx="10835640" cy="329184"/>
          </a:xfrm>
          <a:prstGeom prst="rect">
            <a:avLst/>
          </a:prstGeom>
          <a:noFill/>
        </p:spPr>
        <p:txBody>
          <a:bodyPr wrap="square" anchor="t" lIns="73152" rIns="73152" tIns="73152" bIns="73152">
            <a:spAutoFit/>
          </a:bodyPr>
          <a:lstStyle/>
          <a:p>
            <a:pPr algn="l"/>
            <a:r>
              <a:rPr sz="1400" b="0">
                <a:solidFill>
                  <a:srgbClr val="161B26"/>
                </a:solidFill>
                <a:latin typeface="Arial"/>
              </a:rPr>
              <a:t>Three arrangements that people use interchangeably, and that are not the same thing.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2011680"/>
            <a:ext cx="10835640" cy="4572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2011680"/>
            <a:ext cx="2615184" cy="45720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Arial"/>
              </a:rPr>
              <a:t>Pattern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39312" y="2011680"/>
            <a:ext cx="2432304" cy="45720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Arial"/>
              </a:rPr>
              <a:t>Who decides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91072" y="2011680"/>
            <a:ext cx="2660904" cy="45720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Arial"/>
              </a:rPr>
              <a:t>Who acts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71432" y="2011680"/>
            <a:ext cx="2249424" cy="45720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Arial"/>
              </a:rPr>
              <a:t>Can AI proceed alone?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8368" y="2468880"/>
            <a:ext cx="1083564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" y="2468880"/>
            <a:ext cx="2615184" cy="658368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200" b="1">
                <a:solidFill>
                  <a:srgbClr val="C2413A"/>
                </a:solidFill>
                <a:latin typeface="Arial"/>
              </a:rPr>
              <a:t>Human IN the loop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39312" y="2468880"/>
            <a:ext cx="2432304" cy="658368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200" b="0">
                <a:solidFill>
                  <a:srgbClr val="5B6372"/>
                </a:solidFill>
                <a:latin typeface="Arial"/>
              </a:rPr>
              <a:t>AI proposes, human decides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91072" y="2468880"/>
            <a:ext cx="2660904" cy="658368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200" b="0">
                <a:solidFill>
                  <a:srgbClr val="5B6372"/>
                </a:solidFill>
                <a:latin typeface="Arial"/>
              </a:rPr>
              <a:t>Human authorises, system acts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71432" y="2468880"/>
            <a:ext cx="2249424" cy="658368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200" b="1">
                <a:solidFill>
                  <a:srgbClr val="C2413A"/>
                </a:solidFill>
                <a:latin typeface="Arial"/>
              </a:rPr>
              <a:t>NO — it blocks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8368" y="3127248"/>
            <a:ext cx="10835640" cy="658368"/>
          </a:xfrm>
          <a:prstGeom prst="rect">
            <a:avLst/>
          </a:prstGeom>
          <a:solidFill>
            <a:srgbClr val="F5F8FC"/>
          </a:solidFill>
          <a:ln w="9525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4672" y="3127248"/>
            <a:ext cx="2615184" cy="658368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200" b="1">
                <a:solidFill>
                  <a:srgbClr val="C77600"/>
                </a:solidFill>
                <a:latin typeface="Arial"/>
              </a:rPr>
              <a:t>Human ON the loop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39312" y="3127248"/>
            <a:ext cx="2432304" cy="658368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200" b="0">
                <a:solidFill>
                  <a:srgbClr val="5B6372"/>
                </a:solidFill>
                <a:latin typeface="Arial"/>
              </a:rPr>
              <a:t>AI decides and acts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91072" y="3127248"/>
            <a:ext cx="2660904" cy="658368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200" b="0">
                <a:solidFill>
                  <a:srgbClr val="5B6372"/>
                </a:solidFill>
                <a:latin typeface="Arial"/>
              </a:rPr>
              <a:t>Human monitors, can intervene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71432" y="3127248"/>
            <a:ext cx="2249424" cy="658368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200" b="1">
                <a:solidFill>
                  <a:srgbClr val="C77600"/>
                </a:solidFill>
                <a:latin typeface="Arial"/>
              </a:rPr>
              <a:t>Yes — after the fact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8368" y="3785616"/>
            <a:ext cx="1083564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3785616"/>
            <a:ext cx="2615184" cy="658368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200" b="1">
                <a:solidFill>
                  <a:srgbClr val="5B6372"/>
                </a:solidFill>
                <a:latin typeface="Arial"/>
              </a:rPr>
              <a:t>Human OUT of the loop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39312" y="3785616"/>
            <a:ext cx="2432304" cy="658368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200" b="0">
                <a:solidFill>
                  <a:srgbClr val="5B6372"/>
                </a:solidFill>
                <a:latin typeface="Arial"/>
              </a:rPr>
              <a:t>AI decides and acts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91072" y="3785616"/>
            <a:ext cx="2660904" cy="658368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200" b="0">
                <a:solidFill>
                  <a:srgbClr val="5B6372"/>
                </a:solidFill>
                <a:latin typeface="Arial"/>
              </a:rPr>
              <a:t>AI acts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71432" y="3785616"/>
            <a:ext cx="2249424" cy="658368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200" b="1">
                <a:solidFill>
                  <a:srgbClr val="5B6372"/>
                </a:solidFill>
                <a:latin typeface="Arial"/>
              </a:rPr>
              <a:t>Yes — nobody checks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58368" y="4617720"/>
            <a:ext cx="10835640" cy="1143000"/>
          </a:xfrm>
          <a:prstGeom prst="roundRect">
            <a:avLst/>
          </a:prstGeom>
          <a:solidFill>
            <a:srgbClr val="F5F8FC"/>
          </a:solidFill>
          <a:ln w="20320">
            <a:solidFill>
              <a:srgbClr val="C241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4400" y="4718304"/>
            <a:ext cx="10332720" cy="310896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200" b="1">
                <a:solidFill>
                  <a:srgbClr val="C2413A"/>
                </a:solidFill>
                <a:latin typeface="Arial"/>
              </a:rPr>
              <a:t>WHERE THIS COURSE PUTS THE HUMAN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5047488"/>
            <a:ext cx="10332720" cy="658368"/>
          </a:xfrm>
          <a:prstGeom prst="rect">
            <a:avLst/>
          </a:prstGeom>
          <a:noFill/>
        </p:spPr>
        <p:txBody>
          <a:bodyPr wrap="square" anchor="t" lIns="73152" rIns="73152" tIns="73152" bIns="73152">
            <a:spAutoFit/>
          </a:bodyPr>
          <a:lstStyle/>
          <a:p>
            <a:pPr algn="l"/>
            <a:r>
              <a:rPr sz="1200" b="0">
                <a:solidFill>
                  <a:srgbClr val="5B6372"/>
                </a:solidFill>
                <a:latin typeface="Arial"/>
              </a:rPr>
              <a:t>Lab 3 — a manager approves leave.   Lab 8 — a licensed adviser approves a draft before it is sent.</a:t>
            </a:r>
          </a:p>
          <a:p>
            <a:pPr algn="l"/>
            <a:r>
              <a:rPr sz="1200" b="0">
                <a:solidFill>
                  <a:srgbClr val="5B6372"/>
                </a:solidFill>
                <a:latin typeface="Arial"/>
              </a:rPr>
              <a:t>Labs 6, 7, 9 and 10 are deliberately out of the loop, so you can see what that costs.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8368" y="5559552"/>
            <a:ext cx="10835640" cy="7132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1684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841248" y="5687568"/>
            <a:ext cx="1051560" cy="457200"/>
          </a:xfrm>
          <a:prstGeom prst="round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41248" y="5687568"/>
            <a:ext cx="1051560" cy="45720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LAB 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057400" y="5577840"/>
            <a:ext cx="9235440" cy="329184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400" b="1">
                <a:solidFill>
                  <a:srgbClr val="161B26"/>
                </a:solidFill>
                <a:latin typeface="Arial"/>
              </a:rPr>
              <a:t>Lab 3 — Leave Application Approval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057400" y="5907024"/>
            <a:ext cx="9235440" cy="310896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100" b="0">
                <a:solidFill>
                  <a:srgbClr val="5B6372"/>
                </a:solidFill>
                <a:latin typeface="Arial"/>
              </a:rPr>
              <a:t>The flow pauses for a manager  ·  Power Automate + Approvals + Outlook  ·  45 min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Business Process Automation with Power Automate &amp; Copilot Studio Agents  ·  TGS-2022017524  ·  © 2026 Tertiary Infotech Academy Pte Ltd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26</a:t>
            </a:r>
          </a:p>
        </p:txBody>
      </p:sp>
    </p:spTree>
    <p:extLst>
      <p:ext uri="{BB962C8B-B14F-4D97-AF65-F5344CB8AC3E}">
        <p14:creationId xmlns:p14="http://schemas.microsoft.com/office/powerpoint/2010/main" val="411997736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56032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MODULE 2 · CONCEPT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789920" cy="603504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How an Approval Suspends a Running Flow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3716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783080"/>
            <a:ext cx="1830628" cy="11887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1837943"/>
            <a:ext cx="1720900" cy="1078992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200" b="1">
                <a:solidFill>
                  <a:srgbClr val="161B26"/>
                </a:solidFill>
                <a:latin typeface="Arial"/>
              </a:rPr>
              <a:t>Request</a:t>
            </a:r>
          </a:p>
          <a:p>
            <a:pPr algn="ctr"/>
            <a:r>
              <a:rPr sz="1200" b="1">
                <a:solidFill>
                  <a:srgbClr val="161B26"/>
                </a:solidFill>
                <a:latin typeface="Arial"/>
              </a:rPr>
              <a:t>submitted</a:t>
            </a:r>
          </a:p>
        </p:txBody>
      </p:sp>
      <p:sp>
        <p:nvSpPr>
          <p:cNvPr id="8" name="Chevron 7"/>
          <p:cNvSpPr/>
          <p:nvPr/>
        </p:nvSpPr>
        <p:spPr>
          <a:xfrm>
            <a:off x="2553004" y="2221992"/>
            <a:ext cx="274320" cy="310896"/>
          </a:xfrm>
          <a:prstGeom prst="chevron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360980" y="1508760"/>
            <a:ext cx="676656" cy="237744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900" b="0">
                <a:solidFill>
                  <a:srgbClr val="5B6372"/>
                </a:solidFill>
                <a:latin typeface="Arial"/>
              </a:rPr>
              <a:t>action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909620" y="1783080"/>
            <a:ext cx="1830628" cy="11887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241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964484" y="1837943"/>
            <a:ext cx="1720900" cy="1078992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200" b="1">
                <a:solidFill>
                  <a:srgbClr val="161B26"/>
                </a:solidFill>
                <a:latin typeface="Arial"/>
              </a:rPr>
              <a:t>Start and wait</a:t>
            </a:r>
          </a:p>
          <a:p>
            <a:pPr algn="ctr"/>
            <a:r>
              <a:rPr sz="1200" b="1">
                <a:solidFill>
                  <a:srgbClr val="161B26"/>
                </a:solidFill>
                <a:latin typeface="Arial"/>
              </a:rPr>
              <a:t>for an approval</a:t>
            </a:r>
          </a:p>
        </p:txBody>
      </p:sp>
      <p:sp>
        <p:nvSpPr>
          <p:cNvPr id="12" name="Chevron 11"/>
          <p:cNvSpPr/>
          <p:nvPr/>
        </p:nvSpPr>
        <p:spPr>
          <a:xfrm>
            <a:off x="4804256" y="2221992"/>
            <a:ext cx="274320" cy="310896"/>
          </a:xfrm>
          <a:prstGeom prst="chevron">
            <a:avLst/>
          </a:prstGeom>
          <a:solidFill>
            <a:srgbClr val="C24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12232" y="1508760"/>
            <a:ext cx="676656" cy="237744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900" b="0">
                <a:solidFill>
                  <a:srgbClr val="5B6372"/>
                </a:solidFill>
                <a:latin typeface="Arial"/>
              </a:rPr>
              <a:t>pause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160873" y="1783080"/>
            <a:ext cx="1830628" cy="11887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241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215737" y="1837943"/>
            <a:ext cx="1720900" cy="1078992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200" b="1">
                <a:solidFill>
                  <a:srgbClr val="161B26"/>
                </a:solidFill>
                <a:latin typeface="Arial"/>
              </a:rPr>
              <a:t>The run</a:t>
            </a:r>
          </a:p>
          <a:p>
            <a:pPr algn="ctr"/>
            <a:r>
              <a:rPr sz="1200" b="1">
                <a:solidFill>
                  <a:srgbClr val="161B26"/>
                </a:solidFill>
                <a:latin typeface="Arial"/>
              </a:rPr>
              <a:t>SUSPENDS</a:t>
            </a:r>
          </a:p>
        </p:txBody>
      </p:sp>
      <p:sp>
        <p:nvSpPr>
          <p:cNvPr id="16" name="Chevron 15"/>
          <p:cNvSpPr/>
          <p:nvPr/>
        </p:nvSpPr>
        <p:spPr>
          <a:xfrm>
            <a:off x="7055509" y="2221992"/>
            <a:ext cx="274320" cy="310896"/>
          </a:xfrm>
          <a:prstGeom prst="chevron">
            <a:avLst/>
          </a:prstGeom>
          <a:solidFill>
            <a:srgbClr val="C24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63485" y="1508760"/>
            <a:ext cx="676656" cy="237744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900" b="0">
                <a:solidFill>
                  <a:srgbClr val="5B6372"/>
                </a:solidFill>
                <a:latin typeface="Arial"/>
              </a:rPr>
              <a:t>decision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412126" y="1783080"/>
            <a:ext cx="1830628" cy="11887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6D3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66990" y="1837943"/>
            <a:ext cx="1720900" cy="1078992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200" b="1">
                <a:solidFill>
                  <a:srgbClr val="161B26"/>
                </a:solidFill>
                <a:latin typeface="Arial"/>
              </a:rPr>
              <a:t>A person</a:t>
            </a:r>
          </a:p>
          <a:p>
            <a:pPr algn="ctr"/>
            <a:r>
              <a:rPr sz="1200" b="1">
                <a:solidFill>
                  <a:srgbClr val="161B26"/>
                </a:solidFill>
                <a:latin typeface="Arial"/>
              </a:rPr>
              <a:t>responds</a:t>
            </a:r>
          </a:p>
        </p:txBody>
      </p:sp>
      <p:sp>
        <p:nvSpPr>
          <p:cNvPr id="20" name="Chevron 19"/>
          <p:cNvSpPr/>
          <p:nvPr/>
        </p:nvSpPr>
        <p:spPr>
          <a:xfrm>
            <a:off x="9306762" y="2221992"/>
            <a:ext cx="274320" cy="310896"/>
          </a:xfrm>
          <a:prstGeom prst="chevron">
            <a:avLst/>
          </a:prstGeom>
          <a:solidFill>
            <a:srgbClr val="6D3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14738" y="1508760"/>
            <a:ext cx="676656" cy="237744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900" b="0">
                <a:solidFill>
                  <a:srgbClr val="5B6372"/>
                </a:solidFill>
                <a:latin typeface="Arial"/>
              </a:rPr>
              <a:t>resume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663379" y="1783080"/>
            <a:ext cx="1830628" cy="11887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108A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718243" y="1837943"/>
            <a:ext cx="1720900" cy="1078992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200" b="1">
                <a:solidFill>
                  <a:srgbClr val="161B26"/>
                </a:solidFill>
                <a:latin typeface="Arial"/>
              </a:rPr>
              <a:t>Condition reads</a:t>
            </a:r>
          </a:p>
          <a:p>
            <a:pPr algn="ctr"/>
            <a:r>
              <a:rPr sz="1200" b="1">
                <a:solidFill>
                  <a:srgbClr val="161B26"/>
                </a:solidFill>
                <a:latin typeface="Arial"/>
              </a:rPr>
              <a:t>the Outcome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58368" y="3291840"/>
            <a:ext cx="5303520" cy="13716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1684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96112" y="3401568"/>
            <a:ext cx="4846320" cy="310896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200" b="1">
                <a:solidFill>
                  <a:srgbClr val="16845B"/>
                </a:solidFill>
                <a:latin typeface="Arial"/>
              </a:rPr>
              <a:t>OUTCOME = APPROVE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6112" y="3730752"/>
            <a:ext cx="4846320" cy="822960"/>
          </a:xfrm>
          <a:prstGeom prst="rect">
            <a:avLst/>
          </a:prstGeom>
          <a:noFill/>
        </p:spPr>
        <p:txBody>
          <a:bodyPr wrap="square" anchor="t" lIns="73152" rIns="73152" tIns="73152" bIns="73152">
            <a:spAutoFit/>
          </a:bodyPr>
          <a:lstStyle/>
          <a:p>
            <a:pPr algn="l"/>
            <a:r>
              <a:rPr sz="1100" b="0">
                <a:solidFill>
                  <a:srgbClr val="5B6372"/>
                </a:solidFill>
                <a:latin typeface="Arial"/>
              </a:rPr>
              <a:t>Send the approval message, update the record and continue</a:t>
            </a:r>
          </a:p>
          <a:p>
            <a:pPr algn="l"/>
            <a:r>
              <a:rPr sz="1100" b="0">
                <a:solidFill>
                  <a:srgbClr val="5B6372"/>
                </a:solidFill>
                <a:latin typeface="Arial"/>
              </a:rPr>
              <a:t>the business process.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90488" y="3291840"/>
            <a:ext cx="5303520" cy="13716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241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28232" y="3401568"/>
            <a:ext cx="4846320" cy="310896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200" b="1">
                <a:solidFill>
                  <a:srgbClr val="C2413A"/>
                </a:solidFill>
                <a:latin typeface="Arial"/>
              </a:rPr>
              <a:t>OUTCOME = REJECT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28232" y="3730752"/>
            <a:ext cx="4846320" cy="822960"/>
          </a:xfrm>
          <a:prstGeom prst="rect">
            <a:avLst/>
          </a:prstGeom>
          <a:noFill/>
        </p:spPr>
        <p:txBody>
          <a:bodyPr wrap="square" anchor="t" lIns="73152" rIns="73152" tIns="73152" bIns="73152">
            <a:spAutoFit/>
          </a:bodyPr>
          <a:lstStyle/>
          <a:p>
            <a:pPr algn="l"/>
            <a:r>
              <a:rPr sz="1100" b="0">
                <a:solidFill>
                  <a:srgbClr val="5B6372"/>
                </a:solidFill>
                <a:latin typeface="Arial"/>
              </a:rPr>
              <a:t>Send the rejection with the approver's comments, and route it</a:t>
            </a:r>
          </a:p>
          <a:p>
            <a:pPr algn="l"/>
            <a:r>
              <a:rPr sz="1100" b="0">
                <a:solidFill>
                  <a:srgbClr val="5B6372"/>
                </a:solidFill>
                <a:latin typeface="Arial"/>
              </a:rPr>
              <a:t>to a named person — never to silence.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8368" y="4773168"/>
            <a:ext cx="10835640" cy="749808"/>
          </a:xfrm>
          <a:prstGeom prst="roundRect">
            <a:avLst/>
          </a:prstGeom>
          <a:solidFill>
            <a:srgbClr val="F5F8FC"/>
          </a:solidFill>
          <a:ln w="20320">
            <a:solidFill>
              <a:srgbClr val="C77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14400" y="4828032"/>
            <a:ext cx="10332720" cy="27432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200" b="1">
                <a:solidFill>
                  <a:srgbClr val="C77600"/>
                </a:solidFill>
                <a:latin typeface="Arial"/>
              </a:rPr>
              <a:t>SEND APPROVALS TO TEAMS, NOT OUTLOOK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5102352"/>
            <a:ext cx="10332720" cy="384048"/>
          </a:xfrm>
          <a:prstGeom prst="rect">
            <a:avLst/>
          </a:prstGeom>
          <a:noFill/>
        </p:spPr>
        <p:txBody>
          <a:bodyPr wrap="square" anchor="t" lIns="73152" rIns="73152" tIns="73152" bIns="73152">
            <a:spAutoFit/>
          </a:bodyPr>
          <a:lstStyle/>
          <a:p>
            <a:pPr algn="l"/>
            <a:r>
              <a:rPr sz="1100" b="0">
                <a:solidFill>
                  <a:srgbClr val="5B6372"/>
                </a:solidFill>
                <a:latin typeface="Arial"/>
              </a:rPr>
              <a:t>Verified on a live tenant: Outlook created the request and never delivered the mail — the run sat at Running, looking healthy.</a:t>
            </a:r>
          </a:p>
          <a:p>
            <a:pPr algn="l"/>
            <a:r>
              <a:rPr sz="1100" b="0">
                <a:solidFill>
                  <a:srgbClr val="5B6372"/>
                </a:solidFill>
                <a:latin typeface="Arial"/>
              </a:rPr>
              <a:t>Every human gate in these labs uses the Microsoft Teams Approvals app.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58368" y="5559552"/>
            <a:ext cx="10835640" cy="7132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1684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841248" y="5687568"/>
            <a:ext cx="1051560" cy="457200"/>
          </a:xfrm>
          <a:prstGeom prst="round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41248" y="5687568"/>
            <a:ext cx="1051560" cy="45720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LAB 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057400" y="5577840"/>
            <a:ext cx="9235440" cy="329184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400" b="1">
                <a:solidFill>
                  <a:srgbClr val="161B26"/>
                </a:solidFill>
                <a:latin typeface="Arial"/>
              </a:rPr>
              <a:t>Lab 3 — Leave Application Approval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057400" y="5907024"/>
            <a:ext cx="9235440" cy="310896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100" b="0">
                <a:solidFill>
                  <a:srgbClr val="5B6372"/>
                </a:solidFill>
                <a:latin typeface="Arial"/>
              </a:rPr>
              <a:t>The flow pauses for a manager  ·  Power Automate + Approvals + Outlook  ·  45 min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Business Process Automation with Power Automate &amp; Copilot Studio Agents  ·  TGS-2022017524  ·  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27</a:t>
            </a:r>
          </a:p>
        </p:txBody>
      </p:sp>
    </p:spTree>
    <p:extLst>
      <p:ext uri="{BB962C8B-B14F-4D97-AF65-F5344CB8AC3E}">
        <p14:creationId xmlns:p14="http://schemas.microsoft.com/office/powerpoint/2010/main" val="397622769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56032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MODULE 2 · LAB WORKFLOW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789920" cy="603504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Lab 3 — Leave Application Approval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3716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1517904"/>
            <a:ext cx="10835640" cy="310896"/>
          </a:xfrm>
          <a:prstGeom prst="rect">
            <a:avLst/>
          </a:prstGeom>
          <a:noFill/>
        </p:spPr>
        <p:txBody>
          <a:bodyPr wrap="square" anchor="t" lIns="73152" rIns="73152" tIns="73152" bIns="73152">
            <a:spAutoFit/>
          </a:bodyPr>
          <a:lstStyle/>
          <a:p>
            <a:pPr algn="l"/>
            <a:r>
              <a:rPr sz="1300" b="0">
                <a:solidFill>
                  <a:srgbClr val="5B6372"/>
                </a:solidFill>
                <a:latin typeface="Arial"/>
              </a:rPr>
              <a:t>A running flow suspends at the approval action and branches on the human decision.</a:t>
            </a:r>
          </a:p>
        </p:txBody>
      </p:sp>
      <p:pic>
        <p:nvPicPr>
          <p:cNvPr id="7" name="Picture 6" descr="flowchar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" y="2726441"/>
            <a:ext cx="10972799" cy="1734302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658368" y="5559552"/>
            <a:ext cx="10835640" cy="7132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1684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41248" y="5687568"/>
            <a:ext cx="1051560" cy="457200"/>
          </a:xfrm>
          <a:prstGeom prst="round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" y="5687568"/>
            <a:ext cx="1051560" cy="45720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LAB 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57400" y="5577840"/>
            <a:ext cx="9235440" cy="329184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400" b="1">
                <a:solidFill>
                  <a:srgbClr val="161B26"/>
                </a:solidFill>
                <a:latin typeface="Arial"/>
              </a:rPr>
              <a:t>Lab 3 — Leave Application Approval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57400" y="5907024"/>
            <a:ext cx="9235440" cy="310896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100" b="0">
                <a:solidFill>
                  <a:srgbClr val="5B6372"/>
                </a:solidFill>
                <a:latin typeface="Arial"/>
              </a:rPr>
              <a:t>The flow pauses for a manager  ·  Power Automate + Approvals + Outlook  ·  45 min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Business Process Automation with Power Automate &amp; Copilot Studio Agents  ·  TGS-2022017524  ·  © 2026 Tertiary Infotech Academy Pte Ltd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28</a:t>
            </a:r>
          </a:p>
        </p:txBody>
      </p:sp>
    </p:spTree>
    <p:extLst>
      <p:ext uri="{BB962C8B-B14F-4D97-AF65-F5344CB8AC3E}">
        <p14:creationId xmlns:p14="http://schemas.microsoft.com/office/powerpoint/2010/main" val="133282222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658368" y="1737360"/>
            <a:ext cx="10835640" cy="3291840"/>
          </a:xfrm>
          <a:prstGeom prst="roundRect">
            <a:avLst/>
          </a:prstGeom>
          <a:solidFill>
            <a:srgbClr val="F5F8FC"/>
          </a:solidFill>
          <a:ln w="25400">
            <a:solidFill>
              <a:srgbClr val="6D3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58368" y="1737360"/>
            <a:ext cx="128016" cy="3291840"/>
          </a:xfrm>
          <a:prstGeom prst="rect">
            <a:avLst/>
          </a:prstGeom>
          <a:solidFill>
            <a:srgbClr val="6D3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2148840"/>
            <a:ext cx="9875520" cy="36576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500" b="1">
                <a:solidFill>
                  <a:srgbClr val="6D3FD2"/>
                </a:solidFill>
                <a:latin typeface="Arial"/>
              </a:rPr>
              <a:t>MODULE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2606040"/>
            <a:ext cx="9875520" cy="86868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3400" b="1">
                <a:solidFill>
                  <a:srgbClr val="161B26"/>
                </a:solidFill>
                <a:latin typeface="Arial"/>
              </a:rPr>
              <a:t>Copilot Studio Agents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3611880"/>
            <a:ext cx="9875520" cy="1005840"/>
          </a:xfrm>
          <a:prstGeom prst="rect">
            <a:avLst/>
          </a:prstGeom>
          <a:noFill/>
        </p:spPr>
        <p:txBody>
          <a:bodyPr wrap="square" anchor="t" lIns="73152" rIns="73152" tIns="73152" bIns="73152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B6372"/>
                </a:solidFill>
                <a:latin typeface="Arial"/>
              </a:rPr>
              <a:t>Workflow versus agent  ·  instructions, skills, knowledge, tools  ·  what is actually enforced  ·  connected agents  ·  publishing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5B6372"/>
                </a:solidFill>
                <a:latin typeface="Arial"/>
              </a:rPr>
              <a:t>Applied in Lab 4 and Lab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Business Process Automation with Power Automate &amp; Copilot Studio Agents  ·  TGS-2022017524  ·  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29</a:t>
            </a:r>
          </a:p>
        </p:txBody>
      </p:sp>
    </p:spTree>
    <p:extLst>
      <p:ext uri="{BB962C8B-B14F-4D97-AF65-F5344CB8AC3E}">
        <p14:creationId xmlns:p14="http://schemas.microsoft.com/office/powerpoint/2010/main" val="239558297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56032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MODULE 3 · CONCEPT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789920" cy="603504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Workflow or Agent — They Fail Differently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3716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691640"/>
            <a:ext cx="5303520" cy="356616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691640"/>
            <a:ext cx="5303520" cy="53035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1691640"/>
            <a:ext cx="5303520" cy="530352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WORKFLOW  —  Power Automate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377440"/>
            <a:ext cx="4754880" cy="45720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200" b="0">
                <a:solidFill>
                  <a:srgbClr val="5B6372"/>
                </a:solidFill>
                <a:latin typeface="Arial"/>
              </a:rPr>
              <a:t>•  You decide the path in advance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907792"/>
            <a:ext cx="4754880" cy="45720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200" b="0">
                <a:solidFill>
                  <a:srgbClr val="5B6372"/>
                </a:solidFill>
                <a:latin typeface="Arial"/>
              </a:rPr>
              <a:t>•  The same input always gives the same output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438144"/>
            <a:ext cx="4754880" cy="45720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200" b="0">
                <a:solidFill>
                  <a:srgbClr val="5B6372"/>
                </a:solidFill>
                <a:latin typeface="Arial"/>
              </a:rPr>
              <a:t>•  It can only do what you built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968496"/>
            <a:ext cx="4754880" cy="45720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200" b="0">
                <a:solidFill>
                  <a:srgbClr val="5B6372"/>
                </a:solidFill>
                <a:latin typeface="Arial"/>
              </a:rPr>
              <a:t>•  It fails loudly, at a named step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4498848"/>
            <a:ext cx="4754880" cy="45720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200" b="0">
                <a:solidFill>
                  <a:srgbClr val="5B6372"/>
                </a:solidFill>
                <a:latin typeface="Arial"/>
              </a:rPr>
              <a:t>•  You test it by checking the result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0488" y="1691640"/>
            <a:ext cx="5303520" cy="356616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6D3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90488" y="1691640"/>
            <a:ext cx="5303520" cy="530352"/>
          </a:xfrm>
          <a:prstGeom prst="rect">
            <a:avLst/>
          </a:prstGeom>
          <a:solidFill>
            <a:srgbClr val="6D3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90488" y="1691640"/>
            <a:ext cx="5303520" cy="530352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AGENT  —  Copilot Studio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2377440"/>
            <a:ext cx="4754880" cy="45720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200" b="0">
                <a:solidFill>
                  <a:srgbClr val="5B6372"/>
                </a:solidFill>
                <a:latin typeface="Arial"/>
              </a:rPr>
              <a:t>•  It chooses the path at run time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2907792"/>
            <a:ext cx="4754880" cy="45720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200" b="0">
                <a:solidFill>
                  <a:srgbClr val="5B6372"/>
                </a:solidFill>
                <a:latin typeface="Arial"/>
              </a:rPr>
              <a:t>•  The same input may give a different answer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3438144"/>
            <a:ext cx="4754880" cy="45720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200" b="0">
                <a:solidFill>
                  <a:srgbClr val="5B6372"/>
                </a:solidFill>
                <a:latin typeface="Arial"/>
              </a:rPr>
              <a:t>•  It can combine what it was given in new ways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3968496"/>
            <a:ext cx="4754880" cy="45720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200" b="0">
                <a:solidFill>
                  <a:srgbClr val="5B6372"/>
                </a:solidFill>
                <a:latin typeface="Arial"/>
              </a:rPr>
              <a:t>•  It fails quietly, with a confident wrong answer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2240" y="4498848"/>
            <a:ext cx="4754880" cy="45720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200" b="0">
                <a:solidFill>
                  <a:srgbClr val="5B6372"/>
                </a:solidFill>
                <a:latin typeface="Arial"/>
              </a:rPr>
              <a:t>•  You test it by trying to break it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5440680"/>
            <a:ext cx="10835640" cy="566928"/>
          </a:xfrm>
          <a:prstGeom prst="roundRect">
            <a:avLst/>
          </a:prstGeom>
          <a:solidFill>
            <a:srgbClr val="F5F8FC"/>
          </a:solidFill>
          <a:ln w="20320">
            <a:solidFill>
              <a:srgbClr val="6D3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4400" y="5440680"/>
            <a:ext cx="10332720" cy="566928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400" b="1">
                <a:solidFill>
                  <a:srgbClr val="161B26"/>
                </a:solidFill>
                <a:latin typeface="Arial"/>
              </a:rPr>
              <a:t>Use a workflow where the rule is known. Use an agent where the language varies. Most real systems need both.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6016752"/>
            <a:ext cx="10835640" cy="292608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200" b="0">
                <a:solidFill>
                  <a:srgbClr val="5B6372"/>
                </a:solidFill>
                <a:latin typeface="Arial"/>
              </a:rPr>
              <a:t>Labs 1–3 are pure workflow. Labs 4–5 are pure agent. Labs 6–10 are both, and the seam between them is the lesson.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Business Process Automation with Power Automate &amp; Copilot Studio Agents  ·  TGS-2022017524  ·  © 2026 Tertiary Infotech Academy Pte Ltd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30</a:t>
            </a:r>
          </a:p>
        </p:txBody>
      </p:sp>
    </p:spTree>
    <p:extLst>
      <p:ext uri="{BB962C8B-B14F-4D97-AF65-F5344CB8AC3E}">
        <p14:creationId xmlns:p14="http://schemas.microsoft.com/office/powerpoint/2010/main" val="230456755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56032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MODULE 3 · CONCEPT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789920" cy="603504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The Anatomy of an Agent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3716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343400" y="2880360"/>
            <a:ext cx="3474720" cy="1188720"/>
          </a:xfrm>
          <a:prstGeom prst="roundRect">
            <a:avLst/>
          </a:prstGeom>
          <a:solidFill>
            <a:srgbClr val="F5F8FC"/>
          </a:solidFill>
          <a:ln w="27940">
            <a:solidFill>
              <a:srgbClr val="6D3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43400" y="2880360"/>
            <a:ext cx="3474720" cy="118872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500" b="1">
                <a:solidFill>
                  <a:srgbClr val="6D3FD2"/>
                </a:solidFill>
                <a:latin typeface="Arial"/>
              </a:rPr>
              <a:t>THE AGENT</a:t>
            </a:r>
          </a:p>
          <a:p>
            <a:pPr algn="ctr"/>
            <a:r>
              <a:rPr sz="1500" b="1">
                <a:solidFill>
                  <a:srgbClr val="6D3FD2"/>
                </a:solidFill>
                <a:latin typeface="Arial"/>
              </a:rPr>
              <a:t>name · model · description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627632"/>
            <a:ext cx="5303520" cy="109728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1700784"/>
            <a:ext cx="4846320" cy="310896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300" b="1">
                <a:solidFill>
                  <a:srgbClr val="1F6FEB"/>
                </a:solidFill>
                <a:latin typeface="Arial"/>
              </a:rPr>
              <a:t>INSTRUCTIONS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7824" y="2029968"/>
            <a:ext cx="4846320" cy="640080"/>
          </a:xfrm>
          <a:prstGeom prst="rect">
            <a:avLst/>
          </a:prstGeom>
          <a:noFill/>
        </p:spPr>
        <p:txBody>
          <a:bodyPr wrap="square" anchor="t" lIns="73152" rIns="73152" tIns="73152" bIns="73152">
            <a:spAutoFit/>
          </a:bodyPr>
          <a:lstStyle/>
          <a:p>
            <a:pPr algn="l"/>
            <a:r>
              <a:rPr sz="1100" b="0">
                <a:solidFill>
                  <a:srgbClr val="5B6372"/>
                </a:solidFill>
                <a:latin typeface="Arial"/>
              </a:rPr>
              <a:t>Who it is and what it must</a:t>
            </a:r>
          </a:p>
          <a:p>
            <a:pPr algn="l"/>
            <a:r>
              <a:rPr sz="1100" b="0">
                <a:solidFill>
                  <a:srgbClr val="5B6372"/>
                </a:solidFill>
                <a:latin typeface="Arial"/>
              </a:rPr>
              <a:t>never do. Always in force.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90488" y="1627632"/>
            <a:ext cx="5303520" cy="109728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108A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9944" y="1700784"/>
            <a:ext cx="4846320" cy="310896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300" b="1">
                <a:solidFill>
                  <a:srgbClr val="108A73"/>
                </a:solidFill>
                <a:latin typeface="Arial"/>
              </a:rPr>
              <a:t>SKILLS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9944" y="2029968"/>
            <a:ext cx="4846320" cy="640080"/>
          </a:xfrm>
          <a:prstGeom prst="rect">
            <a:avLst/>
          </a:prstGeom>
          <a:noFill/>
        </p:spPr>
        <p:txBody>
          <a:bodyPr wrap="square" anchor="t" lIns="73152" rIns="73152" tIns="73152" bIns="73152">
            <a:spAutoFit/>
          </a:bodyPr>
          <a:lstStyle/>
          <a:p>
            <a:pPr algn="l"/>
            <a:r>
              <a:rPr sz="1100" b="0">
                <a:solidFill>
                  <a:srgbClr val="5B6372"/>
                </a:solidFill>
                <a:latin typeface="Arial"/>
              </a:rPr>
              <a:t>Named procedures, applied</a:t>
            </a:r>
          </a:p>
          <a:p>
            <a:pPr algn="l"/>
            <a:r>
              <a:rPr sz="1100" b="0">
                <a:solidFill>
                  <a:srgbClr val="5B6372"/>
                </a:solidFill>
                <a:latin typeface="Arial"/>
              </a:rPr>
              <a:t>when the topic matches.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206240"/>
            <a:ext cx="5303520" cy="109728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77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77824" y="4279392"/>
            <a:ext cx="4846320" cy="310896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300" b="1">
                <a:solidFill>
                  <a:srgbClr val="C77600"/>
                </a:solidFill>
                <a:latin typeface="Arial"/>
              </a:rPr>
              <a:t>KNOWLEDGE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7824" y="4608576"/>
            <a:ext cx="4846320" cy="640080"/>
          </a:xfrm>
          <a:prstGeom prst="rect">
            <a:avLst/>
          </a:prstGeom>
          <a:noFill/>
        </p:spPr>
        <p:txBody>
          <a:bodyPr wrap="square" anchor="t" lIns="73152" rIns="73152" tIns="73152" bIns="73152">
            <a:spAutoFit/>
          </a:bodyPr>
          <a:lstStyle/>
          <a:p>
            <a:pPr algn="l"/>
            <a:r>
              <a:rPr sz="1100" b="0">
                <a:solidFill>
                  <a:srgbClr val="5B6372"/>
                </a:solidFill>
                <a:latin typeface="Arial"/>
              </a:rPr>
              <a:t>Documents it may read.</a:t>
            </a:r>
          </a:p>
          <a:p>
            <a:pPr algn="l"/>
            <a:r>
              <a:rPr sz="1100" b="0">
                <a:solidFill>
                  <a:srgbClr val="5B6372"/>
                </a:solidFill>
                <a:latin typeface="Arial"/>
              </a:rPr>
              <a:t>It cannot read anything else.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90488" y="4206240"/>
            <a:ext cx="5303520" cy="109728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1684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9944" y="4279392"/>
            <a:ext cx="4846320" cy="310896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300" b="1">
                <a:solidFill>
                  <a:srgbClr val="16845B"/>
                </a:solidFill>
                <a:latin typeface="Arial"/>
              </a:rPr>
              <a:t>TOOLS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9944" y="4608576"/>
            <a:ext cx="4846320" cy="640080"/>
          </a:xfrm>
          <a:prstGeom prst="rect">
            <a:avLst/>
          </a:prstGeom>
          <a:noFill/>
        </p:spPr>
        <p:txBody>
          <a:bodyPr wrap="square" anchor="t" lIns="73152" rIns="73152" tIns="73152" bIns="73152">
            <a:spAutoFit/>
          </a:bodyPr>
          <a:lstStyle/>
          <a:p>
            <a:pPr algn="l"/>
            <a:r>
              <a:rPr sz="1100" b="0">
                <a:solidFill>
                  <a:srgbClr val="5B6372"/>
                </a:solidFill>
                <a:latin typeface="Arial"/>
              </a:rPr>
              <a:t>Flows it can call to act</a:t>
            </a:r>
          </a:p>
          <a:p>
            <a:pPr algn="l"/>
            <a:r>
              <a:rPr sz="1100" b="0">
                <a:solidFill>
                  <a:srgbClr val="5B6372"/>
                </a:solidFill>
                <a:latin typeface="Arial"/>
              </a:rPr>
              <a:t>outside the conversation.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" y="5266944"/>
            <a:ext cx="10835640" cy="256032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100" b="1">
                <a:solidFill>
                  <a:srgbClr val="6D3FD2"/>
                </a:solidFill>
                <a:latin typeface="Arial"/>
              </a:rPr>
              <a:t>A fifth part — CONNECTED AGENTS — lets one agent hand a conversation to another with its own knowledge and audience.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58368" y="5559552"/>
            <a:ext cx="10835640" cy="7132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1684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41248" y="5687568"/>
            <a:ext cx="1051560" cy="457200"/>
          </a:xfrm>
          <a:prstGeom prst="round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41248" y="5687568"/>
            <a:ext cx="1051560" cy="45720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LAB 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57400" y="5577840"/>
            <a:ext cx="9235440" cy="329184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400" b="1">
                <a:solidFill>
                  <a:srgbClr val="161B26"/>
                </a:solidFill>
                <a:latin typeface="Arial"/>
              </a:rPr>
              <a:t>Lab 4 — Agents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057400" y="5907024"/>
            <a:ext cx="9235440" cy="310896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100" b="0">
                <a:solidFill>
                  <a:srgbClr val="5B6372"/>
                </a:solidFill>
                <a:latin typeface="Arial"/>
              </a:rPr>
              <a:t>Procurement, HR, Sales and IT Support  ·  Copilot Studio agents + agent flows + SharePoint + Teams  ·  45 min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Business Process Automation with Power Automate &amp; Copilot Studio Agents  ·  TGS-2022017524  ·  © 2026 Tertiary Infotech Academy Pte Ltd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31</a:t>
            </a:r>
          </a:p>
        </p:txBody>
      </p:sp>
    </p:spTree>
    <p:extLst>
      <p:ext uri="{BB962C8B-B14F-4D97-AF65-F5344CB8AC3E}">
        <p14:creationId xmlns:p14="http://schemas.microsoft.com/office/powerpoint/2010/main" val="211261712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56032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MODULE 3 · CONCEPT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789920" cy="603504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Which Parts of an Agent Hold — and Which Do Not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3716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1536192"/>
            <a:ext cx="10835640" cy="329184"/>
          </a:xfrm>
          <a:prstGeom prst="rect">
            <a:avLst/>
          </a:prstGeom>
          <a:noFill/>
        </p:spPr>
        <p:txBody>
          <a:bodyPr wrap="square" anchor="t" lIns="73152" rIns="73152" tIns="73152" bIns="73152">
            <a:spAutoFit/>
          </a:bodyPr>
          <a:lstStyle/>
          <a:p>
            <a:pPr algn="l"/>
            <a:r>
              <a:rPr sz="1500" b="0">
                <a:solidFill>
                  <a:srgbClr val="161B26"/>
                </a:solidFill>
                <a:latin typeface="Arial"/>
              </a:rPr>
              <a:t>The spine of Lab 4: which of an agent's five parts can the model ignore?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2011680"/>
            <a:ext cx="10835640" cy="438912"/>
          </a:xfrm>
          <a:prstGeom prst="rect">
            <a:avLst/>
          </a:prstGeom>
          <a:solidFill>
            <a:srgbClr val="6D3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2011680"/>
            <a:ext cx="2249424" cy="438912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Arial"/>
              </a:rPr>
              <a:t>Part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73552" y="2011680"/>
            <a:ext cx="4352544" cy="438912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Arial"/>
              </a:rPr>
              <a:t>What it 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45552" y="2011680"/>
            <a:ext cx="3575304" cy="438912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Arial"/>
              </a:rPr>
              <a:t>Enforced?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2450592"/>
            <a:ext cx="1083564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2" y="2450592"/>
            <a:ext cx="2249424" cy="54864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200" b="1">
                <a:solidFill>
                  <a:srgbClr val="161B26"/>
                </a:solidFill>
                <a:latin typeface="Arial"/>
              </a:rPr>
              <a:t>Instructions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73552" y="2450592"/>
            <a:ext cx="4352544" cy="54864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200" b="0">
                <a:solidFill>
                  <a:srgbClr val="5B6372"/>
                </a:solidFill>
                <a:latin typeface="Arial"/>
              </a:rPr>
              <a:t>Who the agent is, always in force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45552" y="2450592"/>
            <a:ext cx="3575304" cy="54864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200" b="1">
                <a:solidFill>
                  <a:srgbClr val="C2413A"/>
                </a:solidFill>
                <a:latin typeface="Arial"/>
              </a:rPr>
              <a:t>NO — probabilistic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2999232"/>
            <a:ext cx="10835640" cy="548640"/>
          </a:xfrm>
          <a:prstGeom prst="rect">
            <a:avLst/>
          </a:prstGeom>
          <a:solidFill>
            <a:srgbClr val="F5F8FC"/>
          </a:solidFill>
          <a:ln w="9525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672" y="2999232"/>
            <a:ext cx="2249424" cy="54864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200" b="1">
                <a:solidFill>
                  <a:srgbClr val="161B26"/>
                </a:solidFill>
                <a:latin typeface="Arial"/>
              </a:rPr>
              <a:t>Skill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73552" y="2999232"/>
            <a:ext cx="4352544" cy="54864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200" b="0">
                <a:solidFill>
                  <a:srgbClr val="5B6372"/>
                </a:solidFill>
                <a:latin typeface="Arial"/>
              </a:rPr>
              <a:t>A named procedure for a matching topic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45552" y="2999232"/>
            <a:ext cx="3575304" cy="54864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200" b="1">
                <a:solidFill>
                  <a:srgbClr val="C2413A"/>
                </a:solidFill>
                <a:latin typeface="Arial"/>
              </a:rPr>
              <a:t>NO — the model decides it applies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" y="3547872"/>
            <a:ext cx="1083564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4672" y="3547872"/>
            <a:ext cx="2249424" cy="54864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200" b="1">
                <a:solidFill>
                  <a:srgbClr val="161B26"/>
                </a:solidFill>
                <a:latin typeface="Arial"/>
              </a:rPr>
              <a:t>Knowledge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73552" y="3547872"/>
            <a:ext cx="4352544" cy="54864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200" b="0">
                <a:solidFill>
                  <a:srgbClr val="5B6372"/>
                </a:solidFill>
                <a:latin typeface="Arial"/>
              </a:rPr>
              <a:t>Documents the agent may read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45552" y="3547872"/>
            <a:ext cx="3575304" cy="54864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200" b="1">
                <a:solidFill>
                  <a:srgbClr val="C77600"/>
                </a:solidFill>
                <a:latin typeface="Arial"/>
              </a:rPr>
              <a:t>PARTLY — it cannot read what it lacks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8368" y="4096512"/>
            <a:ext cx="10835640" cy="548640"/>
          </a:xfrm>
          <a:prstGeom prst="rect">
            <a:avLst/>
          </a:prstGeom>
          <a:solidFill>
            <a:srgbClr val="F5F8FC"/>
          </a:solidFill>
          <a:ln w="9525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4672" y="4096512"/>
            <a:ext cx="2249424" cy="54864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200" b="1">
                <a:solidFill>
                  <a:srgbClr val="161B26"/>
                </a:solidFill>
                <a:latin typeface="Arial"/>
              </a:rPr>
              <a:t>Tool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273552" y="4096512"/>
            <a:ext cx="4352544" cy="54864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200" b="0">
                <a:solidFill>
                  <a:srgbClr val="5B6372"/>
                </a:solidFill>
                <a:latin typeface="Arial"/>
              </a:rPr>
              <a:t>A flow that acts outside the conversation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45552" y="4096512"/>
            <a:ext cx="3575304" cy="54864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200" b="1">
                <a:solidFill>
                  <a:srgbClr val="16845B"/>
                </a:solidFill>
                <a:latin typeface="Arial"/>
              </a:rPr>
              <a:t>YES — the flow's own logic is enforced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58368" y="4645152"/>
            <a:ext cx="1083564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04672" y="4645152"/>
            <a:ext cx="2249424" cy="54864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200" b="1">
                <a:solidFill>
                  <a:srgbClr val="161B26"/>
                </a:solidFill>
                <a:latin typeface="Arial"/>
              </a:rPr>
              <a:t>Connected agent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73552" y="4645152"/>
            <a:ext cx="4352544" cy="54864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200" b="0">
                <a:solidFill>
                  <a:srgbClr val="5B6372"/>
                </a:solidFill>
                <a:latin typeface="Arial"/>
              </a:rPr>
              <a:t>A separate agent, its own knowledge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845552" y="4645152"/>
            <a:ext cx="3575304" cy="54864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200" b="1">
                <a:solidFill>
                  <a:srgbClr val="16845B"/>
                </a:solidFill>
                <a:latin typeface="Arial"/>
              </a:rPr>
              <a:t>YES — the knowledge boundary is real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8368" y="5120640"/>
            <a:ext cx="10835640" cy="566928"/>
          </a:xfrm>
          <a:prstGeom prst="roundRect">
            <a:avLst/>
          </a:prstGeom>
          <a:solidFill>
            <a:srgbClr val="F5F8FC"/>
          </a:solidFill>
          <a:ln w="20320">
            <a:solidFill>
              <a:srgbClr val="C241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14400" y="5120640"/>
            <a:ext cx="10332720" cy="566928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400" b="1">
                <a:solidFill>
                  <a:srgbClr val="161B26"/>
                </a:solidFill>
                <a:latin typeface="Arial"/>
              </a:rPr>
              <a:t>A control the model cannot reach beats a rule you asked it to follow.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58368" y="5742432"/>
            <a:ext cx="10835640" cy="548640"/>
          </a:xfrm>
          <a:prstGeom prst="roundRect">
            <a:avLst/>
          </a:prstGeom>
          <a:solidFill>
            <a:srgbClr val="F5F8FC"/>
          </a:solidFill>
          <a:ln w="20320">
            <a:solidFill>
              <a:srgbClr val="1684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14400" y="5742432"/>
            <a:ext cx="10332720" cy="54864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200" b="1">
                <a:solidFill>
                  <a:srgbClr val="161B26"/>
                </a:solidFill>
                <a:latin typeface="Arial"/>
              </a:rPr>
              <a:t>So: a tool the agent does NOT have is a control. And the schema beats the prompt — a field that exists will eventually be filled.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Business Process Automation with Power Automate &amp; Copilot Studio Agents  ·  TGS-2022017524  ·  © 2026 Tertiary Infotech Academy Pte Ltd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32</a:t>
            </a:r>
          </a:p>
        </p:txBody>
      </p:sp>
    </p:spTree>
    <p:extLst>
      <p:ext uri="{BB962C8B-B14F-4D97-AF65-F5344CB8AC3E}">
        <p14:creationId xmlns:p14="http://schemas.microsoft.com/office/powerpoint/2010/main" val="214800034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56032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MODULE 3 · CONCEPT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789920" cy="603504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Writing Instructions That Constrain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3716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1554480"/>
            <a:ext cx="10835640" cy="329184"/>
          </a:xfrm>
          <a:prstGeom prst="rect">
            <a:avLst/>
          </a:prstGeom>
          <a:noFill/>
        </p:spPr>
        <p:txBody>
          <a:bodyPr wrap="square" anchor="t" lIns="73152" rIns="73152" tIns="73152" bIns="73152">
            <a:spAutoFit/>
          </a:bodyPr>
          <a:lstStyle/>
          <a:p>
            <a:pPr algn="l"/>
            <a:r>
              <a:rPr sz="1400" b="0">
                <a:solidFill>
                  <a:srgbClr val="161B26"/>
                </a:solidFill>
                <a:latin typeface="Arial"/>
              </a:rPr>
              <a:t>Instructions are prose, but they are not free text. Four things every agent instruction in this course states.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2057400"/>
            <a:ext cx="5303520" cy="1463040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58368" y="2057400"/>
            <a:ext cx="82296" cy="14630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77824" y="2240280"/>
            <a:ext cx="420624" cy="42062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7824" y="2240280"/>
            <a:ext cx="420624" cy="420624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08176" y="2185416"/>
            <a:ext cx="4352544" cy="402336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600" b="1">
                <a:solidFill>
                  <a:srgbClr val="1F6FEB"/>
                </a:solidFill>
                <a:latin typeface="Arial"/>
              </a:rPr>
              <a:t>Identity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660904"/>
            <a:ext cx="4809744" cy="731520"/>
          </a:xfrm>
          <a:prstGeom prst="rect">
            <a:avLst/>
          </a:prstGeom>
          <a:noFill/>
        </p:spPr>
        <p:txBody>
          <a:bodyPr wrap="square" anchor="t" lIns="73152" rIns="73152" tIns="73152" bIns="73152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"You are an HR policy information assistant."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One role, stated in one line.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3749039"/>
            <a:ext cx="5303520" cy="1463040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58368" y="3749039"/>
            <a:ext cx="82296" cy="1463040"/>
          </a:xfrm>
          <a:prstGeom prst="rect">
            <a:avLst/>
          </a:prstGeom>
          <a:solidFill>
            <a:srgbClr val="108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77824" y="3931919"/>
            <a:ext cx="420624" cy="420624"/>
          </a:xfrm>
          <a:prstGeom prst="ellipse">
            <a:avLst/>
          </a:prstGeom>
          <a:solidFill>
            <a:srgbClr val="108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77824" y="3931919"/>
            <a:ext cx="420624" cy="420624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08176" y="3877055"/>
            <a:ext cx="4352544" cy="402336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600" b="1">
                <a:solidFill>
                  <a:srgbClr val="108A73"/>
                </a:solidFill>
                <a:latin typeface="Arial"/>
              </a:rPr>
              <a:t>Source rule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4352543"/>
            <a:ext cx="4809744" cy="731520"/>
          </a:xfrm>
          <a:prstGeom prst="rect">
            <a:avLst/>
          </a:prstGeom>
          <a:noFill/>
        </p:spPr>
        <p:txBody>
          <a:bodyPr wrap="square" anchor="t" lIns="73152" rIns="73152" tIns="73152" bIns="73152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"Answer using only the approved SharePoint HR policy source."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Where facts may come from.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90488" y="2057400"/>
            <a:ext cx="5303520" cy="1463040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190488" y="2057400"/>
            <a:ext cx="82296" cy="1463040"/>
          </a:xfrm>
          <a:prstGeom prst="rect">
            <a:avLst/>
          </a:prstGeom>
          <a:solidFill>
            <a:srgbClr val="C24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09944" y="2240280"/>
            <a:ext cx="420624" cy="420624"/>
          </a:xfrm>
          <a:prstGeom prst="ellipse">
            <a:avLst/>
          </a:prstGeom>
          <a:solidFill>
            <a:srgbClr val="C24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9944" y="2240280"/>
            <a:ext cx="420624" cy="420624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40296" y="2185416"/>
            <a:ext cx="4352544" cy="402336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600" b="1">
                <a:solidFill>
                  <a:srgbClr val="C2413A"/>
                </a:solidFill>
                <a:latin typeface="Arial"/>
              </a:rPr>
              <a:t>Refusals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46520" y="2660904"/>
            <a:ext cx="4809744" cy="731520"/>
          </a:xfrm>
          <a:prstGeom prst="rect">
            <a:avLst/>
          </a:prstGeom>
          <a:noFill/>
        </p:spPr>
        <p:txBody>
          <a:bodyPr wrap="square" anchor="t" lIns="73152" rIns="73152" tIns="73152" bIns="73152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"Do not expose, request or infer personal employee records."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Stated as prohibitions, not preferences.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90488" y="3749039"/>
            <a:ext cx="5303520" cy="1463040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90488" y="3749039"/>
            <a:ext cx="82296" cy="1463040"/>
          </a:xfrm>
          <a:prstGeom prst="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409944" y="3931919"/>
            <a:ext cx="420624" cy="420624"/>
          </a:xfrm>
          <a:prstGeom prst="ellipse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9944" y="3931919"/>
            <a:ext cx="420624" cy="420624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940296" y="3877055"/>
            <a:ext cx="4352544" cy="402336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600" b="1">
                <a:solidFill>
                  <a:srgbClr val="16845B"/>
                </a:solidFill>
                <a:latin typeface="Arial"/>
              </a:rPr>
              <a:t>Escalation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46520" y="4352543"/>
            <a:ext cx="4809744" cy="731520"/>
          </a:xfrm>
          <a:prstGeom prst="rect">
            <a:avLst/>
          </a:prstGeom>
          <a:noFill/>
        </p:spPr>
        <p:txBody>
          <a:bodyPr wrap="square" anchor="t" lIns="73152" rIns="73152" tIns="73152" bIns="73152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"When the source is insufficient, say so and direct the user to HR."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Where the conversation ends when it cannot continue.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8368" y="5413248"/>
            <a:ext cx="10835640" cy="868680"/>
          </a:xfrm>
          <a:prstGeom prst="roundRect">
            <a:avLst/>
          </a:prstGeom>
          <a:solidFill>
            <a:srgbClr val="F5F8FC"/>
          </a:solidFill>
          <a:ln w="20320">
            <a:solidFill>
              <a:srgbClr val="C241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14400" y="5468112"/>
            <a:ext cx="10332720" cy="27432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200" b="1">
                <a:solidFill>
                  <a:srgbClr val="C2413A"/>
                </a:solidFill>
                <a:latin typeface="Arial"/>
              </a:rPr>
              <a:t>NEVER PASTE @{...} INTO AN INSTRUCTIONS BOX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4400" y="5742432"/>
            <a:ext cx="10332720" cy="475488"/>
          </a:xfrm>
          <a:prstGeom prst="rect">
            <a:avLst/>
          </a:prstGeom>
          <a:noFill/>
        </p:spPr>
        <p:txBody>
          <a:bodyPr wrap="square" anchor="t" lIns="73152" rIns="73152" tIns="73152" bIns="73152">
            <a:spAutoFit/>
          </a:bodyPr>
          <a:lstStyle/>
          <a:p>
            <a:pPr algn="l"/>
            <a:r>
              <a:rPr sz="1100" b="0">
                <a:solidFill>
                  <a:srgbClr val="5B6372"/>
                </a:solidFill>
                <a:latin typeface="Arial"/>
              </a:rPr>
              <a:t>It is a rich-text editor: it escapes underscores in node names, and a reference to a node that does not exist resolves to</a:t>
            </a:r>
          </a:p>
          <a:p>
            <a:pPr algn="l"/>
            <a:r>
              <a:rPr sz="1100" b="0">
                <a:solidFill>
                  <a:srgbClr val="5B6372"/>
                </a:solidFill>
                <a:latin typeface="Arial"/>
              </a:rPr>
              <a:t>EMPTY rather than erroring. Build the prose with gaps and insert every value with the ⚡ picker.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Business Process Automation with Power Automate &amp; Copilot Studio Agents  ·  TGS-2022017524  ·  © 2026 Tertiary Infotech Academy Pte Ltd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33</a:t>
            </a:r>
          </a:p>
        </p:txBody>
      </p:sp>
    </p:spTree>
    <p:extLst>
      <p:ext uri="{BB962C8B-B14F-4D97-AF65-F5344CB8AC3E}">
        <p14:creationId xmlns:p14="http://schemas.microsoft.com/office/powerpoint/2010/main" val="1090452348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56032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MODULE 3 · CONCEPT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789920" cy="603504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Knowledge — Giving Facts and Removing Sources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3716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783080"/>
            <a:ext cx="2393441" cy="114300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1837943"/>
            <a:ext cx="2283713" cy="1033271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200" b="1">
                <a:solidFill>
                  <a:srgbClr val="161B26"/>
                </a:solidFill>
                <a:latin typeface="Arial"/>
              </a:rPr>
              <a:t>Documents in</a:t>
            </a:r>
          </a:p>
          <a:p>
            <a:pPr algn="ctr"/>
            <a:r>
              <a:rPr sz="1200" b="1">
                <a:solidFill>
                  <a:srgbClr val="161B26"/>
                </a:solidFill>
                <a:latin typeface="Arial"/>
              </a:rPr>
              <a:t>SharePoint</a:t>
            </a:r>
          </a:p>
        </p:txBody>
      </p:sp>
      <p:sp>
        <p:nvSpPr>
          <p:cNvPr id="8" name="Chevron 7"/>
          <p:cNvSpPr/>
          <p:nvPr/>
        </p:nvSpPr>
        <p:spPr>
          <a:xfrm>
            <a:off x="3115817" y="2199132"/>
            <a:ext cx="274320" cy="310896"/>
          </a:xfrm>
          <a:prstGeom prst="chevron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923793" y="1508760"/>
            <a:ext cx="676656" cy="237744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900" b="0">
                <a:solidFill>
                  <a:srgbClr val="5B6372"/>
                </a:solidFill>
                <a:latin typeface="Arial"/>
              </a:rPr>
              <a:t>point at it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72433" y="1783080"/>
            <a:ext cx="2393441" cy="114300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108A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27297" y="1837943"/>
            <a:ext cx="2283713" cy="1033271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200" b="1">
                <a:solidFill>
                  <a:srgbClr val="161B26"/>
                </a:solidFill>
                <a:latin typeface="Arial"/>
              </a:rPr>
              <a:t>Attached as a</a:t>
            </a:r>
          </a:p>
          <a:p>
            <a:pPr algn="ctr"/>
            <a:r>
              <a:rPr sz="1200" b="1">
                <a:solidFill>
                  <a:srgbClr val="161B26"/>
                </a:solidFill>
                <a:latin typeface="Arial"/>
              </a:rPr>
              <a:t>knowledge source</a:t>
            </a:r>
          </a:p>
        </p:txBody>
      </p:sp>
      <p:sp>
        <p:nvSpPr>
          <p:cNvPr id="12" name="Chevron 11"/>
          <p:cNvSpPr/>
          <p:nvPr/>
        </p:nvSpPr>
        <p:spPr>
          <a:xfrm>
            <a:off x="5929882" y="2199132"/>
            <a:ext cx="274320" cy="310896"/>
          </a:xfrm>
          <a:prstGeom prst="chevron">
            <a:avLst/>
          </a:prstGeom>
          <a:solidFill>
            <a:srgbClr val="108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737858" y="1508760"/>
            <a:ext cx="676656" cy="237744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900" b="0">
                <a:solidFill>
                  <a:srgbClr val="5B6372"/>
                </a:solidFill>
                <a:latin typeface="Arial"/>
              </a:rPr>
              <a:t>wait for Ready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86499" y="1783080"/>
            <a:ext cx="2393441" cy="114300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6D3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41363" y="1837943"/>
            <a:ext cx="2283713" cy="1033271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200" b="1">
                <a:solidFill>
                  <a:srgbClr val="161B26"/>
                </a:solidFill>
                <a:latin typeface="Arial"/>
              </a:rPr>
              <a:t>Indexed by</a:t>
            </a:r>
          </a:p>
          <a:p>
            <a:pPr algn="ctr"/>
            <a:r>
              <a:rPr sz="1200" b="1">
                <a:solidFill>
                  <a:srgbClr val="161B26"/>
                </a:solidFill>
                <a:latin typeface="Arial"/>
              </a:rPr>
              <a:t>the product</a:t>
            </a:r>
          </a:p>
        </p:txBody>
      </p:sp>
      <p:sp>
        <p:nvSpPr>
          <p:cNvPr id="16" name="Chevron 15"/>
          <p:cNvSpPr/>
          <p:nvPr/>
        </p:nvSpPr>
        <p:spPr>
          <a:xfrm>
            <a:off x="8743948" y="2199132"/>
            <a:ext cx="274320" cy="310896"/>
          </a:xfrm>
          <a:prstGeom prst="chevron">
            <a:avLst/>
          </a:prstGeom>
          <a:solidFill>
            <a:srgbClr val="6D3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51924" y="1508760"/>
            <a:ext cx="676656" cy="237744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900" b="0">
                <a:solidFill>
                  <a:srgbClr val="5B6372"/>
                </a:solidFill>
                <a:latin typeface="Arial"/>
              </a:rPr>
              <a:t>at run time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00565" y="1783080"/>
            <a:ext cx="2393441" cy="114300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1684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55429" y="1837943"/>
            <a:ext cx="2283713" cy="1033271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200" b="1">
                <a:solidFill>
                  <a:srgbClr val="161B26"/>
                </a:solidFill>
                <a:latin typeface="Arial"/>
              </a:rPr>
              <a:t>Retrieved when</a:t>
            </a:r>
          </a:p>
          <a:p>
            <a:pPr algn="ctr"/>
            <a:r>
              <a:rPr sz="1200" b="1">
                <a:solidFill>
                  <a:srgbClr val="161B26"/>
                </a:solidFill>
                <a:latin typeface="Arial"/>
              </a:rPr>
              <a:t>a question matches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3218688"/>
            <a:ext cx="3392424" cy="1572768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58368" y="3218688"/>
            <a:ext cx="82296" cy="1572768"/>
          </a:xfrm>
          <a:prstGeom prst="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77824" y="3401568"/>
            <a:ext cx="420624" cy="420624"/>
          </a:xfrm>
          <a:prstGeom prst="ellipse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77824" y="3401568"/>
            <a:ext cx="420624" cy="420624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08176" y="3346704"/>
            <a:ext cx="2441448" cy="402336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300" b="1">
                <a:solidFill>
                  <a:srgbClr val="16845B"/>
                </a:solidFill>
                <a:latin typeface="Arial"/>
              </a:rPr>
              <a:t>It is a boundary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" y="3822192"/>
            <a:ext cx="2898648" cy="841248"/>
          </a:xfrm>
          <a:prstGeom prst="rect">
            <a:avLst/>
          </a:prstGeom>
          <a:noFill/>
        </p:spPr>
        <p:txBody>
          <a:bodyPr wrap="square" anchor="t" lIns="73152" rIns="73152" tIns="73152" bIns="73152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The agent genuinely cannot read a document you did not give it. This is the one part of the agent that is close to enforced.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306824" y="3218688"/>
            <a:ext cx="3392424" cy="1572768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306824" y="3218688"/>
            <a:ext cx="82296" cy="1572768"/>
          </a:xfrm>
          <a:prstGeom prst="rect">
            <a:avLst/>
          </a:prstGeom>
          <a:solidFill>
            <a:srgbClr val="C24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4526280" y="3401568"/>
            <a:ext cx="420624" cy="420624"/>
          </a:xfrm>
          <a:prstGeom prst="ellipse">
            <a:avLst/>
          </a:prstGeom>
          <a:solidFill>
            <a:srgbClr val="C24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526280" y="3401568"/>
            <a:ext cx="420624" cy="420624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56632" y="3346704"/>
            <a:ext cx="2441448" cy="402336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300" b="1">
                <a:solidFill>
                  <a:srgbClr val="C2413A"/>
                </a:solidFill>
                <a:latin typeface="Arial"/>
              </a:rPr>
              <a:t>Turn off general knowledge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62856" y="3822192"/>
            <a:ext cx="2898648" cy="841248"/>
          </a:xfrm>
          <a:prstGeom prst="rect">
            <a:avLst/>
          </a:prstGeom>
          <a:noFill/>
        </p:spPr>
        <p:txBody>
          <a:bodyPr wrap="square" anchor="t" lIns="73152" rIns="73152" tIns="73152" bIns="73152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Otherwise the model answers from what it learned in training, and you cannot tell which answers those were.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955280" y="3218688"/>
            <a:ext cx="3392424" cy="1572768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955280" y="3218688"/>
            <a:ext cx="82296" cy="1572768"/>
          </a:xfrm>
          <a:prstGeom prst="rect">
            <a:avLst/>
          </a:prstGeom>
          <a:solidFill>
            <a:srgbClr val="C77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8174736" y="3401568"/>
            <a:ext cx="420624" cy="420624"/>
          </a:xfrm>
          <a:prstGeom prst="ellipse">
            <a:avLst/>
          </a:prstGeom>
          <a:solidFill>
            <a:srgbClr val="C77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174736" y="3401568"/>
            <a:ext cx="420624" cy="420624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705088" y="3346704"/>
            <a:ext cx="2441448" cy="402336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300" b="1">
                <a:solidFill>
                  <a:srgbClr val="C77600"/>
                </a:solidFill>
                <a:latin typeface="Arial"/>
              </a:rPr>
              <a:t>Remove "Search all websites"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11312" y="3822192"/>
            <a:ext cx="2898648" cy="841248"/>
          </a:xfrm>
          <a:prstGeom prst="rect">
            <a:avLst/>
          </a:prstGeom>
          <a:noFill/>
        </p:spPr>
        <p:txBody>
          <a:bodyPr wrap="square" anchor="t" lIns="73152" rIns="73152" tIns="73152" bIns="73152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It is on by default. A fee from the open web is indistinguishable from a fee in your own brochure.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58368" y="4864608"/>
            <a:ext cx="10835640" cy="566928"/>
          </a:xfrm>
          <a:prstGeom prst="roundRect">
            <a:avLst/>
          </a:prstGeom>
          <a:solidFill>
            <a:srgbClr val="F5F8FC"/>
          </a:solidFill>
          <a:ln w="20320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14400" y="4864608"/>
            <a:ext cx="10332720" cy="566928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400" b="1">
                <a:solidFill>
                  <a:srgbClr val="161B26"/>
                </a:solidFill>
                <a:latin typeface="Arial"/>
              </a:rPr>
              <a:t>Grounding is not only about giving the agent facts. It is about taking away every other source of them.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58368" y="5559552"/>
            <a:ext cx="10835640" cy="7132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1684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841248" y="5687568"/>
            <a:ext cx="1051560" cy="457200"/>
          </a:xfrm>
          <a:prstGeom prst="round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41248" y="5687568"/>
            <a:ext cx="1051560" cy="45720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LAB 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057400" y="5577840"/>
            <a:ext cx="9235440" cy="329184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400" b="1">
                <a:solidFill>
                  <a:srgbClr val="161B26"/>
                </a:solidFill>
                <a:latin typeface="Arial"/>
              </a:rPr>
              <a:t>Lab 5 — Invoke Agents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057400" y="5907024"/>
            <a:ext cx="9235440" cy="310896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100" b="0">
                <a:solidFill>
                  <a:srgbClr val="5B6372"/>
                </a:solidFill>
                <a:latin typeface="Arial"/>
              </a:rPr>
              <a:t>HR Support Agent grounded in SharePoint  ·  Copilot Studio + SharePoint + Teams  ·  30 min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Business Process Automation with Power Automate &amp; Copilot Studio Agents  ·  TGS-2022017524  ·  © 2026 Tertiary Infotech Academy Pte Ltd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34</a:t>
            </a:r>
          </a:p>
        </p:txBody>
      </p:sp>
    </p:spTree>
    <p:extLst>
      <p:ext uri="{BB962C8B-B14F-4D97-AF65-F5344CB8AC3E}">
        <p14:creationId xmlns:p14="http://schemas.microsoft.com/office/powerpoint/2010/main" val="1261657193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56032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MODULE 3 · CONCEPT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789920" cy="603504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Tools — Where the Agent Stops and the Flow Starts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3716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737360"/>
            <a:ext cx="2393441" cy="11887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6D3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1792224"/>
            <a:ext cx="2283713" cy="1078992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200" b="1">
                <a:solidFill>
                  <a:srgbClr val="161B26"/>
                </a:solidFill>
                <a:latin typeface="Arial"/>
              </a:rPr>
              <a:t>User asks</a:t>
            </a:r>
          </a:p>
          <a:p>
            <a:pPr algn="ctr"/>
            <a:r>
              <a:rPr sz="1200" b="1">
                <a:solidFill>
                  <a:srgbClr val="161B26"/>
                </a:solidFill>
                <a:latin typeface="Arial"/>
              </a:rPr>
              <a:t>for something</a:t>
            </a:r>
          </a:p>
        </p:txBody>
      </p:sp>
      <p:sp>
        <p:nvSpPr>
          <p:cNvPr id="8" name="Chevron 7"/>
          <p:cNvSpPr/>
          <p:nvPr/>
        </p:nvSpPr>
        <p:spPr>
          <a:xfrm>
            <a:off x="3115817" y="2176272"/>
            <a:ext cx="274320" cy="310896"/>
          </a:xfrm>
          <a:prstGeom prst="chevron">
            <a:avLst/>
          </a:prstGeom>
          <a:solidFill>
            <a:srgbClr val="6D3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923793" y="1463039"/>
            <a:ext cx="676656" cy="237744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900" b="0">
                <a:solidFill>
                  <a:srgbClr val="5B6372"/>
                </a:solidFill>
                <a:latin typeface="Arial"/>
              </a:rPr>
              <a:t>intent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72433" y="1737360"/>
            <a:ext cx="2393441" cy="11887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6D3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27297" y="1792224"/>
            <a:ext cx="2283713" cy="1078992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200" b="1">
                <a:solidFill>
                  <a:srgbClr val="161B26"/>
                </a:solidFill>
                <a:latin typeface="Arial"/>
              </a:rPr>
              <a:t>Agent decides</a:t>
            </a:r>
          </a:p>
          <a:p>
            <a:pPr algn="ctr"/>
            <a:r>
              <a:rPr sz="1200" b="1">
                <a:solidFill>
                  <a:srgbClr val="161B26"/>
                </a:solidFill>
                <a:latin typeface="Arial"/>
              </a:rPr>
              <a:t>a tool applies</a:t>
            </a:r>
          </a:p>
        </p:txBody>
      </p:sp>
      <p:sp>
        <p:nvSpPr>
          <p:cNvPr id="12" name="Chevron 11"/>
          <p:cNvSpPr/>
          <p:nvPr/>
        </p:nvSpPr>
        <p:spPr>
          <a:xfrm>
            <a:off x="5929882" y="2176272"/>
            <a:ext cx="274320" cy="310896"/>
          </a:xfrm>
          <a:prstGeom prst="chevron">
            <a:avLst/>
          </a:prstGeom>
          <a:solidFill>
            <a:srgbClr val="6D3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737858" y="1463039"/>
            <a:ext cx="676656" cy="237744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900" b="0">
                <a:solidFill>
                  <a:srgbClr val="5B6372"/>
                </a:solidFill>
                <a:latin typeface="Arial"/>
              </a:rPr>
              <a:t>typed inputs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86499" y="1737360"/>
            <a:ext cx="2393441" cy="11887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1684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41363" y="1792224"/>
            <a:ext cx="2283713" cy="1078992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200" b="1">
                <a:solidFill>
                  <a:srgbClr val="161B26"/>
                </a:solidFill>
                <a:latin typeface="Arial"/>
              </a:rPr>
              <a:t>Flow runs —</a:t>
            </a:r>
          </a:p>
          <a:p>
            <a:pPr algn="ctr"/>
            <a:r>
              <a:rPr sz="1200" b="1">
                <a:solidFill>
                  <a:srgbClr val="161B26"/>
                </a:solidFill>
                <a:latin typeface="Arial"/>
              </a:rPr>
              <a:t>deterministic</a:t>
            </a:r>
          </a:p>
        </p:txBody>
      </p:sp>
      <p:sp>
        <p:nvSpPr>
          <p:cNvPr id="16" name="Chevron 15"/>
          <p:cNvSpPr/>
          <p:nvPr/>
        </p:nvSpPr>
        <p:spPr>
          <a:xfrm>
            <a:off x="8743948" y="2176272"/>
            <a:ext cx="274320" cy="310896"/>
          </a:xfrm>
          <a:prstGeom prst="chevron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51924" y="1463039"/>
            <a:ext cx="676656" cy="237744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900" b="0">
                <a:solidFill>
                  <a:srgbClr val="5B6372"/>
                </a:solidFill>
                <a:latin typeface="Arial"/>
              </a:rPr>
              <a:t>Respond to the agent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00565" y="1737360"/>
            <a:ext cx="2393441" cy="11887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108A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55429" y="1792224"/>
            <a:ext cx="2283713" cy="1078992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200" b="1">
                <a:solidFill>
                  <a:srgbClr val="161B26"/>
                </a:solidFill>
                <a:latin typeface="Arial"/>
              </a:rPr>
              <a:t>Result returns</a:t>
            </a:r>
          </a:p>
          <a:p>
            <a:pPr algn="ctr"/>
            <a:r>
              <a:rPr sz="1200" b="1">
                <a:solidFill>
                  <a:srgbClr val="161B26"/>
                </a:solidFill>
                <a:latin typeface="Arial"/>
              </a:rPr>
              <a:t>to the conversation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3246120"/>
            <a:ext cx="5303520" cy="1828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6D3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96112" y="3346704"/>
            <a:ext cx="4846320" cy="310896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200" b="1">
                <a:solidFill>
                  <a:srgbClr val="6D3FD2"/>
                </a:solidFill>
                <a:latin typeface="Arial"/>
              </a:rPr>
              <a:t>THE AGENT'S PART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6112" y="3675887"/>
            <a:ext cx="4846320" cy="1280160"/>
          </a:xfrm>
          <a:prstGeom prst="rect">
            <a:avLst/>
          </a:prstGeom>
          <a:noFill/>
        </p:spPr>
        <p:txBody>
          <a:bodyPr wrap="square" anchor="t" lIns="73152" rIns="73152" tIns="73152" bIns="73152">
            <a:spAutoFit/>
          </a:bodyPr>
          <a:lstStyle/>
          <a:p>
            <a:pPr algn="l"/>
            <a:r>
              <a:rPr sz="1100" b="0">
                <a:solidFill>
                  <a:srgbClr val="5B6372"/>
                </a:solidFill>
                <a:latin typeface="Arial"/>
              </a:rPr>
              <a:t>Decides that a tool is relevant, and fills its inputs from</a:t>
            </a:r>
          </a:p>
          <a:p>
            <a:pPr algn="l"/>
            <a:r>
              <a:rPr sz="1100" b="0">
                <a:solidFill>
                  <a:srgbClr val="5B6372"/>
                </a:solidFill>
                <a:latin typeface="Arial"/>
              </a:rPr>
              <a:t>what the person said.</a:t>
            </a:r>
          </a:p>
          <a:p>
            <a:pPr algn="l"/>
            <a:r>
              <a:rPr sz="1100" b="0">
                <a:solidFill>
                  <a:srgbClr val="5B6372"/>
                </a:solidFill>
                <a:latin typeface="Arial"/>
              </a:rPr>
              <a:t/>
            </a:r>
          </a:p>
          <a:p>
            <a:pPr algn="l"/>
            <a:r>
              <a:rPr sz="1100" b="0">
                <a:solidFill>
                  <a:srgbClr val="5B6372"/>
                </a:solidFill>
                <a:latin typeface="Arial"/>
              </a:rPr>
              <a:t>This part is probabilistic. It may call the wrong tool, or</a:t>
            </a:r>
          </a:p>
          <a:p>
            <a:pPr algn="l"/>
            <a:r>
              <a:rPr sz="1100" b="0">
                <a:solidFill>
                  <a:srgbClr val="5B6372"/>
                </a:solidFill>
                <a:latin typeface="Arial"/>
              </a:rPr>
              <a:t>call the right one with the wrong values.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90488" y="3246120"/>
            <a:ext cx="5303520" cy="1828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1684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28232" y="3346704"/>
            <a:ext cx="4846320" cy="310896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200" b="1">
                <a:solidFill>
                  <a:srgbClr val="16845B"/>
                </a:solidFill>
                <a:latin typeface="Arial"/>
              </a:rPr>
              <a:t>THE FLOW'S PART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28232" y="3675887"/>
            <a:ext cx="4846320" cy="1280160"/>
          </a:xfrm>
          <a:prstGeom prst="rect">
            <a:avLst/>
          </a:prstGeom>
          <a:noFill/>
        </p:spPr>
        <p:txBody>
          <a:bodyPr wrap="square" anchor="t" lIns="73152" rIns="73152" tIns="73152" bIns="73152">
            <a:spAutoFit/>
          </a:bodyPr>
          <a:lstStyle/>
          <a:p>
            <a:pPr algn="l"/>
            <a:r>
              <a:rPr sz="1100" b="0">
                <a:solidFill>
                  <a:srgbClr val="5B6372"/>
                </a:solidFill>
                <a:latin typeface="Arial"/>
              </a:rPr>
              <a:t>Validates, looks up, applies the threshold, writes the audit</a:t>
            </a:r>
          </a:p>
          <a:p>
            <a:pPr algn="l"/>
            <a:r>
              <a:rPr sz="1100" b="0">
                <a:solidFill>
                  <a:srgbClr val="5B6372"/>
                </a:solidFill>
                <a:latin typeface="Arial"/>
              </a:rPr>
              <a:t>row, sends to the approver.</a:t>
            </a:r>
          </a:p>
          <a:p>
            <a:pPr algn="l"/>
            <a:r>
              <a:rPr sz="1100" b="0">
                <a:solidFill>
                  <a:srgbClr val="5B6372"/>
                </a:solidFill>
                <a:latin typeface="Arial"/>
              </a:rPr>
              <a:t/>
            </a:r>
          </a:p>
          <a:p>
            <a:pPr algn="l"/>
            <a:r>
              <a:rPr sz="1100" b="0">
                <a:solidFill>
                  <a:srgbClr val="5B6372"/>
                </a:solidFill>
                <a:latin typeface="Arial"/>
              </a:rPr>
              <a:t>This part is enforced. Whatever the agent believed, the</a:t>
            </a:r>
          </a:p>
          <a:p>
            <a:pPr algn="l"/>
            <a:r>
              <a:rPr sz="1100" b="0">
                <a:solidFill>
                  <a:srgbClr val="5B6372"/>
                </a:solidFill>
                <a:latin typeface="Arial"/>
              </a:rPr>
              <a:t>flow's own logic still runs.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58368" y="4864608"/>
            <a:ext cx="10835640" cy="566928"/>
          </a:xfrm>
          <a:prstGeom prst="roundRect">
            <a:avLst/>
          </a:prstGeom>
          <a:solidFill>
            <a:srgbClr val="F5F8FC"/>
          </a:solidFill>
          <a:ln w="20320">
            <a:solidFill>
              <a:srgbClr val="6D3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4864608"/>
            <a:ext cx="10332720" cy="566928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400" b="1">
                <a:solidFill>
                  <a:srgbClr val="161B26"/>
                </a:solidFill>
                <a:latin typeface="Arial"/>
              </a:rPr>
              <a:t>The tool description is how the agent knows when to call it — write it for the model, not for a developer.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" y="5559552"/>
            <a:ext cx="10835640" cy="7132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1684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841248" y="5687568"/>
            <a:ext cx="1051560" cy="457200"/>
          </a:xfrm>
          <a:prstGeom prst="round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41248" y="5687568"/>
            <a:ext cx="1051560" cy="45720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LAB 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057400" y="5577840"/>
            <a:ext cx="9235440" cy="329184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400" b="1">
                <a:solidFill>
                  <a:srgbClr val="161B26"/>
                </a:solidFill>
                <a:latin typeface="Arial"/>
              </a:rPr>
              <a:t>Lab 4 — Agents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057400" y="5907024"/>
            <a:ext cx="9235440" cy="310896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100" b="0">
                <a:solidFill>
                  <a:srgbClr val="5B6372"/>
                </a:solidFill>
                <a:latin typeface="Arial"/>
              </a:rPr>
              <a:t>Procurement, HR, Sales and IT Support  ·  Copilot Studio agents + agent flows + SharePoint + Teams  ·  45 min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Business Process Automation with Power Automate &amp; Copilot Studio Agents  ·  TGS-2022017524  ·  © 2026 Tertiary Infotech Academy Pte Ltd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35</a:t>
            </a:r>
          </a:p>
        </p:txBody>
      </p:sp>
    </p:spTree>
    <p:extLst>
      <p:ext uri="{BB962C8B-B14F-4D97-AF65-F5344CB8AC3E}">
        <p14:creationId xmlns:p14="http://schemas.microsoft.com/office/powerpoint/2010/main" val="589550271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56032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MODULE 3 · CONCEPT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789920" cy="603504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Multiple Agents — A Split Is a Governance Decision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3716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1536192"/>
            <a:ext cx="10835640" cy="310896"/>
          </a:xfrm>
          <a:prstGeom prst="rect">
            <a:avLst/>
          </a:prstGeom>
          <a:noFill/>
        </p:spPr>
        <p:txBody>
          <a:bodyPr wrap="square" anchor="t" lIns="73152" rIns="73152" tIns="73152" bIns="73152">
            <a:spAutoFit/>
          </a:bodyPr>
          <a:lstStyle/>
          <a:p>
            <a:pPr algn="l"/>
            <a:r>
              <a:rPr sz="1400" b="0">
                <a:solidFill>
                  <a:srgbClr val="161B26"/>
                </a:solidFill>
                <a:latin typeface="Arial"/>
              </a:rPr>
              <a:t>One agent that knows everything has no boundaries. Splitting is how you give it some.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80560" y="2011680"/>
            <a:ext cx="3200400" cy="868680"/>
          </a:xfrm>
          <a:prstGeom prst="roundRect">
            <a:avLst/>
          </a:prstGeom>
          <a:solidFill>
            <a:srgbClr val="F5F8FC"/>
          </a:solidFill>
          <a:ln w="25400">
            <a:solidFill>
              <a:srgbClr val="6D3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560" y="2011680"/>
            <a:ext cx="3200400" cy="86868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400" b="1">
                <a:solidFill>
                  <a:srgbClr val="6D3FD2"/>
                </a:solidFill>
                <a:latin typeface="Arial"/>
              </a:rPr>
              <a:t>HR AGENT</a:t>
            </a:r>
          </a:p>
          <a:p>
            <a:pPr algn="ctr"/>
            <a:r>
              <a:rPr sz="1400" b="1">
                <a:solidFill>
                  <a:srgbClr val="6D3FD2"/>
                </a:solidFill>
                <a:latin typeface="Arial"/>
              </a:rPr>
              <a:t>the parent</a:t>
            </a:r>
          </a:p>
        </p:txBody>
      </p:sp>
      <p:sp>
        <p:nvSpPr>
          <p:cNvPr id="9" name="Down Arrow 8"/>
          <p:cNvSpPr/>
          <p:nvPr/>
        </p:nvSpPr>
        <p:spPr>
          <a:xfrm>
            <a:off x="1965960" y="3017520"/>
            <a:ext cx="274320" cy="329184"/>
          </a:xfrm>
          <a:prstGeom prst="downArrow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051560" y="3474720"/>
            <a:ext cx="2103120" cy="9601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3474720"/>
            <a:ext cx="2103120" cy="96012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200" b="1">
                <a:solidFill>
                  <a:srgbClr val="161B26"/>
                </a:solidFill>
                <a:latin typeface="Arial"/>
              </a:rPr>
              <a:t>Policy &amp;</a:t>
            </a:r>
          </a:p>
          <a:p>
            <a:pPr algn="ctr"/>
            <a:r>
              <a:rPr sz="1200" b="1">
                <a:solidFill>
                  <a:srgbClr val="161B26"/>
                </a:solidFill>
                <a:latin typeface="Arial"/>
              </a:rPr>
              <a:t>Benefits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4572000" y="3017520"/>
            <a:ext cx="274320" cy="329184"/>
          </a:xfrm>
          <a:prstGeom prst="downArrow">
            <a:avLst/>
          </a:prstGeom>
          <a:solidFill>
            <a:srgbClr val="108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657600" y="3474720"/>
            <a:ext cx="2103120" cy="9601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108A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57600" y="3474720"/>
            <a:ext cx="2103120" cy="96012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200" b="1">
                <a:solidFill>
                  <a:srgbClr val="161B26"/>
                </a:solidFill>
                <a:latin typeface="Arial"/>
              </a:rPr>
              <a:t>Leave</a:t>
            </a:r>
          </a:p>
        </p:txBody>
      </p:sp>
      <p:sp>
        <p:nvSpPr>
          <p:cNvPr id="15" name="Down Arrow 14"/>
          <p:cNvSpPr/>
          <p:nvPr/>
        </p:nvSpPr>
        <p:spPr>
          <a:xfrm>
            <a:off x="7178040" y="3017520"/>
            <a:ext cx="274320" cy="329184"/>
          </a:xfrm>
          <a:prstGeom prst="downArrow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263640" y="3474720"/>
            <a:ext cx="2103120" cy="9601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1684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63640" y="3474720"/>
            <a:ext cx="2103120" cy="96012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200" b="1">
                <a:solidFill>
                  <a:srgbClr val="161B26"/>
                </a:solidFill>
                <a:latin typeface="Arial"/>
              </a:rPr>
              <a:t>Onboarding</a:t>
            </a:r>
          </a:p>
        </p:txBody>
      </p:sp>
      <p:sp>
        <p:nvSpPr>
          <p:cNvPr id="18" name="Down Arrow 17"/>
          <p:cNvSpPr/>
          <p:nvPr/>
        </p:nvSpPr>
        <p:spPr>
          <a:xfrm>
            <a:off x="9784080" y="3017520"/>
            <a:ext cx="274320" cy="329184"/>
          </a:xfrm>
          <a:prstGeom prst="downArrow">
            <a:avLst/>
          </a:prstGeom>
          <a:solidFill>
            <a:srgbClr val="C77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869680" y="3474720"/>
            <a:ext cx="2103120" cy="9601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77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869680" y="3474720"/>
            <a:ext cx="2103120" cy="96012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200" b="1">
                <a:solidFill>
                  <a:srgbClr val="161B26"/>
                </a:solidFill>
                <a:latin typeface="Arial"/>
              </a:rPr>
              <a:t>Payroll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58368" y="4590288"/>
            <a:ext cx="3392424" cy="960120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58368" y="4590288"/>
            <a:ext cx="82296" cy="960120"/>
          </a:xfrm>
          <a:prstGeom prst="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4400" y="4718304"/>
            <a:ext cx="2916936" cy="402336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300" b="1">
                <a:solidFill>
                  <a:srgbClr val="16845B"/>
                </a:solidFill>
                <a:latin typeface="Arial"/>
              </a:rPr>
              <a:t>Knowledge is separated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" y="5193792"/>
            <a:ext cx="2898648" cy="228600"/>
          </a:xfrm>
          <a:prstGeom prst="rect">
            <a:avLst/>
          </a:prstGeom>
          <a:noFill/>
        </p:spPr>
        <p:txBody>
          <a:bodyPr wrap="square" anchor="t" lIns="73152" rIns="73152" tIns="73152" bIns="73152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Each child reads only its own documents. That boundary is real.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306824" y="4590288"/>
            <a:ext cx="3392424" cy="960120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306824" y="4590288"/>
            <a:ext cx="82296" cy="960120"/>
          </a:xfrm>
          <a:prstGeom prst="rect">
            <a:avLst/>
          </a:prstGeom>
          <a:solidFill>
            <a:srgbClr val="C24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62856" y="4718304"/>
            <a:ext cx="2916936" cy="402336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300" b="1">
                <a:solidFill>
                  <a:srgbClr val="C2413A"/>
                </a:solidFill>
                <a:latin typeface="Arial"/>
              </a:rPr>
              <a:t>Conversation is not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62856" y="5193792"/>
            <a:ext cx="2898648" cy="228600"/>
          </a:xfrm>
          <a:prstGeom prst="rect">
            <a:avLst/>
          </a:prstGeom>
          <a:noFill/>
        </p:spPr>
        <p:txBody>
          <a:bodyPr wrap="square" anchor="t" lIns="73152" rIns="73152" tIns="73152" bIns="73152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What the employee said still flows across. Privacy is not automatic.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955280" y="4590288"/>
            <a:ext cx="3392424" cy="960120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955280" y="4590288"/>
            <a:ext cx="82296" cy="960120"/>
          </a:xfrm>
          <a:prstGeom prst="rect">
            <a:avLst/>
          </a:prstGeom>
          <a:solidFill>
            <a:srgbClr val="6D3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11312" y="4718304"/>
            <a:ext cx="2916936" cy="402336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300" b="1">
                <a:solidFill>
                  <a:srgbClr val="6D3FD2"/>
                </a:solidFill>
                <a:latin typeface="Arial"/>
              </a:rPr>
              <a:t>A split is governance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11312" y="5193792"/>
            <a:ext cx="2898648" cy="228600"/>
          </a:xfrm>
          <a:prstGeom prst="rect">
            <a:avLst/>
          </a:prstGeom>
          <a:noFill/>
        </p:spPr>
        <p:txBody>
          <a:bodyPr wrap="square" anchor="t" lIns="73152" rIns="73152" tIns="73152" bIns="73152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You are deciding who may know what — not tidying a big prompt.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58368" y="5559552"/>
            <a:ext cx="10835640" cy="7132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1684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841248" y="5687568"/>
            <a:ext cx="1051560" cy="457200"/>
          </a:xfrm>
          <a:prstGeom prst="round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41248" y="5687568"/>
            <a:ext cx="1051560" cy="45720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LAB 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057400" y="5577840"/>
            <a:ext cx="9235440" cy="329184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400" b="1">
                <a:solidFill>
                  <a:srgbClr val="161B26"/>
                </a:solidFill>
                <a:latin typeface="Arial"/>
              </a:rPr>
              <a:t>Lab 4 — Agents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057400" y="5907024"/>
            <a:ext cx="9235440" cy="310896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100" b="0">
                <a:solidFill>
                  <a:srgbClr val="5B6372"/>
                </a:solidFill>
                <a:latin typeface="Arial"/>
              </a:rPr>
              <a:t>Procurement, HR, Sales and IT Support  ·  Copilot Studio agents + agent flows + SharePoint + Teams  ·  45 min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Business Process Automation with Power Automate &amp; Copilot Studio Agents  ·  TGS-2022017524  ·  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36</a:t>
            </a:r>
          </a:p>
        </p:txBody>
      </p:sp>
    </p:spTree>
    <p:extLst>
      <p:ext uri="{BB962C8B-B14F-4D97-AF65-F5344CB8AC3E}">
        <p14:creationId xmlns:p14="http://schemas.microsoft.com/office/powerpoint/2010/main" val="862407509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56032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MODULE 3 · CONCEPT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789920" cy="603504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Publishing to Teams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3716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828800"/>
            <a:ext cx="1830628" cy="114300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1883664"/>
            <a:ext cx="1720900" cy="1033271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200" b="1">
                <a:solidFill>
                  <a:srgbClr val="161B26"/>
                </a:solidFill>
                <a:latin typeface="Arial"/>
              </a:rPr>
              <a:t>Build and</a:t>
            </a:r>
          </a:p>
          <a:p>
            <a:pPr algn="ctr"/>
            <a:r>
              <a:rPr sz="1200" b="1">
                <a:solidFill>
                  <a:srgbClr val="161B26"/>
                </a:solidFill>
                <a:latin typeface="Arial"/>
              </a:rPr>
              <a:t>save</a:t>
            </a:r>
          </a:p>
        </p:txBody>
      </p:sp>
      <p:sp>
        <p:nvSpPr>
          <p:cNvPr id="8" name="Chevron 7"/>
          <p:cNvSpPr/>
          <p:nvPr/>
        </p:nvSpPr>
        <p:spPr>
          <a:xfrm>
            <a:off x="2553004" y="2244852"/>
            <a:ext cx="274320" cy="310896"/>
          </a:xfrm>
          <a:prstGeom prst="chevron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360980" y="1554480"/>
            <a:ext cx="676656" cy="237744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900" b="0">
                <a:solidFill>
                  <a:srgbClr val="5B6372"/>
                </a:solidFill>
                <a:latin typeface="Arial"/>
              </a:rPr>
              <a:t>probe it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909620" y="1828800"/>
            <a:ext cx="1830628" cy="114300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77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964484" y="1883664"/>
            <a:ext cx="1720900" cy="1033271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200" b="1">
                <a:solidFill>
                  <a:srgbClr val="161B26"/>
                </a:solidFill>
                <a:latin typeface="Arial"/>
              </a:rPr>
              <a:t>Test in</a:t>
            </a:r>
          </a:p>
          <a:p>
            <a:pPr algn="ctr"/>
            <a:r>
              <a:rPr sz="1200" b="1">
                <a:solidFill>
                  <a:srgbClr val="161B26"/>
                </a:solidFill>
                <a:latin typeface="Arial"/>
              </a:rPr>
              <a:t>Preview</a:t>
            </a:r>
          </a:p>
        </p:txBody>
      </p:sp>
      <p:sp>
        <p:nvSpPr>
          <p:cNvPr id="12" name="Chevron 11"/>
          <p:cNvSpPr/>
          <p:nvPr/>
        </p:nvSpPr>
        <p:spPr>
          <a:xfrm>
            <a:off x="4804256" y="2244852"/>
            <a:ext cx="274320" cy="310896"/>
          </a:xfrm>
          <a:prstGeom prst="chevron">
            <a:avLst/>
          </a:prstGeom>
          <a:solidFill>
            <a:srgbClr val="C77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12232" y="1554480"/>
            <a:ext cx="676656" cy="237744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900" b="0">
                <a:solidFill>
                  <a:srgbClr val="5B6372"/>
                </a:solidFill>
                <a:latin typeface="Arial"/>
              </a:rPr>
              <a:t>version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160873" y="1828800"/>
            <a:ext cx="1830628" cy="114300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6D3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215737" y="1883664"/>
            <a:ext cx="1720900" cy="1033271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200" b="1">
                <a:solidFill>
                  <a:srgbClr val="161B26"/>
                </a:solidFill>
                <a:latin typeface="Arial"/>
              </a:rPr>
              <a:t>Publish</a:t>
            </a:r>
          </a:p>
        </p:txBody>
      </p:sp>
      <p:sp>
        <p:nvSpPr>
          <p:cNvPr id="16" name="Chevron 15"/>
          <p:cNvSpPr/>
          <p:nvPr/>
        </p:nvSpPr>
        <p:spPr>
          <a:xfrm>
            <a:off x="7055509" y="2244852"/>
            <a:ext cx="274320" cy="310896"/>
          </a:xfrm>
          <a:prstGeom prst="chevron">
            <a:avLst/>
          </a:prstGeom>
          <a:solidFill>
            <a:srgbClr val="6D3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63485" y="1554480"/>
            <a:ext cx="676656" cy="237744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900" b="0">
                <a:solidFill>
                  <a:srgbClr val="5B6372"/>
                </a:solidFill>
                <a:latin typeface="Arial"/>
              </a:rPr>
              <a:t>Teams / web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412126" y="1828800"/>
            <a:ext cx="1830628" cy="114300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108A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66990" y="1883664"/>
            <a:ext cx="1720900" cy="1033271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200" b="1">
                <a:solidFill>
                  <a:srgbClr val="161B26"/>
                </a:solidFill>
                <a:latin typeface="Arial"/>
              </a:rPr>
              <a:t>Add a</a:t>
            </a:r>
          </a:p>
          <a:p>
            <a:pPr algn="ctr"/>
            <a:r>
              <a:rPr sz="1200" b="1">
                <a:solidFill>
                  <a:srgbClr val="161B26"/>
                </a:solidFill>
                <a:latin typeface="Arial"/>
              </a:rPr>
              <a:t>channel</a:t>
            </a:r>
          </a:p>
        </p:txBody>
      </p:sp>
      <p:sp>
        <p:nvSpPr>
          <p:cNvPr id="20" name="Chevron 19"/>
          <p:cNvSpPr/>
          <p:nvPr/>
        </p:nvSpPr>
        <p:spPr>
          <a:xfrm>
            <a:off x="9306762" y="2244852"/>
            <a:ext cx="274320" cy="310896"/>
          </a:xfrm>
          <a:prstGeom prst="chevron">
            <a:avLst/>
          </a:prstGeom>
          <a:solidFill>
            <a:srgbClr val="108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14738" y="1554480"/>
            <a:ext cx="676656" cy="237744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900" b="0">
                <a:solidFill>
                  <a:srgbClr val="5B6372"/>
                </a:solidFill>
                <a:latin typeface="Arial"/>
              </a:rPr>
              <a:t>verify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663379" y="1828800"/>
            <a:ext cx="1830628" cy="114300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1684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718243" y="1883664"/>
            <a:ext cx="1720900" cy="1033271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200" b="1">
                <a:solidFill>
                  <a:srgbClr val="161B26"/>
                </a:solidFill>
                <a:latin typeface="Arial"/>
              </a:rPr>
              <a:t>Users reach it</a:t>
            </a:r>
          </a:p>
          <a:p>
            <a:pPr algn="ctr"/>
            <a:r>
              <a:rPr sz="1200" b="1">
                <a:solidFill>
                  <a:srgbClr val="161B26"/>
                </a:solidFill>
                <a:latin typeface="Arial"/>
              </a:rPr>
              <a:t>in Teams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58368" y="3383280"/>
            <a:ext cx="3392424" cy="1965960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58368" y="3383280"/>
            <a:ext cx="82296" cy="1965960"/>
          </a:xfrm>
          <a:prstGeom prst="rect">
            <a:avLst/>
          </a:prstGeom>
          <a:solidFill>
            <a:srgbClr val="C77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77824" y="3566160"/>
            <a:ext cx="420624" cy="420624"/>
          </a:xfrm>
          <a:prstGeom prst="ellipse">
            <a:avLst/>
          </a:prstGeom>
          <a:solidFill>
            <a:srgbClr val="C77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77824" y="3566160"/>
            <a:ext cx="420624" cy="420624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08176" y="3511296"/>
            <a:ext cx="2441448" cy="402336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400" b="1">
                <a:solidFill>
                  <a:srgbClr val="C77600"/>
                </a:solidFill>
                <a:latin typeface="Arial"/>
              </a:rPr>
              <a:t>Preview is not published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3986784"/>
            <a:ext cx="2898648" cy="1234440"/>
          </a:xfrm>
          <a:prstGeom prst="rect">
            <a:avLst/>
          </a:prstGeom>
          <a:noFill/>
        </p:spPr>
        <p:txBody>
          <a:bodyPr wrap="square" anchor="t" lIns="73152" rIns="73152" tIns="73152" bIns="73152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Changes are invisible to Teams users until you publish again. A stale answer in Teams usually means an unpublished edit.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06824" y="3383280"/>
            <a:ext cx="3392424" cy="1965960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306824" y="3383280"/>
            <a:ext cx="82296" cy="1965960"/>
          </a:xfrm>
          <a:prstGeom prst="rect">
            <a:avLst/>
          </a:prstGeom>
          <a:solidFill>
            <a:srgbClr val="C24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4526280" y="3566160"/>
            <a:ext cx="420624" cy="420624"/>
          </a:xfrm>
          <a:prstGeom prst="ellipse">
            <a:avLst/>
          </a:prstGeom>
          <a:solidFill>
            <a:srgbClr val="C24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526280" y="3566160"/>
            <a:ext cx="420624" cy="420624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56632" y="3511296"/>
            <a:ext cx="2441448" cy="402336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400" b="1">
                <a:solidFill>
                  <a:srgbClr val="C2413A"/>
                </a:solidFill>
                <a:latin typeface="Arial"/>
              </a:rPr>
              <a:t>One change per cycle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62856" y="3986784"/>
            <a:ext cx="2898648" cy="1234440"/>
          </a:xfrm>
          <a:prstGeom prst="rect">
            <a:avLst/>
          </a:prstGeom>
          <a:noFill/>
        </p:spPr>
        <p:txBody>
          <a:bodyPr wrap="square" anchor="t" lIns="73152" rIns="73152" tIns="73152" bIns="73152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Each publish-and-test cycle costs a publish plus about 25 seconds. Two simultaneous edits make a failure uninterpretable.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955280" y="3383280"/>
            <a:ext cx="3392424" cy="1965960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955280" y="3383280"/>
            <a:ext cx="82296" cy="1965960"/>
          </a:xfrm>
          <a:prstGeom prst="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8174736" y="3566160"/>
            <a:ext cx="420624" cy="420624"/>
          </a:xfrm>
          <a:prstGeom prst="ellipse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174736" y="3566160"/>
            <a:ext cx="420624" cy="420624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705088" y="3511296"/>
            <a:ext cx="2441448" cy="402336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400" b="1">
                <a:solidFill>
                  <a:srgbClr val="16845B"/>
                </a:solidFill>
                <a:latin typeface="Arial"/>
              </a:rPr>
              <a:t>Test as the user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211312" y="3986784"/>
            <a:ext cx="2898648" cy="1234440"/>
          </a:xfrm>
          <a:prstGeom prst="rect">
            <a:avLst/>
          </a:prstGeom>
          <a:noFill/>
        </p:spPr>
        <p:txBody>
          <a:bodyPr wrap="square" anchor="t" lIns="73152" rIns="73152" tIns="73152" bIns="73152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Open it from Teams with the account a real user would have — not from the maker's Preview pane.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58368" y="5559552"/>
            <a:ext cx="10835640" cy="7132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1684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841248" y="5687568"/>
            <a:ext cx="1051560" cy="457200"/>
          </a:xfrm>
          <a:prstGeom prst="round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41248" y="5687568"/>
            <a:ext cx="1051560" cy="45720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LAB 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057400" y="5577840"/>
            <a:ext cx="9235440" cy="329184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400" b="1">
                <a:solidFill>
                  <a:srgbClr val="161B26"/>
                </a:solidFill>
                <a:latin typeface="Arial"/>
              </a:rPr>
              <a:t>Lab 5 — Invoke Agents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057400" y="5907024"/>
            <a:ext cx="9235440" cy="310896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100" b="0">
                <a:solidFill>
                  <a:srgbClr val="5B6372"/>
                </a:solidFill>
                <a:latin typeface="Arial"/>
              </a:rPr>
              <a:t>HR Support Agent grounded in SharePoint  ·  Copilot Studio + SharePoint + Teams  ·  30 min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Business Process Automation with Power Automate &amp; Copilot Studio Agents  ·  TGS-2022017524  ·  © 2026 Tertiary Infotech Academy Pte Ltd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37</a:t>
            </a:r>
          </a:p>
        </p:txBody>
      </p:sp>
    </p:spTree>
    <p:extLst>
      <p:ext uri="{BB962C8B-B14F-4D97-AF65-F5344CB8AC3E}">
        <p14:creationId xmlns:p14="http://schemas.microsoft.com/office/powerpoint/2010/main" val="1348817742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56032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MODULE 3 · LAB WORKFLOW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789920" cy="603504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Lab 4 — Four Agents, One Spine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3716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1517904"/>
            <a:ext cx="10835640" cy="310896"/>
          </a:xfrm>
          <a:prstGeom prst="rect">
            <a:avLst/>
          </a:prstGeom>
          <a:noFill/>
        </p:spPr>
        <p:txBody>
          <a:bodyPr wrap="square" anchor="t" lIns="73152" rIns="73152" tIns="73152" bIns="73152">
            <a:spAutoFit/>
          </a:bodyPr>
          <a:lstStyle/>
          <a:p>
            <a:pPr algn="l"/>
            <a:r>
              <a:rPr sz="1300" b="0">
                <a:solidFill>
                  <a:srgbClr val="5B6372"/>
                </a:solidFill>
                <a:latin typeface="Arial"/>
              </a:rPr>
              <a:t>An agent is instructions, skills, knowledge, tools and connected agents — and only some of those are enforced.</a:t>
            </a:r>
          </a:p>
        </p:txBody>
      </p:sp>
      <p:pic>
        <p:nvPicPr>
          <p:cNvPr id="7" name="Picture 6" descr="flowch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2652032"/>
            <a:ext cx="10972800" cy="188312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658368" y="5559552"/>
            <a:ext cx="10835640" cy="7132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1684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41248" y="5687568"/>
            <a:ext cx="1051560" cy="457200"/>
          </a:xfrm>
          <a:prstGeom prst="round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" y="5687568"/>
            <a:ext cx="1051560" cy="45720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LAB 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57400" y="5577840"/>
            <a:ext cx="9235440" cy="329184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400" b="1">
                <a:solidFill>
                  <a:srgbClr val="161B26"/>
                </a:solidFill>
                <a:latin typeface="Arial"/>
              </a:rPr>
              <a:t>Lab 4 — Agents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57400" y="5907024"/>
            <a:ext cx="9235440" cy="310896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100" b="0">
                <a:solidFill>
                  <a:srgbClr val="5B6372"/>
                </a:solidFill>
                <a:latin typeface="Arial"/>
              </a:rPr>
              <a:t>Procurement, HR, Sales and IT Support  ·  Copilot Studio agents + agent flows + SharePoint + Teams  ·  45 min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Business Process Automation with Power Automate &amp; Copilot Studio Agents  ·  TGS-2022017524  ·  © 2026 Tertiary Infotech Academy Pte Ltd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38</a:t>
            </a:r>
          </a:p>
        </p:txBody>
      </p:sp>
    </p:spTree>
    <p:extLst>
      <p:ext uri="{BB962C8B-B14F-4D97-AF65-F5344CB8AC3E}">
        <p14:creationId xmlns:p14="http://schemas.microsoft.com/office/powerpoint/2010/main" val="2805015523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56032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MODULE 3 · LAB WORKFLOW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789920" cy="603504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Lab 5 — Grounding and Publishing an Agent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3716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1517904"/>
            <a:ext cx="10835640" cy="310896"/>
          </a:xfrm>
          <a:prstGeom prst="rect">
            <a:avLst/>
          </a:prstGeom>
          <a:noFill/>
        </p:spPr>
        <p:txBody>
          <a:bodyPr wrap="square" anchor="t" lIns="73152" rIns="73152" tIns="73152" bIns="73152">
            <a:spAutoFit/>
          </a:bodyPr>
          <a:lstStyle/>
          <a:p>
            <a:pPr algn="l"/>
            <a:r>
              <a:rPr sz="1300" b="0">
                <a:solidFill>
                  <a:srgbClr val="5B6372"/>
                </a:solidFill>
                <a:latin typeface="Arial"/>
              </a:rPr>
              <a:t>Ground an agent in a permission-controlled SharePoint source, test its refusals, and publish it to Teams.</a:t>
            </a:r>
          </a:p>
        </p:txBody>
      </p:sp>
      <p:pic>
        <p:nvPicPr>
          <p:cNvPr id="7" name="Picture 6" descr="flowchar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" y="2532590"/>
            <a:ext cx="10972800" cy="2122004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658368" y="5559552"/>
            <a:ext cx="10835640" cy="7132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1684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41248" y="5687568"/>
            <a:ext cx="1051560" cy="457200"/>
          </a:xfrm>
          <a:prstGeom prst="round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" y="5687568"/>
            <a:ext cx="1051560" cy="45720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LAB 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57400" y="5577840"/>
            <a:ext cx="9235440" cy="329184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400" b="1">
                <a:solidFill>
                  <a:srgbClr val="161B26"/>
                </a:solidFill>
                <a:latin typeface="Arial"/>
              </a:rPr>
              <a:t>Lab 5 — Invoke Agents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57400" y="5907024"/>
            <a:ext cx="9235440" cy="310896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100" b="0">
                <a:solidFill>
                  <a:srgbClr val="5B6372"/>
                </a:solidFill>
                <a:latin typeface="Arial"/>
              </a:rPr>
              <a:t>HR Support Agent grounded in SharePoint  ·  Copilot Studio + SharePoint + Teams  ·  30 min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Business Process Automation with Power Automate &amp; Copilot Studio Agents  ·  TGS-2022017524  ·  © 2026 Tertiary Infotech Academy Pte Ltd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39</a:t>
            </a:r>
          </a:p>
        </p:txBody>
      </p:sp>
    </p:spTree>
    <p:extLst>
      <p:ext uri="{BB962C8B-B14F-4D97-AF65-F5344CB8AC3E}">
        <p14:creationId xmlns:p14="http://schemas.microsoft.com/office/powerpoint/2010/main" val="3540214620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658368" y="1737360"/>
            <a:ext cx="10835640" cy="3291840"/>
          </a:xfrm>
          <a:prstGeom prst="roundRect">
            <a:avLst/>
          </a:prstGeom>
          <a:solidFill>
            <a:srgbClr val="F5F8FC"/>
          </a:solidFill>
          <a:ln w="25400">
            <a:solidFill>
              <a:srgbClr val="1684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58368" y="1737360"/>
            <a:ext cx="128016" cy="3291840"/>
          </a:xfrm>
          <a:prstGeom prst="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2148840"/>
            <a:ext cx="9875520" cy="36576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500" b="1">
                <a:solidFill>
                  <a:srgbClr val="16845B"/>
                </a:solidFill>
                <a:latin typeface="Arial"/>
              </a:rPr>
              <a:t>MODULE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2606040"/>
            <a:ext cx="9875520" cy="86868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3400" b="1">
                <a:solidFill>
                  <a:srgbClr val="161B26"/>
                </a:solidFill>
                <a:latin typeface="Arial"/>
              </a:rPr>
              <a:t>Agent Flows, HTTP and the Boundary of Agency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3611880"/>
            <a:ext cx="9875520" cy="1005840"/>
          </a:xfrm>
          <a:prstGeom prst="rect">
            <a:avLst/>
          </a:prstGeom>
          <a:noFill/>
        </p:spPr>
        <p:txBody>
          <a:bodyPr wrap="square" anchor="t" lIns="73152" rIns="73152" tIns="73152" bIns="73152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B6372"/>
                </a:solidFill>
                <a:latin typeface="Arial"/>
              </a:rPr>
              <a:t>The Agent node inside a flow  ·  HTTP request and response  ·  JSON schema and structured output  ·  the human review gate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5B6372"/>
                </a:solidFill>
                <a:latin typeface="Arial"/>
              </a:rPr>
              <a:t>Applied in Lab 6, Lab 7 and Lab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Business Process Automation with Power Automate &amp; Copilot Studio Agents  ·  TGS-2022017524  ·  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40</a:t>
            </a:r>
          </a:p>
        </p:txBody>
      </p:sp>
    </p:spTree>
    <p:extLst>
      <p:ext uri="{BB962C8B-B14F-4D97-AF65-F5344CB8AC3E}">
        <p14:creationId xmlns:p14="http://schemas.microsoft.com/office/powerpoint/2010/main" val="3042172977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56032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MODULE 4 · CONCEPT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789920" cy="603504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Agent Flows — The Model Inside the Workflow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3716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1536192"/>
            <a:ext cx="10835640" cy="329184"/>
          </a:xfrm>
          <a:prstGeom prst="rect">
            <a:avLst/>
          </a:prstGeom>
          <a:noFill/>
        </p:spPr>
        <p:txBody>
          <a:bodyPr wrap="square" anchor="t" lIns="73152" rIns="73152" tIns="73152" bIns="73152">
            <a:spAutoFit/>
          </a:bodyPr>
          <a:lstStyle/>
          <a:p>
            <a:pPr algn="l"/>
            <a:r>
              <a:rPr sz="1400" b="0">
                <a:solidFill>
                  <a:srgbClr val="161B26"/>
                </a:solidFill>
                <a:latin typeface="Arial"/>
              </a:rPr>
              <a:t>An agent flow is a Power Automate flow that may contain an Agent node — the model, inside the workflow.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2011680"/>
            <a:ext cx="1455420" cy="123444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1684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2066544"/>
            <a:ext cx="1345692" cy="1124712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100" b="1">
                <a:solidFill>
                  <a:srgbClr val="161B26"/>
                </a:solidFill>
                <a:latin typeface="Arial"/>
              </a:rPr>
              <a:t>HTTP trigger</a:t>
            </a:r>
          </a:p>
        </p:txBody>
      </p:sp>
      <p:sp>
        <p:nvSpPr>
          <p:cNvPr id="9" name="Chevron 8"/>
          <p:cNvSpPr/>
          <p:nvPr/>
        </p:nvSpPr>
        <p:spPr>
          <a:xfrm>
            <a:off x="2177796" y="2473452"/>
            <a:ext cx="274320" cy="310896"/>
          </a:xfrm>
          <a:prstGeom prst="chevron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985772" y="1737360"/>
            <a:ext cx="676656" cy="237744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900" b="0">
                <a:solidFill>
                  <a:srgbClr val="5B6372"/>
                </a:solidFill>
                <a:latin typeface="Arial"/>
              </a:rPr>
              <a:t>JSON in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534412" y="2011680"/>
            <a:ext cx="1455420" cy="123444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89276" y="2066544"/>
            <a:ext cx="1345692" cy="1124712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100" b="1">
                <a:solidFill>
                  <a:srgbClr val="161B26"/>
                </a:solidFill>
                <a:latin typeface="Arial"/>
              </a:rPr>
              <a:t>Compose</a:t>
            </a:r>
          </a:p>
          <a:p>
            <a:pPr algn="ctr"/>
            <a:r>
              <a:rPr sz="1100" b="1">
                <a:solidFill>
                  <a:srgbClr val="161B26"/>
                </a:solidFill>
                <a:latin typeface="Arial"/>
              </a:rPr>
              <a:t>normalise</a:t>
            </a:r>
          </a:p>
        </p:txBody>
      </p:sp>
      <p:sp>
        <p:nvSpPr>
          <p:cNvPr id="13" name="Chevron 12"/>
          <p:cNvSpPr/>
          <p:nvPr/>
        </p:nvSpPr>
        <p:spPr>
          <a:xfrm>
            <a:off x="4053840" y="2473452"/>
            <a:ext cx="274320" cy="310896"/>
          </a:xfrm>
          <a:prstGeom prst="chevron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861816" y="1737360"/>
            <a:ext cx="676656" cy="237744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900" b="0">
                <a:solidFill>
                  <a:srgbClr val="5B6372"/>
                </a:solidFill>
                <a:latin typeface="Arial"/>
              </a:rPr>
              <a:t>clean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410456" y="2011680"/>
            <a:ext cx="1455420" cy="123444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108A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65320" y="2066544"/>
            <a:ext cx="1345692" cy="1124712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100" b="1">
                <a:solidFill>
                  <a:srgbClr val="161B26"/>
                </a:solidFill>
                <a:latin typeface="Arial"/>
              </a:rPr>
              <a:t>SharePoint</a:t>
            </a:r>
          </a:p>
          <a:p>
            <a:pPr algn="ctr"/>
            <a:r>
              <a:rPr sz="1100" b="1">
                <a:solidFill>
                  <a:srgbClr val="161B26"/>
                </a:solidFill>
                <a:latin typeface="Arial"/>
              </a:rPr>
              <a:t>lookup</a:t>
            </a:r>
          </a:p>
        </p:txBody>
      </p:sp>
      <p:sp>
        <p:nvSpPr>
          <p:cNvPr id="17" name="Chevron 16"/>
          <p:cNvSpPr/>
          <p:nvPr/>
        </p:nvSpPr>
        <p:spPr>
          <a:xfrm>
            <a:off x="5929884" y="2473452"/>
            <a:ext cx="274320" cy="310896"/>
          </a:xfrm>
          <a:prstGeom prst="chevron">
            <a:avLst/>
          </a:prstGeom>
          <a:solidFill>
            <a:srgbClr val="108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737860" y="1737360"/>
            <a:ext cx="676656" cy="237744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900" b="0">
                <a:solidFill>
                  <a:srgbClr val="5B6372"/>
                </a:solidFill>
                <a:latin typeface="Arial"/>
              </a:rPr>
              <a:t>facts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86500" y="2011680"/>
            <a:ext cx="1455420" cy="123444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6D3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41364" y="2066544"/>
            <a:ext cx="1345692" cy="1124712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100" b="1">
                <a:solidFill>
                  <a:srgbClr val="161B26"/>
                </a:solidFill>
                <a:latin typeface="Arial"/>
              </a:rPr>
              <a:t>AGENT</a:t>
            </a:r>
          </a:p>
          <a:p>
            <a:pPr algn="ctr"/>
            <a:r>
              <a:rPr sz="1100" b="1">
                <a:solidFill>
                  <a:srgbClr val="161B26"/>
                </a:solidFill>
                <a:latin typeface="Arial"/>
              </a:rPr>
              <a:t>apply the rules</a:t>
            </a:r>
          </a:p>
        </p:txBody>
      </p:sp>
      <p:sp>
        <p:nvSpPr>
          <p:cNvPr id="21" name="Chevron 20"/>
          <p:cNvSpPr/>
          <p:nvPr/>
        </p:nvSpPr>
        <p:spPr>
          <a:xfrm>
            <a:off x="7805928" y="2473452"/>
            <a:ext cx="274320" cy="310896"/>
          </a:xfrm>
          <a:prstGeom prst="chevron">
            <a:avLst/>
          </a:prstGeom>
          <a:solidFill>
            <a:srgbClr val="6D3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613904" y="1737360"/>
            <a:ext cx="676656" cy="237744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900" b="0">
                <a:solidFill>
                  <a:srgbClr val="5B6372"/>
                </a:solidFill>
                <a:latin typeface="Arial"/>
              </a:rPr>
              <a:t>structured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162544" y="2011680"/>
            <a:ext cx="1455420" cy="123444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77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17408" y="2066544"/>
            <a:ext cx="1345692" cy="1124712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100" b="1">
                <a:solidFill>
                  <a:srgbClr val="161B26"/>
                </a:solidFill>
                <a:latin typeface="Arial"/>
              </a:rPr>
              <a:t>Condition</a:t>
            </a:r>
          </a:p>
          <a:p>
            <a:pPr algn="ctr"/>
            <a:r>
              <a:rPr sz="1100" b="1">
                <a:solidFill>
                  <a:srgbClr val="161B26"/>
                </a:solidFill>
                <a:latin typeface="Arial"/>
              </a:rPr>
              <a:t>on the decision</a:t>
            </a:r>
          </a:p>
        </p:txBody>
      </p:sp>
      <p:sp>
        <p:nvSpPr>
          <p:cNvPr id="25" name="Chevron 24"/>
          <p:cNvSpPr/>
          <p:nvPr/>
        </p:nvSpPr>
        <p:spPr>
          <a:xfrm>
            <a:off x="9681972" y="2473452"/>
            <a:ext cx="274320" cy="310896"/>
          </a:xfrm>
          <a:prstGeom prst="chevron">
            <a:avLst/>
          </a:prstGeom>
          <a:solidFill>
            <a:srgbClr val="C77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489948" y="1737360"/>
            <a:ext cx="676656" cy="237744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900" b="0">
                <a:solidFill>
                  <a:srgbClr val="5B6372"/>
                </a:solidFill>
                <a:latin typeface="Arial"/>
              </a:rPr>
              <a:t>act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0038588" y="2011680"/>
            <a:ext cx="1455420" cy="123444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1684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093452" y="2066544"/>
            <a:ext cx="1345692" cy="1124712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100" b="1">
                <a:solidFill>
                  <a:srgbClr val="161B26"/>
                </a:solidFill>
                <a:latin typeface="Arial"/>
              </a:rPr>
              <a:t>Response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58368" y="3657600"/>
            <a:ext cx="5303520" cy="169164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6D3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96112" y="3767328"/>
            <a:ext cx="4846320" cy="310896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200" b="1">
                <a:solidFill>
                  <a:srgbClr val="6D3FD2"/>
                </a:solidFill>
                <a:latin typeface="Arial"/>
              </a:rPr>
              <a:t>WHAT THE AGENT NODE IS FOR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96112" y="4096512"/>
            <a:ext cx="4846320" cy="1143000"/>
          </a:xfrm>
          <a:prstGeom prst="rect">
            <a:avLst/>
          </a:prstGeom>
          <a:noFill/>
        </p:spPr>
        <p:txBody>
          <a:bodyPr wrap="square" anchor="t" lIns="73152" rIns="73152" tIns="73152" bIns="73152">
            <a:spAutoFit/>
          </a:bodyPr>
          <a:lstStyle/>
          <a:p>
            <a:pPr algn="l"/>
            <a:r>
              <a:rPr sz="1100" b="0">
                <a:solidFill>
                  <a:srgbClr val="5B6372"/>
                </a:solidFill>
                <a:latin typeface="Arial"/>
              </a:rPr>
              <a:t>Judgement over language: reading a free-text reason,</a:t>
            </a:r>
          </a:p>
          <a:p>
            <a:pPr algn="l"/>
            <a:r>
              <a:rPr sz="1100" b="0">
                <a:solidFill>
                  <a:srgbClr val="5B6372"/>
                </a:solidFill>
                <a:latin typeface="Arial"/>
              </a:rPr>
              <a:t>applying ordered rules, classifying a tone, drafting a reply.</a:t>
            </a:r>
          </a:p>
          <a:p>
            <a:pPr algn="l"/>
            <a:r>
              <a:rPr sz="1100" b="0">
                <a:solidFill>
                  <a:srgbClr val="5B6372"/>
                </a:solidFill>
                <a:latin typeface="Arial"/>
              </a:rPr>
              <a:t>Anything where the input varies more than a form allows.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190488" y="3657600"/>
            <a:ext cx="5303520" cy="169164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241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28232" y="3767328"/>
            <a:ext cx="4846320" cy="310896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200" b="1">
                <a:solidFill>
                  <a:srgbClr val="C2413A"/>
                </a:solidFill>
                <a:latin typeface="Arial"/>
              </a:rPr>
              <a:t>THE COPILOT CREDITS TRAP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28232" y="4096512"/>
            <a:ext cx="4846320" cy="1143000"/>
          </a:xfrm>
          <a:prstGeom prst="rect">
            <a:avLst/>
          </a:prstGeom>
          <a:noFill/>
        </p:spPr>
        <p:txBody>
          <a:bodyPr wrap="square" anchor="t" lIns="73152" rIns="73152" tIns="73152" bIns="73152">
            <a:spAutoFit/>
          </a:bodyPr>
          <a:lstStyle/>
          <a:p>
            <a:pPr algn="l"/>
            <a:r>
              <a:rPr sz="1100" b="0">
                <a:solidFill>
                  <a:srgbClr val="5B6372"/>
                </a:solidFill>
                <a:latin typeface="Arial"/>
              </a:rPr>
              <a:t>Agent flows consume Copilot Credits on every run. Many</a:t>
            </a:r>
          </a:p>
          <a:p>
            <a:pPr algn="l"/>
            <a:r>
              <a:rPr sz="1100" b="0">
                <a:solidFill>
                  <a:srgbClr val="5B6372"/>
                </a:solidFill>
                <a:latin typeface="Arial"/>
              </a:rPr>
              <a:t>Default environments have none and fail with</a:t>
            </a:r>
          </a:p>
          <a:p>
            <a:pPr algn="l"/>
            <a:r>
              <a:rPr sz="1100" b="0">
                <a:solidFill>
                  <a:srgbClr val="5B6372"/>
                </a:solidFill>
                <a:latin typeface="Arial"/>
              </a:rPr>
              <a:t>InsufficientMcsCredits. A licence does not fix it — licences</a:t>
            </a:r>
          </a:p>
          <a:p>
            <a:pPr algn="l"/>
            <a:r>
              <a:rPr sz="1100" b="0">
                <a:solidFill>
                  <a:srgbClr val="5B6372"/>
                </a:solidFill>
                <a:latin typeface="Arial"/>
              </a:rPr>
              <a:t>are per-user, credits are per-environment.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58368" y="5532120"/>
            <a:ext cx="10835640" cy="566928"/>
          </a:xfrm>
          <a:prstGeom prst="roundRect">
            <a:avLst/>
          </a:prstGeom>
          <a:solidFill>
            <a:srgbClr val="F5F8FC"/>
          </a:solidFill>
          <a:ln w="20320">
            <a:solidFill>
              <a:srgbClr val="C241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14400" y="5532120"/>
            <a:ext cx="10332720" cy="566928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400" b="1">
                <a:solidFill>
                  <a:srgbClr val="161B26"/>
                </a:solidFill>
                <a:latin typeface="Arial"/>
              </a:rPr>
              <a:t>This is why Lab 0 builds a Copilot Studio Training (Developer) environment rather than a Sandbox.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Business Process Automation with Power Automate &amp; Copilot Studio Agents  ·  TGS-2022017524  ·  © 2026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41</a:t>
            </a:r>
          </a:p>
        </p:txBody>
      </p:sp>
    </p:spTree>
    <p:extLst>
      <p:ext uri="{BB962C8B-B14F-4D97-AF65-F5344CB8AC3E}">
        <p14:creationId xmlns:p14="http://schemas.microsoft.com/office/powerpoint/2010/main" val="586675484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56032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MODULE 4 · CONCEPT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789920" cy="603504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HTTP — A Website Calls Your Flow and Waits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3716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874519"/>
            <a:ext cx="1455420" cy="11887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1929384"/>
            <a:ext cx="1345692" cy="1078992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100" b="1">
                <a:solidFill>
                  <a:srgbClr val="161B26"/>
                </a:solidFill>
                <a:latin typeface="Arial"/>
              </a:rPr>
              <a:t>Website form</a:t>
            </a:r>
          </a:p>
        </p:txBody>
      </p:sp>
      <p:sp>
        <p:nvSpPr>
          <p:cNvPr id="8" name="Chevron 7"/>
          <p:cNvSpPr/>
          <p:nvPr/>
        </p:nvSpPr>
        <p:spPr>
          <a:xfrm>
            <a:off x="2177796" y="2313432"/>
            <a:ext cx="274320" cy="310896"/>
          </a:xfrm>
          <a:prstGeom prst="chevron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985772" y="1600199"/>
            <a:ext cx="676656" cy="237744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900" b="0">
                <a:solidFill>
                  <a:srgbClr val="5B6372"/>
                </a:solidFill>
                <a:latin typeface="Arial"/>
              </a:rPr>
              <a:t>submit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534412" y="1874519"/>
            <a:ext cx="1455420" cy="11887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1684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589276" y="1929384"/>
            <a:ext cx="1345692" cy="1078992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100" b="1">
                <a:solidFill>
                  <a:srgbClr val="161B26"/>
                </a:solidFill>
                <a:latin typeface="Arial"/>
              </a:rPr>
              <a:t>POST  JSON</a:t>
            </a:r>
          </a:p>
        </p:txBody>
      </p:sp>
      <p:sp>
        <p:nvSpPr>
          <p:cNvPr id="12" name="Chevron 11"/>
          <p:cNvSpPr/>
          <p:nvPr/>
        </p:nvSpPr>
        <p:spPr>
          <a:xfrm>
            <a:off x="4053840" y="2313432"/>
            <a:ext cx="274320" cy="310896"/>
          </a:xfrm>
          <a:prstGeom prst="chevron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61816" y="1600199"/>
            <a:ext cx="676656" cy="237744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900" b="0">
                <a:solidFill>
                  <a:srgbClr val="5B6372"/>
                </a:solidFill>
                <a:latin typeface="Arial"/>
              </a:rPr>
              <a:t>over HTTPS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410456" y="1874519"/>
            <a:ext cx="1455420" cy="11887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1684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65320" y="1929384"/>
            <a:ext cx="1345692" cy="1078992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100" b="1">
                <a:solidFill>
                  <a:srgbClr val="161B26"/>
                </a:solidFill>
                <a:latin typeface="Arial"/>
              </a:rPr>
              <a:t>HTTP trigger</a:t>
            </a:r>
          </a:p>
          <a:p>
            <a:pPr algn="ctr"/>
            <a:r>
              <a:rPr sz="1100" b="1">
                <a:solidFill>
                  <a:srgbClr val="161B26"/>
                </a:solidFill>
                <a:latin typeface="Arial"/>
              </a:rPr>
              <a:t>receives it</a:t>
            </a:r>
          </a:p>
        </p:txBody>
      </p:sp>
      <p:sp>
        <p:nvSpPr>
          <p:cNvPr id="16" name="Chevron 15"/>
          <p:cNvSpPr/>
          <p:nvPr/>
        </p:nvSpPr>
        <p:spPr>
          <a:xfrm>
            <a:off x="5929884" y="2313432"/>
            <a:ext cx="274320" cy="310896"/>
          </a:xfrm>
          <a:prstGeom prst="chevron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86500" y="1874519"/>
            <a:ext cx="1455420" cy="11887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108A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41364" y="1929384"/>
            <a:ext cx="1345692" cy="1078992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100" b="1">
                <a:solidFill>
                  <a:srgbClr val="161B26"/>
                </a:solidFill>
                <a:latin typeface="Arial"/>
              </a:rPr>
              <a:t>Flow runs</a:t>
            </a:r>
          </a:p>
        </p:txBody>
      </p:sp>
      <p:sp>
        <p:nvSpPr>
          <p:cNvPr id="19" name="Chevron 18"/>
          <p:cNvSpPr/>
          <p:nvPr/>
        </p:nvSpPr>
        <p:spPr>
          <a:xfrm>
            <a:off x="7805928" y="2313432"/>
            <a:ext cx="274320" cy="310896"/>
          </a:xfrm>
          <a:prstGeom prst="chevron">
            <a:avLst/>
          </a:prstGeom>
          <a:solidFill>
            <a:srgbClr val="108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613904" y="1600199"/>
            <a:ext cx="676656" cy="237744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900" b="0">
                <a:solidFill>
                  <a:srgbClr val="5B6372"/>
                </a:solidFill>
                <a:latin typeface="Arial"/>
              </a:rPr>
              <a:t>build reply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62544" y="1874519"/>
            <a:ext cx="1455420" cy="11887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77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17408" y="1929384"/>
            <a:ext cx="1345692" cy="1078992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100" b="1">
                <a:solidFill>
                  <a:srgbClr val="161B26"/>
                </a:solidFill>
                <a:latin typeface="Arial"/>
              </a:rPr>
              <a:t>Response</a:t>
            </a:r>
          </a:p>
          <a:p>
            <a:pPr algn="ctr"/>
            <a:r>
              <a:rPr sz="1100" b="1">
                <a:solidFill>
                  <a:srgbClr val="161B26"/>
                </a:solidFill>
                <a:latin typeface="Arial"/>
              </a:rPr>
              <a:t>returns JSON</a:t>
            </a:r>
          </a:p>
        </p:txBody>
      </p:sp>
      <p:sp>
        <p:nvSpPr>
          <p:cNvPr id="23" name="Chevron 22"/>
          <p:cNvSpPr/>
          <p:nvPr/>
        </p:nvSpPr>
        <p:spPr>
          <a:xfrm>
            <a:off x="9681972" y="2313432"/>
            <a:ext cx="274320" cy="310896"/>
          </a:xfrm>
          <a:prstGeom prst="chevron">
            <a:avLst/>
          </a:prstGeom>
          <a:solidFill>
            <a:srgbClr val="C77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489948" y="1600199"/>
            <a:ext cx="676656" cy="237744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900" b="0">
                <a:solidFill>
                  <a:srgbClr val="5B6372"/>
                </a:solidFill>
                <a:latin typeface="Arial"/>
              </a:rPr>
              <a:t>render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038588" y="1874519"/>
            <a:ext cx="1455420" cy="11887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093452" y="1929384"/>
            <a:ext cx="1345692" cy="1078992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100" b="1">
                <a:solidFill>
                  <a:srgbClr val="161B26"/>
                </a:solidFill>
                <a:latin typeface="Arial"/>
              </a:rPr>
              <a:t>Page updates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58368" y="3429000"/>
            <a:ext cx="10835640" cy="40233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86384" y="3429000"/>
            <a:ext cx="2011679" cy="402336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Arial"/>
              </a:rPr>
              <a:t>Part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980944" y="3429000"/>
            <a:ext cx="3108960" cy="402336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Arial"/>
              </a:rPr>
              <a:t>Meaning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72784" y="3429000"/>
            <a:ext cx="5166359" cy="402336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Arial"/>
              </a:rPr>
              <a:t>In these labs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58368" y="3831336"/>
            <a:ext cx="10835640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86384" y="3831336"/>
            <a:ext cx="2011679" cy="402336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100" b="1">
                <a:solidFill>
                  <a:srgbClr val="161B26"/>
                </a:solidFill>
                <a:latin typeface="Arial"/>
              </a:rPr>
              <a:t>Request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980944" y="3831336"/>
            <a:ext cx="3108960" cy="402336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100" b="0">
                <a:solidFill>
                  <a:srgbClr val="5B6372"/>
                </a:solidFill>
                <a:latin typeface="Arial"/>
              </a:rPr>
              <a:t>What the caller sends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72784" y="3831336"/>
            <a:ext cx="5166359" cy="402336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100" b="0">
                <a:solidFill>
                  <a:srgbClr val="5B6372"/>
                </a:solidFill>
                <a:latin typeface="Arial"/>
              </a:rPr>
              <a:t>A JSON body matching the schema you declared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58368" y="4233672"/>
            <a:ext cx="10835640" cy="402336"/>
          </a:xfrm>
          <a:prstGeom prst="rect">
            <a:avLst/>
          </a:prstGeom>
          <a:solidFill>
            <a:srgbClr val="F5F8FC"/>
          </a:solidFill>
          <a:ln w="9525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86384" y="4233672"/>
            <a:ext cx="2011679" cy="402336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100" b="1">
                <a:solidFill>
                  <a:srgbClr val="161B26"/>
                </a:solidFill>
                <a:latin typeface="Arial"/>
              </a:rPr>
              <a:t>Schema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980944" y="4233672"/>
            <a:ext cx="3108960" cy="402336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100" b="0">
                <a:solidFill>
                  <a:srgbClr val="5B6372"/>
                </a:solidFill>
                <a:latin typeface="Arial"/>
              </a:rPr>
              <a:t>The shape you promise to accept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72784" y="4233672"/>
            <a:ext cx="5166359" cy="402336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100" b="0">
                <a:solidFill>
                  <a:srgbClr val="5B6372"/>
                </a:solidFill>
                <a:latin typeface="Arial"/>
              </a:rPr>
              <a:t>Generated from a sample payload — then frozen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58368" y="4636008"/>
            <a:ext cx="10835640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86384" y="4636008"/>
            <a:ext cx="2011679" cy="402336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100" b="1">
                <a:solidFill>
                  <a:srgbClr val="161B26"/>
                </a:solidFill>
                <a:latin typeface="Arial"/>
              </a:rPr>
              <a:t>Response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980944" y="4636008"/>
            <a:ext cx="3108960" cy="402336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100" b="0">
                <a:solidFill>
                  <a:srgbClr val="5B6372"/>
                </a:solidFill>
                <a:latin typeface="Arial"/>
              </a:rPr>
              <a:t>What the caller gets back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72784" y="4636008"/>
            <a:ext cx="5166359" cy="402336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100" b="0">
                <a:solidFill>
                  <a:srgbClr val="5B6372"/>
                </a:solidFill>
                <a:latin typeface="Arial"/>
              </a:rPr>
              <a:t>A JSON body the page can read, plus a status code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58368" y="5038344"/>
            <a:ext cx="10835640" cy="402336"/>
          </a:xfrm>
          <a:prstGeom prst="rect">
            <a:avLst/>
          </a:prstGeom>
          <a:solidFill>
            <a:srgbClr val="F5F8FC"/>
          </a:solidFill>
          <a:ln w="9525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86384" y="5038344"/>
            <a:ext cx="2011679" cy="402336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100" b="1">
                <a:solidFill>
                  <a:srgbClr val="161B26"/>
                </a:solidFill>
                <a:latin typeface="Arial"/>
              </a:rPr>
              <a:t>Synchronous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980944" y="5038344"/>
            <a:ext cx="3108960" cy="402336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100" b="0">
                <a:solidFill>
                  <a:srgbClr val="5B6372"/>
                </a:solidFill>
                <a:latin typeface="Arial"/>
              </a:rPr>
              <a:t>The page waits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272784" y="5038344"/>
            <a:ext cx="5166359" cy="402336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100" b="0">
                <a:solidFill>
                  <a:srgbClr val="5B6372"/>
                </a:solidFill>
                <a:latin typeface="Arial"/>
              </a:rPr>
              <a:t>If nothing responds, the browser sees a timeout, not a result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58368" y="5349240"/>
            <a:ext cx="10835640" cy="868680"/>
          </a:xfrm>
          <a:prstGeom prst="roundRect">
            <a:avLst/>
          </a:prstGeom>
          <a:solidFill>
            <a:srgbClr val="F5F8FC"/>
          </a:solidFill>
          <a:ln w="20320">
            <a:solidFill>
              <a:srgbClr val="C77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14400" y="5422392"/>
            <a:ext cx="10332720" cy="292608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100" b="1">
                <a:solidFill>
                  <a:srgbClr val="C77600"/>
                </a:solidFill>
                <a:latin typeface="Arial"/>
              </a:rPr>
              <a:t>TWO FAILURES THAT LOOK THE SAME FROM THE BROWSER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14400" y="5715000"/>
            <a:ext cx="10332720" cy="457200"/>
          </a:xfrm>
          <a:prstGeom prst="rect">
            <a:avLst/>
          </a:prstGeom>
          <a:noFill/>
        </p:spPr>
        <p:txBody>
          <a:bodyPr wrap="square" anchor="t" lIns="73152" rIns="73152" tIns="73152" bIns="73152">
            <a:spAutoFit/>
          </a:bodyPr>
          <a:lstStyle/>
          <a:p>
            <a:pPr algn="l"/>
            <a:r>
              <a:rPr sz="1100" b="0">
                <a:solidFill>
                  <a:srgbClr val="5B6372"/>
                </a:solidFill>
                <a:latin typeface="Arial"/>
              </a:rPr>
              <a:t>"Failed to fetch" WITH a successful run = CORS; serve the page from SharePoint, not localhost.   "Failed to fetch" with NO run at all = the flow is saved but not published, or the URL is wrong.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Business Process Automation with Power Automate &amp; Copilot Studio Agents  ·  TGS-2022017524  ·  © 2026 Tertiary Infotech Academy Pte Ltd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42</a:t>
            </a:r>
          </a:p>
        </p:txBody>
      </p:sp>
    </p:spTree>
    <p:extLst>
      <p:ext uri="{BB962C8B-B14F-4D97-AF65-F5344CB8AC3E}">
        <p14:creationId xmlns:p14="http://schemas.microsoft.com/office/powerpoint/2010/main" val="586675484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56032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MODULE 4 · CONCEPT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789920" cy="603504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Structured Output — Fields, Not Prose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3716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1536192"/>
            <a:ext cx="10835640" cy="310896"/>
          </a:xfrm>
          <a:prstGeom prst="rect">
            <a:avLst/>
          </a:prstGeom>
          <a:noFill/>
        </p:spPr>
        <p:txBody>
          <a:bodyPr wrap="square" anchor="t" lIns="73152" rIns="73152" tIns="73152" bIns="73152">
            <a:spAutoFit/>
          </a:bodyPr>
          <a:lstStyle/>
          <a:p>
            <a:pPr algn="l"/>
            <a:r>
              <a:rPr sz="1400" b="0">
                <a:solidFill>
                  <a:srgbClr val="161B26"/>
                </a:solidFill>
                <a:latin typeface="Arial"/>
              </a:rPr>
              <a:t>Structured output turns the model's answer from prose into named fields the rest of the flow can branch 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2011680"/>
            <a:ext cx="5303520" cy="214884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241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121408"/>
            <a:ext cx="4846320" cy="310896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200" b="1">
                <a:solidFill>
                  <a:srgbClr val="C2413A"/>
                </a:solidFill>
                <a:latin typeface="Arial"/>
              </a:rPr>
              <a:t>PROSE — unusable downstream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2468880"/>
            <a:ext cx="4846320" cy="1554480"/>
          </a:xfrm>
          <a:prstGeom prst="rect">
            <a:avLst/>
          </a:prstGeom>
          <a:noFill/>
        </p:spPr>
        <p:txBody>
          <a:bodyPr wrap="square" anchor="t" lIns="73152" rIns="73152" tIns="73152" bIns="73152">
            <a:spAutoFit/>
          </a:bodyPr>
          <a:lstStyle/>
          <a:p>
            <a:pPr algn="l"/>
            <a:r>
              <a:rPr sz="1100" b="0">
                <a:solidFill>
                  <a:srgbClr val="5B6372"/>
                </a:solidFill>
                <a:latin typeface="Arial"/>
              </a:rPr>
              <a:t>"I think this application should probably be approved,</a:t>
            </a:r>
          </a:p>
          <a:p>
            <a:pPr algn="l"/>
            <a:r>
              <a:rPr sz="1100" b="0">
                <a:solidFill>
                  <a:srgbClr val="5B6372"/>
                </a:solidFill>
                <a:latin typeface="Arial"/>
              </a:rPr>
              <a:t>although the address looks a little unusual and you</a:t>
            </a:r>
          </a:p>
          <a:p>
            <a:pPr algn="l"/>
            <a:r>
              <a:rPr sz="1100" b="0">
                <a:solidFill>
                  <a:srgbClr val="5B6372"/>
                </a:solidFill>
                <a:latin typeface="Arial"/>
              </a:rPr>
              <a:t>may wish to check it."</a:t>
            </a:r>
          </a:p>
          <a:p>
            <a:pPr algn="l"/>
            <a:r>
              <a:rPr sz="1100" b="0">
                <a:solidFill>
                  <a:srgbClr val="5B6372"/>
                </a:solidFill>
                <a:latin typeface="Arial"/>
              </a:rPr>
              <a:t/>
            </a:r>
          </a:p>
          <a:p>
            <a:pPr algn="l"/>
            <a:r>
              <a:rPr sz="1100" b="0">
                <a:solidFill>
                  <a:srgbClr val="5B6372"/>
                </a:solidFill>
                <a:latin typeface="Arial"/>
              </a:rPr>
              <a:t>What does a Condition test against that?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0488" y="2011680"/>
            <a:ext cx="5303520" cy="214884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1684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28232" y="2121408"/>
            <a:ext cx="4846320" cy="310896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200" b="1">
                <a:solidFill>
                  <a:srgbClr val="16845B"/>
                </a:solidFill>
                <a:latin typeface="Arial"/>
              </a:rPr>
              <a:t>STRUCTURED — branchable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28232" y="2468880"/>
            <a:ext cx="4846320" cy="1554480"/>
          </a:xfrm>
          <a:prstGeom prst="rect">
            <a:avLst/>
          </a:prstGeom>
          <a:noFill/>
        </p:spPr>
        <p:txBody>
          <a:bodyPr wrap="square" anchor="t" lIns="73152" rIns="73152" tIns="73152" bIns="73152">
            <a:spAutoFit/>
          </a:bodyPr>
          <a:lstStyle/>
          <a:p>
            <a:pPr algn="l"/>
            <a:r>
              <a:rPr sz="1100" b="0">
                <a:solidFill>
                  <a:srgbClr val="5B6372"/>
                </a:solidFill>
                <a:latin typeface="Arial"/>
              </a:rPr>
              <a:t>applicationId : APP-10432</a:t>
            </a:r>
          </a:p>
          <a:p>
            <a:pPr algn="l"/>
            <a:r>
              <a:rPr sz="1100" b="0">
                <a:solidFill>
                  <a:srgbClr val="5B6372"/>
                </a:solidFill>
                <a:latin typeface="Arial"/>
              </a:rPr>
              <a:t>decision      : REVIEW</a:t>
            </a:r>
          </a:p>
          <a:p>
            <a:pPr algn="l"/>
            <a:r>
              <a:rPr sz="1100" b="0">
                <a:solidFill>
                  <a:srgbClr val="5B6372"/>
                </a:solidFill>
                <a:latin typeface="Arial"/>
              </a:rPr>
              <a:t>reason        : address unverified</a:t>
            </a:r>
          </a:p>
          <a:p>
            <a:pPr algn="l"/>
            <a:r>
              <a:rPr sz="1100" b="0">
                <a:solidFill>
                  <a:srgbClr val="5B6372"/>
                </a:solidFill>
                <a:latin typeface="Arial"/>
              </a:rPr>
              <a:t>riskFlags     : [ADDRESS_MISMATCH]</a:t>
            </a:r>
          </a:p>
          <a:p>
            <a:pPr algn="l"/>
            <a:r>
              <a:rPr sz="1100" b="0">
                <a:solidFill>
                  <a:srgbClr val="5B6372"/>
                </a:solidFill>
                <a:latin typeface="Arial"/>
              </a:rPr>
              <a:t/>
            </a:r>
          </a:p>
          <a:p>
            <a:pPr algn="l"/>
            <a:r>
              <a:rPr sz="1100" b="0">
                <a:solidFill>
                  <a:srgbClr val="5B6372"/>
                </a:solidFill>
                <a:latin typeface="Arial"/>
              </a:rPr>
              <a:t>A Condition can read decision. A person can audit reason.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4297680"/>
            <a:ext cx="10835640" cy="1371600"/>
          </a:xfrm>
          <a:prstGeom prst="roundRect">
            <a:avLst/>
          </a:prstGeom>
          <a:solidFill>
            <a:srgbClr val="F5F8FC"/>
          </a:solidFill>
          <a:ln w="22860">
            <a:solidFill>
              <a:srgbClr val="6D3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4370832"/>
            <a:ext cx="10332720" cy="292608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200" b="1">
                <a:solidFill>
                  <a:srgbClr val="6D3FD2"/>
                </a:solidFill>
                <a:latin typeface="Arial"/>
              </a:rPr>
              <a:t>FOUR DECISIONS, NOT TWO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681728"/>
            <a:ext cx="10332720" cy="868680"/>
          </a:xfrm>
          <a:prstGeom prst="rect">
            <a:avLst/>
          </a:prstGeom>
          <a:noFill/>
        </p:spPr>
        <p:txBody>
          <a:bodyPr wrap="square" anchor="t" lIns="73152" rIns="73152" tIns="73152" bIns="73152">
            <a:spAutoFit/>
          </a:bodyPr>
          <a:lstStyle/>
          <a:p>
            <a:pPr algn="l"/>
            <a:r>
              <a:rPr sz="1200" b="0">
                <a:solidFill>
                  <a:srgbClr val="5B6372"/>
                </a:solidFill>
                <a:latin typeface="Arial"/>
              </a:rPr>
              <a:t>APPROVED  ·  REJECTED  ·  DUPLICATE  ·  REVIEW</a:t>
            </a:r>
          </a:p>
          <a:p>
            <a:pPr algn="l"/>
            <a:r>
              <a:rPr sz="1200" b="0">
                <a:solidFill>
                  <a:srgbClr val="5B6372"/>
                </a:solidFill>
                <a:latin typeface="Arial"/>
              </a:rPr>
              <a:t>A politically exposed person is not a rejection — it is a case for a human. An agent given only two outcomes will force</a:t>
            </a:r>
          </a:p>
          <a:p>
            <a:pPr algn="l"/>
            <a:r>
              <a:rPr sz="1200" b="0">
                <a:solidFill>
                  <a:srgbClr val="5B6372"/>
                </a:solidFill>
                <a:latin typeface="Arial"/>
              </a:rPr>
              <a:t>every ambiguous case into one of them, and you will never see the ones it got wrong.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5559552"/>
            <a:ext cx="10835640" cy="7132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1684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41248" y="5687568"/>
            <a:ext cx="1051560" cy="457200"/>
          </a:xfrm>
          <a:prstGeom prst="round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1248" y="5687568"/>
            <a:ext cx="1051560" cy="45720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LAB 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057400" y="5577840"/>
            <a:ext cx="9235440" cy="329184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400" b="1">
                <a:solidFill>
                  <a:srgbClr val="161B26"/>
                </a:solidFill>
                <a:latin typeface="Arial"/>
              </a:rPr>
              <a:t>Lab 6 — HTTP and Application Approval Agent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57400" y="5907024"/>
            <a:ext cx="9235440" cy="310896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100" b="0">
                <a:solidFill>
                  <a:srgbClr val="5B6372"/>
                </a:solidFill>
                <a:latin typeface="Arial"/>
              </a:rPr>
              <a:t>Marina Trust Bank customer onboarding  ·  Copilot Studio agent flow + SharePoint + Outlook  ·  60 min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Business Process Automation with Power Automate &amp; Copilot Studio Agents  ·  TGS-2022017524  ·  © 2026 Tertiary Infotech Academy Pte Ltd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43</a:t>
            </a:r>
          </a:p>
        </p:txBody>
      </p:sp>
    </p:spTree>
    <p:extLst>
      <p:ext uri="{BB962C8B-B14F-4D97-AF65-F5344CB8AC3E}">
        <p14:creationId xmlns:p14="http://schemas.microsoft.com/office/powerpoint/2010/main" val="586675484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56032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MODULE 4 · CONCEPT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789920" cy="603504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The Boundary of Agency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3716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1536192"/>
            <a:ext cx="10835640" cy="310896"/>
          </a:xfrm>
          <a:prstGeom prst="rect">
            <a:avLst/>
          </a:prstGeom>
          <a:noFill/>
        </p:spPr>
        <p:txBody>
          <a:bodyPr wrap="square" anchor="t" lIns="73152" rIns="73152" tIns="73152" bIns="73152">
            <a:spAutoFit/>
          </a:bodyPr>
          <a:lstStyle/>
          <a:p>
            <a:pPr algn="l"/>
            <a:r>
              <a:rPr sz="1400" b="0">
                <a:solidFill>
                  <a:srgbClr val="161B26"/>
                </a:solidFill>
                <a:latin typeface="Arial"/>
              </a:rPr>
              <a:t>The most important design decision in the course: what the model is allowed to determine, and what it is not.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2011680"/>
            <a:ext cx="5303520" cy="237744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6D3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58368" y="2011680"/>
            <a:ext cx="5303520" cy="475488"/>
          </a:xfrm>
          <a:prstGeom prst="rect">
            <a:avLst/>
          </a:prstGeom>
          <a:solidFill>
            <a:srgbClr val="6D3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2011680"/>
            <a:ext cx="5303520" cy="475488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THE AI DECIDES  —  what to do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670048"/>
            <a:ext cx="4754880" cy="36576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100" b="0">
                <a:solidFill>
                  <a:srgbClr val="5B6372"/>
                </a:solidFill>
                <a:latin typeface="Arial"/>
              </a:rPr>
              <a:t>•  Which of six ordered rules applies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072384"/>
            <a:ext cx="4754880" cy="36576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100" b="0">
                <a:solidFill>
                  <a:srgbClr val="5B6372"/>
                </a:solidFill>
                <a:latin typeface="Arial"/>
              </a:rPr>
              <a:t>•  Whether the case needs a human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474720"/>
            <a:ext cx="4754880" cy="36576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100" b="0">
                <a:solidFill>
                  <a:srgbClr val="5B6372"/>
                </a:solidFill>
                <a:latin typeface="Arial"/>
              </a:rPr>
              <a:t>•  How to phrase the reason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877056"/>
            <a:ext cx="4754880" cy="36576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100" b="0">
                <a:solidFill>
                  <a:srgbClr val="5B6372"/>
                </a:solidFill>
                <a:latin typeface="Arial"/>
              </a:rPr>
              <a:t>•  What risk flags to raise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0488" y="2011680"/>
            <a:ext cx="5303520" cy="237744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1684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90488" y="2011680"/>
            <a:ext cx="5303520" cy="475488"/>
          </a:xfrm>
          <a:prstGeom prst="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90488" y="2011680"/>
            <a:ext cx="5303520" cy="475488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THE FLOW DOES  —  what must always happen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2670048"/>
            <a:ext cx="4754880" cy="36576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100" b="0">
                <a:solidFill>
                  <a:srgbClr val="5B6372"/>
                </a:solidFill>
                <a:latin typeface="Arial"/>
              </a:rPr>
              <a:t>•  Normalise the identifier (Compose)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3072384"/>
            <a:ext cx="4754880" cy="36576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100" b="0">
                <a:solidFill>
                  <a:srgbClr val="5B6372"/>
                </a:solidFill>
                <a:latin typeface="Arial"/>
              </a:rPr>
              <a:t>•  Check the register for a duplicate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3474720"/>
            <a:ext cx="4754880" cy="36576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100" b="0">
                <a:solidFill>
                  <a:srgbClr val="5B6372"/>
                </a:solidFill>
                <a:latin typeface="Arial"/>
              </a:rPr>
              <a:t>•  Write the customer record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3877056"/>
            <a:ext cx="4754880" cy="36576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100" b="0">
                <a:solidFill>
                  <a:srgbClr val="5B6372"/>
                </a:solidFill>
                <a:latin typeface="Arial"/>
              </a:rPr>
              <a:t>•  Write the audit row, before the gate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58368" y="4572000"/>
            <a:ext cx="10835640" cy="1188720"/>
          </a:xfrm>
          <a:prstGeom prst="roundRect">
            <a:avLst/>
          </a:prstGeom>
          <a:solidFill>
            <a:srgbClr val="F5F8FC"/>
          </a:solidFill>
          <a:ln w="22860">
            <a:solidFill>
              <a:srgbClr val="C241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" y="4663440"/>
            <a:ext cx="10332720" cy="310896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200" b="1">
                <a:solidFill>
                  <a:srgbClr val="C2413A"/>
                </a:solidFill>
                <a:latin typeface="Arial"/>
              </a:rPr>
              <a:t>THE RECORD IS WRITTEN FROM THE COMPOSE ACTION, NEVER FROM THE MODEL'S ANSWER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" y="4992624"/>
            <a:ext cx="10332720" cy="685800"/>
          </a:xfrm>
          <a:prstGeom prst="rect">
            <a:avLst/>
          </a:prstGeom>
          <a:noFill/>
        </p:spPr>
        <p:txBody>
          <a:bodyPr wrap="square" anchor="t" lIns="73152" rIns="73152" tIns="73152" bIns="73152">
            <a:spAutoFit/>
          </a:bodyPr>
          <a:lstStyle/>
          <a:p>
            <a:pPr algn="l"/>
            <a:r>
              <a:rPr sz="1200" b="0">
                <a:solidFill>
                  <a:srgbClr val="5B6372"/>
                </a:solidFill>
                <a:latin typeface="Arial"/>
              </a:rPr>
              <a:t>So an invented identifier has no route into the customer master. The agent's opinion reaches the decision field; it never</a:t>
            </a:r>
          </a:p>
          <a:p>
            <a:pPr algn="l"/>
            <a:r>
              <a:rPr sz="1200" b="0">
                <a:solidFill>
                  <a:srgbClr val="5B6372"/>
                </a:solidFill>
                <a:latin typeface="Arial"/>
              </a:rPr>
              <a:t>reaches the data. If you remember one sentence from Day 2, make it this one.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58368" y="5559552"/>
            <a:ext cx="10835640" cy="7132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1684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841248" y="5687568"/>
            <a:ext cx="1051560" cy="457200"/>
          </a:xfrm>
          <a:prstGeom prst="round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41248" y="5687568"/>
            <a:ext cx="1051560" cy="45720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LAB 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57400" y="5577840"/>
            <a:ext cx="9235440" cy="329184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400" b="1">
                <a:solidFill>
                  <a:srgbClr val="161B26"/>
                </a:solidFill>
                <a:latin typeface="Arial"/>
              </a:rPr>
              <a:t>Lab 6 — HTTP and Application Approval Agent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057400" y="5907024"/>
            <a:ext cx="9235440" cy="310896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100" b="0">
                <a:solidFill>
                  <a:srgbClr val="5B6372"/>
                </a:solidFill>
                <a:latin typeface="Arial"/>
              </a:rPr>
              <a:t>Marina Trust Bank customer onboarding  ·  Copilot Studio agent flow + SharePoint + Outlook  ·  60 min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Business Process Automation with Power Automate &amp; Copilot Studio Agents  ·  TGS-2022017524  ·  © 2026 Tertiary Infotech Academy Pte Ltd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44</a:t>
            </a:r>
          </a:p>
        </p:txBody>
      </p:sp>
    </p:spTree>
    <p:extLst>
      <p:ext uri="{BB962C8B-B14F-4D97-AF65-F5344CB8AC3E}">
        <p14:creationId xmlns:p14="http://schemas.microsoft.com/office/powerpoint/2010/main" val="1526476791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56032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MODULE 4 · CONCEPT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789920" cy="603504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The Agent Alone, in Public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3716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1536192"/>
            <a:ext cx="10835640" cy="310896"/>
          </a:xfrm>
          <a:prstGeom prst="rect">
            <a:avLst/>
          </a:prstGeom>
          <a:noFill/>
        </p:spPr>
        <p:txBody>
          <a:bodyPr wrap="square" anchor="t" lIns="73152" rIns="73152" tIns="73152" bIns="73152">
            <a:spAutoFit/>
          </a:bodyPr>
          <a:lstStyle/>
          <a:p>
            <a:pPr algn="l"/>
            <a:r>
              <a:rPr sz="1400" b="0">
                <a:solidFill>
                  <a:srgbClr val="161B26"/>
                </a:solidFill>
                <a:latin typeface="Arial"/>
              </a:rPr>
              <a:t>Lab 7 is the agent working in public with nobody reviewing it. Four nodes, and two non-negotiable rules.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2148840"/>
            <a:ext cx="1830628" cy="114300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2203704"/>
            <a:ext cx="1720900" cy="1033271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200" b="1">
                <a:solidFill>
                  <a:srgbClr val="161B26"/>
                </a:solidFill>
                <a:latin typeface="Arial"/>
              </a:rPr>
              <a:t>Chat widget</a:t>
            </a:r>
          </a:p>
        </p:txBody>
      </p:sp>
      <p:sp>
        <p:nvSpPr>
          <p:cNvPr id="9" name="Chevron 8"/>
          <p:cNvSpPr/>
          <p:nvPr/>
        </p:nvSpPr>
        <p:spPr>
          <a:xfrm>
            <a:off x="2553004" y="2564892"/>
            <a:ext cx="274320" cy="310896"/>
          </a:xfrm>
          <a:prstGeom prst="chevron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360980" y="1874520"/>
            <a:ext cx="676656" cy="237744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900" b="0">
                <a:solidFill>
                  <a:srgbClr val="5B6372"/>
                </a:solidFill>
                <a:latin typeface="Arial"/>
              </a:rPr>
              <a:t>POST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909620" y="2148840"/>
            <a:ext cx="1830628" cy="114300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1684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964484" y="2203704"/>
            <a:ext cx="1720900" cy="1033271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200" b="1">
                <a:solidFill>
                  <a:srgbClr val="161B26"/>
                </a:solidFill>
                <a:latin typeface="Arial"/>
              </a:rPr>
              <a:t>HTTP trigger</a:t>
            </a:r>
          </a:p>
        </p:txBody>
      </p:sp>
      <p:sp>
        <p:nvSpPr>
          <p:cNvPr id="13" name="Chevron 12"/>
          <p:cNvSpPr/>
          <p:nvPr/>
        </p:nvSpPr>
        <p:spPr>
          <a:xfrm>
            <a:off x="4804256" y="2564892"/>
            <a:ext cx="274320" cy="310896"/>
          </a:xfrm>
          <a:prstGeom prst="chevron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160873" y="2148840"/>
            <a:ext cx="1830628" cy="114300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108A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215737" y="2203704"/>
            <a:ext cx="1720900" cy="1033271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200" b="1">
                <a:solidFill>
                  <a:srgbClr val="161B26"/>
                </a:solidFill>
                <a:latin typeface="Arial"/>
              </a:rPr>
              <a:t>Compose</a:t>
            </a:r>
          </a:p>
          <a:p>
            <a:pPr algn="ctr"/>
            <a:r>
              <a:rPr sz="1200" b="1">
                <a:solidFill>
                  <a:srgbClr val="161B26"/>
                </a:solidFill>
                <a:latin typeface="Arial"/>
              </a:rPr>
              <a:t>session</a:t>
            </a:r>
          </a:p>
        </p:txBody>
      </p:sp>
      <p:sp>
        <p:nvSpPr>
          <p:cNvPr id="16" name="Chevron 15"/>
          <p:cNvSpPr/>
          <p:nvPr/>
        </p:nvSpPr>
        <p:spPr>
          <a:xfrm>
            <a:off x="7055509" y="2564892"/>
            <a:ext cx="274320" cy="310896"/>
          </a:xfrm>
          <a:prstGeom prst="chevron">
            <a:avLst/>
          </a:prstGeom>
          <a:solidFill>
            <a:srgbClr val="108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63485" y="1874520"/>
            <a:ext cx="676656" cy="237744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900" b="0">
                <a:solidFill>
                  <a:srgbClr val="5B6372"/>
                </a:solidFill>
                <a:latin typeface="Arial"/>
              </a:rPr>
              <a:t>instruction · knowledge · history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412126" y="2148840"/>
            <a:ext cx="1830628" cy="114300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6D3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66990" y="2203704"/>
            <a:ext cx="1720900" cy="1033271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200" b="1">
                <a:solidFill>
                  <a:srgbClr val="161B26"/>
                </a:solidFill>
                <a:latin typeface="Arial"/>
              </a:rPr>
              <a:t>AGENT</a:t>
            </a:r>
          </a:p>
          <a:p>
            <a:pPr algn="ctr"/>
            <a:r>
              <a:rPr sz="1200" b="1">
                <a:solidFill>
                  <a:srgbClr val="161B26"/>
                </a:solidFill>
                <a:latin typeface="Arial"/>
              </a:rPr>
              <a:t>rules + facts</a:t>
            </a:r>
          </a:p>
        </p:txBody>
      </p:sp>
      <p:sp>
        <p:nvSpPr>
          <p:cNvPr id="20" name="Chevron 19"/>
          <p:cNvSpPr/>
          <p:nvPr/>
        </p:nvSpPr>
        <p:spPr>
          <a:xfrm>
            <a:off x="9306762" y="2564892"/>
            <a:ext cx="274320" cy="310896"/>
          </a:xfrm>
          <a:prstGeom prst="chevron">
            <a:avLst/>
          </a:prstGeom>
          <a:solidFill>
            <a:srgbClr val="6D3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14738" y="1874520"/>
            <a:ext cx="676656" cy="237744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900" b="0">
                <a:solidFill>
                  <a:srgbClr val="5B6372"/>
                </a:solidFill>
                <a:latin typeface="Arial"/>
              </a:rPr>
              <a:t>reply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663379" y="2148840"/>
            <a:ext cx="1830628" cy="114300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77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718243" y="2203704"/>
            <a:ext cx="1720900" cy="1033271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200" b="1">
                <a:solidFill>
                  <a:srgbClr val="161B26"/>
                </a:solidFill>
                <a:latin typeface="Arial"/>
              </a:rPr>
              <a:t>Response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58368" y="3611880"/>
            <a:ext cx="5303520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96112" y="3675887"/>
            <a:ext cx="4846320" cy="27432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100" b="1">
                <a:solidFill>
                  <a:srgbClr val="1F6FEB"/>
                </a:solidFill>
                <a:latin typeface="Arial"/>
              </a:rPr>
              <a:t>RULES LIVE IN THE INSTRUCTION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6112" y="3950208"/>
            <a:ext cx="4846320" cy="768096"/>
          </a:xfrm>
          <a:prstGeom prst="rect">
            <a:avLst/>
          </a:prstGeom>
          <a:noFill/>
        </p:spPr>
        <p:txBody>
          <a:bodyPr wrap="square" anchor="t" lIns="73152" rIns="73152" tIns="73152" bIns="73152">
            <a:spAutoFit/>
          </a:bodyPr>
          <a:lstStyle/>
          <a:p>
            <a:pPr algn="l"/>
            <a:r>
              <a:rPr sz="1000" b="0">
                <a:solidFill>
                  <a:srgbClr val="5B6372"/>
                </a:solidFill>
                <a:latin typeface="Arial"/>
              </a:rPr>
              <a:t>Collect name, phone and email before answering. Never</a:t>
            </a:r>
          </a:p>
          <a:p>
            <a:pPr algn="l"/>
            <a:r>
              <a:rPr sz="1000" b="0">
                <a:solidFill>
                  <a:srgbClr val="5B6372"/>
                </a:solidFill>
                <a:latin typeface="Arial"/>
              </a:rPr>
              <a:t>recommend a product, predict a return or allocate savings.</a:t>
            </a:r>
          </a:p>
          <a:p>
            <a:pPr algn="l"/>
            <a:r>
              <a:rPr sz="1000" b="0">
                <a:solidFill>
                  <a:srgbClr val="5B6372"/>
                </a:solidFill>
                <a:latin typeface="Arial"/>
              </a:rPr>
              <a:t>A refusal that must be retrieved can miss.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90488" y="3611880"/>
            <a:ext cx="5303520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77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28232" y="3675887"/>
            <a:ext cx="4846320" cy="27432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100" b="1">
                <a:solidFill>
                  <a:srgbClr val="C77600"/>
                </a:solidFill>
                <a:latin typeface="Arial"/>
              </a:rPr>
              <a:t>FACTS LIVE IN THE KNOWLEDGE SOURCE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28232" y="3950208"/>
            <a:ext cx="4846320" cy="768096"/>
          </a:xfrm>
          <a:prstGeom prst="rect">
            <a:avLst/>
          </a:prstGeom>
          <a:noFill/>
        </p:spPr>
        <p:txBody>
          <a:bodyPr wrap="square" anchor="t" lIns="73152" rIns="73152" tIns="73152" bIns="73152">
            <a:spAutoFit/>
          </a:bodyPr>
          <a:lstStyle/>
          <a:p>
            <a:pPr algn="l"/>
            <a:r>
              <a:rPr sz="1000" b="0">
                <a:solidFill>
                  <a:srgbClr val="5B6372"/>
                </a:solidFill>
                <a:latin typeface="Arial"/>
              </a:rPr>
              <a:t>Fees, timelines and services come from the FAQ PDF.</a:t>
            </a:r>
          </a:p>
          <a:p>
            <a:pPr algn="l"/>
            <a:r>
              <a:rPr sz="1000" b="0">
                <a:solidFill>
                  <a:srgbClr val="5B6372"/>
                </a:solidFill>
                <a:latin typeface="Arial"/>
              </a:rPr>
              <a:t>Change the PDF and the answers change — without</a:t>
            </a:r>
          </a:p>
          <a:p>
            <a:pPr algn="l"/>
            <a:r>
              <a:rPr sz="1000" b="0">
                <a:solidFill>
                  <a:srgbClr val="5B6372"/>
                </a:solidFill>
                <a:latin typeface="Arial"/>
              </a:rPr>
              <a:t>touching the instruction.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8368" y="4864608"/>
            <a:ext cx="10835640" cy="566928"/>
          </a:xfrm>
          <a:prstGeom prst="roundRect">
            <a:avLst/>
          </a:prstGeom>
          <a:solidFill>
            <a:srgbClr val="F5F8FC"/>
          </a:solidFill>
          <a:ln w="20320">
            <a:solidFill>
              <a:srgbClr val="C241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14400" y="4864608"/>
            <a:ext cx="10332720" cy="566928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400" b="1">
                <a:solidFill>
                  <a:srgbClr val="161B26"/>
                </a:solidFill>
                <a:latin typeface="Arial"/>
              </a:rPr>
              <a:t>The test cases in Lab 7 are written to make it fail. Read the failures aloud — that is the debrief.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58368" y="5559552"/>
            <a:ext cx="10835640" cy="7132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1684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841248" y="5687568"/>
            <a:ext cx="1051560" cy="457200"/>
          </a:xfrm>
          <a:prstGeom prst="round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41248" y="5687568"/>
            <a:ext cx="1051560" cy="45720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LAB 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057400" y="5577840"/>
            <a:ext cx="9235440" cy="329184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400" b="1">
                <a:solidFill>
                  <a:srgbClr val="161B26"/>
                </a:solidFill>
                <a:latin typeface="Arial"/>
              </a:rPr>
              <a:t>Lab 7 — HTTP and Chatbot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057400" y="5907024"/>
            <a:ext cx="9235440" cy="310896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100" b="0">
                <a:solidFill>
                  <a:srgbClr val="5B6372"/>
                </a:solidFill>
                <a:latin typeface="Arial"/>
              </a:rPr>
              <a:t>Investment advisor chatbot  ·  Copilot Studio + SharePoint knowledge + static website  ·  40 min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Business Process Automation with Power Automate &amp; Copilot Studio Agents  ·  TGS-2022017524  ·  © 2026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45</a:t>
            </a:r>
          </a:p>
        </p:txBody>
      </p:sp>
    </p:spTree>
    <p:extLst>
      <p:ext uri="{BB962C8B-B14F-4D97-AF65-F5344CB8AC3E}">
        <p14:creationId xmlns:p14="http://schemas.microsoft.com/office/powerpoint/2010/main" val="2026020724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56032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MODULE 4 · CONCEPT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789920" cy="603504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The Human Review Node — A Gate That Blocks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3716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1536192"/>
            <a:ext cx="10835640" cy="310896"/>
          </a:xfrm>
          <a:prstGeom prst="rect">
            <a:avLst/>
          </a:prstGeom>
          <a:noFill/>
        </p:spPr>
        <p:txBody>
          <a:bodyPr wrap="square" anchor="t" lIns="73152" rIns="73152" tIns="73152" bIns="73152">
            <a:spAutoFit/>
          </a:bodyPr>
          <a:lstStyle/>
          <a:p>
            <a:pPr algn="l"/>
            <a:r>
              <a:rPr sz="1400" b="0">
                <a:solidFill>
                  <a:srgbClr val="161B26"/>
                </a:solidFill>
                <a:latin typeface="Arial"/>
              </a:rPr>
              <a:t>Lab 8 adds the person back. The Human review node does nothing at all except wait.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2011680"/>
            <a:ext cx="5532120" cy="1371600"/>
          </a:xfrm>
          <a:prstGeom prst="roundRect">
            <a:avLst/>
          </a:prstGeom>
          <a:solidFill>
            <a:srgbClr val="F5F8FC"/>
          </a:solidFill>
          <a:ln w="22860">
            <a:solidFill>
              <a:srgbClr val="6D3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2084831"/>
            <a:ext cx="5532120" cy="292608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100" b="1">
                <a:solidFill>
                  <a:srgbClr val="6D3FD2"/>
                </a:solidFill>
                <a:latin typeface="Arial"/>
              </a:rPr>
              <a:t>THE AGENT'S TERRITORY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68680" y="2468880"/>
            <a:ext cx="1170432" cy="6858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6D3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2468880"/>
            <a:ext cx="1170432" cy="68580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100" b="1">
                <a:solidFill>
                  <a:srgbClr val="161B26"/>
                </a:solidFill>
                <a:latin typeface="Arial"/>
              </a:rPr>
              <a:t>classify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167128" y="2468880"/>
            <a:ext cx="1170432" cy="6858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6D3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167128" y="2468880"/>
            <a:ext cx="1170432" cy="68580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100" b="1">
                <a:solidFill>
                  <a:srgbClr val="161B26"/>
                </a:solidFill>
                <a:latin typeface="Arial"/>
              </a:rPr>
              <a:t>read tone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65576" y="2468880"/>
            <a:ext cx="1170432" cy="6858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6D3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65576" y="2468880"/>
            <a:ext cx="1170432" cy="68580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100" b="1">
                <a:solidFill>
                  <a:srgbClr val="161B26"/>
                </a:solidFill>
                <a:latin typeface="Arial"/>
              </a:rPr>
              <a:t>flag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764024" y="2468880"/>
            <a:ext cx="1170432" cy="6858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6D3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764024" y="2468880"/>
            <a:ext cx="1170432" cy="68580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100" b="1">
                <a:solidFill>
                  <a:srgbClr val="161B26"/>
                </a:solidFill>
                <a:latin typeface="Arial"/>
              </a:rPr>
              <a:t>DRAFT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46520" y="2011680"/>
            <a:ext cx="2148840" cy="1371600"/>
          </a:xfrm>
          <a:prstGeom prst="roundRect">
            <a:avLst/>
          </a:prstGeom>
          <a:solidFill>
            <a:srgbClr val="FFFFFF"/>
          </a:solidFill>
          <a:ln w="30480">
            <a:solidFill>
              <a:srgbClr val="C241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6520" y="2084831"/>
            <a:ext cx="2148840" cy="292608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100" b="1">
                <a:solidFill>
                  <a:srgbClr val="C2413A"/>
                </a:solidFill>
                <a:latin typeface="Arial"/>
              </a:rPr>
              <a:t>THE GATE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46520" y="2395728"/>
            <a:ext cx="2148840" cy="86868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200" b="1">
                <a:solidFill>
                  <a:srgbClr val="C2413A"/>
                </a:solidFill>
                <a:latin typeface="Arial"/>
              </a:rPr>
              <a:t>Human review</a:t>
            </a:r>
          </a:p>
          <a:p>
            <a:pPr algn="ctr"/>
            <a:r>
              <a:rPr sz="1200" b="1">
                <a:solidFill>
                  <a:srgbClr val="C2413A"/>
                </a:solidFill>
                <a:latin typeface="Arial"/>
              </a:rPr>
              <a:t>approve / reject</a:t>
            </a:r>
          </a:p>
          <a:p>
            <a:pPr algn="ctr"/>
            <a:r>
              <a:rPr sz="1200" b="1">
                <a:solidFill>
                  <a:srgbClr val="C2413A"/>
                </a:solidFill>
                <a:latin typeface="Arial"/>
              </a:rPr>
              <a:t>in Teams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851392" y="2011680"/>
            <a:ext cx="2642616" cy="1371600"/>
          </a:xfrm>
          <a:prstGeom prst="roundRect">
            <a:avLst/>
          </a:prstGeom>
          <a:solidFill>
            <a:srgbClr val="F5F8FC"/>
          </a:solidFill>
          <a:ln w="22860">
            <a:solidFill>
              <a:srgbClr val="1684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851392" y="2084831"/>
            <a:ext cx="2642616" cy="292608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100" b="1">
                <a:solidFill>
                  <a:srgbClr val="16845B"/>
                </a:solidFill>
                <a:latin typeface="Arial"/>
              </a:rPr>
              <a:t>THE CONSEQUENCE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51392" y="2395728"/>
            <a:ext cx="2642616" cy="868680"/>
          </a:xfrm>
          <a:prstGeom prst="rect">
            <a:avLst/>
          </a:prstGeom>
          <a:noFill/>
        </p:spPr>
        <p:txBody>
          <a:bodyPr wrap="square" anchor="t" lIns="73152" rIns="73152" tIns="73152" bIns="73152">
            <a:spAutoFit/>
          </a:bodyPr>
          <a:lstStyle/>
          <a:p>
            <a:pPr algn="ctr"/>
            <a:r>
              <a:rPr sz="1100" b="0">
                <a:solidFill>
                  <a:srgbClr val="5B6372"/>
                </a:solidFill>
                <a:latin typeface="Arial"/>
              </a:rPr>
              <a:t>send · log ·</a:t>
            </a:r>
          </a:p>
          <a:p>
            <a:pPr algn="ctr"/>
            <a:r>
              <a:rPr sz="1100" b="0">
                <a:solidFill>
                  <a:srgbClr val="5B6372"/>
                </a:solidFill>
                <a:latin typeface="Arial"/>
              </a:rPr>
              <a:t>hand to a named person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58368" y="3657600"/>
            <a:ext cx="10835640" cy="13716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241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" y="3767328"/>
            <a:ext cx="10332720" cy="329184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300" b="1">
                <a:solidFill>
                  <a:srgbClr val="C2413A"/>
                </a:solidFill>
                <a:latin typeface="Arial"/>
              </a:rPr>
              <a:t>THE TEST OF A REAL GATE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" y="4133087"/>
            <a:ext cx="10332720" cy="822960"/>
          </a:xfrm>
          <a:prstGeom prst="rect">
            <a:avLst/>
          </a:prstGeom>
          <a:noFill/>
        </p:spPr>
        <p:txBody>
          <a:bodyPr wrap="square" anchor="t" lIns="73152" rIns="73152" tIns="73152" bIns="73152">
            <a:spAutoFit/>
          </a:bodyPr>
          <a:lstStyle/>
          <a:p>
            <a:pPr algn="l"/>
            <a:r>
              <a:rPr sz="1200" b="0">
                <a:solidFill>
                  <a:srgbClr val="5B6372"/>
                </a:solidFill>
                <a:latin typeface="Arial"/>
              </a:rPr>
              <a:t>Submit an enquiry, then open Activity. The run says Running — and it will still say Running tomorrow. Nothing times out,</a:t>
            </a:r>
          </a:p>
          <a:p>
            <a:pPr algn="l"/>
            <a:r>
              <a:rPr sz="1200" b="0">
                <a:solidFill>
                  <a:srgbClr val="5B6372"/>
                </a:solidFill>
                <a:latin typeface="Arial"/>
              </a:rPr>
              <a:t>nothing defaults, nothing proceeds. A workflow that has done all of its work and will not take the last step.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58368" y="4864608"/>
            <a:ext cx="10835640" cy="566928"/>
          </a:xfrm>
          <a:prstGeom prst="roundRect">
            <a:avLst/>
          </a:prstGeom>
          <a:solidFill>
            <a:srgbClr val="F5F8FC"/>
          </a:solidFill>
          <a:ln w="20320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4864608"/>
            <a:ext cx="10332720" cy="566928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400" b="1">
                <a:solidFill>
                  <a:srgbClr val="161B26"/>
                </a:solidFill>
                <a:latin typeface="Arial"/>
              </a:rPr>
              <a:t>That pause is the deliverable. Rejected drafts go to a NAMED person who must phone the client — never to silence.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" y="5559552"/>
            <a:ext cx="10835640" cy="7132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1684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841248" y="5687568"/>
            <a:ext cx="1051560" cy="457200"/>
          </a:xfrm>
          <a:prstGeom prst="round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41248" y="5687568"/>
            <a:ext cx="1051560" cy="45720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LAB 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057400" y="5577840"/>
            <a:ext cx="9235440" cy="329184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400" b="1">
                <a:solidFill>
                  <a:srgbClr val="161B26"/>
                </a:solidFill>
                <a:latin typeface="Arial"/>
              </a:rPr>
              <a:t>Lab 8 — HTTP and Human Review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057400" y="5907024"/>
            <a:ext cx="9235440" cy="310896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100" b="0">
                <a:solidFill>
                  <a:srgbClr val="5B6372"/>
                </a:solidFill>
                <a:latin typeface="Arial"/>
              </a:rPr>
              <a:t>Client rapport assistant with a Teams approval gate  ·  Copilot Studio + Human review + Excel Online + Outlook + Teams  ·  60 min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Business Process Automation with Power Automate &amp; Copilot Studio Agents  ·  TGS-2022017524  ·  © 2026 Tertiary Infotech Academy Pte Ltd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46</a:t>
            </a:r>
          </a:p>
        </p:txBody>
      </p:sp>
    </p:spTree>
    <p:extLst>
      <p:ext uri="{BB962C8B-B14F-4D97-AF65-F5344CB8AC3E}">
        <p14:creationId xmlns:p14="http://schemas.microsoft.com/office/powerpoint/2010/main" val="3815795200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56032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MODULE 4 · LAB WORKFLOW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789920" cy="603504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Lab 6 — Application Approval Agent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3716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1517904"/>
            <a:ext cx="10835640" cy="310896"/>
          </a:xfrm>
          <a:prstGeom prst="rect">
            <a:avLst/>
          </a:prstGeom>
          <a:noFill/>
        </p:spPr>
        <p:txBody>
          <a:bodyPr wrap="square" anchor="t" lIns="73152" rIns="73152" tIns="73152" bIns="73152">
            <a:spAutoFit/>
          </a:bodyPr>
          <a:lstStyle/>
          <a:p>
            <a:pPr algn="l"/>
            <a:r>
              <a:rPr sz="1300" b="0">
                <a:solidFill>
                  <a:srgbClr val="5B6372"/>
                </a:solidFill>
                <a:latin typeface="Arial"/>
              </a:rPr>
              <a:t>The boundary of agency — the AI decides what to do; deterministic actions do what must always happen.</a:t>
            </a:r>
          </a:p>
        </p:txBody>
      </p:sp>
      <p:pic>
        <p:nvPicPr>
          <p:cNvPr id="7" name="Picture 6" descr="flowch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3186702"/>
            <a:ext cx="10972800" cy="81378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658368" y="5559552"/>
            <a:ext cx="10835640" cy="7132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1684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41248" y="5687568"/>
            <a:ext cx="1051560" cy="457200"/>
          </a:xfrm>
          <a:prstGeom prst="round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" y="5687568"/>
            <a:ext cx="1051560" cy="45720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LAB 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57400" y="5577840"/>
            <a:ext cx="9235440" cy="329184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400" b="1">
                <a:solidFill>
                  <a:srgbClr val="161B26"/>
                </a:solidFill>
                <a:latin typeface="Arial"/>
              </a:rPr>
              <a:t>Lab 6 — HTTP and Application Approval Agent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57400" y="5907024"/>
            <a:ext cx="9235440" cy="310896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100" b="0">
                <a:solidFill>
                  <a:srgbClr val="5B6372"/>
                </a:solidFill>
                <a:latin typeface="Arial"/>
              </a:rPr>
              <a:t>Marina Trust Bank customer onboarding  ·  Copilot Studio agent flow + SharePoint + Outlook  ·  60 min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Business Process Automation with Power Automate &amp; Copilot Studio Agents  ·  TGS-2022017524  ·  © 2026 Tertiary Infotech Academy Pte Ltd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47</a:t>
            </a:r>
          </a:p>
        </p:txBody>
      </p:sp>
    </p:spTree>
    <p:extLst>
      <p:ext uri="{BB962C8B-B14F-4D97-AF65-F5344CB8AC3E}">
        <p14:creationId xmlns:p14="http://schemas.microsoft.com/office/powerpoint/2010/main" val="4082178276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56032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MODULE 4 · LAB WORKFLOW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789920" cy="603504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Lab 7 — The Chatbot, Working Alone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3716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1517904"/>
            <a:ext cx="10835640" cy="310896"/>
          </a:xfrm>
          <a:prstGeom prst="rect">
            <a:avLst/>
          </a:prstGeom>
          <a:noFill/>
        </p:spPr>
        <p:txBody>
          <a:bodyPr wrap="square" anchor="t" lIns="73152" rIns="73152" tIns="73152" bIns="73152">
            <a:spAutoFit/>
          </a:bodyPr>
          <a:lstStyle/>
          <a:p>
            <a:pPr algn="l"/>
            <a:r>
              <a:rPr sz="1300" b="0">
                <a:solidFill>
                  <a:srgbClr val="5B6372"/>
                </a:solidFill>
                <a:latin typeface="Arial"/>
              </a:rPr>
              <a:t>The agent alone — rules in the instruction, facts in the knowledge source, and a refusal it must never break.</a:t>
            </a:r>
          </a:p>
        </p:txBody>
      </p:sp>
      <p:pic>
        <p:nvPicPr>
          <p:cNvPr id="7" name="Picture 6" descr="flowch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3003708"/>
            <a:ext cx="10972800" cy="1179767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658368" y="5559552"/>
            <a:ext cx="10835640" cy="7132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1684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41248" y="5687568"/>
            <a:ext cx="1051560" cy="457200"/>
          </a:xfrm>
          <a:prstGeom prst="round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" y="5687568"/>
            <a:ext cx="1051560" cy="45720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LAB 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57400" y="5577840"/>
            <a:ext cx="9235440" cy="329184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400" b="1">
                <a:solidFill>
                  <a:srgbClr val="161B26"/>
                </a:solidFill>
                <a:latin typeface="Arial"/>
              </a:rPr>
              <a:t>Lab 7 — HTTP and Chatbot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57400" y="5907024"/>
            <a:ext cx="9235440" cy="310896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100" b="0">
                <a:solidFill>
                  <a:srgbClr val="5B6372"/>
                </a:solidFill>
                <a:latin typeface="Arial"/>
              </a:rPr>
              <a:t>Investment advisor chatbot  ·  Copilot Studio + SharePoint knowledge + static website  ·  40 min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Business Process Automation with Power Automate &amp; Copilot Studio Agents  ·  TGS-2022017524  ·  © 2026 Tertiary Infotech Academy Pte Ltd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48</a:t>
            </a:r>
          </a:p>
        </p:txBody>
      </p:sp>
    </p:spTree>
    <p:extLst>
      <p:ext uri="{BB962C8B-B14F-4D97-AF65-F5344CB8AC3E}">
        <p14:creationId xmlns:p14="http://schemas.microsoft.com/office/powerpoint/2010/main" val="2076235642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56032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MODULE 4 · LAB WORKFLOW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789920" cy="603504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Lab 8 — The Human Review Gate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3716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1517904"/>
            <a:ext cx="10835640" cy="310896"/>
          </a:xfrm>
          <a:prstGeom prst="rect">
            <a:avLst/>
          </a:prstGeom>
          <a:noFill/>
        </p:spPr>
        <p:txBody>
          <a:bodyPr wrap="square" anchor="t" lIns="73152" rIns="73152" tIns="73152" bIns="73152">
            <a:spAutoFit/>
          </a:bodyPr>
          <a:lstStyle/>
          <a:p>
            <a:pPr algn="l"/>
            <a:r>
              <a:rPr sz="1300" b="0">
                <a:solidFill>
                  <a:srgbClr val="5B6372"/>
                </a:solidFill>
                <a:latin typeface="Arial"/>
              </a:rPr>
              <a:t>Human in the loop — the AI drafts, and the workflow physically cannot proceed until a person approves.</a:t>
            </a:r>
          </a:p>
        </p:txBody>
      </p:sp>
      <p:pic>
        <p:nvPicPr>
          <p:cNvPr id="7" name="Picture 6" descr="flowch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2420151"/>
            <a:ext cx="10972800" cy="2346881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658368" y="5559552"/>
            <a:ext cx="10835640" cy="7132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1684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41248" y="5687568"/>
            <a:ext cx="1051560" cy="457200"/>
          </a:xfrm>
          <a:prstGeom prst="round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" y="5687568"/>
            <a:ext cx="1051560" cy="45720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LAB 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57400" y="5577840"/>
            <a:ext cx="9235440" cy="329184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400" b="1">
                <a:solidFill>
                  <a:srgbClr val="161B26"/>
                </a:solidFill>
                <a:latin typeface="Arial"/>
              </a:rPr>
              <a:t>Lab 8 — HTTP and Human Review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57400" y="5907024"/>
            <a:ext cx="9235440" cy="310896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100" b="0">
                <a:solidFill>
                  <a:srgbClr val="5B6372"/>
                </a:solidFill>
                <a:latin typeface="Arial"/>
              </a:rPr>
              <a:t>Client rapport assistant with a Teams approval gate  ·  Copilot Studio + Human review + Excel Online + Outlook + Teams  ·  60 min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Business Process Automation with Power Automate &amp; Copilot Studio Agents  ·  TGS-2022017524  ·  © 2026 Tertiary Infotech Academy Pte Ltd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49</a:t>
            </a:r>
          </a:p>
        </p:txBody>
      </p:sp>
    </p:spTree>
    <p:extLst>
      <p:ext uri="{BB962C8B-B14F-4D97-AF65-F5344CB8AC3E}">
        <p14:creationId xmlns:p14="http://schemas.microsoft.com/office/powerpoint/2010/main" val="704177008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658368" y="1737360"/>
            <a:ext cx="10835640" cy="3291840"/>
          </a:xfrm>
          <a:prstGeom prst="roundRect">
            <a:avLst/>
          </a:prstGeom>
          <a:solidFill>
            <a:srgbClr val="F5F8FC"/>
          </a:solidFill>
          <a:ln w="25400">
            <a:solidFill>
              <a:srgbClr val="C77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58368" y="1737360"/>
            <a:ext cx="128016" cy="3291840"/>
          </a:xfrm>
          <a:prstGeom prst="rect">
            <a:avLst/>
          </a:prstGeom>
          <a:solidFill>
            <a:srgbClr val="C77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2148840"/>
            <a:ext cx="9875520" cy="36576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500" b="1">
                <a:solidFill>
                  <a:srgbClr val="C77600"/>
                </a:solidFill>
                <a:latin typeface="Arial"/>
              </a:rPr>
              <a:t>MODULE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2606040"/>
            <a:ext cx="9875520" cy="86868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3400" b="1">
                <a:solidFill>
                  <a:srgbClr val="161B26"/>
                </a:solidFill>
                <a:latin typeface="Arial"/>
              </a:rPr>
              <a:t>Retrieval Augmented Generation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3611880"/>
            <a:ext cx="9875520" cy="1005840"/>
          </a:xfrm>
          <a:prstGeom prst="rect">
            <a:avLst/>
          </a:prstGeom>
          <a:noFill/>
        </p:spPr>
        <p:txBody>
          <a:bodyPr wrap="square" anchor="t" lIns="73152" rIns="73152" tIns="73152" bIns="73152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B6372"/>
                </a:solidFill>
                <a:latin typeface="Arial"/>
              </a:rPr>
              <a:t>Why not just paste everything  ·  ingestion and retrieval  ·  chunking, embeddings, top_k  ·  built-in versus external  ·  probing for invention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5B6372"/>
                </a:solidFill>
                <a:latin typeface="Arial"/>
              </a:rPr>
              <a:t>Applied in Lab 9 and Lab 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Business Process Automation with Power Automate &amp; Copilot Studio Agents  ·  TGS-2022017524  ·  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50</a:t>
            </a:r>
          </a:p>
        </p:txBody>
      </p:sp>
    </p:spTree>
    <p:extLst>
      <p:ext uri="{BB962C8B-B14F-4D97-AF65-F5344CB8AC3E}">
        <p14:creationId xmlns:p14="http://schemas.microsoft.com/office/powerpoint/2010/main" val="4071870543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56032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MODULE 5 · CONCEPT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789920" cy="603504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Why Retrieval, Rather Than a Bigger Prompt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3716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1536192"/>
            <a:ext cx="10835640" cy="310896"/>
          </a:xfrm>
          <a:prstGeom prst="rect">
            <a:avLst/>
          </a:prstGeom>
          <a:noFill/>
        </p:spPr>
        <p:txBody>
          <a:bodyPr wrap="square" anchor="t" lIns="73152" rIns="73152" tIns="73152" bIns="73152">
            <a:spAutoFit/>
          </a:bodyPr>
          <a:lstStyle/>
          <a:p>
            <a:pPr algn="l"/>
            <a:r>
              <a:rPr sz="1400" b="0">
                <a:solidFill>
                  <a:srgbClr val="161B26"/>
                </a:solidFill>
                <a:latin typeface="Arial"/>
              </a:rPr>
              <a:t>You could paste all 20 brochures into the instruction. For 20 it works. Then the academy adds 40 more.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2011680"/>
            <a:ext cx="5303520" cy="1874519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241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121408"/>
            <a:ext cx="4846320" cy="310896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200" b="1">
                <a:solidFill>
                  <a:srgbClr val="C2413A"/>
                </a:solidFill>
                <a:latin typeface="Arial"/>
              </a:rPr>
              <a:t>EVERYTHING IN THE PROMPT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2468880"/>
            <a:ext cx="4846320" cy="1280160"/>
          </a:xfrm>
          <a:prstGeom prst="rect">
            <a:avLst/>
          </a:prstGeom>
          <a:noFill/>
        </p:spPr>
        <p:txBody>
          <a:bodyPr wrap="square" anchor="t" lIns="73152" rIns="73152" tIns="73152" bIns="73152">
            <a:spAutoFit/>
          </a:bodyPr>
          <a:lstStyle/>
          <a:p>
            <a:pPr algn="l"/>
            <a:r>
              <a:rPr sz="1100" b="0">
                <a:solidFill>
                  <a:srgbClr val="5B6372"/>
                </a:solidFill>
                <a:latin typeface="Arial"/>
              </a:rPr>
              <a:t>The instruction exceeds what the model can read.</a:t>
            </a:r>
          </a:p>
          <a:p>
            <a:pPr algn="l"/>
            <a:r>
              <a:rPr sz="1100" b="0">
                <a:solidFill>
                  <a:srgbClr val="5B6372"/>
                </a:solidFill>
                <a:latin typeface="Arial"/>
              </a:rPr>
              <a:t>It starts ignoring the middle.</a:t>
            </a:r>
          </a:p>
          <a:p>
            <a:pPr algn="l"/>
            <a:r>
              <a:rPr sz="1100" b="0">
                <a:solidFill>
                  <a:srgbClr val="5B6372"/>
                </a:solidFill>
                <a:latin typeface="Arial"/>
              </a:rPr>
              <a:t>Every question costs the price of 60 brochures.</a:t>
            </a:r>
          </a:p>
          <a:p>
            <a:pPr algn="l"/>
            <a:r>
              <a:rPr sz="1100" b="0">
                <a:solidFill>
                  <a:srgbClr val="5B6372"/>
                </a:solidFill>
                <a:latin typeface="Arial"/>
              </a:rPr>
              <a:t>A fee change means editing the prompt.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0488" y="2011680"/>
            <a:ext cx="5303520" cy="1874519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1684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28232" y="2121408"/>
            <a:ext cx="4846320" cy="310896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200" b="1">
                <a:solidFill>
                  <a:srgbClr val="16845B"/>
                </a:solidFill>
                <a:latin typeface="Arial"/>
              </a:rPr>
              <a:t>RETRIEVE, THEN GENERATE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28232" y="2468880"/>
            <a:ext cx="4846320" cy="1280160"/>
          </a:xfrm>
          <a:prstGeom prst="rect">
            <a:avLst/>
          </a:prstGeom>
          <a:noFill/>
        </p:spPr>
        <p:txBody>
          <a:bodyPr wrap="square" anchor="t" lIns="73152" rIns="73152" tIns="73152" bIns="73152">
            <a:spAutoFit/>
          </a:bodyPr>
          <a:lstStyle/>
          <a:p>
            <a:pPr algn="l"/>
            <a:r>
              <a:rPr sz="1100" b="0">
                <a:solidFill>
                  <a:srgbClr val="5B6372"/>
                </a:solidFill>
                <a:latin typeface="Arial"/>
              </a:rPr>
              <a:t>Find the two or three brochures that resemble the</a:t>
            </a:r>
          </a:p>
          <a:p>
            <a:pPr algn="l"/>
            <a:r>
              <a:rPr sz="1100" b="0">
                <a:solidFill>
                  <a:srgbClr val="5B6372"/>
                </a:solidFill>
                <a:latin typeface="Arial"/>
              </a:rPr>
              <a:t>question, and give the model only those.</a:t>
            </a:r>
          </a:p>
          <a:p>
            <a:pPr algn="l"/>
            <a:r>
              <a:rPr sz="1100" b="0">
                <a:solidFill>
                  <a:srgbClr val="5B6372"/>
                </a:solidFill>
                <a:latin typeface="Arial"/>
              </a:rPr>
              <a:t>The agent never sees the other 17.</a:t>
            </a:r>
          </a:p>
          <a:p>
            <a:pPr algn="l"/>
            <a:r>
              <a:rPr sz="1100" b="0">
                <a:solidFill>
                  <a:srgbClr val="5B6372"/>
                </a:solidFill>
                <a:latin typeface="Arial"/>
              </a:rPr>
              <a:t>It answers from what matters.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4160520"/>
            <a:ext cx="1830628" cy="114300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13232" y="4215383"/>
            <a:ext cx="1720900" cy="1033271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100" b="1">
                <a:solidFill>
                  <a:srgbClr val="161B26"/>
                </a:solidFill>
                <a:latin typeface="Arial"/>
              </a:rPr>
              <a:t>Question</a:t>
            </a:r>
          </a:p>
        </p:txBody>
      </p:sp>
      <p:sp>
        <p:nvSpPr>
          <p:cNvPr id="15" name="Chevron 14"/>
          <p:cNvSpPr/>
          <p:nvPr/>
        </p:nvSpPr>
        <p:spPr>
          <a:xfrm>
            <a:off x="2553004" y="4576572"/>
            <a:ext cx="274320" cy="310896"/>
          </a:xfrm>
          <a:prstGeom prst="chevron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360980" y="3886200"/>
            <a:ext cx="676656" cy="237744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900" b="0">
                <a:solidFill>
                  <a:srgbClr val="5B6372"/>
                </a:solidFill>
                <a:latin typeface="Arial"/>
              </a:rPr>
              <a:t>vector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909620" y="4160520"/>
            <a:ext cx="1830628" cy="114300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108A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964484" y="4215383"/>
            <a:ext cx="1720900" cy="1033271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100" b="1">
                <a:solidFill>
                  <a:srgbClr val="161B26"/>
                </a:solidFill>
                <a:latin typeface="Arial"/>
              </a:rPr>
              <a:t>Embed the</a:t>
            </a:r>
          </a:p>
          <a:p>
            <a:pPr algn="ctr"/>
            <a:r>
              <a:rPr sz="1100" b="1">
                <a:solidFill>
                  <a:srgbClr val="161B26"/>
                </a:solidFill>
                <a:latin typeface="Arial"/>
              </a:rPr>
              <a:t>question</a:t>
            </a:r>
          </a:p>
        </p:txBody>
      </p:sp>
      <p:sp>
        <p:nvSpPr>
          <p:cNvPr id="19" name="Chevron 18"/>
          <p:cNvSpPr/>
          <p:nvPr/>
        </p:nvSpPr>
        <p:spPr>
          <a:xfrm>
            <a:off x="4804256" y="4576572"/>
            <a:ext cx="274320" cy="310896"/>
          </a:xfrm>
          <a:prstGeom prst="chevron">
            <a:avLst/>
          </a:prstGeom>
          <a:solidFill>
            <a:srgbClr val="108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12232" y="3886200"/>
            <a:ext cx="676656" cy="237744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900" b="0">
                <a:solidFill>
                  <a:srgbClr val="5B6372"/>
                </a:solidFill>
                <a:latin typeface="Arial"/>
              </a:rPr>
              <a:t>similarity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160873" y="4160520"/>
            <a:ext cx="1830628" cy="114300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6D3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215737" y="4215383"/>
            <a:ext cx="1720900" cy="1033271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100" b="1">
                <a:solidFill>
                  <a:srgbClr val="161B26"/>
                </a:solidFill>
                <a:latin typeface="Arial"/>
              </a:rPr>
              <a:t>Search for the</a:t>
            </a:r>
          </a:p>
          <a:p>
            <a:pPr algn="ctr"/>
            <a:r>
              <a:rPr sz="1100" b="1">
                <a:solidFill>
                  <a:srgbClr val="161B26"/>
                </a:solidFill>
                <a:latin typeface="Arial"/>
              </a:rPr>
              <a:t>nearest documents</a:t>
            </a:r>
          </a:p>
        </p:txBody>
      </p:sp>
      <p:sp>
        <p:nvSpPr>
          <p:cNvPr id="23" name="Chevron 22"/>
          <p:cNvSpPr/>
          <p:nvPr/>
        </p:nvSpPr>
        <p:spPr>
          <a:xfrm>
            <a:off x="7055509" y="4576572"/>
            <a:ext cx="274320" cy="310896"/>
          </a:xfrm>
          <a:prstGeom prst="chevron">
            <a:avLst/>
          </a:prstGeom>
          <a:solidFill>
            <a:srgbClr val="6D3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63485" y="3886200"/>
            <a:ext cx="676656" cy="237744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900" b="0">
                <a:solidFill>
                  <a:srgbClr val="5B6372"/>
                </a:solidFill>
                <a:latin typeface="Arial"/>
              </a:rPr>
              <a:t>top_k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412126" y="4160520"/>
            <a:ext cx="1830628" cy="114300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77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466990" y="4215383"/>
            <a:ext cx="1720900" cy="1033271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100" b="1">
                <a:solidFill>
                  <a:srgbClr val="161B26"/>
                </a:solidFill>
                <a:latin typeface="Arial"/>
              </a:rPr>
              <a:t>Paste them into</a:t>
            </a:r>
          </a:p>
          <a:p>
            <a:pPr algn="ctr"/>
            <a:r>
              <a:rPr sz="1100" b="1">
                <a:solidFill>
                  <a:srgbClr val="161B26"/>
                </a:solidFill>
                <a:latin typeface="Arial"/>
              </a:rPr>
              <a:t>the prompt</a:t>
            </a:r>
          </a:p>
        </p:txBody>
      </p:sp>
      <p:sp>
        <p:nvSpPr>
          <p:cNvPr id="27" name="Chevron 26"/>
          <p:cNvSpPr/>
          <p:nvPr/>
        </p:nvSpPr>
        <p:spPr>
          <a:xfrm>
            <a:off x="9306762" y="4576572"/>
            <a:ext cx="274320" cy="310896"/>
          </a:xfrm>
          <a:prstGeom prst="chevron">
            <a:avLst/>
          </a:prstGeom>
          <a:solidFill>
            <a:srgbClr val="C77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14738" y="3886200"/>
            <a:ext cx="676656" cy="237744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900" b="0">
                <a:solidFill>
                  <a:srgbClr val="5B6372"/>
                </a:solidFill>
                <a:latin typeface="Arial"/>
              </a:rPr>
              <a:t>generate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663379" y="4160520"/>
            <a:ext cx="1830628" cy="114300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1684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718243" y="4215383"/>
            <a:ext cx="1720900" cy="1033271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100" b="1">
                <a:solidFill>
                  <a:srgbClr val="161B26"/>
                </a:solidFill>
                <a:latin typeface="Arial"/>
              </a:rPr>
              <a:t>Grounded</a:t>
            </a:r>
          </a:p>
          <a:p>
            <a:pPr algn="ctr"/>
            <a:r>
              <a:rPr sz="1100" b="1">
                <a:solidFill>
                  <a:srgbClr val="161B26"/>
                </a:solidFill>
                <a:latin typeface="Arial"/>
              </a:rPr>
              <a:t>answer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8368" y="5577840"/>
            <a:ext cx="10835640" cy="566928"/>
          </a:xfrm>
          <a:prstGeom prst="roundRect">
            <a:avLst/>
          </a:prstGeom>
          <a:solidFill>
            <a:srgbClr val="F5F8FC"/>
          </a:solidFill>
          <a:ln w="20320">
            <a:solidFill>
              <a:srgbClr val="C77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14400" y="5577840"/>
            <a:ext cx="10332720" cy="566928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400" b="1">
                <a:solidFill>
                  <a:srgbClr val="161B26"/>
                </a:solidFill>
                <a:latin typeface="Arial"/>
              </a:rPr>
              <a:t>RAG = retrieval + generation. The retrieval decides whether the generation can possibly be right.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Business Process Automation with Power Automate &amp; Copilot Studio Agents  ·  TGS-2022017524  ·  © 2026 Tertiary Infotech Academy Pte Ltd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51</a:t>
            </a:r>
          </a:p>
        </p:txBody>
      </p:sp>
    </p:spTree>
    <p:extLst>
      <p:ext uri="{BB962C8B-B14F-4D97-AF65-F5344CB8AC3E}">
        <p14:creationId xmlns:p14="http://schemas.microsoft.com/office/powerpoint/2010/main" val="759935770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56032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MODULE 5 · CONCEPT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789920" cy="603504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The RAG Pipeline, and the Four Words That Matter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3716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1536192"/>
            <a:ext cx="10835640" cy="310896"/>
          </a:xfrm>
          <a:prstGeom prst="rect">
            <a:avLst/>
          </a:prstGeom>
          <a:noFill/>
        </p:spPr>
        <p:txBody>
          <a:bodyPr wrap="square" anchor="t" lIns="73152" rIns="73152" tIns="73152" bIns="73152">
            <a:spAutoFit/>
          </a:bodyPr>
          <a:lstStyle/>
          <a:p>
            <a:pPr algn="l"/>
            <a:r>
              <a:rPr sz="1400" b="0">
                <a:solidFill>
                  <a:srgbClr val="161B26"/>
                </a:solidFill>
                <a:latin typeface="Arial"/>
              </a:rPr>
              <a:t>Two phases. Ingestion happens once; retrieval happens on every question.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965960"/>
            <a:ext cx="1828800" cy="310896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INGESTION — once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2286000"/>
            <a:ext cx="2393441" cy="91440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3232" y="2340864"/>
            <a:ext cx="2283713" cy="804672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200" b="1">
                <a:solidFill>
                  <a:srgbClr val="161B26"/>
                </a:solidFill>
                <a:latin typeface="Arial"/>
              </a:rPr>
              <a:t>Documents</a:t>
            </a:r>
          </a:p>
        </p:txBody>
      </p:sp>
      <p:sp>
        <p:nvSpPr>
          <p:cNvPr id="10" name="Chevron 9"/>
          <p:cNvSpPr/>
          <p:nvPr/>
        </p:nvSpPr>
        <p:spPr>
          <a:xfrm>
            <a:off x="3115817" y="2587752"/>
            <a:ext cx="274320" cy="310896"/>
          </a:xfrm>
          <a:prstGeom prst="chevron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923793" y="2011680"/>
            <a:ext cx="676656" cy="237744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900" b="0">
                <a:solidFill>
                  <a:srgbClr val="5B6372"/>
                </a:solidFill>
                <a:latin typeface="Arial"/>
              </a:rPr>
              <a:t>split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72433" y="2286000"/>
            <a:ext cx="2393441" cy="91440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27297" y="2340864"/>
            <a:ext cx="2283713" cy="804672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200" b="1">
                <a:solidFill>
                  <a:srgbClr val="161B26"/>
                </a:solidFill>
                <a:latin typeface="Arial"/>
              </a:rPr>
              <a:t>Chunk</a:t>
            </a:r>
          </a:p>
        </p:txBody>
      </p:sp>
      <p:sp>
        <p:nvSpPr>
          <p:cNvPr id="14" name="Chevron 13"/>
          <p:cNvSpPr/>
          <p:nvPr/>
        </p:nvSpPr>
        <p:spPr>
          <a:xfrm>
            <a:off x="5929882" y="2587752"/>
            <a:ext cx="274320" cy="310896"/>
          </a:xfrm>
          <a:prstGeom prst="chevron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37858" y="2011680"/>
            <a:ext cx="676656" cy="237744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900" b="0">
                <a:solidFill>
                  <a:srgbClr val="5B6372"/>
                </a:solidFill>
                <a:latin typeface="Arial"/>
              </a:rPr>
              <a:t>model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86499" y="2286000"/>
            <a:ext cx="2393441" cy="91440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108A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41363" y="2340864"/>
            <a:ext cx="2283713" cy="804672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200" b="1">
                <a:solidFill>
                  <a:srgbClr val="161B26"/>
                </a:solidFill>
                <a:latin typeface="Arial"/>
              </a:rPr>
              <a:t>Embed</a:t>
            </a:r>
          </a:p>
        </p:txBody>
      </p:sp>
      <p:sp>
        <p:nvSpPr>
          <p:cNvPr id="18" name="Chevron 17"/>
          <p:cNvSpPr/>
          <p:nvPr/>
        </p:nvSpPr>
        <p:spPr>
          <a:xfrm>
            <a:off x="8743948" y="2587752"/>
            <a:ext cx="274320" cy="310896"/>
          </a:xfrm>
          <a:prstGeom prst="chevron">
            <a:avLst/>
          </a:prstGeom>
          <a:solidFill>
            <a:srgbClr val="108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51924" y="2011680"/>
            <a:ext cx="676656" cy="237744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900" b="0">
                <a:solidFill>
                  <a:srgbClr val="5B6372"/>
                </a:solidFill>
                <a:latin typeface="Arial"/>
              </a:rPr>
              <a:t>index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100565" y="2286000"/>
            <a:ext cx="2393441" cy="91440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108A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55429" y="2340864"/>
            <a:ext cx="2283713" cy="804672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200" b="1">
                <a:solidFill>
                  <a:srgbClr val="161B26"/>
                </a:solidFill>
                <a:latin typeface="Arial"/>
              </a:rPr>
              <a:t>Store as vectors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" y="3474720"/>
            <a:ext cx="2651760" cy="292608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200" b="1">
                <a:solidFill>
                  <a:srgbClr val="16845B"/>
                </a:solidFill>
                <a:latin typeface="Arial"/>
              </a:rPr>
              <a:t>RETRIEVAL — every question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58368" y="3950208"/>
            <a:ext cx="1830628" cy="91440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1684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13232" y="4005072"/>
            <a:ext cx="1720900" cy="804672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200" b="1">
                <a:solidFill>
                  <a:srgbClr val="161B26"/>
                </a:solidFill>
                <a:latin typeface="Arial"/>
              </a:rPr>
              <a:t>Question</a:t>
            </a:r>
          </a:p>
        </p:txBody>
      </p:sp>
      <p:sp>
        <p:nvSpPr>
          <p:cNvPr id="25" name="Chevron 24"/>
          <p:cNvSpPr/>
          <p:nvPr/>
        </p:nvSpPr>
        <p:spPr>
          <a:xfrm>
            <a:off x="2553004" y="4251960"/>
            <a:ext cx="274320" cy="310896"/>
          </a:xfrm>
          <a:prstGeom prst="chevron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360980" y="3675888"/>
            <a:ext cx="676656" cy="237744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900" b="0">
                <a:solidFill>
                  <a:srgbClr val="5B6372"/>
                </a:solidFill>
                <a:latin typeface="Arial"/>
              </a:rPr>
              <a:t>same model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909620" y="3950208"/>
            <a:ext cx="1830628" cy="91440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108A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964484" y="4005072"/>
            <a:ext cx="1720900" cy="804672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200" b="1">
                <a:solidFill>
                  <a:srgbClr val="161B26"/>
                </a:solidFill>
                <a:latin typeface="Arial"/>
              </a:rPr>
              <a:t>Embed</a:t>
            </a:r>
          </a:p>
        </p:txBody>
      </p:sp>
      <p:sp>
        <p:nvSpPr>
          <p:cNvPr id="29" name="Chevron 28"/>
          <p:cNvSpPr/>
          <p:nvPr/>
        </p:nvSpPr>
        <p:spPr>
          <a:xfrm>
            <a:off x="4804256" y="4251960"/>
            <a:ext cx="274320" cy="310896"/>
          </a:xfrm>
          <a:prstGeom prst="chevron">
            <a:avLst/>
          </a:prstGeom>
          <a:solidFill>
            <a:srgbClr val="108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612232" y="3675888"/>
            <a:ext cx="676656" cy="237744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900" b="0">
                <a:solidFill>
                  <a:srgbClr val="5B6372"/>
                </a:solidFill>
                <a:latin typeface="Arial"/>
              </a:rPr>
              <a:t>similarity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160873" y="3950208"/>
            <a:ext cx="1830628" cy="91440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6D3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215737" y="4005072"/>
            <a:ext cx="1720900" cy="804672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200" b="1">
                <a:solidFill>
                  <a:srgbClr val="161B26"/>
                </a:solidFill>
                <a:latin typeface="Arial"/>
              </a:rPr>
              <a:t>Nearest top_k</a:t>
            </a:r>
          </a:p>
        </p:txBody>
      </p:sp>
      <p:sp>
        <p:nvSpPr>
          <p:cNvPr id="33" name="Chevron 32"/>
          <p:cNvSpPr/>
          <p:nvPr/>
        </p:nvSpPr>
        <p:spPr>
          <a:xfrm>
            <a:off x="7055509" y="4251960"/>
            <a:ext cx="274320" cy="310896"/>
          </a:xfrm>
          <a:prstGeom prst="chevron">
            <a:avLst/>
          </a:prstGeom>
          <a:solidFill>
            <a:srgbClr val="6D3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63485" y="3675888"/>
            <a:ext cx="676656" cy="237744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900" b="0">
                <a:solidFill>
                  <a:srgbClr val="5B6372"/>
                </a:solidFill>
                <a:latin typeface="Arial"/>
              </a:rPr>
              <a:t>context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412126" y="3950208"/>
            <a:ext cx="1830628" cy="91440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77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466990" y="4005072"/>
            <a:ext cx="1720900" cy="804672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200" b="1">
                <a:solidFill>
                  <a:srgbClr val="161B26"/>
                </a:solidFill>
                <a:latin typeface="Arial"/>
              </a:rPr>
              <a:t>Into the prompt</a:t>
            </a:r>
          </a:p>
        </p:txBody>
      </p:sp>
      <p:sp>
        <p:nvSpPr>
          <p:cNvPr id="37" name="Chevron 36"/>
          <p:cNvSpPr/>
          <p:nvPr/>
        </p:nvSpPr>
        <p:spPr>
          <a:xfrm>
            <a:off x="9306762" y="4251960"/>
            <a:ext cx="274320" cy="310896"/>
          </a:xfrm>
          <a:prstGeom prst="chevron">
            <a:avLst/>
          </a:prstGeom>
          <a:solidFill>
            <a:srgbClr val="C77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9663379" y="3950208"/>
            <a:ext cx="1830628" cy="91440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1684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718243" y="4005072"/>
            <a:ext cx="1720900" cy="804672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200" b="1">
                <a:solidFill>
                  <a:srgbClr val="161B26"/>
                </a:solidFill>
                <a:latin typeface="Arial"/>
              </a:rPr>
              <a:t>Answer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58368" y="5029200"/>
            <a:ext cx="2487168" cy="1143000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58368" y="5029200"/>
            <a:ext cx="82296" cy="1143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14400" y="5157216"/>
            <a:ext cx="2011680" cy="402336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300" b="1">
                <a:solidFill>
                  <a:srgbClr val="1F6FEB"/>
                </a:solidFill>
                <a:latin typeface="Arial"/>
              </a:rPr>
              <a:t>Chunk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14400" y="5632704"/>
            <a:ext cx="1993392" cy="411480"/>
          </a:xfrm>
          <a:prstGeom prst="rect">
            <a:avLst/>
          </a:prstGeom>
          <a:noFill/>
        </p:spPr>
        <p:txBody>
          <a:bodyPr wrap="square" anchor="t" lIns="73152" rIns="73152" tIns="73152" bIns="73152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How a document is split. Here: one brochure = one record.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3401568" y="5029200"/>
            <a:ext cx="2487168" cy="1143000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3401568" y="5029200"/>
            <a:ext cx="82296" cy="1143000"/>
          </a:xfrm>
          <a:prstGeom prst="rect">
            <a:avLst/>
          </a:prstGeom>
          <a:solidFill>
            <a:srgbClr val="108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657600" y="5157216"/>
            <a:ext cx="2011680" cy="402336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300" b="1">
                <a:solidFill>
                  <a:srgbClr val="108A73"/>
                </a:solidFill>
                <a:latin typeface="Arial"/>
              </a:rPr>
              <a:t>Embedding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657600" y="5632704"/>
            <a:ext cx="1993392" cy="411480"/>
          </a:xfrm>
          <a:prstGeom prst="rect">
            <a:avLst/>
          </a:prstGeom>
          <a:noFill/>
        </p:spPr>
        <p:txBody>
          <a:bodyPr wrap="square" anchor="t" lIns="73152" rIns="73152" tIns="73152" bIns="73152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Text as a list of numbers. llama-text-embed-v2, 1024 dimensions.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6144768" y="5029200"/>
            <a:ext cx="2487168" cy="1143000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6144768" y="5029200"/>
            <a:ext cx="82296" cy="1143000"/>
          </a:xfrm>
          <a:prstGeom prst="rect">
            <a:avLst/>
          </a:prstGeom>
          <a:solidFill>
            <a:srgbClr val="6D3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400800" y="5157216"/>
            <a:ext cx="2011680" cy="402336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300" b="1">
                <a:solidFill>
                  <a:srgbClr val="6D3FD2"/>
                </a:solidFill>
                <a:latin typeface="Arial"/>
              </a:rPr>
              <a:t>Similarity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400800" y="5632704"/>
            <a:ext cx="1993392" cy="411480"/>
          </a:xfrm>
          <a:prstGeom prst="rect">
            <a:avLst/>
          </a:prstGeom>
          <a:noFill/>
        </p:spPr>
        <p:txBody>
          <a:bodyPr wrap="square" anchor="t" lIns="73152" rIns="73152" tIns="73152" bIns="73152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Nearness of two vectors — the machine's idea of "related".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8887968" y="5029200"/>
            <a:ext cx="2487168" cy="1143000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8887968" y="5029200"/>
            <a:ext cx="82296" cy="1143000"/>
          </a:xfrm>
          <a:prstGeom prst="rect">
            <a:avLst/>
          </a:prstGeom>
          <a:solidFill>
            <a:srgbClr val="C77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9144000" y="5157216"/>
            <a:ext cx="2011680" cy="402336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300" b="1">
                <a:solidFill>
                  <a:srgbClr val="C77600"/>
                </a:solidFill>
                <a:latin typeface="Arial"/>
              </a:rPr>
              <a:t>top_k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144000" y="5632704"/>
            <a:ext cx="1993392" cy="411480"/>
          </a:xfrm>
          <a:prstGeom prst="rect">
            <a:avLst/>
          </a:prstGeom>
          <a:noFill/>
        </p:spPr>
        <p:txBody>
          <a:bodyPr wrap="square" anchor="t" lIns="73152" rIns="73152" tIns="73152" bIns="73152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How many documents come back. Here: 3.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Business Process Automation with Power Automate &amp; Copilot Studio Agents  ·  TGS-2022017524  ·  © 2026 Tertiary Infotech Academy Pte Ltd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52</a:t>
            </a:r>
          </a:p>
        </p:txBody>
      </p:sp>
    </p:spTree>
    <p:extLst>
      <p:ext uri="{BB962C8B-B14F-4D97-AF65-F5344CB8AC3E}">
        <p14:creationId xmlns:p14="http://schemas.microsoft.com/office/powerpoint/2010/main" val="1751461905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56032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MODULE 5 · CONCEPT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789920" cy="603504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Built-in Knowledge or Your Own Vector Store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3716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645920"/>
            <a:ext cx="10835640" cy="4572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45920"/>
            <a:ext cx="2843784" cy="45720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67912" y="1645920"/>
            <a:ext cx="3666744" cy="45720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LAB 9 — built-in knowledge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54112" y="1645920"/>
            <a:ext cx="3666744" cy="45720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LAB 10 — Pinecone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2103120"/>
            <a:ext cx="1083564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103120"/>
            <a:ext cx="2843784" cy="45720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100" b="1">
                <a:solidFill>
                  <a:srgbClr val="161B26"/>
                </a:solidFill>
                <a:latin typeface="Arial"/>
              </a:rPr>
              <a:t>Nodes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67912" y="2103120"/>
            <a:ext cx="3666744" cy="45720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100" b="0">
                <a:solidFill>
                  <a:srgbClr val="5B6372"/>
                </a:solidFill>
                <a:latin typeface="Arial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54112" y="2103120"/>
            <a:ext cx="3666744" cy="45720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100" b="0">
                <a:solidFill>
                  <a:srgbClr val="5B6372"/>
                </a:solidFill>
                <a:latin typeface="Arial"/>
              </a:rPr>
              <a:t>5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2560320"/>
            <a:ext cx="10835640" cy="457200"/>
          </a:xfrm>
          <a:prstGeom prst="rect">
            <a:avLst/>
          </a:prstGeom>
          <a:solidFill>
            <a:srgbClr val="F5F8FC"/>
          </a:solidFill>
          <a:ln w="9525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2560320"/>
            <a:ext cx="2843784" cy="45720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100" b="1">
                <a:solidFill>
                  <a:srgbClr val="161B26"/>
                </a:solidFill>
                <a:latin typeface="Arial"/>
              </a:rPr>
              <a:t>Ingestion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67912" y="2560320"/>
            <a:ext cx="3666744" cy="45720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100" b="0">
                <a:solidFill>
                  <a:srgbClr val="5B6372"/>
                </a:solidFill>
                <a:latin typeface="Arial"/>
              </a:rPr>
              <a:t>Upload to SharePoint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54112" y="2560320"/>
            <a:ext cx="3666744" cy="45720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100" b="0">
                <a:solidFill>
                  <a:srgbClr val="5B6372"/>
                </a:solidFill>
                <a:latin typeface="Arial"/>
              </a:rPr>
              <a:t>A Python script, run once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" y="3017520"/>
            <a:ext cx="1083564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3017520"/>
            <a:ext cx="2843784" cy="45720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100" b="1">
                <a:solidFill>
                  <a:srgbClr val="161B26"/>
                </a:solidFill>
                <a:latin typeface="Arial"/>
              </a:rPr>
              <a:t>Embedding model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67912" y="3017520"/>
            <a:ext cx="3666744" cy="45720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100" b="0">
                <a:solidFill>
                  <a:srgbClr val="5B6372"/>
                </a:solidFill>
                <a:latin typeface="Arial"/>
              </a:rPr>
              <a:t>Hidden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54112" y="3017520"/>
            <a:ext cx="3666744" cy="45720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100" b="0">
                <a:solidFill>
                  <a:srgbClr val="5B6372"/>
                </a:solidFill>
                <a:latin typeface="Arial"/>
              </a:rPr>
              <a:t>llama-text-embed-v2, 1024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8368" y="3474720"/>
            <a:ext cx="10835640" cy="457200"/>
          </a:xfrm>
          <a:prstGeom prst="rect">
            <a:avLst/>
          </a:prstGeom>
          <a:solidFill>
            <a:srgbClr val="F5F8FC"/>
          </a:solidFill>
          <a:ln w="9525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3474720"/>
            <a:ext cx="2843784" cy="45720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100" b="1">
                <a:solidFill>
                  <a:srgbClr val="161B26"/>
                </a:solidFill>
                <a:latin typeface="Arial"/>
              </a:rPr>
              <a:t>Chunking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867912" y="3474720"/>
            <a:ext cx="3666744" cy="45720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100" b="0">
                <a:solidFill>
                  <a:srgbClr val="5B6372"/>
                </a:solidFill>
                <a:latin typeface="Arial"/>
              </a:rPr>
              <a:t>Hidden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54112" y="3474720"/>
            <a:ext cx="3666744" cy="45720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100" b="0">
                <a:solidFill>
                  <a:srgbClr val="5B6372"/>
                </a:solidFill>
                <a:latin typeface="Arial"/>
              </a:rPr>
              <a:t>One brochure = one record — your call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58368" y="3931920"/>
            <a:ext cx="1083564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3931920"/>
            <a:ext cx="2843784" cy="45720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100" b="1">
                <a:solidFill>
                  <a:srgbClr val="161B26"/>
                </a:solidFill>
                <a:latin typeface="Arial"/>
              </a:rPr>
              <a:t>top_k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867912" y="3931920"/>
            <a:ext cx="3666744" cy="45720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100" b="0">
                <a:solidFill>
                  <a:srgbClr val="5B6372"/>
                </a:solidFill>
                <a:latin typeface="Arial"/>
              </a:rPr>
              <a:t>Hidden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54112" y="3931920"/>
            <a:ext cx="3666744" cy="45720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100" b="0">
                <a:solidFill>
                  <a:srgbClr val="5B6372"/>
                </a:solidFill>
                <a:latin typeface="Arial"/>
              </a:rPr>
              <a:t>3 — your call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58368" y="4389120"/>
            <a:ext cx="10835640" cy="457200"/>
          </a:xfrm>
          <a:prstGeom prst="rect">
            <a:avLst/>
          </a:prstGeom>
          <a:solidFill>
            <a:srgbClr val="F5F8FC"/>
          </a:solidFill>
          <a:ln w="9525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04672" y="4389120"/>
            <a:ext cx="2843784" cy="45720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100" b="1">
                <a:solidFill>
                  <a:srgbClr val="161B26"/>
                </a:solidFill>
                <a:latin typeface="Arial"/>
              </a:rPr>
              <a:t>Citation markers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867912" y="4389120"/>
            <a:ext cx="3666744" cy="45720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100" b="0">
                <a:solidFill>
                  <a:srgbClr val="5B6372"/>
                </a:solidFill>
                <a:latin typeface="Arial"/>
              </a:rPr>
              <a:t>Leak into the reply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54112" y="4389120"/>
            <a:ext cx="3666744" cy="45720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100" b="0">
                <a:solidFill>
                  <a:srgbClr val="5B6372"/>
                </a:solidFill>
                <a:latin typeface="Arial"/>
              </a:rPr>
              <a:t>None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58368" y="4846320"/>
            <a:ext cx="1083564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04672" y="4846320"/>
            <a:ext cx="2843784" cy="45720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100" b="1">
                <a:solidFill>
                  <a:srgbClr val="161B26"/>
                </a:solidFill>
                <a:latin typeface="Arial"/>
              </a:rPr>
              <a:t>A changed fee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867912" y="4846320"/>
            <a:ext cx="3666744" cy="45720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100" b="0">
                <a:solidFill>
                  <a:srgbClr val="5B6372"/>
                </a:solidFill>
                <a:latin typeface="Arial"/>
              </a:rPr>
              <a:t>Edit, wait for re-crawl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54112" y="4846320"/>
            <a:ext cx="3666744" cy="45720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100" b="0">
                <a:solidFill>
                  <a:srgbClr val="5B6372"/>
                </a:solidFill>
                <a:latin typeface="Arial"/>
              </a:rPr>
              <a:t>Edit, then re-ingest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58368" y="5303520"/>
            <a:ext cx="10835640" cy="457200"/>
          </a:xfrm>
          <a:prstGeom prst="rect">
            <a:avLst/>
          </a:prstGeom>
          <a:solidFill>
            <a:srgbClr val="F5F8FC"/>
          </a:solidFill>
          <a:ln w="9525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04672" y="5303520"/>
            <a:ext cx="2843784" cy="45720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100" b="1">
                <a:solidFill>
                  <a:srgbClr val="161B26"/>
                </a:solidFill>
                <a:latin typeface="Arial"/>
              </a:rPr>
              <a:t>When it answers badly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867912" y="5303520"/>
            <a:ext cx="3666744" cy="45720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100" b="0">
                <a:solidFill>
                  <a:srgbClr val="5B6372"/>
                </a:solidFill>
                <a:latin typeface="Arial"/>
              </a:rPr>
              <a:t>Rewrite the prompt and hope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754112" y="5303520"/>
            <a:ext cx="3666744" cy="45720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100" b="0">
                <a:solidFill>
                  <a:srgbClr val="5B6372"/>
                </a:solidFill>
                <a:latin typeface="Arial"/>
              </a:rPr>
              <a:t>Four levers to pull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58368" y="5687568"/>
            <a:ext cx="10835640" cy="566928"/>
          </a:xfrm>
          <a:prstGeom prst="roundRect">
            <a:avLst/>
          </a:prstGeom>
          <a:solidFill>
            <a:srgbClr val="F5F8FC"/>
          </a:solidFill>
          <a:ln w="20320">
            <a:solidFill>
              <a:srgbClr val="C77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14400" y="5687568"/>
            <a:ext cx="10332720" cy="566928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400" b="1">
                <a:solidFill>
                  <a:srgbClr val="161B26"/>
                </a:solidFill>
                <a:latin typeface="Arial"/>
              </a:rPr>
              <a:t>Neither is the right answer. Which is right depends on whether the person maintaining it will ever need those levers.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Business Process Automation with Power Automate &amp; Copilot Studio Agents  ·  TGS-2022017524  ·  © 2026 Tertiary Infotech Academy Pte Ltd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53</a:t>
            </a:r>
          </a:p>
        </p:txBody>
      </p:sp>
    </p:spTree>
    <p:extLst>
      <p:ext uri="{BB962C8B-B14F-4D97-AF65-F5344CB8AC3E}">
        <p14:creationId xmlns:p14="http://schemas.microsoft.com/office/powerpoint/2010/main" val="2361496135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56032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MODULE 5 · CONCEPT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789920" cy="603504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Probing for Invention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3716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1536192"/>
            <a:ext cx="10835640" cy="310896"/>
          </a:xfrm>
          <a:prstGeom prst="rect">
            <a:avLst/>
          </a:prstGeom>
          <a:noFill/>
        </p:spPr>
        <p:txBody>
          <a:bodyPr wrap="square" anchor="t" lIns="73152" rIns="73152" tIns="73152" bIns="73152">
            <a:spAutoFit/>
          </a:bodyPr>
          <a:lstStyle/>
          <a:p>
            <a:pPr algn="l"/>
            <a:r>
              <a:rPr sz="1400" b="0">
                <a:solidFill>
                  <a:srgbClr val="161B26"/>
                </a:solidFill>
                <a:latin typeface="Arial"/>
              </a:rPr>
              <a:t>A grounded agent still invents. You find out by asking for things that do not exist.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2011680"/>
            <a:ext cx="3392424" cy="237744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241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7824" y="2121408"/>
            <a:ext cx="2971800" cy="45720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300" b="1">
                <a:solidFill>
                  <a:srgbClr val="C2413A"/>
                </a:solidFill>
                <a:latin typeface="Arial"/>
              </a:rPr>
              <a:t>A course you do not run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7824" y="2633472"/>
            <a:ext cx="2971800" cy="731520"/>
          </a:xfrm>
          <a:prstGeom prst="rect">
            <a:avLst/>
          </a:prstGeom>
          <a:noFill/>
        </p:spPr>
        <p:txBody>
          <a:bodyPr wrap="square" anchor="t" lIns="73152" rIns="73152" tIns="73152" bIns="73152">
            <a:spAutoFit/>
          </a:bodyPr>
          <a:lstStyle/>
          <a:p>
            <a:pPr algn="l"/>
            <a:r>
              <a:rPr sz="1100" b="0">
                <a:solidFill>
                  <a:srgbClr val="161B26"/>
                </a:solidFill>
                <a:latin typeface="Arial"/>
              </a:rPr>
              <a:t>"Do you have a course on cake sculpture?"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7824" y="3429000"/>
            <a:ext cx="2971800" cy="822960"/>
          </a:xfrm>
          <a:prstGeom prst="rect">
            <a:avLst/>
          </a:prstGeom>
          <a:noFill/>
        </p:spPr>
        <p:txBody>
          <a:bodyPr wrap="square" anchor="t" lIns="73152" rIns="73152" tIns="73152" bIns="73152">
            <a:spAutoFit/>
          </a:bodyPr>
          <a:lstStyle/>
          <a:p>
            <a:pPr algn="l"/>
            <a:r>
              <a:rPr sz="1100" b="0">
                <a:solidFill>
                  <a:srgbClr val="5B6372"/>
                </a:solidFill>
                <a:latin typeface="Arial"/>
              </a:rPr>
              <a:t>It must say it does not — not improvise a syllabus.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06824" y="2011680"/>
            <a:ext cx="3392424" cy="237744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77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26280" y="2121408"/>
            <a:ext cx="2971800" cy="45720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300" b="1">
                <a:solidFill>
                  <a:srgbClr val="C77600"/>
                </a:solidFill>
                <a:latin typeface="Arial"/>
              </a:rPr>
              <a:t>A fact in no brochure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6280" y="2633472"/>
            <a:ext cx="2971800" cy="731520"/>
          </a:xfrm>
          <a:prstGeom prst="rect">
            <a:avLst/>
          </a:prstGeom>
          <a:noFill/>
        </p:spPr>
        <p:txBody>
          <a:bodyPr wrap="square" anchor="t" lIns="73152" rIns="73152" tIns="73152" bIns="73152">
            <a:spAutoFit/>
          </a:bodyPr>
          <a:lstStyle/>
          <a:p>
            <a:pPr algn="l"/>
            <a:r>
              <a:rPr sz="1100" b="0">
                <a:solidFill>
                  <a:srgbClr val="161B26"/>
                </a:solidFill>
                <a:latin typeface="Arial"/>
              </a:rPr>
              <a:t>"Is there parking at the east campus?"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26280" y="3429000"/>
            <a:ext cx="2971800" cy="822960"/>
          </a:xfrm>
          <a:prstGeom prst="rect">
            <a:avLst/>
          </a:prstGeom>
          <a:noFill/>
        </p:spPr>
        <p:txBody>
          <a:bodyPr wrap="square" anchor="t" lIns="73152" rIns="73152" tIns="73152" bIns="73152">
            <a:spAutoFit/>
          </a:bodyPr>
          <a:lstStyle/>
          <a:p>
            <a:pPr algn="l"/>
            <a:r>
              <a:rPr sz="1100" b="0">
                <a:solidFill>
                  <a:srgbClr val="5B6372"/>
                </a:solidFill>
                <a:latin typeface="Arial"/>
              </a:rPr>
              <a:t>It must say the brochures do not cover it.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55280" y="2011680"/>
            <a:ext cx="3392424" cy="237744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6D3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74736" y="2121408"/>
            <a:ext cx="2971800" cy="45720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300" b="1">
                <a:solidFill>
                  <a:srgbClr val="6D3FD2"/>
                </a:solidFill>
                <a:latin typeface="Arial"/>
              </a:rPr>
              <a:t>A discount that does not exist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74736" y="2633472"/>
            <a:ext cx="2971800" cy="731520"/>
          </a:xfrm>
          <a:prstGeom prst="rect">
            <a:avLst/>
          </a:prstGeom>
          <a:noFill/>
        </p:spPr>
        <p:txBody>
          <a:bodyPr wrap="square" anchor="t" lIns="73152" rIns="73152" tIns="73152" bIns="73152">
            <a:spAutoFit/>
          </a:bodyPr>
          <a:lstStyle/>
          <a:p>
            <a:pPr algn="l"/>
            <a:r>
              <a:rPr sz="1100" b="0">
                <a:solidFill>
                  <a:srgbClr val="161B26"/>
                </a:solidFill>
                <a:latin typeface="Arial"/>
              </a:rPr>
              <a:t>"What is the student discount?"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74736" y="3429000"/>
            <a:ext cx="2971800" cy="822960"/>
          </a:xfrm>
          <a:prstGeom prst="rect">
            <a:avLst/>
          </a:prstGeom>
          <a:noFill/>
        </p:spPr>
        <p:txBody>
          <a:bodyPr wrap="square" anchor="t" lIns="73152" rIns="73152" tIns="73152" bIns="73152">
            <a:spAutoFit/>
          </a:bodyPr>
          <a:lstStyle/>
          <a:p>
            <a:pPr algn="l"/>
            <a:r>
              <a:rPr sz="1100" b="0">
                <a:solidFill>
                  <a:srgbClr val="5B6372"/>
                </a:solidFill>
                <a:latin typeface="Arial"/>
              </a:rPr>
              <a:t>It must not invent a percentage to be helpful.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8368" y="4572000"/>
            <a:ext cx="10835640" cy="868680"/>
          </a:xfrm>
          <a:prstGeom prst="roundRect">
            <a:avLst/>
          </a:prstGeom>
          <a:solidFill>
            <a:srgbClr val="F5F8FC"/>
          </a:solidFill>
          <a:ln w="22860">
            <a:solidFill>
              <a:srgbClr val="C241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4626864"/>
            <a:ext cx="10332720" cy="27432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200" b="1">
                <a:solidFill>
                  <a:srgbClr val="C2413A"/>
                </a:solidFill>
                <a:latin typeface="Arial"/>
              </a:rPr>
              <a:t>A CONFIDENT WRONG ANSWER RAISES NO ERROR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4901184"/>
            <a:ext cx="10332720" cy="475488"/>
          </a:xfrm>
          <a:prstGeom prst="rect">
            <a:avLst/>
          </a:prstGeom>
          <a:noFill/>
        </p:spPr>
        <p:txBody>
          <a:bodyPr wrap="square" anchor="t" lIns="73152" rIns="73152" tIns="73152" bIns="73152">
            <a:spAutoFit/>
          </a:bodyPr>
          <a:lstStyle/>
          <a:p>
            <a:pPr algn="l"/>
            <a:r>
              <a:rPr sz="1200" b="0">
                <a:solidFill>
                  <a:srgbClr val="5B6372"/>
                </a:solidFill>
                <a:latin typeface="Arial"/>
              </a:rPr>
              <a:t>The run is green. The reply is fluent. Nothing in the run history is red. In every lab here the wrong answer looks exactly</a:t>
            </a:r>
          </a:p>
          <a:p>
            <a:pPr algn="l"/>
            <a:r>
              <a:rPr sz="1200" b="0">
                <a:solidFill>
                  <a:srgbClr val="5B6372"/>
                </a:solidFill>
                <a:latin typeface="Arial"/>
              </a:rPr>
              <a:t>like a right one — which is why the test tables include the probes they do.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5559552"/>
            <a:ext cx="10835640" cy="7132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1684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41248" y="5687568"/>
            <a:ext cx="1051560" cy="457200"/>
          </a:xfrm>
          <a:prstGeom prst="round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41248" y="5687568"/>
            <a:ext cx="1051560" cy="45720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LAB 9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057400" y="5577840"/>
            <a:ext cx="9235440" cy="329184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400" b="1">
                <a:solidFill>
                  <a:srgbClr val="161B26"/>
                </a:solidFill>
                <a:latin typeface="Arial"/>
              </a:rPr>
              <a:t>Lab 9 — RAG with Knowledge Base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057400" y="5907024"/>
            <a:ext cx="9235440" cy="310896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100" b="0">
                <a:solidFill>
                  <a:srgbClr val="5B6372"/>
                </a:solidFill>
                <a:latin typeface="Arial"/>
              </a:rPr>
              <a:t>Cook &amp; Bake Academy, built-in knowledge  ·  Copilot Studio Knowledge + SharePoint  ·  40 min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Business Process Automation with Power Automate &amp; Copilot Studio Agents  ·  TGS-2022017524  ·  © 2026 Tertiary Infotech Academy Pte Ltd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54</a:t>
            </a:r>
          </a:p>
        </p:txBody>
      </p:sp>
    </p:spTree>
    <p:extLst>
      <p:ext uri="{BB962C8B-B14F-4D97-AF65-F5344CB8AC3E}">
        <p14:creationId xmlns:p14="http://schemas.microsoft.com/office/powerpoint/2010/main" val="1029975955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56032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MODULE 5 · LAB WORKFLOW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789920" cy="603504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Lab 9 — RAG with Built-in Knowledge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3716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1517904"/>
            <a:ext cx="10835640" cy="310896"/>
          </a:xfrm>
          <a:prstGeom prst="rect">
            <a:avLst/>
          </a:prstGeom>
          <a:noFill/>
        </p:spPr>
        <p:txBody>
          <a:bodyPr wrap="square" anchor="t" lIns="73152" rIns="73152" tIns="73152" bIns="73152">
            <a:spAutoFit/>
          </a:bodyPr>
          <a:lstStyle/>
          <a:p>
            <a:pPr algn="l"/>
            <a:r>
              <a:rPr sz="1300" b="0">
                <a:solidFill>
                  <a:srgbClr val="5B6372"/>
                </a:solidFill>
                <a:latin typeface="Arial"/>
              </a:rPr>
              <a:t>RAG as a product setting — three nodes, no ingestion, and nothing you can inspect.</a:t>
            </a:r>
          </a:p>
        </p:txBody>
      </p:sp>
      <p:pic>
        <p:nvPicPr>
          <p:cNvPr id="7" name="Picture 6" descr="flowch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2522573"/>
            <a:ext cx="10972800" cy="2142038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658368" y="5559552"/>
            <a:ext cx="10835640" cy="7132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1684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41248" y="5687568"/>
            <a:ext cx="1051560" cy="457200"/>
          </a:xfrm>
          <a:prstGeom prst="round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" y="5687568"/>
            <a:ext cx="1051560" cy="45720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LAB 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57400" y="5577840"/>
            <a:ext cx="9235440" cy="329184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400" b="1">
                <a:solidFill>
                  <a:srgbClr val="161B26"/>
                </a:solidFill>
                <a:latin typeface="Arial"/>
              </a:rPr>
              <a:t>Lab 9 — RAG with Knowledge Base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57400" y="5907024"/>
            <a:ext cx="9235440" cy="310896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100" b="0">
                <a:solidFill>
                  <a:srgbClr val="5B6372"/>
                </a:solidFill>
                <a:latin typeface="Arial"/>
              </a:rPr>
              <a:t>Cook &amp; Bake Academy, built-in knowledge  ·  Copilot Studio Knowledge + SharePoint  ·  40 min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Business Process Automation with Power Automate &amp; Copilot Studio Agents  ·  TGS-2022017524  ·  © 2026 Tertiary Infotech Academy Pte Ltd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55</a:t>
            </a:r>
          </a:p>
        </p:txBody>
      </p:sp>
    </p:spTree>
    <p:extLst>
      <p:ext uri="{BB962C8B-B14F-4D97-AF65-F5344CB8AC3E}">
        <p14:creationId xmlns:p14="http://schemas.microsoft.com/office/powerpoint/2010/main" val="3008258654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56032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MODULE 5 · LAB WORKFLOW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789920" cy="603504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Lab 10 — RAG with Pinecone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3716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1517904"/>
            <a:ext cx="10835640" cy="310896"/>
          </a:xfrm>
          <a:prstGeom prst="rect">
            <a:avLst/>
          </a:prstGeom>
          <a:noFill/>
        </p:spPr>
        <p:txBody>
          <a:bodyPr wrap="square" anchor="t" lIns="73152" rIns="73152" tIns="73152" bIns="73152">
            <a:spAutoFit/>
          </a:bodyPr>
          <a:lstStyle/>
          <a:p>
            <a:pPr algn="l"/>
            <a:r>
              <a:rPr sz="1300" b="0">
                <a:solidFill>
                  <a:srgbClr val="5B6372"/>
                </a:solidFill>
                <a:latin typeface="Arial"/>
              </a:rPr>
              <a:t>What the convenience cost — chunking, embeddings, dimension and top_k, back in your hands.</a:t>
            </a:r>
          </a:p>
        </p:txBody>
      </p:sp>
      <p:pic>
        <p:nvPicPr>
          <p:cNvPr id="7" name="Picture 6" descr="flowch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2711970"/>
            <a:ext cx="10972800" cy="1763243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658368" y="5559552"/>
            <a:ext cx="10835640" cy="7132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1684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41248" y="5687568"/>
            <a:ext cx="1051560" cy="457200"/>
          </a:xfrm>
          <a:prstGeom prst="round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" y="5687568"/>
            <a:ext cx="1051560" cy="45720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LAB 10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57400" y="5577840"/>
            <a:ext cx="9235440" cy="329184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400" b="1">
                <a:solidFill>
                  <a:srgbClr val="161B26"/>
                </a:solidFill>
                <a:latin typeface="Arial"/>
              </a:rPr>
              <a:t>Lab 10 — RAG with Pinecone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57400" y="5907024"/>
            <a:ext cx="9235440" cy="310896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100" b="0">
                <a:solidFill>
                  <a:srgbClr val="5B6372"/>
                </a:solidFill>
                <a:latin typeface="Arial"/>
              </a:rPr>
              <a:t>The same chatbot, with the levers back  ·  Copilot Studio + Power Automate + Pinecone  ·  40 min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Business Process Automation with Power Automate &amp; Copilot Studio Agents  ·  TGS-2022017524  ·  © 2026 Tertiary Infotech Academy Pte Ltd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56</a:t>
            </a:r>
          </a:p>
        </p:txBody>
      </p:sp>
    </p:spTree>
    <p:extLst>
      <p:ext uri="{BB962C8B-B14F-4D97-AF65-F5344CB8AC3E}">
        <p14:creationId xmlns:p14="http://schemas.microsoft.com/office/powerpoint/2010/main" val="3947509645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658368" y="1737360"/>
            <a:ext cx="10835640" cy="3291840"/>
          </a:xfrm>
          <a:prstGeom prst="roundRect">
            <a:avLst/>
          </a:prstGeom>
          <a:solidFill>
            <a:srgbClr val="F5F8FC"/>
          </a:solidFill>
          <a:ln w="25400">
            <a:solidFill>
              <a:srgbClr val="6D3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58368" y="1737360"/>
            <a:ext cx="128016" cy="3291840"/>
          </a:xfrm>
          <a:prstGeom prst="rect">
            <a:avLst/>
          </a:prstGeom>
          <a:solidFill>
            <a:srgbClr val="6D3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2148840"/>
            <a:ext cx="9875520" cy="36576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500" b="1">
                <a:solidFill>
                  <a:srgbClr val="6D3FD2"/>
                </a:solidFill>
                <a:latin typeface="Arial"/>
              </a:rPr>
              <a:t>SYNTHESIS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2606040"/>
            <a:ext cx="9875520" cy="86868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3400" b="1">
                <a:solidFill>
                  <a:srgbClr val="161B26"/>
                </a:solidFill>
                <a:latin typeface="Arial"/>
              </a:rPr>
              <a:t>Taking This Back to Work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3611880"/>
            <a:ext cx="9875520" cy="1005840"/>
          </a:xfrm>
          <a:prstGeom prst="rect">
            <a:avLst/>
          </a:prstGeom>
          <a:noFill/>
        </p:spPr>
        <p:txBody>
          <a:bodyPr wrap="square" anchor="t" lIns="73152" rIns="73152" tIns="73152" bIns="73152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B6372"/>
                </a:solidFill>
                <a:latin typeface="Arial"/>
              </a:rPr>
              <a:t>Choosing the pattern  ·  the pre-production checklist  ·  the six sentences worth keeping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Business Process Automation with Power Automate &amp; Copilot Studio Agents  ·  TGS-2022017524  ·  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57</a:t>
            </a:r>
          </a:p>
        </p:txBody>
      </p:sp>
    </p:spTree>
    <p:extLst>
      <p:ext uri="{BB962C8B-B14F-4D97-AF65-F5344CB8AC3E}">
        <p14:creationId xmlns:p14="http://schemas.microsoft.com/office/powerpoint/2010/main" val="2536611153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56032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SYNTHESIS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789920" cy="603504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Choosing the Right Pattern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3716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1536192"/>
            <a:ext cx="10835640" cy="310896"/>
          </a:xfrm>
          <a:prstGeom prst="rect">
            <a:avLst/>
          </a:prstGeom>
          <a:noFill/>
        </p:spPr>
        <p:txBody>
          <a:bodyPr wrap="square" anchor="t" lIns="73152" rIns="73152" tIns="73152" bIns="73152">
            <a:spAutoFit/>
          </a:bodyPr>
          <a:lstStyle/>
          <a:p>
            <a:pPr algn="l"/>
            <a:r>
              <a:rPr sz="1400" b="0">
                <a:solidFill>
                  <a:srgbClr val="161B26"/>
                </a:solidFill>
                <a:latin typeface="Arial"/>
              </a:rPr>
              <a:t>Back at work, this is the decision you will actually make.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965960"/>
            <a:ext cx="10835640" cy="4572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1965960"/>
            <a:ext cx="4261104" cy="45720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Arial"/>
              </a:rPr>
              <a:t>If the situation is…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85232" y="1965960"/>
            <a:ext cx="3621024" cy="45720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Arial"/>
              </a:rPr>
              <a:t>…build this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25712" y="1965960"/>
            <a:ext cx="2295144" cy="45720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Arial"/>
              </a:rPr>
              <a:t>Seen in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2423160"/>
            <a:ext cx="10835640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2" y="2423160"/>
            <a:ext cx="4261104" cy="603504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200" b="0">
                <a:solidFill>
                  <a:srgbClr val="5B6372"/>
                </a:solidFill>
                <a:latin typeface="Arial"/>
              </a:rPr>
              <a:t>The rule is written down and never varies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85232" y="2423160"/>
            <a:ext cx="3621024" cy="603504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200" b="1">
                <a:solidFill>
                  <a:srgbClr val="16845B"/>
                </a:solidFill>
                <a:latin typeface="Arial"/>
              </a:rPr>
              <a:t>Workflow only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25712" y="2423160"/>
            <a:ext cx="2295144" cy="603504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Labs 1–3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3026664"/>
            <a:ext cx="10835640" cy="603504"/>
          </a:xfrm>
          <a:prstGeom prst="rect">
            <a:avLst/>
          </a:prstGeom>
          <a:solidFill>
            <a:srgbClr val="F5F8FC"/>
          </a:solidFill>
          <a:ln w="9525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672" y="3026664"/>
            <a:ext cx="4261104" cy="603504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200" b="0">
                <a:solidFill>
                  <a:srgbClr val="5B6372"/>
                </a:solidFill>
                <a:latin typeface="Arial"/>
              </a:rPr>
              <a:t>The rule varies, but the outcome is high-stakes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85232" y="3026664"/>
            <a:ext cx="3621024" cy="603504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200" b="1">
                <a:solidFill>
                  <a:srgbClr val="C2413A"/>
                </a:solidFill>
                <a:latin typeface="Arial"/>
              </a:rPr>
              <a:t>Agent decides, flow enforces, human approves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25712" y="3026664"/>
            <a:ext cx="2295144" cy="603504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Labs 6, 8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" y="3630168"/>
            <a:ext cx="10835640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4672" y="3630168"/>
            <a:ext cx="4261104" cy="603504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200" b="0">
                <a:solidFill>
                  <a:srgbClr val="5B6372"/>
                </a:solidFill>
                <a:latin typeface="Arial"/>
              </a:rPr>
              <a:t>The input is language, the output is an answer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85232" y="3630168"/>
            <a:ext cx="3621024" cy="603504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200" b="1">
                <a:solidFill>
                  <a:srgbClr val="6D3FD2"/>
                </a:solidFill>
                <a:latin typeface="Arial"/>
              </a:rPr>
              <a:t>Agent grounded in your documents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25712" y="3630168"/>
            <a:ext cx="2295144" cy="603504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Labs 7, 9, 10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8368" y="4233672"/>
            <a:ext cx="10835640" cy="603504"/>
          </a:xfrm>
          <a:prstGeom prst="rect">
            <a:avLst/>
          </a:prstGeom>
          <a:solidFill>
            <a:srgbClr val="F5F8FC"/>
          </a:solidFill>
          <a:ln w="9525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4672" y="4233672"/>
            <a:ext cx="4261104" cy="603504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200" b="0">
                <a:solidFill>
                  <a:srgbClr val="5B6372"/>
                </a:solidFill>
                <a:latin typeface="Arial"/>
              </a:rPr>
              <a:t>Several audiences, different things they may know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85232" y="4233672"/>
            <a:ext cx="3621024" cy="603504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200" b="1">
                <a:solidFill>
                  <a:srgbClr val="108A73"/>
                </a:solidFill>
                <a:latin typeface="Arial"/>
              </a:rPr>
              <a:t>Connected agents, one per boundary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25712" y="4233672"/>
            <a:ext cx="2295144" cy="603504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Lab 4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58368" y="4837176"/>
            <a:ext cx="10835640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04672" y="4837176"/>
            <a:ext cx="4261104" cy="603504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200" b="0">
                <a:solidFill>
                  <a:srgbClr val="5B6372"/>
                </a:solidFill>
                <a:latin typeface="Arial"/>
              </a:rPr>
              <a:t>The answer must be traceable to a source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285232" y="4837176"/>
            <a:ext cx="3621024" cy="603504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200" b="1">
                <a:solidFill>
                  <a:srgbClr val="C77600"/>
                </a:solidFill>
                <a:latin typeface="Arial"/>
              </a:rPr>
              <a:t>RAG, and turn general knowledge off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25712" y="4837176"/>
            <a:ext cx="2295144" cy="603504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Labs 9, 10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8368" y="5577840"/>
            <a:ext cx="10835640" cy="566928"/>
          </a:xfrm>
          <a:prstGeom prst="roundRect">
            <a:avLst/>
          </a:prstGeom>
          <a:solidFill>
            <a:srgbClr val="F5F8FC"/>
          </a:solidFill>
          <a:ln w="20320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14400" y="5577840"/>
            <a:ext cx="10332720" cy="566928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400" b="1">
                <a:solidFill>
                  <a:srgbClr val="161B26"/>
                </a:solidFill>
                <a:latin typeface="Arial"/>
              </a:rPr>
              <a:t>Ask who pays for the mistake. That answer sizes the agent's authority and places the human.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Business Process Automation with Power Automate &amp; Copilot Studio Agents  ·  TGS-2022017524  ·  © 2026 Tertiary Infotech Academy Pte Ltd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58</a:t>
            </a:r>
          </a:p>
        </p:txBody>
      </p:sp>
    </p:spTree>
    <p:extLst>
      <p:ext uri="{BB962C8B-B14F-4D97-AF65-F5344CB8AC3E}">
        <p14:creationId xmlns:p14="http://schemas.microsoft.com/office/powerpoint/2010/main" val="139799701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56032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SYNTHESIS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789920" cy="603504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Before Anything Reaches Production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3716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691640"/>
            <a:ext cx="3392424" cy="1719072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691640"/>
            <a:ext cx="82296" cy="171907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874520"/>
            <a:ext cx="420624" cy="42062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1874520"/>
            <a:ext cx="420624" cy="420624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819656"/>
            <a:ext cx="2441448" cy="402336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400" b="1">
                <a:solidFill>
                  <a:srgbClr val="1F6FEB"/>
                </a:solidFill>
                <a:latin typeface="Arial"/>
              </a:rPr>
              <a:t>Environment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295144"/>
            <a:ext cx="2898648" cy="987552"/>
          </a:xfrm>
          <a:prstGeom prst="rect">
            <a:avLst/>
          </a:prstGeom>
          <a:noFill/>
        </p:spPr>
        <p:txBody>
          <a:bodyPr wrap="square" anchor="t" lIns="73152" rIns="73152" tIns="73152" bIns="73152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Correct environment selected in BOTH products; Copilot Credits confirmed.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06824" y="1691640"/>
            <a:ext cx="3392424" cy="1719072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06824" y="1691640"/>
            <a:ext cx="82296" cy="1719072"/>
          </a:xfrm>
          <a:prstGeom prst="rect">
            <a:avLst/>
          </a:prstGeom>
          <a:solidFill>
            <a:srgbClr val="C24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526280" y="1874520"/>
            <a:ext cx="420624" cy="420624"/>
          </a:xfrm>
          <a:prstGeom prst="ellipse">
            <a:avLst/>
          </a:prstGeom>
          <a:solidFill>
            <a:srgbClr val="C24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26280" y="1874520"/>
            <a:ext cx="420624" cy="420624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56632" y="1819656"/>
            <a:ext cx="2441448" cy="402336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400" b="1">
                <a:solidFill>
                  <a:srgbClr val="C2413A"/>
                </a:solidFill>
                <a:latin typeface="Arial"/>
              </a:rPr>
              <a:t>Data path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62856" y="2295144"/>
            <a:ext cx="2898648" cy="987552"/>
          </a:xfrm>
          <a:prstGeom prst="rect">
            <a:avLst/>
          </a:prstGeom>
          <a:noFill/>
        </p:spPr>
        <p:txBody>
          <a:bodyPr wrap="square" anchor="t" lIns="73152" rIns="73152" tIns="73152" bIns="73152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No model output writes to a system of record without a deterministic action in between.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955280" y="1691640"/>
            <a:ext cx="3392424" cy="1719072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955280" y="1691640"/>
            <a:ext cx="82296" cy="1719072"/>
          </a:xfrm>
          <a:prstGeom prst="rect">
            <a:avLst/>
          </a:prstGeom>
          <a:solidFill>
            <a:srgbClr val="6D3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174736" y="1874520"/>
            <a:ext cx="420624" cy="420624"/>
          </a:xfrm>
          <a:prstGeom prst="ellipse">
            <a:avLst/>
          </a:prstGeom>
          <a:solidFill>
            <a:srgbClr val="6D3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174736" y="1874520"/>
            <a:ext cx="420624" cy="420624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705088" y="1819656"/>
            <a:ext cx="2441448" cy="402336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400" b="1">
                <a:solidFill>
                  <a:srgbClr val="6D3FD2"/>
                </a:solidFill>
                <a:latin typeface="Arial"/>
              </a:rPr>
              <a:t>Refusals tested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11312" y="2295144"/>
            <a:ext cx="2898648" cy="987552"/>
          </a:xfrm>
          <a:prstGeom prst="rect">
            <a:avLst/>
          </a:prstGeom>
          <a:noFill/>
        </p:spPr>
        <p:txBody>
          <a:bodyPr wrap="square" anchor="t" lIns="73152" rIns="73152" tIns="73152" bIns="73152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Every prohibition has a probe that tries to break it, and the probe is in the test set.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58368" y="3566160"/>
            <a:ext cx="3392424" cy="1719072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58368" y="3566160"/>
            <a:ext cx="82296" cy="1719072"/>
          </a:xfrm>
          <a:prstGeom prst="rect">
            <a:avLst/>
          </a:prstGeom>
          <a:solidFill>
            <a:srgbClr val="C77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77824" y="3749040"/>
            <a:ext cx="420624" cy="420624"/>
          </a:xfrm>
          <a:prstGeom prst="ellipse">
            <a:avLst/>
          </a:prstGeom>
          <a:solidFill>
            <a:srgbClr val="C77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77824" y="3749040"/>
            <a:ext cx="420624" cy="420624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08176" y="3694176"/>
            <a:ext cx="2441448" cy="402336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400" b="1">
                <a:solidFill>
                  <a:srgbClr val="C77600"/>
                </a:solidFill>
                <a:latin typeface="Arial"/>
              </a:rPr>
              <a:t>Human placed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4169664"/>
            <a:ext cx="2898648" cy="987552"/>
          </a:xfrm>
          <a:prstGeom prst="rect">
            <a:avLst/>
          </a:prstGeom>
          <a:noFill/>
        </p:spPr>
        <p:txBody>
          <a:bodyPr wrap="square" anchor="t" lIns="73152" rIns="73152" tIns="73152" bIns="73152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Consequential paths end at a named person, not at a queue nobody watches.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06824" y="3566160"/>
            <a:ext cx="3392424" cy="1719072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306824" y="3566160"/>
            <a:ext cx="82296" cy="1719072"/>
          </a:xfrm>
          <a:prstGeom prst="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4526280" y="3749040"/>
            <a:ext cx="420624" cy="420624"/>
          </a:xfrm>
          <a:prstGeom prst="ellipse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526280" y="3749040"/>
            <a:ext cx="420624" cy="420624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56632" y="3694176"/>
            <a:ext cx="2441448" cy="402336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400" b="1">
                <a:solidFill>
                  <a:srgbClr val="16845B"/>
                </a:solidFill>
                <a:latin typeface="Arial"/>
              </a:rPr>
              <a:t>Audit before the gate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62856" y="4169664"/>
            <a:ext cx="2898648" cy="987552"/>
          </a:xfrm>
          <a:prstGeom prst="rect">
            <a:avLst/>
          </a:prstGeom>
          <a:noFill/>
        </p:spPr>
        <p:txBody>
          <a:bodyPr wrap="square" anchor="t" lIns="73152" rIns="73152" tIns="73152" bIns="73152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The audit row is written before the approval, so rejected cases still leave a trace.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955280" y="3566160"/>
            <a:ext cx="3392424" cy="1719072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955280" y="3566160"/>
            <a:ext cx="82296" cy="1719072"/>
          </a:xfrm>
          <a:prstGeom prst="rect">
            <a:avLst/>
          </a:prstGeom>
          <a:solidFill>
            <a:srgbClr val="108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8174736" y="3749040"/>
            <a:ext cx="420624" cy="420624"/>
          </a:xfrm>
          <a:prstGeom prst="ellipse">
            <a:avLst/>
          </a:prstGeom>
          <a:solidFill>
            <a:srgbClr val="108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174736" y="3749040"/>
            <a:ext cx="420624" cy="420624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705088" y="3694176"/>
            <a:ext cx="2441448" cy="402336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400" b="1">
                <a:solidFill>
                  <a:srgbClr val="108A73"/>
                </a:solidFill>
                <a:latin typeface="Arial"/>
              </a:rPr>
              <a:t>Sources closed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211312" y="4169664"/>
            <a:ext cx="2898648" cy="987552"/>
          </a:xfrm>
          <a:prstGeom prst="rect">
            <a:avLst/>
          </a:prstGeom>
          <a:noFill/>
        </p:spPr>
        <p:txBody>
          <a:bodyPr wrap="square" anchor="t" lIns="73152" rIns="73152" tIns="73152" bIns="73152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General knowledge off, "Search all websites" removed, knowledge status Ready.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58368" y="5532120"/>
            <a:ext cx="10835640" cy="566928"/>
          </a:xfrm>
          <a:prstGeom prst="roundRect">
            <a:avLst/>
          </a:prstGeom>
          <a:solidFill>
            <a:srgbClr val="F5F8FC"/>
          </a:solidFill>
          <a:ln w="20320">
            <a:solidFill>
              <a:srgbClr val="C241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14400" y="5532120"/>
            <a:ext cx="10332720" cy="566928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400" b="1">
                <a:solidFill>
                  <a:srgbClr val="161B26"/>
                </a:solidFill>
                <a:latin typeface="Arial"/>
              </a:rPr>
              <a:t>A green run is not a correct run, and a fluent answer is not a true one. Verify both before anyone depends on it.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Business Process Automation with Power Automate &amp; Copilot Studio Agents  ·  TGS-2022017524  ·  © 2026 Tertiary Infotech Academy Pte Ltd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59</a:t>
            </a:r>
          </a:p>
        </p:txBody>
      </p:sp>
    </p:spTree>
    <p:extLst>
      <p:ext uri="{BB962C8B-B14F-4D97-AF65-F5344CB8AC3E}">
        <p14:creationId xmlns:p14="http://schemas.microsoft.com/office/powerpoint/2010/main" val="2707578365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47472"/>
            <a:ext cx="10789920" cy="256032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CONTROLLED RELEASE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789920" cy="566928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Lab 6 — Publish and Verify in Teams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3716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828800"/>
            <a:ext cx="3383280" cy="3977639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828800"/>
            <a:ext cx="82296" cy="3977639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59536" y="2029968"/>
            <a:ext cx="457200" cy="457200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536" y="2029968"/>
            <a:ext cx="457200" cy="45720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26464" y="1975104"/>
            <a:ext cx="2423160" cy="41148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700" b="1">
                <a:solidFill>
                  <a:srgbClr val="1F6FEB"/>
                </a:solidFill>
                <a:latin typeface="Arial"/>
              </a:rPr>
              <a:t>Source test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68880"/>
            <a:ext cx="2907792" cy="3227831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400" b="0">
                <a:solidFill>
                  <a:srgbClr val="5B6372"/>
                </a:solidFill>
                <a:latin typeface="Arial"/>
              </a:rPr>
              <a:t>Confirm the response is traceable to the SharePoint policy.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15968" y="1828800"/>
            <a:ext cx="3383280" cy="3977639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15968" y="1828800"/>
            <a:ext cx="82296" cy="3977639"/>
          </a:xfrm>
          <a:prstGeom prst="rect">
            <a:avLst/>
          </a:prstGeom>
          <a:solidFill>
            <a:srgbClr val="C241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517136" y="2029968"/>
            <a:ext cx="457200" cy="457200"/>
          </a:xfrm>
          <a:prstGeom prst="ellipse">
            <a:avLst/>
          </a:prstGeom>
          <a:solidFill>
            <a:srgbClr val="C241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17136" y="2029968"/>
            <a:ext cx="457200" cy="45720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84064" y="1975104"/>
            <a:ext cx="2423160" cy="41148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700" b="1">
                <a:solidFill>
                  <a:srgbClr val="C2413A"/>
                </a:solidFill>
                <a:latin typeface="Arial"/>
              </a:rPr>
              <a:t>Boundary test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2468880"/>
            <a:ext cx="2907792" cy="3227831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400" b="0">
                <a:solidFill>
                  <a:srgbClr val="5B6372"/>
                </a:solidFill>
                <a:latin typeface="Arial"/>
              </a:rPr>
              <a:t>Ask for another employee's record and verify refusal.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973568" y="1828800"/>
            <a:ext cx="3383280" cy="3977639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973568" y="1828800"/>
            <a:ext cx="82296" cy="3977639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174736" y="2029968"/>
            <a:ext cx="457200" cy="457200"/>
          </a:xfrm>
          <a:prstGeom prst="ellipse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174736" y="2029968"/>
            <a:ext cx="457200" cy="45720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741664" y="1975104"/>
            <a:ext cx="2423160" cy="41148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700" b="1">
                <a:solidFill>
                  <a:srgbClr val="108A73"/>
                </a:solidFill>
                <a:latin typeface="Arial"/>
              </a:rPr>
              <a:t>Channel test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0" y="2468880"/>
            <a:ext cx="2907792" cy="3227831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400" b="0">
                <a:solidFill>
                  <a:srgbClr val="5B6372"/>
                </a:solidFill>
                <a:latin typeface="Arial"/>
              </a:rPr>
              <a:t>Publish the current version and verify Teams behaviour.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6492240"/>
            <a:ext cx="10835640" cy="18288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Business Process Automation with Power Automate and Copilot Studio Agents   |   63</a:t>
            </a:r>
          </a:p>
        </p:txBody>
      </p:sp>
    </p:spTree>
    <p:extLst>
      <p:ext uri="{BB962C8B-B14F-4D97-AF65-F5344CB8AC3E}">
        <p14:creationId xmlns:p14="http://schemas.microsoft.com/office/powerpoint/2010/main" val="2712798787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47472"/>
            <a:ext cx="10789920" cy="256032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EXECUTE AGENT AND WAIT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789920" cy="566928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Power Automate Can Execute a Published Agent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3716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874519"/>
            <a:ext cx="1830628" cy="1325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947672"/>
            <a:ext cx="1684324" cy="1179576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300" b="1">
                <a:solidFill>
                  <a:srgbClr val="161B26"/>
                </a:solidFill>
                <a:latin typeface="Arial"/>
              </a:rPr>
              <a:t>Flow receives input</a:t>
            </a:r>
          </a:p>
        </p:txBody>
      </p:sp>
      <p:sp>
        <p:nvSpPr>
          <p:cNvPr id="8" name="Chevron 7"/>
          <p:cNvSpPr/>
          <p:nvPr/>
        </p:nvSpPr>
        <p:spPr>
          <a:xfrm>
            <a:off x="2543860" y="2382012"/>
            <a:ext cx="274320" cy="310896"/>
          </a:xfrm>
          <a:prstGeom prst="chevron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909620" y="1874519"/>
            <a:ext cx="1830628" cy="1325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82772" y="1947672"/>
            <a:ext cx="1684324" cy="1179576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300" b="1">
                <a:solidFill>
                  <a:srgbClr val="161B26"/>
                </a:solidFill>
                <a:latin typeface="Arial"/>
              </a:rPr>
              <a:t>Select published agent</a:t>
            </a:r>
          </a:p>
        </p:txBody>
      </p:sp>
      <p:sp>
        <p:nvSpPr>
          <p:cNvPr id="11" name="Chevron 10"/>
          <p:cNvSpPr/>
          <p:nvPr/>
        </p:nvSpPr>
        <p:spPr>
          <a:xfrm>
            <a:off x="4795112" y="2382012"/>
            <a:ext cx="274320" cy="310896"/>
          </a:xfrm>
          <a:prstGeom prst="chevron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160873" y="1874519"/>
            <a:ext cx="1830628" cy="1325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234025" y="1947672"/>
            <a:ext cx="1684324" cy="1179576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300" b="1">
                <a:solidFill>
                  <a:srgbClr val="161B26"/>
                </a:solidFill>
                <a:latin typeface="Arial"/>
              </a:rPr>
              <a:t>Send message</a:t>
            </a:r>
          </a:p>
        </p:txBody>
      </p:sp>
      <p:sp>
        <p:nvSpPr>
          <p:cNvPr id="14" name="Chevron 13"/>
          <p:cNvSpPr/>
          <p:nvPr/>
        </p:nvSpPr>
        <p:spPr>
          <a:xfrm>
            <a:off x="7046365" y="2382012"/>
            <a:ext cx="274320" cy="310896"/>
          </a:xfrm>
          <a:prstGeom prst="chevron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7412126" y="1874519"/>
            <a:ext cx="1830628" cy="1325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85278" y="1947672"/>
            <a:ext cx="1684324" cy="1179576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300" b="1">
                <a:solidFill>
                  <a:srgbClr val="161B26"/>
                </a:solidFill>
                <a:latin typeface="Arial"/>
              </a:rPr>
              <a:t>Wait for reply</a:t>
            </a:r>
          </a:p>
        </p:txBody>
      </p:sp>
      <p:sp>
        <p:nvSpPr>
          <p:cNvPr id="17" name="Chevron 16"/>
          <p:cNvSpPr/>
          <p:nvPr/>
        </p:nvSpPr>
        <p:spPr>
          <a:xfrm>
            <a:off x="9297618" y="2382012"/>
            <a:ext cx="274320" cy="310896"/>
          </a:xfrm>
          <a:prstGeom prst="chevron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663379" y="1874519"/>
            <a:ext cx="1830628" cy="1325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736531" y="1947672"/>
            <a:ext cx="1684324" cy="1179576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300" b="1">
                <a:solidFill>
                  <a:srgbClr val="161B26"/>
                </a:solidFill>
                <a:latin typeface="Arial"/>
              </a:rPr>
              <a:t>Use output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51560" y="3977639"/>
            <a:ext cx="10058400" cy="1417320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051560" y="3977639"/>
            <a:ext cx="82296" cy="141732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07592" y="4123943"/>
            <a:ext cx="9582912" cy="41148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700" b="1">
                <a:solidFill>
                  <a:srgbClr val="1F6FEB"/>
                </a:solidFill>
                <a:latin typeface="Arial"/>
              </a:rPr>
              <a:t>Teaching point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07592" y="4617719"/>
            <a:ext cx="9582912" cy="667512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500" b="0">
                <a:solidFill>
                  <a:srgbClr val="5B6372"/>
                </a:solidFill>
                <a:latin typeface="Arial"/>
              </a:rPr>
              <a:t>The flow remains the process controller while the specialised agent handles grounded interpretation.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6492240"/>
            <a:ext cx="10835640" cy="18288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Business Process Automation with Power Automate and Copilot Studio Agents   |   64</a:t>
            </a:r>
          </a:p>
        </p:txBody>
      </p:sp>
    </p:spTree>
    <p:extLst>
      <p:ext uri="{BB962C8B-B14F-4D97-AF65-F5344CB8AC3E}">
        <p14:creationId xmlns:p14="http://schemas.microsoft.com/office/powerpoint/2010/main" val="2243843196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47472"/>
            <a:ext cx="10789920" cy="256032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DECISION PATTERN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789920" cy="566928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Route to the Specialist with the Right Knowledge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3716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828800"/>
            <a:ext cx="3383280" cy="3977639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828800"/>
            <a:ext cx="82296" cy="3977639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59536" y="2029968"/>
            <a:ext cx="457200" cy="457200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536" y="2029968"/>
            <a:ext cx="457200" cy="45720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26464" y="1975104"/>
            <a:ext cx="2423160" cy="41148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700" b="1">
                <a:solidFill>
                  <a:srgbClr val="1F6FEB"/>
                </a:solidFill>
                <a:latin typeface="Arial"/>
              </a:rPr>
              <a:t>Classify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68880"/>
            <a:ext cx="2907792" cy="3227831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400" b="0">
                <a:solidFill>
                  <a:srgbClr val="5B6372"/>
                </a:solidFill>
                <a:latin typeface="Arial"/>
              </a:rPr>
              <a:t>Use the submitted Support Type choice.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15968" y="1828800"/>
            <a:ext cx="3383280" cy="3977639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15968" y="1828800"/>
            <a:ext cx="82296" cy="3977639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517136" y="2029968"/>
            <a:ext cx="457200" cy="457200"/>
          </a:xfrm>
          <a:prstGeom prst="ellipse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17136" y="2029968"/>
            <a:ext cx="457200" cy="45720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84064" y="1975104"/>
            <a:ext cx="2423160" cy="41148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700" b="1">
                <a:solidFill>
                  <a:srgbClr val="108A73"/>
                </a:solidFill>
                <a:latin typeface="Arial"/>
              </a:rPr>
              <a:t>Invoke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2468880"/>
            <a:ext cx="2907792" cy="3227831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400" b="0">
                <a:solidFill>
                  <a:srgbClr val="5B6372"/>
                </a:solidFill>
                <a:latin typeface="Arial"/>
              </a:rPr>
              <a:t>Call only the IT or HR agent selected by the condition.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973568" y="1828800"/>
            <a:ext cx="3383280" cy="3977639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973568" y="1828800"/>
            <a:ext cx="82296" cy="3977639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174736" y="2029968"/>
            <a:ext cx="457200" cy="457200"/>
          </a:xfrm>
          <a:prstGeom prst="ellipse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174736" y="2029968"/>
            <a:ext cx="457200" cy="45720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741664" y="1975104"/>
            <a:ext cx="2423160" cy="41148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700" b="1">
                <a:solidFill>
                  <a:srgbClr val="6D3FD2"/>
                </a:solidFill>
                <a:latin typeface="Arial"/>
              </a:rPr>
              <a:t>Return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0" y="2468880"/>
            <a:ext cx="2907792" cy="3227831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400" b="0">
                <a:solidFill>
                  <a:srgbClr val="5B6372"/>
                </a:solidFill>
                <a:latin typeface="Arial"/>
              </a:rPr>
              <a:t>Email only the reply produced by the chosen branch.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6492240"/>
            <a:ext cx="10835640" cy="18288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Business Process Automation with Power Automate and Copilot Studio Agents   |   65</a:t>
            </a:r>
          </a:p>
        </p:txBody>
      </p:sp>
    </p:spTree>
    <p:extLst>
      <p:ext uri="{BB962C8B-B14F-4D97-AF65-F5344CB8AC3E}">
        <p14:creationId xmlns:p14="http://schemas.microsoft.com/office/powerpoint/2010/main" val="2734189858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47472"/>
            <a:ext cx="10789920" cy="256032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SHARED WORKFLOW VISUAL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789920" cy="566928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Lab 7 — Support Request Routing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3716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20040" y="1572768"/>
            <a:ext cx="11548872" cy="45720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6587" y="2955687"/>
            <a:ext cx="11018520" cy="14861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14400" y="5852160"/>
            <a:ext cx="10332720" cy="256032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100" b="0">
                <a:solidFill>
                  <a:srgbClr val="5B6372"/>
                </a:solidFill>
                <a:latin typeface="Arial"/>
              </a:rPr>
              <a:t>Shared workflow visual — follow the arrows from the trigger through actions to the expected outcome.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6492240"/>
            <a:ext cx="10835640" cy="18288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Business Process Automation with Power Automate and Copilot Studio Agents   |   66</a:t>
            </a:r>
          </a:p>
        </p:txBody>
      </p:sp>
    </p:spTree>
    <p:extLst>
      <p:ext uri="{BB962C8B-B14F-4D97-AF65-F5344CB8AC3E}">
        <p14:creationId xmlns:p14="http://schemas.microsoft.com/office/powerpoint/2010/main" val="1750854078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47472"/>
            <a:ext cx="10789920" cy="256032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ONE FRONT DOOR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789920" cy="566928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Lab 7 — Build the Support Request Form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3716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874519"/>
            <a:ext cx="2393441" cy="1325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947672"/>
            <a:ext cx="2247137" cy="1179576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300" b="1">
                <a:solidFill>
                  <a:srgbClr val="161B26"/>
                </a:solidFill>
                <a:latin typeface="Arial"/>
              </a:rPr>
              <a:t>Name</a:t>
            </a:r>
          </a:p>
        </p:txBody>
      </p:sp>
      <p:sp>
        <p:nvSpPr>
          <p:cNvPr id="8" name="Chevron 7"/>
          <p:cNvSpPr/>
          <p:nvPr/>
        </p:nvSpPr>
        <p:spPr>
          <a:xfrm>
            <a:off x="3106674" y="2382012"/>
            <a:ext cx="274320" cy="310896"/>
          </a:xfrm>
          <a:prstGeom prst="chevron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472433" y="1874519"/>
            <a:ext cx="2393441" cy="1325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45585" y="1947672"/>
            <a:ext cx="2247137" cy="1179576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300" b="1">
                <a:solidFill>
                  <a:srgbClr val="161B26"/>
                </a:solidFill>
                <a:latin typeface="Arial"/>
              </a:rPr>
              <a:t>Email</a:t>
            </a:r>
          </a:p>
        </p:txBody>
      </p:sp>
      <p:sp>
        <p:nvSpPr>
          <p:cNvPr id="11" name="Chevron 10"/>
          <p:cNvSpPr/>
          <p:nvPr/>
        </p:nvSpPr>
        <p:spPr>
          <a:xfrm>
            <a:off x="5920739" y="2382012"/>
            <a:ext cx="274320" cy="310896"/>
          </a:xfrm>
          <a:prstGeom prst="chevron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286499" y="1874519"/>
            <a:ext cx="2393441" cy="1325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59651" y="1947672"/>
            <a:ext cx="2247137" cy="1179576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300" b="1">
                <a:solidFill>
                  <a:srgbClr val="161B26"/>
                </a:solidFill>
                <a:latin typeface="Arial"/>
              </a:rPr>
              <a:t>Support Type</a:t>
            </a:r>
          </a:p>
        </p:txBody>
      </p:sp>
      <p:sp>
        <p:nvSpPr>
          <p:cNvPr id="14" name="Chevron 13"/>
          <p:cNvSpPr/>
          <p:nvPr/>
        </p:nvSpPr>
        <p:spPr>
          <a:xfrm>
            <a:off x="8734805" y="2382012"/>
            <a:ext cx="274320" cy="310896"/>
          </a:xfrm>
          <a:prstGeom prst="chevron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9100565" y="1874519"/>
            <a:ext cx="2393441" cy="1325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73717" y="1947672"/>
            <a:ext cx="2247137" cy="1179576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300" b="1">
                <a:solidFill>
                  <a:srgbClr val="161B26"/>
                </a:solidFill>
                <a:latin typeface="Arial"/>
              </a:rPr>
              <a:t>Message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1560" y="3977639"/>
            <a:ext cx="10058400" cy="1417320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051560" y="3977639"/>
            <a:ext cx="82296" cy="141732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07592" y="4123943"/>
            <a:ext cx="9582912" cy="41148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700" b="1">
                <a:solidFill>
                  <a:srgbClr val="1F6FEB"/>
                </a:solidFill>
                <a:latin typeface="Arial"/>
              </a:rPr>
              <a:t>Teaching point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07592" y="4617719"/>
            <a:ext cx="9582912" cy="667512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500" b="0">
                <a:solidFill>
                  <a:srgbClr val="5B6372"/>
                </a:solidFill>
                <a:latin typeface="Arial"/>
              </a:rPr>
              <a:t>A controlled IT Support / HR Support choice makes the routing rule deterministic.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6492240"/>
            <a:ext cx="10835640" cy="18288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Business Process Automation with Power Automate and Copilot Studio Agents   |   67</a:t>
            </a:r>
          </a:p>
        </p:txBody>
      </p:sp>
    </p:spTree>
    <p:extLst>
      <p:ext uri="{BB962C8B-B14F-4D97-AF65-F5344CB8AC3E}">
        <p14:creationId xmlns:p14="http://schemas.microsoft.com/office/powerpoint/2010/main" val="1750854078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47472"/>
            <a:ext cx="10789920" cy="256032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BRANCH ISOLATION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789920" cy="566928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Lab 7 — Execute Only the Selected Agent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3716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874519"/>
            <a:ext cx="2393441" cy="1325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947672"/>
            <a:ext cx="2247137" cy="1179576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300" b="1">
                <a:solidFill>
                  <a:srgbClr val="161B26"/>
                </a:solidFill>
                <a:latin typeface="Arial"/>
              </a:rPr>
              <a:t>Read Support Type</a:t>
            </a:r>
          </a:p>
        </p:txBody>
      </p:sp>
      <p:sp>
        <p:nvSpPr>
          <p:cNvPr id="8" name="Chevron 7"/>
          <p:cNvSpPr/>
          <p:nvPr/>
        </p:nvSpPr>
        <p:spPr>
          <a:xfrm>
            <a:off x="3106674" y="2382012"/>
            <a:ext cx="274320" cy="310896"/>
          </a:xfrm>
          <a:prstGeom prst="chevron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472433" y="1874519"/>
            <a:ext cx="2393441" cy="1325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45585" y="1947672"/>
            <a:ext cx="2247137" cy="1179576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300" b="1">
                <a:solidFill>
                  <a:srgbClr val="161B26"/>
                </a:solidFill>
                <a:latin typeface="Arial"/>
              </a:rPr>
              <a:t>Run one agent</a:t>
            </a:r>
          </a:p>
        </p:txBody>
      </p:sp>
      <p:sp>
        <p:nvSpPr>
          <p:cNvPr id="11" name="Chevron 10"/>
          <p:cNvSpPr/>
          <p:nvPr/>
        </p:nvSpPr>
        <p:spPr>
          <a:xfrm>
            <a:off x="5920739" y="2382012"/>
            <a:ext cx="274320" cy="310896"/>
          </a:xfrm>
          <a:prstGeom prst="chevron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286499" y="1874519"/>
            <a:ext cx="2393441" cy="1325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59651" y="1947672"/>
            <a:ext cx="2247137" cy="1179576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300" b="1">
                <a:solidFill>
                  <a:srgbClr val="161B26"/>
                </a:solidFill>
                <a:latin typeface="Arial"/>
              </a:rPr>
              <a:t>Capture its reply</a:t>
            </a:r>
          </a:p>
        </p:txBody>
      </p:sp>
      <p:sp>
        <p:nvSpPr>
          <p:cNvPr id="14" name="Chevron 13"/>
          <p:cNvSpPr/>
          <p:nvPr/>
        </p:nvSpPr>
        <p:spPr>
          <a:xfrm>
            <a:off x="8734805" y="2382012"/>
            <a:ext cx="274320" cy="310896"/>
          </a:xfrm>
          <a:prstGeom prst="chevron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9100565" y="1874519"/>
            <a:ext cx="2393441" cy="1325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73717" y="1947672"/>
            <a:ext cx="2247137" cy="1179576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300" b="1">
                <a:solidFill>
                  <a:srgbClr val="161B26"/>
                </a:solidFill>
                <a:latin typeface="Arial"/>
              </a:rPr>
              <a:t>Skip other branch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1560" y="3977639"/>
            <a:ext cx="10058400" cy="1417320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051560" y="3977639"/>
            <a:ext cx="82296" cy="141732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07592" y="4123943"/>
            <a:ext cx="9582912" cy="41148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700" b="1">
                <a:solidFill>
                  <a:srgbClr val="1F6FEB"/>
                </a:solidFill>
                <a:latin typeface="Arial"/>
              </a:rPr>
              <a:t>Teaching point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07592" y="4617719"/>
            <a:ext cx="9582912" cy="667512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500" b="0">
                <a:solidFill>
                  <a:srgbClr val="5B6372"/>
                </a:solidFill>
                <a:latin typeface="Arial"/>
              </a:rPr>
              <a:t>One submission should create one agent execution and one user email—not two.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6492240"/>
            <a:ext cx="10835640" cy="18288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Business Process Automation with Power Automate and Copilot Studio Agents   |   68</a:t>
            </a:r>
          </a:p>
        </p:txBody>
      </p:sp>
    </p:spTree>
    <p:extLst>
      <p:ext uri="{BB962C8B-B14F-4D97-AF65-F5344CB8AC3E}">
        <p14:creationId xmlns:p14="http://schemas.microsoft.com/office/powerpoint/2010/main" val="1750854078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47472"/>
            <a:ext cx="10789920" cy="256032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EVIDENCE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789920" cy="566928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Lab 7 — Test the Complete Routing Matrix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3716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828800"/>
            <a:ext cx="3383280" cy="3977639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828800"/>
            <a:ext cx="82296" cy="3977639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59536" y="2029968"/>
            <a:ext cx="457200" cy="457200"/>
          </a:xfrm>
          <a:prstGeom prst="ellipse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536" y="2029968"/>
            <a:ext cx="457200" cy="45720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26464" y="1975104"/>
            <a:ext cx="2423160" cy="41148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700" b="1">
                <a:solidFill>
                  <a:srgbClr val="16845B"/>
                </a:solidFill>
                <a:latin typeface="Arial"/>
              </a:rPr>
              <a:t>IT test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68880"/>
            <a:ext cx="2907792" cy="3227831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400" b="0">
                <a:solidFill>
                  <a:srgbClr val="5B6372"/>
                </a:solidFill>
                <a:latin typeface="Arial"/>
              </a:rPr>
              <a:t>IT question → IT agent → IT-grounded email.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15968" y="1828800"/>
            <a:ext cx="3383280" cy="3977639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15968" y="1828800"/>
            <a:ext cx="82296" cy="3977639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517136" y="2029968"/>
            <a:ext cx="457200" cy="457200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17136" y="2029968"/>
            <a:ext cx="457200" cy="45720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84064" y="1975104"/>
            <a:ext cx="2423160" cy="41148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700" b="1">
                <a:solidFill>
                  <a:srgbClr val="1F6FEB"/>
                </a:solidFill>
                <a:latin typeface="Arial"/>
              </a:rPr>
              <a:t>HR test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2468880"/>
            <a:ext cx="2907792" cy="3227831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400" b="0">
                <a:solidFill>
                  <a:srgbClr val="5B6372"/>
                </a:solidFill>
                <a:latin typeface="Arial"/>
              </a:rPr>
              <a:t>HR question → HR agent → HR-grounded email.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973568" y="1828800"/>
            <a:ext cx="3383280" cy="3977639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973568" y="1828800"/>
            <a:ext cx="82296" cy="3977639"/>
          </a:xfrm>
          <a:prstGeom prst="rect">
            <a:avLst/>
          </a:prstGeom>
          <a:solidFill>
            <a:srgbClr val="C241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174736" y="2029968"/>
            <a:ext cx="457200" cy="457200"/>
          </a:xfrm>
          <a:prstGeom prst="ellipse">
            <a:avLst/>
          </a:prstGeom>
          <a:solidFill>
            <a:srgbClr val="C241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174736" y="2029968"/>
            <a:ext cx="457200" cy="45720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741664" y="1975104"/>
            <a:ext cx="2423160" cy="41148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700" b="1">
                <a:solidFill>
                  <a:srgbClr val="C2413A"/>
                </a:solidFill>
                <a:latin typeface="Arial"/>
              </a:rPr>
              <a:t>Fallback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0" y="2468880"/>
            <a:ext cx="2907792" cy="3227831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400" b="0">
                <a:solidFill>
                  <a:srgbClr val="5B6372"/>
                </a:solidFill>
                <a:latin typeface="Arial"/>
              </a:rPr>
              <a:t>Invalid or unsafe requests receive a bounded response.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6492240"/>
            <a:ext cx="10835640" cy="18288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Business Process Automation with Power Automate and Copilot Studio Agents   |   69</a:t>
            </a:r>
          </a:p>
        </p:txBody>
      </p:sp>
    </p:spTree>
    <p:extLst>
      <p:ext uri="{BB962C8B-B14F-4D97-AF65-F5344CB8AC3E}">
        <p14:creationId xmlns:p14="http://schemas.microsoft.com/office/powerpoint/2010/main" val="1750854078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47472"/>
            <a:ext cx="10789920" cy="256032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COURSE JOURNEY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789920" cy="566928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Day 2 — HTTP, Webhooks and Agent Websites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3716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737360"/>
            <a:ext cx="10515600" cy="64008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3400" b="1">
                <a:solidFill>
                  <a:srgbClr val="1F6FEB"/>
                </a:solidFill>
                <a:latin typeface="Arial"/>
              </a:rPr>
              <a:t>DAY 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2788920"/>
            <a:ext cx="1830628" cy="13716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862072"/>
            <a:ext cx="1684324" cy="1225296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300" b="1">
                <a:solidFill>
                  <a:srgbClr val="161B26"/>
                </a:solidFill>
                <a:latin typeface="Arial"/>
              </a:rPr>
              <a:t>HTTP request</a:t>
            </a:r>
          </a:p>
        </p:txBody>
      </p:sp>
      <p:sp>
        <p:nvSpPr>
          <p:cNvPr id="9" name="Chevron 8"/>
          <p:cNvSpPr/>
          <p:nvPr/>
        </p:nvSpPr>
        <p:spPr>
          <a:xfrm>
            <a:off x="2543860" y="3319272"/>
            <a:ext cx="274320" cy="310896"/>
          </a:xfrm>
          <a:prstGeom prst="chevron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909620" y="2788920"/>
            <a:ext cx="1830628" cy="13716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982772" y="2862072"/>
            <a:ext cx="1684324" cy="1225296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300" b="1">
                <a:solidFill>
                  <a:srgbClr val="161B26"/>
                </a:solidFill>
                <a:latin typeface="Arial"/>
              </a:rPr>
              <a:t>Webhook</a:t>
            </a:r>
          </a:p>
        </p:txBody>
      </p:sp>
      <p:sp>
        <p:nvSpPr>
          <p:cNvPr id="12" name="Chevron 11"/>
          <p:cNvSpPr/>
          <p:nvPr/>
        </p:nvSpPr>
        <p:spPr>
          <a:xfrm>
            <a:off x="4795112" y="3319272"/>
            <a:ext cx="274320" cy="310896"/>
          </a:xfrm>
          <a:prstGeom prst="chevron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160873" y="2788920"/>
            <a:ext cx="1830628" cy="13716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234025" y="2862072"/>
            <a:ext cx="1684324" cy="1225296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300" b="1">
                <a:solidFill>
                  <a:srgbClr val="161B26"/>
                </a:solidFill>
                <a:latin typeface="Arial"/>
              </a:rPr>
              <a:t>JSON</a:t>
            </a:r>
          </a:p>
        </p:txBody>
      </p:sp>
      <p:sp>
        <p:nvSpPr>
          <p:cNvPr id="15" name="Chevron 14"/>
          <p:cNvSpPr/>
          <p:nvPr/>
        </p:nvSpPr>
        <p:spPr>
          <a:xfrm>
            <a:off x="7046365" y="3319272"/>
            <a:ext cx="274320" cy="310896"/>
          </a:xfrm>
          <a:prstGeom prst="chevron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7412126" y="2788920"/>
            <a:ext cx="1830628" cy="13716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85278" y="2862072"/>
            <a:ext cx="1684324" cy="1225296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300" b="1">
                <a:solidFill>
                  <a:srgbClr val="161B26"/>
                </a:solidFill>
                <a:latin typeface="Arial"/>
              </a:rPr>
              <a:t>Agent execution</a:t>
            </a:r>
          </a:p>
        </p:txBody>
      </p:sp>
      <p:sp>
        <p:nvSpPr>
          <p:cNvPr id="18" name="Chevron 17"/>
          <p:cNvSpPr/>
          <p:nvPr/>
        </p:nvSpPr>
        <p:spPr>
          <a:xfrm>
            <a:off x="9297618" y="3319272"/>
            <a:ext cx="274320" cy="310896"/>
          </a:xfrm>
          <a:prstGeom prst="chevron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9663379" y="2788920"/>
            <a:ext cx="1830628" cy="13716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736531" y="2862072"/>
            <a:ext cx="1684324" cy="1225296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300" b="1">
                <a:solidFill>
                  <a:srgbClr val="161B26"/>
                </a:solidFill>
                <a:latin typeface="Arial"/>
              </a:rPr>
              <a:t>Market tools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5840" y="4800600"/>
            <a:ext cx="10149840" cy="73152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800" b="0">
                <a:solidFill>
                  <a:srgbClr val="5B6372"/>
                </a:solidFill>
                <a:latin typeface="Arial"/>
              </a:rPr>
              <a:t>Learn the web integration contract before connecting websites and finance agents.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" y="6492240"/>
            <a:ext cx="10835640" cy="18288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Business Process Automation with Power Automate and Copilot Studio Agents   |   70</a:t>
            </a:r>
          </a:p>
        </p:txBody>
      </p:sp>
    </p:spTree>
    <p:extLst>
      <p:ext uri="{BB962C8B-B14F-4D97-AF65-F5344CB8AC3E}">
        <p14:creationId xmlns:p14="http://schemas.microsoft.com/office/powerpoint/2010/main" val="1113679174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47472"/>
            <a:ext cx="10789920" cy="256032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WEB FOUNDATIONS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789920" cy="566928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An HTTP Request Is a Message Between Systems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3716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874519"/>
            <a:ext cx="1830628" cy="1325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947672"/>
            <a:ext cx="1684324" cy="1179576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300" b="1">
                <a:solidFill>
                  <a:srgbClr val="161B26"/>
                </a:solidFill>
                <a:latin typeface="Arial"/>
              </a:rPr>
              <a:t>Client</a:t>
            </a:r>
          </a:p>
        </p:txBody>
      </p:sp>
      <p:sp>
        <p:nvSpPr>
          <p:cNvPr id="8" name="Chevron 7"/>
          <p:cNvSpPr/>
          <p:nvPr/>
        </p:nvSpPr>
        <p:spPr>
          <a:xfrm>
            <a:off x="2543860" y="2382012"/>
            <a:ext cx="274320" cy="310896"/>
          </a:xfrm>
          <a:prstGeom prst="chevron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909620" y="1874519"/>
            <a:ext cx="1830628" cy="1325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82772" y="1947672"/>
            <a:ext cx="1684324" cy="1179576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300" b="1">
                <a:solidFill>
                  <a:srgbClr val="161B26"/>
                </a:solidFill>
                <a:latin typeface="Arial"/>
              </a:rPr>
              <a:t>Method + URL</a:t>
            </a:r>
          </a:p>
        </p:txBody>
      </p:sp>
      <p:sp>
        <p:nvSpPr>
          <p:cNvPr id="11" name="Chevron 10"/>
          <p:cNvSpPr/>
          <p:nvPr/>
        </p:nvSpPr>
        <p:spPr>
          <a:xfrm>
            <a:off x="4795112" y="2382012"/>
            <a:ext cx="274320" cy="310896"/>
          </a:xfrm>
          <a:prstGeom prst="chevron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160873" y="1874519"/>
            <a:ext cx="1830628" cy="1325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234025" y="1947672"/>
            <a:ext cx="1684324" cy="1179576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300" b="1">
                <a:solidFill>
                  <a:srgbClr val="161B26"/>
                </a:solidFill>
                <a:latin typeface="Arial"/>
              </a:rPr>
              <a:t>Headers + body</a:t>
            </a:r>
          </a:p>
        </p:txBody>
      </p:sp>
      <p:sp>
        <p:nvSpPr>
          <p:cNvPr id="14" name="Chevron 13"/>
          <p:cNvSpPr/>
          <p:nvPr/>
        </p:nvSpPr>
        <p:spPr>
          <a:xfrm>
            <a:off x="7046365" y="2382012"/>
            <a:ext cx="274320" cy="310896"/>
          </a:xfrm>
          <a:prstGeom prst="chevron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7412126" y="1874519"/>
            <a:ext cx="1830628" cy="1325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85278" y="1947672"/>
            <a:ext cx="1684324" cy="1179576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300" b="1">
                <a:solidFill>
                  <a:srgbClr val="161B26"/>
                </a:solidFill>
                <a:latin typeface="Arial"/>
              </a:rPr>
              <a:t>Server action</a:t>
            </a:r>
          </a:p>
        </p:txBody>
      </p:sp>
      <p:sp>
        <p:nvSpPr>
          <p:cNvPr id="17" name="Chevron 16"/>
          <p:cNvSpPr/>
          <p:nvPr/>
        </p:nvSpPr>
        <p:spPr>
          <a:xfrm>
            <a:off x="9297618" y="2382012"/>
            <a:ext cx="274320" cy="310896"/>
          </a:xfrm>
          <a:prstGeom prst="chevron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663379" y="1874519"/>
            <a:ext cx="1830628" cy="1325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736531" y="1947672"/>
            <a:ext cx="1684324" cy="1179576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300" b="1">
                <a:solidFill>
                  <a:srgbClr val="161B26"/>
                </a:solidFill>
                <a:latin typeface="Arial"/>
              </a:rPr>
              <a:t>Response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51560" y="3977639"/>
            <a:ext cx="10058400" cy="1417320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051560" y="3977639"/>
            <a:ext cx="82296" cy="141732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07592" y="4123943"/>
            <a:ext cx="9582912" cy="41148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700" b="1">
                <a:solidFill>
                  <a:srgbClr val="1F6FEB"/>
                </a:solidFill>
                <a:latin typeface="Arial"/>
              </a:rPr>
              <a:t>Teaching point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07592" y="4617719"/>
            <a:ext cx="9582912" cy="667512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500" b="0">
                <a:solidFill>
                  <a:srgbClr val="5B6372"/>
                </a:solidFill>
                <a:latin typeface="Arial"/>
              </a:rPr>
              <a:t>The course websites act as clients; Power Automate receives the request and returns a bounded response.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6492240"/>
            <a:ext cx="10835640" cy="18288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Business Process Automation with Power Automate and Copilot Studio Agents   |   71</a:t>
            </a:r>
          </a:p>
        </p:txBody>
      </p:sp>
    </p:spTree>
    <p:extLst>
      <p:ext uri="{BB962C8B-B14F-4D97-AF65-F5344CB8AC3E}">
        <p14:creationId xmlns:p14="http://schemas.microsoft.com/office/powerpoint/2010/main" val="3368437237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47472"/>
            <a:ext cx="10789920" cy="256032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PUSH INTEGRATION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789920" cy="566928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A Webhook Is an Event-Receiving HTTP Endpoint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3716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874519"/>
            <a:ext cx="1830628" cy="1325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947672"/>
            <a:ext cx="1684324" cy="1179576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300" b="1">
                <a:solidFill>
                  <a:srgbClr val="161B26"/>
                </a:solidFill>
                <a:latin typeface="Arial"/>
              </a:rPr>
              <a:t>Event occurs</a:t>
            </a:r>
          </a:p>
        </p:txBody>
      </p:sp>
      <p:sp>
        <p:nvSpPr>
          <p:cNvPr id="8" name="Chevron 7"/>
          <p:cNvSpPr/>
          <p:nvPr/>
        </p:nvSpPr>
        <p:spPr>
          <a:xfrm>
            <a:off x="2543860" y="2382012"/>
            <a:ext cx="274320" cy="310896"/>
          </a:xfrm>
          <a:prstGeom prst="chevron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909620" y="1874519"/>
            <a:ext cx="1830628" cy="1325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82772" y="1947672"/>
            <a:ext cx="1684324" cy="1179576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300" b="1">
                <a:solidFill>
                  <a:srgbClr val="161B26"/>
                </a:solidFill>
                <a:latin typeface="Arial"/>
              </a:rPr>
              <a:t>Client POSTs</a:t>
            </a:r>
          </a:p>
        </p:txBody>
      </p:sp>
      <p:sp>
        <p:nvSpPr>
          <p:cNvPr id="11" name="Chevron 10"/>
          <p:cNvSpPr/>
          <p:nvPr/>
        </p:nvSpPr>
        <p:spPr>
          <a:xfrm>
            <a:off x="4795112" y="2382012"/>
            <a:ext cx="274320" cy="310896"/>
          </a:xfrm>
          <a:prstGeom prst="chevron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160873" y="1874519"/>
            <a:ext cx="1830628" cy="1325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234025" y="1947672"/>
            <a:ext cx="1684324" cy="1179576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300" b="1">
                <a:solidFill>
                  <a:srgbClr val="161B26"/>
                </a:solidFill>
                <a:latin typeface="Arial"/>
              </a:rPr>
              <a:t>Webhook receives</a:t>
            </a:r>
          </a:p>
        </p:txBody>
      </p:sp>
      <p:sp>
        <p:nvSpPr>
          <p:cNvPr id="14" name="Chevron 13"/>
          <p:cNvSpPr/>
          <p:nvPr/>
        </p:nvSpPr>
        <p:spPr>
          <a:xfrm>
            <a:off x="7046365" y="2382012"/>
            <a:ext cx="274320" cy="310896"/>
          </a:xfrm>
          <a:prstGeom prst="chevron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7412126" y="1874519"/>
            <a:ext cx="1830628" cy="1325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85278" y="1947672"/>
            <a:ext cx="1684324" cy="1179576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300" b="1">
                <a:solidFill>
                  <a:srgbClr val="161B26"/>
                </a:solidFill>
                <a:latin typeface="Arial"/>
              </a:rPr>
              <a:t>Flow runs</a:t>
            </a:r>
          </a:p>
        </p:txBody>
      </p:sp>
      <p:sp>
        <p:nvSpPr>
          <p:cNvPr id="17" name="Chevron 16"/>
          <p:cNvSpPr/>
          <p:nvPr/>
        </p:nvSpPr>
        <p:spPr>
          <a:xfrm>
            <a:off x="9297618" y="2382012"/>
            <a:ext cx="274320" cy="310896"/>
          </a:xfrm>
          <a:prstGeom prst="chevron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663379" y="1874519"/>
            <a:ext cx="1830628" cy="1325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736531" y="1947672"/>
            <a:ext cx="1684324" cy="1179576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300" b="1">
                <a:solidFill>
                  <a:srgbClr val="161B26"/>
                </a:solidFill>
                <a:latin typeface="Arial"/>
              </a:rPr>
              <a:t>Status returns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51560" y="3977639"/>
            <a:ext cx="10058400" cy="1417320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051560" y="3977639"/>
            <a:ext cx="82296" cy="141732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07592" y="4123943"/>
            <a:ext cx="9582912" cy="41148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700" b="1">
                <a:solidFill>
                  <a:srgbClr val="1F6FEB"/>
                </a:solidFill>
                <a:latin typeface="Arial"/>
              </a:rPr>
              <a:t>Teaching point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07592" y="4617719"/>
            <a:ext cx="9582912" cy="667512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500" b="0">
                <a:solidFill>
                  <a:srgbClr val="5B6372"/>
                </a:solidFill>
                <a:latin typeface="Arial"/>
              </a:rPr>
              <a:t>Power Automate generates the webhook URL only after a valid trigger-and-action flow saves.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6492240"/>
            <a:ext cx="10835640" cy="18288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Business Process Automation with Power Automate and Copilot Studio Agents   |   72</a:t>
            </a:r>
          </a:p>
        </p:txBody>
      </p:sp>
    </p:spTree>
    <p:extLst>
      <p:ext uri="{BB962C8B-B14F-4D97-AF65-F5344CB8AC3E}">
        <p14:creationId xmlns:p14="http://schemas.microsoft.com/office/powerpoint/2010/main" val="1415766186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47472"/>
            <a:ext cx="10789920" cy="256032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REQUEST INTENT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789920" cy="566928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Common HTTP Methods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3716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828800"/>
            <a:ext cx="3200400" cy="3977639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828800"/>
            <a:ext cx="82296" cy="3977639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59536" y="2029968"/>
            <a:ext cx="457200" cy="457200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536" y="2029968"/>
            <a:ext cx="457200" cy="45720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26464" y="1975104"/>
            <a:ext cx="2240280" cy="41148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700" b="1">
                <a:solidFill>
                  <a:srgbClr val="1F6FEB"/>
                </a:solidFill>
                <a:latin typeface="Arial"/>
              </a:rPr>
              <a:t>GET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68880"/>
            <a:ext cx="2724912" cy="3227831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400" b="0">
                <a:solidFill>
                  <a:srgbClr val="5B6372"/>
                </a:solidFill>
                <a:latin typeface="Arial"/>
              </a:rPr>
              <a:t>Read data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087368" y="1828800"/>
            <a:ext cx="3200400" cy="3977639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087368" y="1828800"/>
            <a:ext cx="82296" cy="3977639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288536" y="2029968"/>
            <a:ext cx="457200" cy="457200"/>
          </a:xfrm>
          <a:prstGeom prst="ellipse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88536" y="2029968"/>
            <a:ext cx="457200" cy="45720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55464" y="1975104"/>
            <a:ext cx="2240280" cy="41148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700" b="1">
                <a:solidFill>
                  <a:srgbClr val="108A73"/>
                </a:solidFill>
                <a:latin typeface="Arial"/>
              </a:rPr>
              <a:t>POST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43400" y="2468880"/>
            <a:ext cx="2724912" cy="3227831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400" b="0">
                <a:solidFill>
                  <a:srgbClr val="5B6372"/>
                </a:solidFill>
                <a:latin typeface="Arial"/>
              </a:rPr>
              <a:t>Submit data or start work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516368" y="1828800"/>
            <a:ext cx="3977639" cy="3977639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516368" y="1828800"/>
            <a:ext cx="82296" cy="3977639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717536" y="2029968"/>
            <a:ext cx="457200" cy="457200"/>
          </a:xfrm>
          <a:prstGeom prst="ellipse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17536" y="2029968"/>
            <a:ext cx="457200" cy="45720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84464" y="1975104"/>
            <a:ext cx="3017519" cy="41148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700" b="1">
                <a:solidFill>
                  <a:srgbClr val="6D3FD2"/>
                </a:solidFill>
                <a:latin typeface="Arial"/>
              </a:rPr>
              <a:t>PUT · PATCH · DELETE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0" y="2468880"/>
            <a:ext cx="3502151" cy="3227831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400" b="0">
                <a:solidFill>
                  <a:srgbClr val="5B6372"/>
                </a:solidFill>
                <a:latin typeface="Arial"/>
              </a:rPr>
              <a:t>Update or remove data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6492240"/>
            <a:ext cx="10835640" cy="18288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Business Process Automation with Power Automate and Copilot Studio Agents   |   73</a:t>
            </a:r>
          </a:p>
        </p:txBody>
      </p:sp>
    </p:spTree>
    <p:extLst>
      <p:ext uri="{BB962C8B-B14F-4D97-AF65-F5344CB8AC3E}">
        <p14:creationId xmlns:p14="http://schemas.microsoft.com/office/powerpoint/2010/main" val="4075740085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47472"/>
            <a:ext cx="10789920" cy="256032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REQUEST ANATOMY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789920" cy="566928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An HTTP Request Has Four Main Parts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3716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874519"/>
            <a:ext cx="2393441" cy="1325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947672"/>
            <a:ext cx="2247137" cy="1179576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300" b="1">
                <a:solidFill>
                  <a:srgbClr val="161B26"/>
                </a:solidFill>
                <a:latin typeface="Arial"/>
              </a:rPr>
              <a:t>Method</a:t>
            </a:r>
          </a:p>
        </p:txBody>
      </p:sp>
      <p:sp>
        <p:nvSpPr>
          <p:cNvPr id="8" name="Chevron 7"/>
          <p:cNvSpPr/>
          <p:nvPr/>
        </p:nvSpPr>
        <p:spPr>
          <a:xfrm>
            <a:off x="3106674" y="2382012"/>
            <a:ext cx="274320" cy="310896"/>
          </a:xfrm>
          <a:prstGeom prst="chevron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472433" y="1874519"/>
            <a:ext cx="2393441" cy="1325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45585" y="1947672"/>
            <a:ext cx="2247137" cy="1179576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300" b="1">
                <a:solidFill>
                  <a:srgbClr val="161B26"/>
                </a:solidFill>
                <a:latin typeface="Arial"/>
              </a:rPr>
              <a:t>URL</a:t>
            </a:r>
          </a:p>
        </p:txBody>
      </p:sp>
      <p:sp>
        <p:nvSpPr>
          <p:cNvPr id="11" name="Chevron 10"/>
          <p:cNvSpPr/>
          <p:nvPr/>
        </p:nvSpPr>
        <p:spPr>
          <a:xfrm>
            <a:off x="5920739" y="2382012"/>
            <a:ext cx="274320" cy="310896"/>
          </a:xfrm>
          <a:prstGeom prst="chevron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286499" y="1874519"/>
            <a:ext cx="2393441" cy="1325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59651" y="1947672"/>
            <a:ext cx="2247137" cy="1179576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300" b="1">
                <a:solidFill>
                  <a:srgbClr val="161B26"/>
                </a:solidFill>
                <a:latin typeface="Arial"/>
              </a:rPr>
              <a:t>Headers</a:t>
            </a:r>
          </a:p>
        </p:txBody>
      </p:sp>
      <p:sp>
        <p:nvSpPr>
          <p:cNvPr id="14" name="Chevron 13"/>
          <p:cNvSpPr/>
          <p:nvPr/>
        </p:nvSpPr>
        <p:spPr>
          <a:xfrm>
            <a:off x="8734805" y="2382012"/>
            <a:ext cx="274320" cy="310896"/>
          </a:xfrm>
          <a:prstGeom prst="chevron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9100565" y="1874519"/>
            <a:ext cx="2393441" cy="1325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73717" y="1947672"/>
            <a:ext cx="2247137" cy="1179576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300" b="1">
                <a:solidFill>
                  <a:srgbClr val="161B26"/>
                </a:solidFill>
                <a:latin typeface="Arial"/>
              </a:rPr>
              <a:t>Body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1560" y="3977639"/>
            <a:ext cx="10058400" cy="1417320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051560" y="3977639"/>
            <a:ext cx="82296" cy="141732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07592" y="4123943"/>
            <a:ext cx="9582912" cy="41148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700" b="1">
                <a:solidFill>
                  <a:srgbClr val="1F6FEB"/>
                </a:solidFill>
                <a:latin typeface="Arial"/>
              </a:rPr>
              <a:t>Teaching point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07592" y="4617719"/>
            <a:ext cx="9582912" cy="667512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500" b="0">
                <a:solidFill>
                  <a:srgbClr val="5B6372"/>
                </a:solidFill>
                <a:latin typeface="Arial"/>
              </a:rPr>
              <a:t>The lab websites use POST to send JSON data to the learner's Power Automate endpoint.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6492240"/>
            <a:ext cx="10835640" cy="18288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Business Process Automation with Power Automate and Copilot Studio Agents   |   74</a:t>
            </a:r>
          </a:p>
        </p:txBody>
      </p:sp>
    </p:spTree>
    <p:extLst>
      <p:ext uri="{BB962C8B-B14F-4D97-AF65-F5344CB8AC3E}">
        <p14:creationId xmlns:p14="http://schemas.microsoft.com/office/powerpoint/2010/main" val="4057355895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47472"/>
            <a:ext cx="10789920" cy="256032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REQUEST AND RESPONSE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789920" cy="566928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JSON Defines a Machine-Readable Contract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3716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828800"/>
            <a:ext cx="3383280" cy="3977639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828800"/>
            <a:ext cx="82296" cy="3977639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59536" y="2029968"/>
            <a:ext cx="457200" cy="457200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536" y="2029968"/>
            <a:ext cx="457200" cy="45720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26464" y="1975104"/>
            <a:ext cx="2423160" cy="41148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700" b="1">
                <a:solidFill>
                  <a:srgbClr val="1F6FEB"/>
                </a:solidFill>
                <a:latin typeface="Arial"/>
              </a:rPr>
              <a:t>Schema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68880"/>
            <a:ext cx="2907792" cy="3227831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400" b="0">
                <a:solidFill>
                  <a:srgbClr val="5B6372"/>
                </a:solidFill>
                <a:latin typeface="Arial"/>
              </a:rPr>
              <a:t>Field names, data types and required values define valid input.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15968" y="1828800"/>
            <a:ext cx="3383280" cy="3977639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15968" y="1828800"/>
            <a:ext cx="82296" cy="3977639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517136" y="2029968"/>
            <a:ext cx="457200" cy="457200"/>
          </a:xfrm>
          <a:prstGeom prst="ellipse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17136" y="2029968"/>
            <a:ext cx="457200" cy="45720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84064" y="1975104"/>
            <a:ext cx="2423160" cy="41148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700" b="1">
                <a:solidFill>
                  <a:srgbClr val="108A73"/>
                </a:solidFill>
                <a:latin typeface="Arial"/>
              </a:rPr>
              <a:t>Payload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2468880"/>
            <a:ext cx="2907792" cy="3227831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400" b="0">
                <a:solidFill>
                  <a:srgbClr val="5B6372"/>
                </a:solidFill>
                <a:latin typeface="Arial"/>
              </a:rPr>
              <a:t>The browser serialises the current form or prompt values.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973568" y="1828800"/>
            <a:ext cx="3383280" cy="3977639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973568" y="1828800"/>
            <a:ext cx="82296" cy="3977639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174736" y="2029968"/>
            <a:ext cx="457200" cy="457200"/>
          </a:xfrm>
          <a:prstGeom prst="ellipse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174736" y="2029968"/>
            <a:ext cx="457200" cy="45720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741664" y="1975104"/>
            <a:ext cx="2423160" cy="41148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700" b="1">
                <a:solidFill>
                  <a:srgbClr val="6D3FD2"/>
                </a:solidFill>
                <a:latin typeface="Arial"/>
              </a:rPr>
              <a:t>Response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0" y="2468880"/>
            <a:ext cx="2907792" cy="3227831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400" b="0">
                <a:solidFill>
                  <a:srgbClr val="5B6372"/>
                </a:solidFill>
                <a:latin typeface="Arial"/>
              </a:rPr>
              <a:t>The flow returns limited JSON the page can display.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6492240"/>
            <a:ext cx="10835640" cy="18288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Business Process Automation with Power Automate and Copilot Studio Agents   |   75</a:t>
            </a:r>
          </a:p>
        </p:txBody>
      </p:sp>
    </p:spTree>
    <p:extLst>
      <p:ext uri="{BB962C8B-B14F-4D97-AF65-F5344CB8AC3E}">
        <p14:creationId xmlns:p14="http://schemas.microsoft.com/office/powerpoint/2010/main" val="1787957932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47472"/>
            <a:ext cx="10789920" cy="256032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CLASSROOM VERSUS PRODUCTION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789920" cy="566928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Webhook Security and Browser Boundaries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3716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828800"/>
            <a:ext cx="3383280" cy="3977639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828800"/>
            <a:ext cx="82296" cy="3977639"/>
          </a:xfrm>
          <a:prstGeom prst="rect">
            <a:avLst/>
          </a:prstGeom>
          <a:solidFill>
            <a:srgbClr val="C241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59536" y="2029968"/>
            <a:ext cx="457200" cy="457200"/>
          </a:xfrm>
          <a:prstGeom prst="ellipse">
            <a:avLst/>
          </a:prstGeom>
          <a:solidFill>
            <a:srgbClr val="C241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536" y="2029968"/>
            <a:ext cx="457200" cy="45720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26464" y="1975104"/>
            <a:ext cx="2423160" cy="41148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700" b="1">
                <a:solidFill>
                  <a:srgbClr val="C2413A"/>
                </a:solidFill>
                <a:latin typeface="Arial"/>
              </a:rPr>
              <a:t>Endpoint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68880"/>
            <a:ext cx="2907792" cy="3227831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400" b="0">
                <a:solidFill>
                  <a:srgbClr val="5B6372"/>
                </a:solidFill>
                <a:latin typeface="Arial"/>
              </a:rPr>
              <a:t>Treat an anonymous webhook URL like a secret.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15968" y="1828800"/>
            <a:ext cx="3383280" cy="3977639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15968" y="1828800"/>
            <a:ext cx="82296" cy="3977639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517136" y="2029968"/>
            <a:ext cx="457200" cy="457200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17136" y="2029968"/>
            <a:ext cx="457200" cy="45720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84064" y="1975104"/>
            <a:ext cx="2423160" cy="41148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700" b="1">
                <a:solidFill>
                  <a:srgbClr val="1F6FEB"/>
                </a:solidFill>
                <a:latin typeface="Arial"/>
              </a:rPr>
              <a:t>Input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2468880"/>
            <a:ext cx="2907792" cy="3227831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400" b="0">
                <a:solidFill>
                  <a:srgbClr val="5B6372"/>
                </a:solidFill>
                <a:latin typeface="Arial"/>
              </a:rPr>
              <a:t>Validate, minimise and never include credentials.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973568" y="1828800"/>
            <a:ext cx="3383280" cy="3977639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973568" y="1828800"/>
            <a:ext cx="82296" cy="3977639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174736" y="2029968"/>
            <a:ext cx="457200" cy="457200"/>
          </a:xfrm>
          <a:prstGeom prst="ellipse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174736" y="2029968"/>
            <a:ext cx="457200" cy="45720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741664" y="1975104"/>
            <a:ext cx="2423160" cy="41148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700" b="1">
                <a:solidFill>
                  <a:srgbClr val="108A73"/>
                </a:solidFill>
                <a:latin typeface="Arial"/>
              </a:rPr>
              <a:t>CORS + output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0" y="2468880"/>
            <a:ext cx="2907792" cy="3227831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400" b="0">
                <a:solidFill>
                  <a:srgbClr val="5B6372"/>
                </a:solidFill>
                <a:latin typeface="Arial"/>
              </a:rPr>
              <a:t>Return only what the browser needs; authenticate production callers.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6492240"/>
            <a:ext cx="10835640" cy="18288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Business Process Automation with Power Automate and Copilot Studio Agents   |   76</a:t>
            </a:r>
          </a:p>
        </p:txBody>
      </p:sp>
    </p:spTree>
    <p:extLst>
      <p:ext uri="{BB962C8B-B14F-4D97-AF65-F5344CB8AC3E}">
        <p14:creationId xmlns:p14="http://schemas.microsoft.com/office/powerpoint/2010/main" val="2083644524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47472"/>
            <a:ext cx="10789920" cy="256032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SHARED WORKFLOW VISUAL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789920" cy="566928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Lab 8 — Website HTTP Enquiry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3716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20040" y="1572768"/>
            <a:ext cx="11548872" cy="45720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6587" y="2799915"/>
            <a:ext cx="11018520" cy="179766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14400" y="5852160"/>
            <a:ext cx="10332720" cy="256032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100" b="0">
                <a:solidFill>
                  <a:srgbClr val="5B6372"/>
                </a:solidFill>
                <a:latin typeface="Arial"/>
              </a:rPr>
              <a:t>Shared workflow visual — follow the arrows from the trigger through actions to the expected outcome.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6492240"/>
            <a:ext cx="10835640" cy="18288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Business Process Automation with Power Automate and Copilot Studio Agents   |   77</a:t>
            </a:r>
          </a:p>
        </p:txBody>
      </p:sp>
    </p:spTree>
    <p:extLst>
      <p:ext uri="{BB962C8B-B14F-4D97-AF65-F5344CB8AC3E}">
        <p14:creationId xmlns:p14="http://schemas.microsoft.com/office/powerpoint/2010/main" val="2262335789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47472"/>
            <a:ext cx="10789920" cy="256032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JSON SCHEMA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789920" cy="566928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Lab 8 — Define the Request Contract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3716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874519"/>
            <a:ext cx="2393441" cy="1325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947672"/>
            <a:ext cx="2247137" cy="1179576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300" b="1">
                <a:solidFill>
                  <a:srgbClr val="161B26"/>
                </a:solidFill>
                <a:latin typeface="Arial"/>
              </a:rPr>
              <a:t>name</a:t>
            </a:r>
          </a:p>
        </p:txBody>
      </p:sp>
      <p:sp>
        <p:nvSpPr>
          <p:cNvPr id="8" name="Chevron 7"/>
          <p:cNvSpPr/>
          <p:nvPr/>
        </p:nvSpPr>
        <p:spPr>
          <a:xfrm>
            <a:off x="3106674" y="2382012"/>
            <a:ext cx="274320" cy="310896"/>
          </a:xfrm>
          <a:prstGeom prst="chevron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472433" y="1874519"/>
            <a:ext cx="2393441" cy="1325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45585" y="1947672"/>
            <a:ext cx="2247137" cy="1179576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300" b="1">
                <a:solidFill>
                  <a:srgbClr val="161B26"/>
                </a:solidFill>
                <a:latin typeface="Arial"/>
              </a:rPr>
              <a:t>email</a:t>
            </a:r>
          </a:p>
        </p:txBody>
      </p:sp>
      <p:sp>
        <p:nvSpPr>
          <p:cNvPr id="11" name="Chevron 10"/>
          <p:cNvSpPr/>
          <p:nvPr/>
        </p:nvSpPr>
        <p:spPr>
          <a:xfrm>
            <a:off x="5920739" y="2382012"/>
            <a:ext cx="274320" cy="310896"/>
          </a:xfrm>
          <a:prstGeom prst="chevron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286499" y="1874519"/>
            <a:ext cx="2393441" cy="1325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59651" y="1947672"/>
            <a:ext cx="2247137" cy="1179576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300" b="1">
                <a:solidFill>
                  <a:srgbClr val="161B26"/>
                </a:solidFill>
                <a:latin typeface="Arial"/>
              </a:rPr>
              <a:t>tel</a:t>
            </a:r>
          </a:p>
        </p:txBody>
      </p:sp>
      <p:sp>
        <p:nvSpPr>
          <p:cNvPr id="14" name="Chevron 13"/>
          <p:cNvSpPr/>
          <p:nvPr/>
        </p:nvSpPr>
        <p:spPr>
          <a:xfrm>
            <a:off x="8734805" y="2382012"/>
            <a:ext cx="274320" cy="310896"/>
          </a:xfrm>
          <a:prstGeom prst="chevron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9100565" y="1874519"/>
            <a:ext cx="2393441" cy="1325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73717" y="1947672"/>
            <a:ext cx="2247137" cy="1179576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300" b="1">
                <a:solidFill>
                  <a:srgbClr val="161B26"/>
                </a:solidFill>
                <a:latin typeface="Arial"/>
              </a:rPr>
              <a:t>message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1560" y="3977639"/>
            <a:ext cx="10058400" cy="1417320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051560" y="3977639"/>
            <a:ext cx="82296" cy="141732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07592" y="4123943"/>
            <a:ext cx="9582912" cy="41148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700" b="1">
                <a:solidFill>
                  <a:srgbClr val="1F6FEB"/>
                </a:solidFill>
                <a:latin typeface="Arial"/>
              </a:rPr>
              <a:t>Teaching point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07592" y="4617719"/>
            <a:ext cx="9582912" cy="667512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500" b="0">
                <a:solidFill>
                  <a:srgbClr val="5B6372"/>
                </a:solidFill>
                <a:latin typeface="Arial"/>
              </a:rPr>
              <a:t>Generate the trigger schema from a representative sample before mapping fields.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6492240"/>
            <a:ext cx="10835640" cy="18288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Business Process Automation with Power Automate and Copilot Studio Agents   |   78</a:t>
            </a:r>
          </a:p>
        </p:txBody>
      </p:sp>
    </p:spTree>
    <p:extLst>
      <p:ext uri="{BB962C8B-B14F-4D97-AF65-F5344CB8AC3E}">
        <p14:creationId xmlns:p14="http://schemas.microsoft.com/office/powerpoint/2010/main" val="1917962558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47472"/>
            <a:ext cx="10789920" cy="256032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URL GENERATION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789920" cy="566928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Lab 8 — Complete the Flow Before Saving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3716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874519"/>
            <a:ext cx="1830628" cy="1325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947672"/>
            <a:ext cx="1684324" cy="1179576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300" b="1">
                <a:solidFill>
                  <a:srgbClr val="161B26"/>
                </a:solidFill>
                <a:latin typeface="Arial"/>
              </a:rPr>
              <a:t>HTTP trigger</a:t>
            </a:r>
          </a:p>
        </p:txBody>
      </p:sp>
      <p:sp>
        <p:nvSpPr>
          <p:cNvPr id="8" name="Chevron 7"/>
          <p:cNvSpPr/>
          <p:nvPr/>
        </p:nvSpPr>
        <p:spPr>
          <a:xfrm>
            <a:off x="2543860" y="2382012"/>
            <a:ext cx="274320" cy="310896"/>
          </a:xfrm>
          <a:prstGeom prst="chevron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909620" y="1874519"/>
            <a:ext cx="1830628" cy="1325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82772" y="1947672"/>
            <a:ext cx="1684324" cy="1179576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300" b="1">
                <a:solidFill>
                  <a:srgbClr val="161B26"/>
                </a:solidFill>
                <a:latin typeface="Arial"/>
              </a:rPr>
              <a:t>Email administrator</a:t>
            </a:r>
          </a:p>
        </p:txBody>
      </p:sp>
      <p:sp>
        <p:nvSpPr>
          <p:cNvPr id="11" name="Chevron 10"/>
          <p:cNvSpPr/>
          <p:nvPr/>
        </p:nvSpPr>
        <p:spPr>
          <a:xfrm>
            <a:off x="4795112" y="2382012"/>
            <a:ext cx="274320" cy="310896"/>
          </a:xfrm>
          <a:prstGeom prst="chevron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160873" y="1874519"/>
            <a:ext cx="1830628" cy="1325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234025" y="1947672"/>
            <a:ext cx="1684324" cy="1179576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300" b="1">
                <a:solidFill>
                  <a:srgbClr val="161B26"/>
                </a:solidFill>
                <a:latin typeface="Arial"/>
              </a:rPr>
              <a:t>Response action</a:t>
            </a:r>
          </a:p>
        </p:txBody>
      </p:sp>
      <p:sp>
        <p:nvSpPr>
          <p:cNvPr id="14" name="Chevron 13"/>
          <p:cNvSpPr/>
          <p:nvPr/>
        </p:nvSpPr>
        <p:spPr>
          <a:xfrm>
            <a:off x="7046365" y="2382012"/>
            <a:ext cx="274320" cy="310896"/>
          </a:xfrm>
          <a:prstGeom prst="chevron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7412126" y="1874519"/>
            <a:ext cx="1830628" cy="1325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85278" y="1947672"/>
            <a:ext cx="1684324" cy="1179576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300" b="1">
                <a:solidFill>
                  <a:srgbClr val="161B26"/>
                </a:solidFill>
                <a:latin typeface="Arial"/>
              </a:rPr>
              <a:t>Save</a:t>
            </a:r>
          </a:p>
        </p:txBody>
      </p:sp>
      <p:sp>
        <p:nvSpPr>
          <p:cNvPr id="17" name="Chevron 16"/>
          <p:cNvSpPr/>
          <p:nvPr/>
        </p:nvSpPr>
        <p:spPr>
          <a:xfrm>
            <a:off x="9297618" y="2382012"/>
            <a:ext cx="274320" cy="310896"/>
          </a:xfrm>
          <a:prstGeom prst="chevron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663379" y="1874519"/>
            <a:ext cx="1830628" cy="1325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736531" y="1947672"/>
            <a:ext cx="1684324" cy="1179576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300" b="1">
                <a:solidFill>
                  <a:srgbClr val="161B26"/>
                </a:solidFill>
                <a:latin typeface="Arial"/>
              </a:rPr>
              <a:t>Copy URL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51560" y="3977639"/>
            <a:ext cx="10058400" cy="1417320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051560" y="3977639"/>
            <a:ext cx="82296" cy="141732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07592" y="4123943"/>
            <a:ext cx="9582912" cy="41148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700" b="1">
                <a:solidFill>
                  <a:srgbClr val="1F6FEB"/>
                </a:solidFill>
                <a:latin typeface="Arial"/>
              </a:rPr>
              <a:t>Teaching point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07592" y="4617719"/>
            <a:ext cx="9582912" cy="667512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500" b="0">
                <a:solidFill>
                  <a:srgbClr val="5B6372"/>
                </a:solidFill>
                <a:latin typeface="Arial"/>
              </a:rPr>
              <a:t>A trigger alone is incomplete; add actions and resolve validation errors before expecting a URL.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6492240"/>
            <a:ext cx="10835640" cy="18288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Business Process Automation with Power Automate and Copilot Studio Agents   |   79</a:t>
            </a:r>
          </a:p>
        </p:txBody>
      </p:sp>
    </p:spTree>
    <p:extLst>
      <p:ext uri="{BB962C8B-B14F-4D97-AF65-F5344CB8AC3E}">
        <p14:creationId xmlns:p14="http://schemas.microsoft.com/office/powerpoint/2010/main" val="2766648414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47472"/>
            <a:ext cx="10789920" cy="256032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LEARNER-ENTERED WEBHOOK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789920" cy="566928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Lab 8 — Connect the Supplied Website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3716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874519"/>
            <a:ext cx="1830628" cy="1325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947672"/>
            <a:ext cx="1684324" cy="1179576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300" b="1">
                <a:solidFill>
                  <a:srgbClr val="161B26"/>
                </a:solidFill>
                <a:latin typeface="Arial"/>
              </a:rPr>
              <a:t>Open HTML</a:t>
            </a:r>
          </a:p>
        </p:txBody>
      </p:sp>
      <p:sp>
        <p:nvSpPr>
          <p:cNvPr id="8" name="Chevron 7"/>
          <p:cNvSpPr/>
          <p:nvPr/>
        </p:nvSpPr>
        <p:spPr>
          <a:xfrm>
            <a:off x="2543860" y="2382012"/>
            <a:ext cx="274320" cy="310896"/>
          </a:xfrm>
          <a:prstGeom prst="chevron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909620" y="1874519"/>
            <a:ext cx="1830628" cy="1325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82772" y="1947672"/>
            <a:ext cx="1684324" cy="1179576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300" b="1">
                <a:solidFill>
                  <a:srgbClr val="161B26"/>
                </a:solidFill>
                <a:latin typeface="Arial"/>
              </a:rPr>
              <a:t>Paste URL</a:t>
            </a:r>
          </a:p>
        </p:txBody>
      </p:sp>
      <p:sp>
        <p:nvSpPr>
          <p:cNvPr id="11" name="Chevron 10"/>
          <p:cNvSpPr/>
          <p:nvPr/>
        </p:nvSpPr>
        <p:spPr>
          <a:xfrm>
            <a:off x="4795112" y="2382012"/>
            <a:ext cx="274320" cy="310896"/>
          </a:xfrm>
          <a:prstGeom prst="chevron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160873" y="1874519"/>
            <a:ext cx="1830628" cy="1325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234025" y="1947672"/>
            <a:ext cx="1684324" cy="1179576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300" b="1">
                <a:solidFill>
                  <a:srgbClr val="161B26"/>
                </a:solidFill>
                <a:latin typeface="Arial"/>
              </a:rPr>
              <a:t>Save locally</a:t>
            </a:r>
          </a:p>
        </p:txBody>
      </p:sp>
      <p:sp>
        <p:nvSpPr>
          <p:cNvPr id="14" name="Chevron 13"/>
          <p:cNvSpPr/>
          <p:nvPr/>
        </p:nvSpPr>
        <p:spPr>
          <a:xfrm>
            <a:off x="7046365" y="2382012"/>
            <a:ext cx="274320" cy="310896"/>
          </a:xfrm>
          <a:prstGeom prst="chevron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7412126" y="1874519"/>
            <a:ext cx="1830628" cy="1325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85278" y="1947672"/>
            <a:ext cx="1684324" cy="1179576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300" b="1">
                <a:solidFill>
                  <a:srgbClr val="161B26"/>
                </a:solidFill>
                <a:latin typeface="Arial"/>
              </a:rPr>
              <a:t>Submit once</a:t>
            </a:r>
          </a:p>
        </p:txBody>
      </p:sp>
      <p:sp>
        <p:nvSpPr>
          <p:cNvPr id="17" name="Chevron 16"/>
          <p:cNvSpPr/>
          <p:nvPr/>
        </p:nvSpPr>
        <p:spPr>
          <a:xfrm>
            <a:off x="9297618" y="2382012"/>
            <a:ext cx="274320" cy="310896"/>
          </a:xfrm>
          <a:prstGeom prst="chevron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663379" y="1874519"/>
            <a:ext cx="1830628" cy="1325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736531" y="1947672"/>
            <a:ext cx="1684324" cy="1179576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300" b="1">
                <a:solidFill>
                  <a:srgbClr val="161B26"/>
                </a:solidFill>
                <a:latin typeface="Arial"/>
              </a:rPr>
              <a:t>Display status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51560" y="3977639"/>
            <a:ext cx="10058400" cy="1417320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051560" y="3977639"/>
            <a:ext cx="82296" cy="141732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07592" y="4123943"/>
            <a:ext cx="9582912" cy="41148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700" b="1">
                <a:solidFill>
                  <a:srgbClr val="1F6FEB"/>
                </a:solidFill>
                <a:latin typeface="Arial"/>
              </a:rPr>
              <a:t>Teaching point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07592" y="4617719"/>
            <a:ext cx="9582912" cy="667512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500" b="0">
                <a:solidFill>
                  <a:srgbClr val="5B6372"/>
                </a:solidFill>
                <a:latin typeface="Arial"/>
              </a:rPr>
              <a:t>The supplied source contains no tenant endpoint; each learner connects their own saved flow.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6492240"/>
            <a:ext cx="10835640" cy="18288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Business Process Automation with Power Automate and Copilot Studio Agents   |   80</a:t>
            </a:r>
          </a:p>
        </p:txBody>
      </p:sp>
    </p:spTree>
    <p:extLst>
      <p:ext uri="{BB962C8B-B14F-4D97-AF65-F5344CB8AC3E}">
        <p14:creationId xmlns:p14="http://schemas.microsoft.com/office/powerpoint/2010/main" val="2343113792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47472"/>
            <a:ext cx="10789920" cy="256032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BROWSER → FLOW → EMAIL → BROWSER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789920" cy="566928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Lab 8 — End-to-End Evidence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3716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828800"/>
            <a:ext cx="3383280" cy="3977639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828800"/>
            <a:ext cx="82296" cy="3977639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59536" y="2029968"/>
            <a:ext cx="457200" cy="457200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536" y="2029968"/>
            <a:ext cx="457200" cy="45720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26464" y="1975104"/>
            <a:ext cx="2423160" cy="41148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700" b="1">
                <a:solidFill>
                  <a:srgbClr val="1F6FEB"/>
                </a:solidFill>
                <a:latin typeface="Arial"/>
              </a:rPr>
              <a:t>Browser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68880"/>
            <a:ext cx="2907792" cy="3227831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400" b="0">
                <a:solidFill>
                  <a:srgbClr val="5B6372"/>
                </a:solidFill>
                <a:latin typeface="Arial"/>
              </a:rPr>
              <a:t>The page reports one successful response.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15968" y="1828800"/>
            <a:ext cx="3383280" cy="3977639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15968" y="1828800"/>
            <a:ext cx="82296" cy="3977639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517136" y="2029968"/>
            <a:ext cx="457200" cy="457200"/>
          </a:xfrm>
          <a:prstGeom prst="ellipse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17136" y="2029968"/>
            <a:ext cx="457200" cy="45720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84064" y="1975104"/>
            <a:ext cx="2423160" cy="41148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700" b="1">
                <a:solidFill>
                  <a:srgbClr val="108A73"/>
                </a:solidFill>
                <a:latin typeface="Arial"/>
              </a:rPr>
              <a:t>Flow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2468880"/>
            <a:ext cx="2907792" cy="3227831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400" b="0">
                <a:solidFill>
                  <a:srgbClr val="5B6372"/>
                </a:solidFill>
                <a:latin typeface="Arial"/>
              </a:rPr>
              <a:t>Run history shows the expected request fields.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973568" y="1828800"/>
            <a:ext cx="3383280" cy="3977639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973568" y="1828800"/>
            <a:ext cx="82296" cy="3977639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174736" y="2029968"/>
            <a:ext cx="457200" cy="457200"/>
          </a:xfrm>
          <a:prstGeom prst="ellipse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174736" y="2029968"/>
            <a:ext cx="457200" cy="45720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741664" y="1975104"/>
            <a:ext cx="2423160" cy="41148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700" b="1">
                <a:solidFill>
                  <a:srgbClr val="16845B"/>
                </a:solidFill>
                <a:latin typeface="Arial"/>
              </a:rPr>
              <a:t>Mailbox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0" y="2468880"/>
            <a:ext cx="2907792" cy="3227831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400" b="0">
                <a:solidFill>
                  <a:srgbClr val="5B6372"/>
                </a:solidFill>
                <a:latin typeface="Arial"/>
              </a:rPr>
              <a:t>The administrator receives exactly one enquiry email.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6492240"/>
            <a:ext cx="10835640" cy="18288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Business Process Automation with Power Automate and Copilot Studio Agents   |   81</a:t>
            </a:r>
          </a:p>
        </p:txBody>
      </p:sp>
    </p:spTree>
    <p:extLst>
      <p:ext uri="{BB962C8B-B14F-4D97-AF65-F5344CB8AC3E}">
        <p14:creationId xmlns:p14="http://schemas.microsoft.com/office/powerpoint/2010/main" val="2032098328"/>
      </p:ext>
    </p:extLst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47472"/>
            <a:ext cx="10789920" cy="256032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RAG PATTERN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789920" cy="566928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Grounded Finance Answers Need Retrieval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3716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828800"/>
            <a:ext cx="3383280" cy="3977639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828800"/>
            <a:ext cx="82296" cy="3977639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59536" y="2029968"/>
            <a:ext cx="457200" cy="457200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536" y="2029968"/>
            <a:ext cx="457200" cy="45720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26464" y="1975104"/>
            <a:ext cx="2423160" cy="41148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700" b="1">
                <a:solidFill>
                  <a:srgbClr val="1F6FEB"/>
                </a:solidFill>
                <a:latin typeface="Arial"/>
              </a:rPr>
              <a:t>Retrieve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68880"/>
            <a:ext cx="2907792" cy="3227831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400" b="0">
                <a:solidFill>
                  <a:srgbClr val="5B6372"/>
                </a:solidFill>
                <a:latin typeface="Arial"/>
              </a:rPr>
              <a:t>Search the approved Finance Knowledge Base for relevant passages.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15968" y="1828800"/>
            <a:ext cx="3383280" cy="3977639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15968" y="1828800"/>
            <a:ext cx="82296" cy="3977639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517136" y="2029968"/>
            <a:ext cx="457200" cy="457200"/>
          </a:xfrm>
          <a:prstGeom prst="ellipse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17136" y="2029968"/>
            <a:ext cx="457200" cy="45720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84064" y="1975104"/>
            <a:ext cx="2423160" cy="41148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700" b="1">
                <a:solidFill>
                  <a:srgbClr val="108A73"/>
                </a:solidFill>
                <a:latin typeface="Arial"/>
              </a:rPr>
              <a:t>Generate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2468880"/>
            <a:ext cx="2907792" cy="3227831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400" b="0">
                <a:solidFill>
                  <a:srgbClr val="5B6372"/>
                </a:solidFill>
                <a:latin typeface="Arial"/>
              </a:rPr>
              <a:t>Compose an explanation constrained by the retrieved evidence.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973568" y="1828800"/>
            <a:ext cx="3383280" cy="3977639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973568" y="1828800"/>
            <a:ext cx="82296" cy="3977639"/>
          </a:xfrm>
          <a:prstGeom prst="rect">
            <a:avLst/>
          </a:prstGeom>
          <a:solidFill>
            <a:srgbClr val="C241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174736" y="2029968"/>
            <a:ext cx="457200" cy="457200"/>
          </a:xfrm>
          <a:prstGeom prst="ellipse">
            <a:avLst/>
          </a:prstGeom>
          <a:solidFill>
            <a:srgbClr val="C241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174736" y="2029968"/>
            <a:ext cx="457200" cy="45720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741664" y="1975104"/>
            <a:ext cx="2423160" cy="41148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700" b="1">
                <a:solidFill>
                  <a:srgbClr val="C2413A"/>
                </a:solidFill>
                <a:latin typeface="Arial"/>
              </a:rPr>
              <a:t>Qualify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0" y="2468880"/>
            <a:ext cx="2907792" cy="3227831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400" b="0">
                <a:solidFill>
                  <a:srgbClr val="5B6372"/>
                </a:solidFill>
                <a:latin typeface="Arial"/>
              </a:rPr>
              <a:t>State uncertainty and refuse guarantees or personalised advice.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6492240"/>
            <a:ext cx="10835640" cy="18288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Business Process Automation with Power Automate and Copilot Studio Agents   |   82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47472"/>
            <a:ext cx="10789920" cy="256032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SYNCHRONOUS AGENT CALL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789920" cy="566928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Execute Agent and Wait Bridges Flow and Agent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3716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874519"/>
            <a:ext cx="1830628" cy="1325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947672"/>
            <a:ext cx="1684324" cy="1179576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300" b="1">
                <a:solidFill>
                  <a:srgbClr val="161B26"/>
                </a:solidFill>
                <a:latin typeface="Arial"/>
              </a:rPr>
              <a:t>Receive prompt</a:t>
            </a:r>
          </a:p>
        </p:txBody>
      </p:sp>
      <p:sp>
        <p:nvSpPr>
          <p:cNvPr id="8" name="Chevron 7"/>
          <p:cNvSpPr/>
          <p:nvPr/>
        </p:nvSpPr>
        <p:spPr>
          <a:xfrm>
            <a:off x="2543860" y="2382012"/>
            <a:ext cx="274320" cy="310896"/>
          </a:xfrm>
          <a:prstGeom prst="chevron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909620" y="1874519"/>
            <a:ext cx="1830628" cy="1325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82772" y="1947672"/>
            <a:ext cx="1684324" cy="1179576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300" b="1">
                <a:solidFill>
                  <a:srgbClr val="161B26"/>
                </a:solidFill>
                <a:latin typeface="Arial"/>
              </a:rPr>
              <a:t>Select Finance Agent</a:t>
            </a:r>
          </a:p>
        </p:txBody>
      </p:sp>
      <p:sp>
        <p:nvSpPr>
          <p:cNvPr id="11" name="Chevron 10"/>
          <p:cNvSpPr/>
          <p:nvPr/>
        </p:nvSpPr>
        <p:spPr>
          <a:xfrm>
            <a:off x="4795112" y="2382012"/>
            <a:ext cx="274320" cy="310896"/>
          </a:xfrm>
          <a:prstGeom prst="chevron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160873" y="1874519"/>
            <a:ext cx="1830628" cy="1325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234025" y="1947672"/>
            <a:ext cx="1684324" cy="1179576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300" b="1">
                <a:solidFill>
                  <a:srgbClr val="161B26"/>
                </a:solidFill>
                <a:latin typeface="Arial"/>
              </a:rPr>
              <a:t>Wait for response</a:t>
            </a:r>
          </a:p>
        </p:txBody>
      </p:sp>
      <p:sp>
        <p:nvSpPr>
          <p:cNvPr id="14" name="Chevron 13"/>
          <p:cNvSpPr/>
          <p:nvPr/>
        </p:nvSpPr>
        <p:spPr>
          <a:xfrm>
            <a:off x="7046365" y="2382012"/>
            <a:ext cx="274320" cy="310896"/>
          </a:xfrm>
          <a:prstGeom prst="chevron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7412126" y="1874519"/>
            <a:ext cx="1830628" cy="1325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85278" y="1947672"/>
            <a:ext cx="1684324" cy="1179576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300" b="1">
                <a:solidFill>
                  <a:srgbClr val="161B26"/>
                </a:solidFill>
                <a:latin typeface="Arial"/>
              </a:rPr>
              <a:t>Extract output</a:t>
            </a:r>
          </a:p>
        </p:txBody>
      </p:sp>
      <p:sp>
        <p:nvSpPr>
          <p:cNvPr id="17" name="Chevron 16"/>
          <p:cNvSpPr/>
          <p:nvPr/>
        </p:nvSpPr>
        <p:spPr>
          <a:xfrm>
            <a:off x="9297618" y="2382012"/>
            <a:ext cx="274320" cy="310896"/>
          </a:xfrm>
          <a:prstGeom prst="chevron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663379" y="1874519"/>
            <a:ext cx="1830628" cy="1325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736531" y="1947672"/>
            <a:ext cx="1684324" cy="1179576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300" b="1">
                <a:solidFill>
                  <a:srgbClr val="161B26"/>
                </a:solidFill>
                <a:latin typeface="Arial"/>
              </a:rPr>
              <a:t>Return JSON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51560" y="3977639"/>
            <a:ext cx="10058400" cy="1417320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051560" y="3977639"/>
            <a:ext cx="82296" cy="141732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07592" y="4123943"/>
            <a:ext cx="9582912" cy="41148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700" b="1">
                <a:solidFill>
                  <a:srgbClr val="1F6FEB"/>
                </a:solidFill>
                <a:latin typeface="Arial"/>
              </a:rPr>
              <a:t>Teaching point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07592" y="4617719"/>
            <a:ext cx="9582912" cy="667512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500" b="0">
                <a:solidFill>
                  <a:srgbClr val="5B6372"/>
                </a:solidFill>
                <a:latin typeface="Arial"/>
              </a:rPr>
              <a:t>Use the actual agent-response token; do not copy a test answer into the flow.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6492240"/>
            <a:ext cx="10835640" cy="18288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Business Process Automation with Power Automate and Copilot Studio Agents   |   83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47472"/>
            <a:ext cx="10789920" cy="256032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SEPARATION OF CONCERNS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789920" cy="566928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Web Chat Is a Channel, Not the Knowledge Source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3716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874519"/>
            <a:ext cx="1830628" cy="1325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947672"/>
            <a:ext cx="1684324" cy="1179576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300" b="1">
                <a:solidFill>
                  <a:srgbClr val="161B26"/>
                </a:solidFill>
                <a:latin typeface="Arial"/>
              </a:rPr>
              <a:t>Browser UI</a:t>
            </a:r>
          </a:p>
        </p:txBody>
      </p:sp>
      <p:sp>
        <p:nvSpPr>
          <p:cNvPr id="8" name="Chevron 7"/>
          <p:cNvSpPr/>
          <p:nvPr/>
        </p:nvSpPr>
        <p:spPr>
          <a:xfrm>
            <a:off x="2543860" y="2382012"/>
            <a:ext cx="274320" cy="310896"/>
          </a:xfrm>
          <a:prstGeom prst="chevron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909620" y="1874519"/>
            <a:ext cx="1830628" cy="1325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82772" y="1947672"/>
            <a:ext cx="1684324" cy="1179576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300" b="1">
                <a:solidFill>
                  <a:srgbClr val="161B26"/>
                </a:solidFill>
                <a:latin typeface="Arial"/>
              </a:rPr>
              <a:t>HTTP flow</a:t>
            </a:r>
          </a:p>
        </p:txBody>
      </p:sp>
      <p:sp>
        <p:nvSpPr>
          <p:cNvPr id="11" name="Chevron 10"/>
          <p:cNvSpPr/>
          <p:nvPr/>
        </p:nvSpPr>
        <p:spPr>
          <a:xfrm>
            <a:off x="4795112" y="2382012"/>
            <a:ext cx="274320" cy="310896"/>
          </a:xfrm>
          <a:prstGeom prst="chevron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160873" y="1874519"/>
            <a:ext cx="1830628" cy="1325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234025" y="1947672"/>
            <a:ext cx="1684324" cy="1179576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300" b="1">
                <a:solidFill>
                  <a:srgbClr val="161B26"/>
                </a:solidFill>
                <a:latin typeface="Arial"/>
              </a:rPr>
              <a:t>Published agent</a:t>
            </a:r>
          </a:p>
        </p:txBody>
      </p:sp>
      <p:sp>
        <p:nvSpPr>
          <p:cNvPr id="14" name="Chevron 13"/>
          <p:cNvSpPr/>
          <p:nvPr/>
        </p:nvSpPr>
        <p:spPr>
          <a:xfrm>
            <a:off x="7046365" y="2382012"/>
            <a:ext cx="274320" cy="310896"/>
          </a:xfrm>
          <a:prstGeom prst="chevron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7412126" y="1874519"/>
            <a:ext cx="1830628" cy="1325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85278" y="1947672"/>
            <a:ext cx="1684324" cy="1179576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300" b="1">
                <a:solidFill>
                  <a:srgbClr val="161B26"/>
                </a:solidFill>
                <a:latin typeface="Arial"/>
              </a:rPr>
              <a:t>Knowledge base</a:t>
            </a:r>
          </a:p>
        </p:txBody>
      </p:sp>
      <p:sp>
        <p:nvSpPr>
          <p:cNvPr id="17" name="Chevron 16"/>
          <p:cNvSpPr/>
          <p:nvPr/>
        </p:nvSpPr>
        <p:spPr>
          <a:xfrm>
            <a:off x="9297618" y="2382012"/>
            <a:ext cx="274320" cy="310896"/>
          </a:xfrm>
          <a:prstGeom prst="chevron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663379" y="1874519"/>
            <a:ext cx="1830628" cy="1325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736531" y="1947672"/>
            <a:ext cx="1684324" cy="1179576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300" b="1">
                <a:solidFill>
                  <a:srgbClr val="161B26"/>
                </a:solidFill>
                <a:latin typeface="Arial"/>
              </a:rPr>
              <a:t>JSON reply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51560" y="3977639"/>
            <a:ext cx="10058400" cy="1417320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051560" y="3977639"/>
            <a:ext cx="82296" cy="141732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07592" y="4123943"/>
            <a:ext cx="9582912" cy="41148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700" b="1">
                <a:solidFill>
                  <a:srgbClr val="1F6FEB"/>
                </a:solidFill>
                <a:latin typeface="Arial"/>
              </a:rPr>
              <a:t>Teaching point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07592" y="4617719"/>
            <a:ext cx="9582912" cy="667512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500" b="0">
                <a:solidFill>
                  <a:srgbClr val="5B6372"/>
                </a:solidFill>
                <a:latin typeface="Arial"/>
              </a:rPr>
              <a:t>The page captures and displays; the flow orchestrates; the agent interprets approved knowledge.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6492240"/>
            <a:ext cx="10835640" cy="18288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Business Process Automation with Power Automate and Copilot Studio Agents   |   84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47472"/>
            <a:ext cx="10789920" cy="256032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SHARED WORKFLOW VISUAL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789920" cy="566928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Lab 9 — Finance Agent Web Chat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3716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20040" y="1572768"/>
            <a:ext cx="11548872" cy="45720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6587" y="2483344"/>
            <a:ext cx="11018520" cy="2430807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14400" y="5852160"/>
            <a:ext cx="10332720" cy="256032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100" b="0">
                <a:solidFill>
                  <a:srgbClr val="5B6372"/>
                </a:solidFill>
                <a:latin typeface="Arial"/>
              </a:rPr>
              <a:t>Shared workflow visual — follow the arrows from the trigger through actions to the expected outcome.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6492240"/>
            <a:ext cx="10835640" cy="18288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Business Process Automation with Power Automate and Copilot Studio Agents   |   85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47472"/>
            <a:ext cx="10789920" cy="256032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EDUCATIONAL USE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789920" cy="566928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Lab 9 — Finance Knowledge Boundary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3716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828800"/>
            <a:ext cx="3383280" cy="3977639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828800"/>
            <a:ext cx="82296" cy="3977639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59536" y="2029968"/>
            <a:ext cx="457200" cy="457200"/>
          </a:xfrm>
          <a:prstGeom prst="ellipse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536" y="2029968"/>
            <a:ext cx="457200" cy="45720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26464" y="1975104"/>
            <a:ext cx="2423160" cy="41148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700" b="1">
                <a:solidFill>
                  <a:srgbClr val="16845B"/>
                </a:solidFill>
                <a:latin typeface="Arial"/>
              </a:rPr>
              <a:t>Explain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68880"/>
            <a:ext cx="2907792" cy="3227831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400" b="0">
                <a:solidFill>
                  <a:srgbClr val="5B6372"/>
                </a:solidFill>
                <a:latin typeface="Arial"/>
              </a:rPr>
              <a:t>Orders, candles, timeframes, volatility and news concepts.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15968" y="1828800"/>
            <a:ext cx="3383280" cy="3977639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15968" y="1828800"/>
            <a:ext cx="82296" cy="3977639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517136" y="2029968"/>
            <a:ext cx="457200" cy="457200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17136" y="2029968"/>
            <a:ext cx="457200" cy="45720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84064" y="1975104"/>
            <a:ext cx="2423160" cy="41148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700" b="1">
                <a:solidFill>
                  <a:srgbClr val="1F6FEB"/>
                </a:solidFill>
                <a:latin typeface="Arial"/>
              </a:rPr>
              <a:t>Qualify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2468880"/>
            <a:ext cx="2907792" cy="3227831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400" b="0">
                <a:solidFill>
                  <a:srgbClr val="5B6372"/>
                </a:solidFill>
                <a:latin typeface="Arial"/>
              </a:rPr>
              <a:t>Separate facts from interpretation and disclose uncertainty.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973568" y="1828800"/>
            <a:ext cx="3383280" cy="3977639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973568" y="1828800"/>
            <a:ext cx="82296" cy="3977639"/>
          </a:xfrm>
          <a:prstGeom prst="rect">
            <a:avLst/>
          </a:prstGeom>
          <a:solidFill>
            <a:srgbClr val="C241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174736" y="2029968"/>
            <a:ext cx="457200" cy="457200"/>
          </a:xfrm>
          <a:prstGeom prst="ellipse">
            <a:avLst/>
          </a:prstGeom>
          <a:solidFill>
            <a:srgbClr val="C241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174736" y="2029968"/>
            <a:ext cx="457200" cy="45720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741664" y="1975104"/>
            <a:ext cx="2423160" cy="41148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700" b="1">
                <a:solidFill>
                  <a:srgbClr val="C2413A"/>
                </a:solidFill>
                <a:latin typeface="Arial"/>
              </a:rPr>
              <a:t>Refuse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0" y="2468880"/>
            <a:ext cx="2907792" cy="3227831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400" b="0">
                <a:solidFill>
                  <a:srgbClr val="5B6372"/>
                </a:solidFill>
                <a:latin typeface="Arial"/>
              </a:rPr>
              <a:t>No guaranteed returns or personalised buy/sell instructions.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6492240"/>
            <a:ext cx="10835640" cy="18288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Business Process Automation with Power Automate and Copilot Studio Agents   |   86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47472"/>
            <a:ext cx="10789920" cy="256032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PUBLISHED-AGENT EXECUTION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789920" cy="566928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Lab 9 — Build the HTTP-to-Agent Flow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3716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874519"/>
            <a:ext cx="1830628" cy="1325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947672"/>
            <a:ext cx="1684324" cy="1179576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300" b="1">
                <a:solidFill>
                  <a:srgbClr val="161B26"/>
                </a:solidFill>
                <a:latin typeface="Arial"/>
              </a:rPr>
              <a:t>HTTP prompt</a:t>
            </a:r>
          </a:p>
        </p:txBody>
      </p:sp>
      <p:sp>
        <p:nvSpPr>
          <p:cNvPr id="8" name="Chevron 7"/>
          <p:cNvSpPr/>
          <p:nvPr/>
        </p:nvSpPr>
        <p:spPr>
          <a:xfrm>
            <a:off x="2543860" y="2382012"/>
            <a:ext cx="274320" cy="310896"/>
          </a:xfrm>
          <a:prstGeom prst="chevron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909620" y="1874519"/>
            <a:ext cx="1830628" cy="1325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82772" y="1947672"/>
            <a:ext cx="1684324" cy="1179576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300" b="1">
                <a:solidFill>
                  <a:srgbClr val="161B26"/>
                </a:solidFill>
                <a:latin typeface="Arial"/>
              </a:rPr>
              <a:t>Run Finance Agent</a:t>
            </a:r>
          </a:p>
        </p:txBody>
      </p:sp>
      <p:sp>
        <p:nvSpPr>
          <p:cNvPr id="11" name="Chevron 10"/>
          <p:cNvSpPr/>
          <p:nvPr/>
        </p:nvSpPr>
        <p:spPr>
          <a:xfrm>
            <a:off x="4795112" y="2382012"/>
            <a:ext cx="274320" cy="310896"/>
          </a:xfrm>
          <a:prstGeom prst="chevron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160873" y="1874519"/>
            <a:ext cx="1830628" cy="1325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234025" y="1947672"/>
            <a:ext cx="1684324" cy="1179576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300" b="1">
                <a:solidFill>
                  <a:srgbClr val="161B26"/>
                </a:solidFill>
                <a:latin typeface="Arial"/>
              </a:rPr>
              <a:t>Capture response</a:t>
            </a:r>
          </a:p>
        </p:txBody>
      </p:sp>
      <p:sp>
        <p:nvSpPr>
          <p:cNvPr id="14" name="Chevron 13"/>
          <p:cNvSpPr/>
          <p:nvPr/>
        </p:nvSpPr>
        <p:spPr>
          <a:xfrm>
            <a:off x="7046365" y="2382012"/>
            <a:ext cx="274320" cy="310896"/>
          </a:xfrm>
          <a:prstGeom prst="chevron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7412126" y="1874519"/>
            <a:ext cx="1830628" cy="1325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85278" y="1947672"/>
            <a:ext cx="1684324" cy="1179576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300" b="1">
                <a:solidFill>
                  <a:srgbClr val="161B26"/>
                </a:solidFill>
                <a:latin typeface="Arial"/>
              </a:rPr>
              <a:t>Add disclaimer</a:t>
            </a:r>
          </a:p>
        </p:txBody>
      </p:sp>
      <p:sp>
        <p:nvSpPr>
          <p:cNvPr id="17" name="Chevron 16"/>
          <p:cNvSpPr/>
          <p:nvPr/>
        </p:nvSpPr>
        <p:spPr>
          <a:xfrm>
            <a:off x="9297618" y="2382012"/>
            <a:ext cx="274320" cy="310896"/>
          </a:xfrm>
          <a:prstGeom prst="chevron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663379" y="1874519"/>
            <a:ext cx="1830628" cy="1325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736531" y="1947672"/>
            <a:ext cx="1684324" cy="1179576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300" b="1">
                <a:solidFill>
                  <a:srgbClr val="161B26"/>
                </a:solidFill>
                <a:latin typeface="Arial"/>
              </a:rPr>
              <a:t>Return JSON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51560" y="3977639"/>
            <a:ext cx="10058400" cy="1417320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051560" y="3977639"/>
            <a:ext cx="82296" cy="141732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07592" y="4123943"/>
            <a:ext cx="9582912" cy="41148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700" b="1">
                <a:solidFill>
                  <a:srgbClr val="1F6FEB"/>
                </a:solidFill>
                <a:latin typeface="Arial"/>
              </a:rPr>
              <a:t>Teaching point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07592" y="4617719"/>
            <a:ext cx="9582912" cy="667512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500" b="0">
                <a:solidFill>
                  <a:srgbClr val="5B6372"/>
                </a:solidFill>
                <a:latin typeface="Arial"/>
              </a:rPr>
              <a:t>One browser message should create one flow run and one bounded agent response.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6492240"/>
            <a:ext cx="10835640" cy="18288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Business Process Automation with Power Automate and Copilot Studio Agents   |   87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47472"/>
            <a:ext cx="10789920" cy="256032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LEARNER-ENTERED WEBHOOK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789920" cy="566928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Lab 9 — Connect the Finance Chat Page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3716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874519"/>
            <a:ext cx="2393441" cy="1325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947672"/>
            <a:ext cx="2247137" cy="1179576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300" b="1">
                <a:solidFill>
                  <a:srgbClr val="161B26"/>
                </a:solidFill>
                <a:latin typeface="Arial"/>
              </a:rPr>
              <a:t>Paste URL</a:t>
            </a:r>
          </a:p>
        </p:txBody>
      </p:sp>
      <p:sp>
        <p:nvSpPr>
          <p:cNvPr id="8" name="Chevron 7"/>
          <p:cNvSpPr/>
          <p:nvPr/>
        </p:nvSpPr>
        <p:spPr>
          <a:xfrm>
            <a:off x="3106674" y="2382012"/>
            <a:ext cx="274320" cy="310896"/>
          </a:xfrm>
          <a:prstGeom prst="chevron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472433" y="1874519"/>
            <a:ext cx="2393441" cy="1325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45585" y="1947672"/>
            <a:ext cx="2247137" cy="1179576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300" b="1">
                <a:solidFill>
                  <a:srgbClr val="161B26"/>
                </a:solidFill>
                <a:latin typeface="Arial"/>
              </a:rPr>
              <a:t>Send prompt</a:t>
            </a:r>
          </a:p>
        </p:txBody>
      </p:sp>
      <p:sp>
        <p:nvSpPr>
          <p:cNvPr id="11" name="Chevron 10"/>
          <p:cNvSpPr/>
          <p:nvPr/>
        </p:nvSpPr>
        <p:spPr>
          <a:xfrm>
            <a:off x="5920739" y="2382012"/>
            <a:ext cx="274320" cy="310896"/>
          </a:xfrm>
          <a:prstGeom prst="chevron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286499" y="1874519"/>
            <a:ext cx="2393441" cy="1325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59651" y="1947672"/>
            <a:ext cx="2247137" cy="1179576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300" b="1">
                <a:solidFill>
                  <a:srgbClr val="161B26"/>
                </a:solidFill>
                <a:latin typeface="Arial"/>
              </a:rPr>
              <a:t>Render reply</a:t>
            </a:r>
          </a:p>
        </p:txBody>
      </p:sp>
      <p:sp>
        <p:nvSpPr>
          <p:cNvPr id="14" name="Chevron 13"/>
          <p:cNvSpPr/>
          <p:nvPr/>
        </p:nvSpPr>
        <p:spPr>
          <a:xfrm>
            <a:off x="8734805" y="2382012"/>
            <a:ext cx="274320" cy="310896"/>
          </a:xfrm>
          <a:prstGeom prst="chevron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9100565" y="1874519"/>
            <a:ext cx="2393441" cy="1325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73717" y="1947672"/>
            <a:ext cx="2247137" cy="1179576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300" b="1">
                <a:solidFill>
                  <a:srgbClr val="161B26"/>
                </a:solidFill>
                <a:latin typeface="Arial"/>
              </a:rPr>
              <a:t>Show disclaimer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1560" y="3977639"/>
            <a:ext cx="10058400" cy="1417320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051560" y="3977639"/>
            <a:ext cx="82296" cy="141732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07592" y="4123943"/>
            <a:ext cx="9582912" cy="41148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700" b="1">
                <a:solidFill>
                  <a:srgbClr val="1F6FEB"/>
                </a:solidFill>
                <a:latin typeface="Arial"/>
              </a:rPr>
              <a:t>Teaching point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07592" y="4617719"/>
            <a:ext cx="9582912" cy="667512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500" b="0">
                <a:solidFill>
                  <a:srgbClr val="5B6372"/>
                </a:solidFill>
                <a:latin typeface="Arial"/>
              </a:rPr>
              <a:t>Store the URL only in the learner's browser and never commit it to the repository.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6492240"/>
            <a:ext cx="10835640" cy="18288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Business Process Automation with Power Automate and Copilot Studio Agents   |   88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47472"/>
            <a:ext cx="10789920" cy="256032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EVIDENCE SET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789920" cy="566928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Lab 9 — Grounding and Safety Tests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3716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828800"/>
            <a:ext cx="3383280" cy="3977639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828800"/>
            <a:ext cx="82296" cy="3977639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59536" y="2029968"/>
            <a:ext cx="457200" cy="457200"/>
          </a:xfrm>
          <a:prstGeom prst="ellipse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536" y="2029968"/>
            <a:ext cx="457200" cy="45720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26464" y="1975104"/>
            <a:ext cx="2423160" cy="41148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700" b="1">
                <a:solidFill>
                  <a:srgbClr val="16845B"/>
                </a:solidFill>
                <a:latin typeface="Arial"/>
              </a:rPr>
              <a:t>Known concept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68880"/>
            <a:ext cx="2907792" cy="3227831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400" b="0">
                <a:solidFill>
                  <a:srgbClr val="5B6372"/>
                </a:solidFill>
                <a:latin typeface="Arial"/>
              </a:rPr>
              <a:t>Ask about a market versus limit order.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15968" y="1828800"/>
            <a:ext cx="3383280" cy="3977639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15968" y="1828800"/>
            <a:ext cx="82296" cy="3977639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517136" y="2029968"/>
            <a:ext cx="457200" cy="457200"/>
          </a:xfrm>
          <a:prstGeom prst="ellipse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17136" y="2029968"/>
            <a:ext cx="457200" cy="45720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84064" y="1975104"/>
            <a:ext cx="2423160" cy="41148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700" b="1">
                <a:solidFill>
                  <a:srgbClr val="C77600"/>
                </a:solidFill>
                <a:latin typeface="Arial"/>
              </a:rPr>
              <a:t>Uncertainty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2468880"/>
            <a:ext cx="2907792" cy="3227831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400" b="0">
                <a:solidFill>
                  <a:srgbClr val="5B6372"/>
                </a:solidFill>
                <a:latin typeface="Arial"/>
              </a:rPr>
              <a:t>Ask something absent from the knowledge source.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973568" y="1828800"/>
            <a:ext cx="3383280" cy="3977639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973568" y="1828800"/>
            <a:ext cx="82296" cy="3977639"/>
          </a:xfrm>
          <a:prstGeom prst="rect">
            <a:avLst/>
          </a:prstGeom>
          <a:solidFill>
            <a:srgbClr val="C241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174736" y="2029968"/>
            <a:ext cx="457200" cy="457200"/>
          </a:xfrm>
          <a:prstGeom prst="ellipse">
            <a:avLst/>
          </a:prstGeom>
          <a:solidFill>
            <a:srgbClr val="C241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174736" y="2029968"/>
            <a:ext cx="457200" cy="45720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741664" y="1975104"/>
            <a:ext cx="2423160" cy="41148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700" b="1">
                <a:solidFill>
                  <a:srgbClr val="C2413A"/>
                </a:solidFill>
                <a:latin typeface="Arial"/>
              </a:rPr>
              <a:t>Boundary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0" y="2468880"/>
            <a:ext cx="2907792" cy="3227831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400" b="0">
                <a:solidFill>
                  <a:srgbClr val="5B6372"/>
                </a:solidFill>
                <a:latin typeface="Arial"/>
              </a:rPr>
              <a:t>Request a guaranteed return and verify refusal.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6492240"/>
            <a:ext cx="10835640" cy="18288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Business Process Automation with Power Automate and Copilot Studio Agents   |   89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47472"/>
            <a:ext cx="10789920" cy="256032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ACTION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789920" cy="566928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Tools and APIs Supply Live Context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3716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828800"/>
            <a:ext cx="3383280" cy="3977639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828800"/>
            <a:ext cx="82296" cy="3977639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59536" y="2029968"/>
            <a:ext cx="457200" cy="457200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536" y="2029968"/>
            <a:ext cx="457200" cy="45720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26464" y="1975104"/>
            <a:ext cx="2423160" cy="41148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700" b="1">
                <a:solidFill>
                  <a:srgbClr val="1F6FEB"/>
                </a:solidFill>
                <a:latin typeface="Arial"/>
              </a:rPr>
              <a:t>Tool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68880"/>
            <a:ext cx="2907792" cy="3227831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400" b="0">
                <a:solidFill>
                  <a:srgbClr val="5B6372"/>
                </a:solidFill>
                <a:latin typeface="Arial"/>
              </a:rPr>
              <a:t>A governed function the agent or flow is authorised to call.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15968" y="1828800"/>
            <a:ext cx="3383280" cy="3977639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15968" y="1828800"/>
            <a:ext cx="82296" cy="3977639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517136" y="2029968"/>
            <a:ext cx="457200" cy="457200"/>
          </a:xfrm>
          <a:prstGeom prst="ellipse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17136" y="2029968"/>
            <a:ext cx="457200" cy="45720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84064" y="1975104"/>
            <a:ext cx="2423160" cy="41148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700" b="1">
                <a:solidFill>
                  <a:srgbClr val="108A73"/>
                </a:solidFill>
                <a:latin typeface="Arial"/>
              </a:rPr>
              <a:t>API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2468880"/>
            <a:ext cx="2907792" cy="3227831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400" b="0">
                <a:solidFill>
                  <a:srgbClr val="5B6372"/>
                </a:solidFill>
                <a:latin typeface="Arial"/>
              </a:rPr>
              <a:t>A structured contract for requesting data from an external service.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973568" y="1828800"/>
            <a:ext cx="3383280" cy="3977639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973568" y="1828800"/>
            <a:ext cx="82296" cy="3977639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174736" y="2029968"/>
            <a:ext cx="457200" cy="457200"/>
          </a:xfrm>
          <a:prstGeom prst="ellipse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174736" y="2029968"/>
            <a:ext cx="457200" cy="45720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741664" y="1975104"/>
            <a:ext cx="2423160" cy="41148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700" b="1">
                <a:solidFill>
                  <a:srgbClr val="6D3FD2"/>
                </a:solidFill>
                <a:latin typeface="Arial"/>
              </a:rPr>
              <a:t>Output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0" y="2468880"/>
            <a:ext cx="2907792" cy="3227831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400" b="0">
                <a:solidFill>
                  <a:srgbClr val="5B6372"/>
                </a:solidFill>
                <a:latin typeface="Arial"/>
              </a:rPr>
              <a:t>Validated tool data becomes evidence—not an automatic conclusion.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6492240"/>
            <a:ext cx="10835640" cy="18288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Business Process Automation with Power Automate and Copilot Studio Agents   |   90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47472"/>
            <a:ext cx="10789920" cy="256032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MARKET CONTEXT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789920" cy="566928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Multi-Timeframe Analysis Compares Different Horizons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3716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874519"/>
            <a:ext cx="1830628" cy="1325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947672"/>
            <a:ext cx="1684324" cy="1179576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300" b="1">
                <a:solidFill>
                  <a:srgbClr val="161B26"/>
                </a:solidFill>
                <a:latin typeface="Arial"/>
              </a:rPr>
              <a:t>1-minute candles</a:t>
            </a:r>
          </a:p>
        </p:txBody>
      </p:sp>
      <p:sp>
        <p:nvSpPr>
          <p:cNvPr id="8" name="Chevron 7"/>
          <p:cNvSpPr/>
          <p:nvPr/>
        </p:nvSpPr>
        <p:spPr>
          <a:xfrm>
            <a:off x="2543860" y="2382012"/>
            <a:ext cx="274320" cy="310896"/>
          </a:xfrm>
          <a:prstGeom prst="chevron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909620" y="1874519"/>
            <a:ext cx="1830628" cy="1325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82772" y="1947672"/>
            <a:ext cx="1684324" cy="1179576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300" b="1">
                <a:solidFill>
                  <a:srgbClr val="161B26"/>
                </a:solidFill>
                <a:latin typeface="Arial"/>
              </a:rPr>
              <a:t>15-minute candles</a:t>
            </a:r>
          </a:p>
        </p:txBody>
      </p:sp>
      <p:sp>
        <p:nvSpPr>
          <p:cNvPr id="11" name="Chevron 10"/>
          <p:cNvSpPr/>
          <p:nvPr/>
        </p:nvSpPr>
        <p:spPr>
          <a:xfrm>
            <a:off x="4795112" y="2382012"/>
            <a:ext cx="274320" cy="310896"/>
          </a:xfrm>
          <a:prstGeom prst="chevron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160873" y="1874519"/>
            <a:ext cx="1830628" cy="1325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234025" y="1947672"/>
            <a:ext cx="1684324" cy="1179576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300" b="1">
                <a:solidFill>
                  <a:srgbClr val="161B26"/>
                </a:solidFill>
                <a:latin typeface="Arial"/>
              </a:rPr>
              <a:t>1-hour candles</a:t>
            </a:r>
          </a:p>
        </p:txBody>
      </p:sp>
      <p:sp>
        <p:nvSpPr>
          <p:cNvPr id="14" name="Chevron 13"/>
          <p:cNvSpPr/>
          <p:nvPr/>
        </p:nvSpPr>
        <p:spPr>
          <a:xfrm>
            <a:off x="7046365" y="2382012"/>
            <a:ext cx="274320" cy="310896"/>
          </a:xfrm>
          <a:prstGeom prst="chevron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7412126" y="1874519"/>
            <a:ext cx="1830628" cy="1325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85278" y="1947672"/>
            <a:ext cx="1684324" cy="1179576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300" b="1">
                <a:solidFill>
                  <a:srgbClr val="161B26"/>
                </a:solidFill>
                <a:latin typeface="Arial"/>
              </a:rPr>
              <a:t>Compare direction</a:t>
            </a:r>
          </a:p>
        </p:txBody>
      </p:sp>
      <p:sp>
        <p:nvSpPr>
          <p:cNvPr id="17" name="Chevron 16"/>
          <p:cNvSpPr/>
          <p:nvPr/>
        </p:nvSpPr>
        <p:spPr>
          <a:xfrm>
            <a:off x="9297618" y="2382012"/>
            <a:ext cx="274320" cy="310896"/>
          </a:xfrm>
          <a:prstGeom prst="chevron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663379" y="1874519"/>
            <a:ext cx="1830628" cy="1325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736531" y="1947672"/>
            <a:ext cx="1684324" cy="1179576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300" b="1">
                <a:solidFill>
                  <a:srgbClr val="161B26"/>
                </a:solidFill>
                <a:latin typeface="Arial"/>
              </a:rPr>
              <a:t>Explain conflict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51560" y="3977639"/>
            <a:ext cx="10058400" cy="1417320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051560" y="3977639"/>
            <a:ext cx="82296" cy="141732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07592" y="4123943"/>
            <a:ext cx="9582912" cy="41148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700" b="1">
                <a:solidFill>
                  <a:srgbClr val="1F6FEB"/>
                </a:solidFill>
                <a:latin typeface="Arial"/>
              </a:rPr>
              <a:t>Teaching point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07592" y="4617719"/>
            <a:ext cx="9582912" cy="667512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500" b="0">
                <a:solidFill>
                  <a:srgbClr val="5B6372"/>
                </a:solidFill>
                <a:latin typeface="Arial"/>
              </a:rPr>
              <a:t>Short intervals contain more noise; a responsible answer preserves conflicting evidence.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6492240"/>
            <a:ext cx="10835640" cy="18288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Business Process Automation with Power Automate and Copilot Studio Agents   |   91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47472"/>
            <a:ext cx="10789920" cy="256032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RECENT INFORMATION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789920" cy="566928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News Adds Context, Not Certainty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3716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828800"/>
            <a:ext cx="3383280" cy="3977639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828800"/>
            <a:ext cx="82296" cy="3977639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59536" y="2029968"/>
            <a:ext cx="457200" cy="457200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536" y="2029968"/>
            <a:ext cx="457200" cy="45720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26464" y="1975104"/>
            <a:ext cx="2423160" cy="41148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700" b="1">
                <a:solidFill>
                  <a:srgbClr val="1F6FEB"/>
                </a:solidFill>
                <a:latin typeface="Arial"/>
              </a:rPr>
              <a:t>Time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68880"/>
            <a:ext cx="2907792" cy="3227831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400" b="0">
                <a:solidFill>
                  <a:srgbClr val="5B6372"/>
                </a:solidFill>
                <a:latin typeface="Arial"/>
              </a:rPr>
              <a:t>Check when the event and article were published.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15968" y="1828800"/>
            <a:ext cx="3383280" cy="3977639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15968" y="1828800"/>
            <a:ext cx="82296" cy="3977639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517136" y="2029968"/>
            <a:ext cx="457200" cy="457200"/>
          </a:xfrm>
          <a:prstGeom prst="ellipse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17136" y="2029968"/>
            <a:ext cx="457200" cy="45720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84064" y="1975104"/>
            <a:ext cx="2423160" cy="41148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700" b="1">
                <a:solidFill>
                  <a:srgbClr val="108A73"/>
                </a:solidFill>
                <a:latin typeface="Arial"/>
              </a:rPr>
              <a:t>Source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2468880"/>
            <a:ext cx="2907792" cy="3227831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400" b="0">
                <a:solidFill>
                  <a:srgbClr val="5B6372"/>
                </a:solidFill>
                <a:latin typeface="Arial"/>
              </a:rPr>
              <a:t>Prefer relevant, credible reporting and identify gaps.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973568" y="1828800"/>
            <a:ext cx="3383280" cy="3977639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973568" y="1828800"/>
            <a:ext cx="82296" cy="3977639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174736" y="2029968"/>
            <a:ext cx="457200" cy="457200"/>
          </a:xfrm>
          <a:prstGeom prst="ellipse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174736" y="2029968"/>
            <a:ext cx="457200" cy="45720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741664" y="1975104"/>
            <a:ext cx="2423160" cy="41148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700" b="1">
                <a:solidFill>
                  <a:srgbClr val="6D3FD2"/>
                </a:solidFill>
                <a:latin typeface="Arial"/>
              </a:rPr>
              <a:t>Impact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0" y="2468880"/>
            <a:ext cx="2907792" cy="3227831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400" b="0">
                <a:solidFill>
                  <a:srgbClr val="5B6372"/>
                </a:solidFill>
                <a:latin typeface="Arial"/>
              </a:rPr>
              <a:t>Relate news cautiously; price may already reflect it.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6492240"/>
            <a:ext cx="10835640" cy="18288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Business Process Automation with Power Automate and Copilot Studio Agents   |   92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47472"/>
            <a:ext cx="10789920" cy="256032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SECRET HANDLING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789920" cy="566928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Keep Credentials on the Server Side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3716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828800"/>
            <a:ext cx="3383280" cy="3977639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828800"/>
            <a:ext cx="82296" cy="3977639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59536" y="2029968"/>
            <a:ext cx="457200" cy="457200"/>
          </a:xfrm>
          <a:prstGeom prst="ellipse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536" y="2029968"/>
            <a:ext cx="457200" cy="45720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26464" y="1975104"/>
            <a:ext cx="2423160" cy="41148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700" b="1">
                <a:solidFill>
                  <a:srgbClr val="16845B"/>
                </a:solidFill>
                <a:latin typeface="Arial"/>
              </a:rPr>
              <a:t>Store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68880"/>
            <a:ext cx="2907792" cy="3227831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400" b="0">
                <a:solidFill>
                  <a:srgbClr val="5B6372"/>
                </a:solidFill>
                <a:latin typeface="Arial"/>
              </a:rPr>
              <a:t>Use protected connections, environment variables or a custom connector.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15968" y="1828800"/>
            <a:ext cx="3383280" cy="3977639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15968" y="1828800"/>
            <a:ext cx="82296" cy="3977639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517136" y="2029968"/>
            <a:ext cx="457200" cy="457200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17136" y="2029968"/>
            <a:ext cx="457200" cy="45720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84064" y="1975104"/>
            <a:ext cx="2423160" cy="41148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700" b="1">
                <a:solidFill>
                  <a:srgbClr val="1F6FEB"/>
                </a:solidFill>
                <a:latin typeface="Arial"/>
              </a:rPr>
              <a:t>Protect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2468880"/>
            <a:ext cx="2907792" cy="3227831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400" b="0">
                <a:solidFill>
                  <a:srgbClr val="5B6372"/>
                </a:solidFill>
                <a:latin typeface="Arial"/>
              </a:rPr>
              <a:t>Enable secure inputs and outputs where credentials appear.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973568" y="1828800"/>
            <a:ext cx="3383280" cy="3977639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973568" y="1828800"/>
            <a:ext cx="82296" cy="3977639"/>
          </a:xfrm>
          <a:prstGeom prst="rect">
            <a:avLst/>
          </a:prstGeom>
          <a:solidFill>
            <a:srgbClr val="C241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174736" y="2029968"/>
            <a:ext cx="457200" cy="457200"/>
          </a:xfrm>
          <a:prstGeom prst="ellipse">
            <a:avLst/>
          </a:prstGeom>
          <a:solidFill>
            <a:srgbClr val="C241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174736" y="2029968"/>
            <a:ext cx="457200" cy="45720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741664" y="1975104"/>
            <a:ext cx="2423160" cy="41148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700" b="1">
                <a:solidFill>
                  <a:srgbClr val="C2413A"/>
                </a:solidFill>
                <a:latin typeface="Arial"/>
              </a:rPr>
              <a:t>Never expose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0" y="2468880"/>
            <a:ext cx="2907792" cy="3227831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400" b="0">
                <a:solidFill>
                  <a:srgbClr val="5B6372"/>
                </a:solidFill>
                <a:latin typeface="Arial"/>
              </a:rPr>
              <a:t>No API keys in HTML, prompts, source control or screenshots.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6492240"/>
            <a:ext cx="10835640" cy="18288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Business Process Automation with Power Automate and Copilot Studio Agents   |   93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47472"/>
            <a:ext cx="10789920" cy="256032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RESPONSIBLE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789920" cy="566928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Guardrails Constrain the Finance Advisor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3716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874519"/>
            <a:ext cx="1830628" cy="1325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947672"/>
            <a:ext cx="1684324" cy="1179576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300" b="1">
                <a:solidFill>
                  <a:srgbClr val="161B26"/>
                </a:solidFill>
                <a:latin typeface="Arial"/>
              </a:rPr>
              <a:t>Validate symbol</a:t>
            </a:r>
          </a:p>
        </p:txBody>
      </p:sp>
      <p:sp>
        <p:nvSpPr>
          <p:cNvPr id="8" name="Chevron 7"/>
          <p:cNvSpPr/>
          <p:nvPr/>
        </p:nvSpPr>
        <p:spPr>
          <a:xfrm>
            <a:off x="2543860" y="2382012"/>
            <a:ext cx="274320" cy="310896"/>
          </a:xfrm>
          <a:prstGeom prst="chevron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909620" y="1874519"/>
            <a:ext cx="1830628" cy="1325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82772" y="1947672"/>
            <a:ext cx="1684324" cy="1179576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300" b="1">
                <a:solidFill>
                  <a:srgbClr val="161B26"/>
                </a:solidFill>
                <a:latin typeface="Arial"/>
              </a:rPr>
              <a:t>Limit data</a:t>
            </a:r>
          </a:p>
        </p:txBody>
      </p:sp>
      <p:sp>
        <p:nvSpPr>
          <p:cNvPr id="11" name="Chevron 10"/>
          <p:cNvSpPr/>
          <p:nvPr/>
        </p:nvSpPr>
        <p:spPr>
          <a:xfrm>
            <a:off x="4795112" y="2382012"/>
            <a:ext cx="274320" cy="310896"/>
          </a:xfrm>
          <a:prstGeom prst="chevron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160873" y="1874519"/>
            <a:ext cx="1830628" cy="1325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234025" y="1947672"/>
            <a:ext cx="1684324" cy="1179576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300" b="1">
                <a:solidFill>
                  <a:srgbClr val="161B26"/>
                </a:solidFill>
                <a:latin typeface="Arial"/>
              </a:rPr>
              <a:t>Separate facts</a:t>
            </a:r>
          </a:p>
        </p:txBody>
      </p:sp>
      <p:sp>
        <p:nvSpPr>
          <p:cNvPr id="14" name="Chevron 13"/>
          <p:cNvSpPr/>
          <p:nvPr/>
        </p:nvSpPr>
        <p:spPr>
          <a:xfrm>
            <a:off x="7046365" y="2382012"/>
            <a:ext cx="274320" cy="310896"/>
          </a:xfrm>
          <a:prstGeom prst="chevron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7412126" y="1874519"/>
            <a:ext cx="1830628" cy="1325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85278" y="1947672"/>
            <a:ext cx="1684324" cy="1179576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300" b="1">
                <a:solidFill>
                  <a:srgbClr val="161B26"/>
                </a:solidFill>
                <a:latin typeface="Arial"/>
              </a:rPr>
              <a:t>State uncertainty</a:t>
            </a:r>
          </a:p>
        </p:txBody>
      </p:sp>
      <p:sp>
        <p:nvSpPr>
          <p:cNvPr id="17" name="Chevron 16"/>
          <p:cNvSpPr/>
          <p:nvPr/>
        </p:nvSpPr>
        <p:spPr>
          <a:xfrm>
            <a:off x="9297618" y="2382012"/>
            <a:ext cx="274320" cy="310896"/>
          </a:xfrm>
          <a:prstGeom prst="chevron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663379" y="1874519"/>
            <a:ext cx="1830628" cy="1325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736531" y="1947672"/>
            <a:ext cx="1684324" cy="1179576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300" b="1">
                <a:solidFill>
                  <a:srgbClr val="161B26"/>
                </a:solidFill>
                <a:latin typeface="Arial"/>
              </a:rPr>
              <a:t>End with risk note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51560" y="3977639"/>
            <a:ext cx="10058400" cy="1417320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051560" y="3977639"/>
            <a:ext cx="82296" cy="141732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07592" y="4123943"/>
            <a:ext cx="9582912" cy="41148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700" b="1">
                <a:solidFill>
                  <a:srgbClr val="1F6FEB"/>
                </a:solidFill>
                <a:latin typeface="Arial"/>
              </a:rPr>
              <a:t>Teaching point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07592" y="4617719"/>
            <a:ext cx="9582912" cy="667512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500" b="0">
                <a:solidFill>
                  <a:srgbClr val="5B6372"/>
                </a:solidFill>
                <a:latin typeface="Arial"/>
              </a:rPr>
              <a:t>The agent provides educational analysis and never promises returns or gives personalised instructions.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6492240"/>
            <a:ext cx="10835640" cy="18288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Business Process Automation with Power Automate and Copilot Studio Agents   |   94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47472"/>
            <a:ext cx="10789920" cy="256032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SHARED WORKFLOW VISUAL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789920" cy="566928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Lab 10 — AI Trading Advisor Website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3716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20040" y="1572768"/>
            <a:ext cx="11548872" cy="45720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6587" y="2378481"/>
            <a:ext cx="11018520" cy="264053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14400" y="5852160"/>
            <a:ext cx="10332720" cy="256032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100" b="0">
                <a:solidFill>
                  <a:srgbClr val="5B6372"/>
                </a:solidFill>
                <a:latin typeface="Arial"/>
              </a:rPr>
              <a:t>Shared workflow visual — follow the arrows from the trigger through actions to the expected outcome.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6492240"/>
            <a:ext cx="10835640" cy="18288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Business Process Automation with Power Automate and Copilot Studio Agents   |   95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47472"/>
            <a:ext cx="10789920" cy="256032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TOOL INVENTORY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789920" cy="566928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Lab 10 — Authorised Data and Agent Tools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3716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828800"/>
            <a:ext cx="3383280" cy="3977639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828800"/>
            <a:ext cx="82296" cy="3977639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59536" y="2029968"/>
            <a:ext cx="457200" cy="457200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536" y="2029968"/>
            <a:ext cx="457200" cy="45720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26464" y="1975104"/>
            <a:ext cx="2423160" cy="41148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700" b="1">
                <a:solidFill>
                  <a:srgbClr val="1F6FEB"/>
                </a:solidFill>
                <a:latin typeface="Arial"/>
              </a:rPr>
              <a:t>Twelve Data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68880"/>
            <a:ext cx="2907792" cy="3227831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400" b="0">
                <a:solidFill>
                  <a:srgbClr val="5B6372"/>
                </a:solidFill>
                <a:latin typeface="Arial"/>
              </a:rPr>
              <a:t>Retrieve 1-minute, 15-minute and 1-hour candles.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15968" y="1828800"/>
            <a:ext cx="3383280" cy="3977639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15968" y="1828800"/>
            <a:ext cx="82296" cy="3977639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517136" y="2029968"/>
            <a:ext cx="457200" cy="457200"/>
          </a:xfrm>
          <a:prstGeom prst="ellipse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17136" y="2029968"/>
            <a:ext cx="457200" cy="45720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84064" y="1975104"/>
            <a:ext cx="2423160" cy="41148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700" b="1">
                <a:solidFill>
                  <a:srgbClr val="108A73"/>
                </a:solidFill>
                <a:latin typeface="Arial"/>
              </a:rPr>
              <a:t>NewsAPI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2468880"/>
            <a:ext cx="2907792" cy="3227831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400" b="0">
                <a:solidFill>
                  <a:srgbClr val="5B6372"/>
                </a:solidFill>
                <a:latin typeface="Arial"/>
              </a:rPr>
              <a:t>Retrieve recent symbol or company news.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973568" y="1828800"/>
            <a:ext cx="3383280" cy="3977639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973568" y="1828800"/>
            <a:ext cx="82296" cy="3977639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174736" y="2029968"/>
            <a:ext cx="457200" cy="457200"/>
          </a:xfrm>
          <a:prstGeom prst="ellipse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174736" y="2029968"/>
            <a:ext cx="457200" cy="45720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741664" y="1975104"/>
            <a:ext cx="2423160" cy="41148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700" b="1">
                <a:solidFill>
                  <a:srgbClr val="6D3FD2"/>
                </a:solidFill>
                <a:latin typeface="Arial"/>
              </a:rPr>
              <a:t>Finance Advisor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0" y="2468880"/>
            <a:ext cx="2907792" cy="3227831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400" b="0">
                <a:solidFill>
                  <a:srgbClr val="5B6372"/>
                </a:solidFill>
                <a:latin typeface="Arial"/>
              </a:rPr>
              <a:t>Compare evidence and return bounded analysis.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6492240"/>
            <a:ext cx="10835640" cy="18288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Business Process Automation with Power Automate and Copilot Studio Agents   |   96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47472"/>
            <a:ext cx="10789920" cy="256032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CONSISTENT DATA GRAIN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789920" cy="566928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Lab 10 — Build the Three Candle Requests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3716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874519"/>
            <a:ext cx="1830628" cy="1325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947672"/>
            <a:ext cx="1684324" cy="1179576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300" b="1">
                <a:solidFill>
                  <a:srgbClr val="161B26"/>
                </a:solidFill>
                <a:latin typeface="Arial"/>
              </a:rPr>
              <a:t>Validate symbol</a:t>
            </a:r>
          </a:p>
        </p:txBody>
      </p:sp>
      <p:sp>
        <p:nvSpPr>
          <p:cNvPr id="8" name="Chevron 7"/>
          <p:cNvSpPr/>
          <p:nvPr/>
        </p:nvSpPr>
        <p:spPr>
          <a:xfrm>
            <a:off x="2543860" y="2382012"/>
            <a:ext cx="274320" cy="310896"/>
          </a:xfrm>
          <a:prstGeom prst="chevron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909620" y="1874519"/>
            <a:ext cx="1830628" cy="1325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82772" y="1947672"/>
            <a:ext cx="1684324" cy="1179576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300" b="1">
                <a:solidFill>
                  <a:srgbClr val="161B26"/>
                </a:solidFill>
                <a:latin typeface="Arial"/>
              </a:rPr>
              <a:t>Call 1-minute</a:t>
            </a:r>
          </a:p>
        </p:txBody>
      </p:sp>
      <p:sp>
        <p:nvSpPr>
          <p:cNvPr id="11" name="Chevron 10"/>
          <p:cNvSpPr/>
          <p:nvPr/>
        </p:nvSpPr>
        <p:spPr>
          <a:xfrm>
            <a:off x="4795112" y="2382012"/>
            <a:ext cx="274320" cy="310896"/>
          </a:xfrm>
          <a:prstGeom prst="chevron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160873" y="1874519"/>
            <a:ext cx="1830628" cy="1325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234025" y="1947672"/>
            <a:ext cx="1684324" cy="1179576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300" b="1">
                <a:solidFill>
                  <a:srgbClr val="161B26"/>
                </a:solidFill>
                <a:latin typeface="Arial"/>
              </a:rPr>
              <a:t>Call 15-minute</a:t>
            </a:r>
          </a:p>
        </p:txBody>
      </p:sp>
      <p:sp>
        <p:nvSpPr>
          <p:cNvPr id="14" name="Chevron 13"/>
          <p:cNvSpPr/>
          <p:nvPr/>
        </p:nvSpPr>
        <p:spPr>
          <a:xfrm>
            <a:off x="7046365" y="2382012"/>
            <a:ext cx="274320" cy="310896"/>
          </a:xfrm>
          <a:prstGeom prst="chevron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7412126" y="1874519"/>
            <a:ext cx="1830628" cy="1325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85278" y="1947672"/>
            <a:ext cx="1684324" cy="1179576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300" b="1">
                <a:solidFill>
                  <a:srgbClr val="161B26"/>
                </a:solidFill>
                <a:latin typeface="Arial"/>
              </a:rPr>
              <a:t>Call 1-hour</a:t>
            </a:r>
          </a:p>
        </p:txBody>
      </p:sp>
      <p:sp>
        <p:nvSpPr>
          <p:cNvPr id="17" name="Chevron 16"/>
          <p:cNvSpPr/>
          <p:nvPr/>
        </p:nvSpPr>
        <p:spPr>
          <a:xfrm>
            <a:off x="9297618" y="2382012"/>
            <a:ext cx="274320" cy="310896"/>
          </a:xfrm>
          <a:prstGeom prst="chevron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663379" y="1874519"/>
            <a:ext cx="1830628" cy="1325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736531" y="1947672"/>
            <a:ext cx="1684324" cy="1179576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300" b="1">
                <a:solidFill>
                  <a:srgbClr val="161B26"/>
                </a:solidFill>
                <a:latin typeface="Arial"/>
              </a:rPr>
              <a:t>Check provider status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51560" y="3977639"/>
            <a:ext cx="10058400" cy="1417320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051560" y="3977639"/>
            <a:ext cx="82296" cy="141732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07592" y="4123943"/>
            <a:ext cx="9582912" cy="41148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700" b="1">
                <a:solidFill>
                  <a:srgbClr val="1F6FEB"/>
                </a:solidFill>
                <a:latin typeface="Arial"/>
              </a:rPr>
              <a:t>Teaching point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07592" y="4617719"/>
            <a:ext cx="9582912" cy="667512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500" b="0">
                <a:solidFill>
                  <a:srgbClr val="5B6372"/>
                </a:solidFill>
                <a:latin typeface="Arial"/>
              </a:rPr>
              <a:t>Use the same symbol and comparable result limits so the agent can contrast the intervals.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6492240"/>
            <a:ext cx="10835640" cy="18288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Business Process Automation with Power Automate and Copilot Studio Agents   |   97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47472"/>
            <a:ext cx="10789920" cy="256032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NEWS TOOL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789920" cy="566928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Lab 10 — Retrieve Recent News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3716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874519"/>
            <a:ext cx="1830628" cy="1325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947672"/>
            <a:ext cx="1684324" cy="1179576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300" b="1">
                <a:solidFill>
                  <a:srgbClr val="161B26"/>
                </a:solidFill>
                <a:latin typeface="Arial"/>
              </a:rPr>
              <a:t>Query symbol</a:t>
            </a:r>
          </a:p>
        </p:txBody>
      </p:sp>
      <p:sp>
        <p:nvSpPr>
          <p:cNvPr id="8" name="Chevron 7"/>
          <p:cNvSpPr/>
          <p:nvPr/>
        </p:nvSpPr>
        <p:spPr>
          <a:xfrm>
            <a:off x="2543860" y="2382012"/>
            <a:ext cx="274320" cy="310896"/>
          </a:xfrm>
          <a:prstGeom prst="chevron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909620" y="1874519"/>
            <a:ext cx="1830628" cy="1325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82772" y="1947672"/>
            <a:ext cx="1684324" cy="1179576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300" b="1">
                <a:solidFill>
                  <a:srgbClr val="161B26"/>
                </a:solidFill>
                <a:latin typeface="Arial"/>
              </a:rPr>
              <a:t>Limit articles</a:t>
            </a:r>
          </a:p>
        </p:txBody>
      </p:sp>
      <p:sp>
        <p:nvSpPr>
          <p:cNvPr id="11" name="Chevron 10"/>
          <p:cNvSpPr/>
          <p:nvPr/>
        </p:nvSpPr>
        <p:spPr>
          <a:xfrm>
            <a:off x="4795112" y="2382012"/>
            <a:ext cx="274320" cy="310896"/>
          </a:xfrm>
          <a:prstGeom prst="chevron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160873" y="1874519"/>
            <a:ext cx="1830628" cy="1325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234025" y="1947672"/>
            <a:ext cx="1684324" cy="1179576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300" b="1">
                <a:solidFill>
                  <a:srgbClr val="161B26"/>
                </a:solidFill>
                <a:latin typeface="Arial"/>
              </a:rPr>
              <a:t>Check time</a:t>
            </a:r>
          </a:p>
        </p:txBody>
      </p:sp>
      <p:sp>
        <p:nvSpPr>
          <p:cNvPr id="14" name="Chevron 13"/>
          <p:cNvSpPr/>
          <p:nvPr/>
        </p:nvSpPr>
        <p:spPr>
          <a:xfrm>
            <a:off x="7046365" y="2382012"/>
            <a:ext cx="274320" cy="310896"/>
          </a:xfrm>
          <a:prstGeom prst="chevron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7412126" y="1874519"/>
            <a:ext cx="1830628" cy="1325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85278" y="1947672"/>
            <a:ext cx="1684324" cy="1179576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300" b="1">
                <a:solidFill>
                  <a:srgbClr val="161B26"/>
                </a:solidFill>
                <a:latin typeface="Arial"/>
              </a:rPr>
              <a:t>Check source</a:t>
            </a:r>
          </a:p>
        </p:txBody>
      </p:sp>
      <p:sp>
        <p:nvSpPr>
          <p:cNvPr id="17" name="Chevron 16"/>
          <p:cNvSpPr/>
          <p:nvPr/>
        </p:nvSpPr>
        <p:spPr>
          <a:xfrm>
            <a:off x="9297618" y="2382012"/>
            <a:ext cx="274320" cy="310896"/>
          </a:xfrm>
          <a:prstGeom prst="chevron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663379" y="1874519"/>
            <a:ext cx="1830628" cy="1325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736531" y="1947672"/>
            <a:ext cx="1684324" cy="1179576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300" b="1">
                <a:solidFill>
                  <a:srgbClr val="161B26"/>
                </a:solidFill>
                <a:latin typeface="Arial"/>
              </a:rPr>
              <a:t>Return compact context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51560" y="3977639"/>
            <a:ext cx="10058400" cy="1417320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051560" y="3977639"/>
            <a:ext cx="82296" cy="141732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07592" y="4123943"/>
            <a:ext cx="9582912" cy="41148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700" b="1">
                <a:solidFill>
                  <a:srgbClr val="1F6FEB"/>
                </a:solidFill>
                <a:latin typeface="Arial"/>
              </a:rPr>
              <a:t>Teaching point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07592" y="4617719"/>
            <a:ext cx="9582912" cy="667512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500" b="0">
                <a:solidFill>
                  <a:srgbClr val="5B6372"/>
                </a:solidFill>
                <a:latin typeface="Arial"/>
              </a:rPr>
              <a:t>Keep the news payload small and preserve provider errors instead of hiding them.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6492240"/>
            <a:ext cx="10835640" cy="18288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Business Process Automation with Power Automate and Copilot Studio Agents   |   98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47472"/>
            <a:ext cx="10789920" cy="256032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CREDENTIAL CONTROLS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789920" cy="566928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Lab 10 — Secure the External Calls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3716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828800"/>
            <a:ext cx="3383280" cy="3977639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828800"/>
            <a:ext cx="82296" cy="3977639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59536" y="2029968"/>
            <a:ext cx="457200" cy="457200"/>
          </a:xfrm>
          <a:prstGeom prst="ellipse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536" y="2029968"/>
            <a:ext cx="457200" cy="45720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26464" y="1975104"/>
            <a:ext cx="2423160" cy="41148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700" b="1">
                <a:solidFill>
                  <a:srgbClr val="16845B"/>
                </a:solidFill>
                <a:latin typeface="Arial"/>
              </a:rPr>
              <a:t>Connection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68880"/>
            <a:ext cx="2907792" cy="3227831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400" b="0">
                <a:solidFill>
                  <a:srgbClr val="5B6372"/>
                </a:solidFill>
                <a:latin typeface="Arial"/>
              </a:rPr>
              <a:t>Keep provider credentials in protected server-side configuration.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15968" y="1828800"/>
            <a:ext cx="3383280" cy="3977639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15968" y="1828800"/>
            <a:ext cx="82296" cy="3977639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517136" y="2029968"/>
            <a:ext cx="457200" cy="457200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17136" y="2029968"/>
            <a:ext cx="457200" cy="45720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84064" y="1975104"/>
            <a:ext cx="2423160" cy="41148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700" b="1">
                <a:solidFill>
                  <a:srgbClr val="1F6FEB"/>
                </a:solidFill>
                <a:latin typeface="Arial"/>
              </a:rPr>
              <a:t>Observability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2468880"/>
            <a:ext cx="2907792" cy="3227831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400" b="0">
                <a:solidFill>
                  <a:srgbClr val="5B6372"/>
                </a:solidFill>
                <a:latin typeface="Arial"/>
              </a:rPr>
              <a:t>Log status and latency without recording secrets.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973568" y="1828800"/>
            <a:ext cx="3383280" cy="3977639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973568" y="1828800"/>
            <a:ext cx="82296" cy="3977639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174736" y="2029968"/>
            <a:ext cx="457200" cy="457200"/>
          </a:xfrm>
          <a:prstGeom prst="ellipse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174736" y="2029968"/>
            <a:ext cx="457200" cy="45720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741664" y="1975104"/>
            <a:ext cx="2423160" cy="41148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700" b="1">
                <a:solidFill>
                  <a:srgbClr val="C77600"/>
                </a:solidFill>
                <a:latin typeface="Arial"/>
              </a:rPr>
              <a:t>Failure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0" y="2468880"/>
            <a:ext cx="2907792" cy="3227831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400" b="0">
                <a:solidFill>
                  <a:srgbClr val="5B6372"/>
                </a:solidFill>
                <a:latin typeface="Arial"/>
              </a:rPr>
              <a:t>Return a safe partial-result message when a provider is unavailable.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6492240"/>
            <a:ext cx="10835640" cy="18288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Business Process Automation with Power Automate and Copilot Studio Agents   |   99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47472"/>
            <a:ext cx="10789920" cy="256032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EVIDENCE BUNDLE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789920" cy="566928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Lab 10 — Compose the Agent Input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3716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874519"/>
            <a:ext cx="1830628" cy="1325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947672"/>
            <a:ext cx="1684324" cy="1179576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300" b="1">
                <a:solidFill>
                  <a:srgbClr val="161B26"/>
                </a:solidFill>
                <a:latin typeface="Arial"/>
              </a:rPr>
              <a:t>User question</a:t>
            </a:r>
          </a:p>
        </p:txBody>
      </p:sp>
      <p:sp>
        <p:nvSpPr>
          <p:cNvPr id="8" name="Chevron 7"/>
          <p:cNvSpPr/>
          <p:nvPr/>
        </p:nvSpPr>
        <p:spPr>
          <a:xfrm>
            <a:off x="2543860" y="2382012"/>
            <a:ext cx="274320" cy="310896"/>
          </a:xfrm>
          <a:prstGeom prst="chevron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909620" y="1874519"/>
            <a:ext cx="1830628" cy="1325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82772" y="1947672"/>
            <a:ext cx="1684324" cy="1179576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300" b="1">
                <a:solidFill>
                  <a:srgbClr val="161B26"/>
                </a:solidFill>
                <a:latin typeface="Arial"/>
              </a:rPr>
              <a:t>Three candle sets</a:t>
            </a:r>
          </a:p>
        </p:txBody>
      </p:sp>
      <p:sp>
        <p:nvSpPr>
          <p:cNvPr id="11" name="Chevron 10"/>
          <p:cNvSpPr/>
          <p:nvPr/>
        </p:nvSpPr>
        <p:spPr>
          <a:xfrm>
            <a:off x="4795112" y="2382012"/>
            <a:ext cx="274320" cy="310896"/>
          </a:xfrm>
          <a:prstGeom prst="chevron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160873" y="1874519"/>
            <a:ext cx="1830628" cy="1325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234025" y="1947672"/>
            <a:ext cx="1684324" cy="1179576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300" b="1">
                <a:solidFill>
                  <a:srgbClr val="161B26"/>
                </a:solidFill>
                <a:latin typeface="Arial"/>
              </a:rPr>
              <a:t>Recent news</a:t>
            </a:r>
          </a:p>
        </p:txBody>
      </p:sp>
      <p:sp>
        <p:nvSpPr>
          <p:cNvPr id="14" name="Chevron 13"/>
          <p:cNvSpPr/>
          <p:nvPr/>
        </p:nvSpPr>
        <p:spPr>
          <a:xfrm>
            <a:off x="7046365" y="2382012"/>
            <a:ext cx="274320" cy="310896"/>
          </a:xfrm>
          <a:prstGeom prst="chevron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7412126" y="1874519"/>
            <a:ext cx="1830628" cy="1325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85278" y="1947672"/>
            <a:ext cx="1684324" cy="1179576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300" b="1">
                <a:solidFill>
                  <a:srgbClr val="161B26"/>
                </a:solidFill>
                <a:latin typeface="Arial"/>
              </a:rPr>
              <a:t>Instructions</a:t>
            </a:r>
          </a:p>
        </p:txBody>
      </p:sp>
      <p:sp>
        <p:nvSpPr>
          <p:cNvPr id="17" name="Chevron 16"/>
          <p:cNvSpPr/>
          <p:nvPr/>
        </p:nvSpPr>
        <p:spPr>
          <a:xfrm>
            <a:off x="9297618" y="2382012"/>
            <a:ext cx="274320" cy="310896"/>
          </a:xfrm>
          <a:prstGeom prst="chevron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663379" y="1874519"/>
            <a:ext cx="1830628" cy="1325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736531" y="1947672"/>
            <a:ext cx="1684324" cy="1179576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300" b="1">
                <a:solidFill>
                  <a:srgbClr val="161B26"/>
                </a:solidFill>
                <a:latin typeface="Arial"/>
              </a:rPr>
              <a:t>Finance Advisor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51560" y="3977639"/>
            <a:ext cx="10058400" cy="1417320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051560" y="3977639"/>
            <a:ext cx="82296" cy="141732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07592" y="4123943"/>
            <a:ext cx="9582912" cy="41148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700" b="1">
                <a:solidFill>
                  <a:srgbClr val="1F6FEB"/>
                </a:solidFill>
                <a:latin typeface="Arial"/>
              </a:rPr>
              <a:t>Teaching point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07592" y="4617719"/>
            <a:ext cx="9582912" cy="667512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500" b="0">
                <a:solidFill>
                  <a:srgbClr val="5B6372"/>
                </a:solidFill>
                <a:latin typeface="Arial"/>
              </a:rPr>
              <a:t>Tell the agent which observations are data, which are user context, and which rules are mandatory.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6492240"/>
            <a:ext cx="10835640" cy="18288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Business Process Automation with Power Automate and Copilot Studio Agents   |   100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47472"/>
            <a:ext cx="10789920" cy="256032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WEBSITE RESPONSE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789920" cy="566928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Lab 10 — Return Structured JSON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3716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874519"/>
            <a:ext cx="2393441" cy="1325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947672"/>
            <a:ext cx="2247137" cy="1179576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300" b="1">
                <a:solidFill>
                  <a:srgbClr val="161B26"/>
                </a:solidFill>
                <a:latin typeface="Arial"/>
              </a:rPr>
              <a:t>symbol</a:t>
            </a:r>
          </a:p>
        </p:txBody>
      </p:sp>
      <p:sp>
        <p:nvSpPr>
          <p:cNvPr id="8" name="Chevron 7"/>
          <p:cNvSpPr/>
          <p:nvPr/>
        </p:nvSpPr>
        <p:spPr>
          <a:xfrm>
            <a:off x="3106674" y="2382012"/>
            <a:ext cx="274320" cy="310896"/>
          </a:xfrm>
          <a:prstGeom prst="chevron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472433" y="1874519"/>
            <a:ext cx="2393441" cy="1325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45585" y="1947672"/>
            <a:ext cx="2247137" cy="1179576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300" b="1">
                <a:solidFill>
                  <a:srgbClr val="161B26"/>
                </a:solidFill>
                <a:latin typeface="Arial"/>
              </a:rPr>
              <a:t>analysis</a:t>
            </a:r>
          </a:p>
        </p:txBody>
      </p:sp>
      <p:sp>
        <p:nvSpPr>
          <p:cNvPr id="11" name="Chevron 10"/>
          <p:cNvSpPr/>
          <p:nvPr/>
        </p:nvSpPr>
        <p:spPr>
          <a:xfrm>
            <a:off x="5920739" y="2382012"/>
            <a:ext cx="274320" cy="310896"/>
          </a:xfrm>
          <a:prstGeom prst="chevron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286499" y="1874519"/>
            <a:ext cx="2393441" cy="1325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59651" y="1947672"/>
            <a:ext cx="2247137" cy="1179576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300" b="1">
                <a:solidFill>
                  <a:srgbClr val="161B26"/>
                </a:solidFill>
                <a:latin typeface="Arial"/>
              </a:rPr>
              <a:t>uncertainty</a:t>
            </a:r>
          </a:p>
        </p:txBody>
      </p:sp>
      <p:sp>
        <p:nvSpPr>
          <p:cNvPr id="14" name="Chevron 13"/>
          <p:cNvSpPr/>
          <p:nvPr/>
        </p:nvSpPr>
        <p:spPr>
          <a:xfrm>
            <a:off x="8734805" y="2382012"/>
            <a:ext cx="274320" cy="310896"/>
          </a:xfrm>
          <a:prstGeom prst="chevron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9100565" y="1874519"/>
            <a:ext cx="2393441" cy="1325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73717" y="1947672"/>
            <a:ext cx="2247137" cy="1179576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300" b="1">
                <a:solidFill>
                  <a:srgbClr val="161B26"/>
                </a:solidFill>
                <a:latin typeface="Arial"/>
              </a:rPr>
              <a:t>risk note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1560" y="3977639"/>
            <a:ext cx="10058400" cy="1417320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051560" y="3977639"/>
            <a:ext cx="82296" cy="141732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07592" y="4123943"/>
            <a:ext cx="9582912" cy="41148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700" b="1">
                <a:solidFill>
                  <a:srgbClr val="1F6FEB"/>
                </a:solidFill>
                <a:latin typeface="Arial"/>
              </a:rPr>
              <a:t>Teaching point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07592" y="4617719"/>
            <a:ext cx="9582912" cy="667512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500" b="0">
                <a:solidFill>
                  <a:srgbClr val="5B6372"/>
                </a:solidFill>
                <a:latin typeface="Arial"/>
              </a:rPr>
              <a:t>A stable response contract lets the website render success and errors predictably.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6492240"/>
            <a:ext cx="10835640" cy="18288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Business Process Automation with Power Automate and Copilot Studio Agents   |   101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47472"/>
            <a:ext cx="10789920" cy="256032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INTERACTIVE FRONT 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789920" cy="566928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Lab 10 — Embed TradingView Separately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3716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874519"/>
            <a:ext cx="1830628" cy="1325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947672"/>
            <a:ext cx="1684324" cy="1179576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300" b="1">
                <a:solidFill>
                  <a:srgbClr val="161B26"/>
                </a:solidFill>
                <a:latin typeface="Arial"/>
              </a:rPr>
              <a:t>Enter symbol</a:t>
            </a:r>
          </a:p>
        </p:txBody>
      </p:sp>
      <p:sp>
        <p:nvSpPr>
          <p:cNvPr id="8" name="Chevron 7"/>
          <p:cNvSpPr/>
          <p:nvPr/>
        </p:nvSpPr>
        <p:spPr>
          <a:xfrm>
            <a:off x="2543860" y="2382012"/>
            <a:ext cx="274320" cy="310896"/>
          </a:xfrm>
          <a:prstGeom prst="chevron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909620" y="1874519"/>
            <a:ext cx="1830628" cy="1325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82772" y="1947672"/>
            <a:ext cx="1684324" cy="1179576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300" b="1">
                <a:solidFill>
                  <a:srgbClr val="161B26"/>
                </a:solidFill>
                <a:latin typeface="Arial"/>
              </a:rPr>
              <a:t>Update chart</a:t>
            </a:r>
          </a:p>
        </p:txBody>
      </p:sp>
      <p:sp>
        <p:nvSpPr>
          <p:cNvPr id="11" name="Chevron 10"/>
          <p:cNvSpPr/>
          <p:nvPr/>
        </p:nvSpPr>
        <p:spPr>
          <a:xfrm>
            <a:off x="4795112" y="2382012"/>
            <a:ext cx="274320" cy="310896"/>
          </a:xfrm>
          <a:prstGeom prst="chevron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160873" y="1874519"/>
            <a:ext cx="1830628" cy="1325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234025" y="1947672"/>
            <a:ext cx="1684324" cy="1179576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300" b="1">
                <a:solidFill>
                  <a:srgbClr val="161B26"/>
                </a:solidFill>
                <a:latin typeface="Arial"/>
              </a:rPr>
              <a:t>Paste webhook</a:t>
            </a:r>
          </a:p>
        </p:txBody>
      </p:sp>
      <p:sp>
        <p:nvSpPr>
          <p:cNvPr id="14" name="Chevron 13"/>
          <p:cNvSpPr/>
          <p:nvPr/>
        </p:nvSpPr>
        <p:spPr>
          <a:xfrm>
            <a:off x="7046365" y="2382012"/>
            <a:ext cx="274320" cy="310896"/>
          </a:xfrm>
          <a:prstGeom prst="chevron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7412126" y="1874519"/>
            <a:ext cx="1830628" cy="1325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85278" y="1947672"/>
            <a:ext cx="1684324" cy="1179576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300" b="1">
                <a:solidFill>
                  <a:srgbClr val="161B26"/>
                </a:solidFill>
                <a:latin typeface="Arial"/>
              </a:rPr>
              <a:t>Ask agent</a:t>
            </a:r>
          </a:p>
        </p:txBody>
      </p:sp>
      <p:sp>
        <p:nvSpPr>
          <p:cNvPr id="17" name="Chevron 16"/>
          <p:cNvSpPr/>
          <p:nvPr/>
        </p:nvSpPr>
        <p:spPr>
          <a:xfrm>
            <a:off x="9297618" y="2382012"/>
            <a:ext cx="274320" cy="310896"/>
          </a:xfrm>
          <a:prstGeom prst="chevron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663379" y="1874519"/>
            <a:ext cx="1830628" cy="1325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736531" y="1947672"/>
            <a:ext cx="1684324" cy="1179576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300" b="1">
                <a:solidFill>
                  <a:srgbClr val="161B26"/>
                </a:solidFill>
                <a:latin typeface="Arial"/>
              </a:rPr>
              <a:t>Render analysis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51560" y="3977639"/>
            <a:ext cx="10058400" cy="1417320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051560" y="3977639"/>
            <a:ext cx="82296" cy="141732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07592" y="4123943"/>
            <a:ext cx="9582912" cy="41148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700" b="1">
                <a:solidFill>
                  <a:srgbClr val="1F6FEB"/>
                </a:solidFill>
                <a:latin typeface="Arial"/>
              </a:rPr>
              <a:t>Teaching point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07592" y="4617719"/>
            <a:ext cx="9582912" cy="667512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500" b="0">
                <a:solidFill>
                  <a:srgbClr val="5B6372"/>
                </a:solidFill>
                <a:latin typeface="Arial"/>
              </a:rPr>
              <a:t>TradingView visualisation and agent analysis are related but independently testable components.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6492240"/>
            <a:ext cx="10835640" cy="18288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Business Process Automation with Power Automate and Copilot Studio Agents   |   102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47472"/>
            <a:ext cx="10789920" cy="256032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EXPECTED FAILURES MATTER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789920" cy="566928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Lab 10 — Test the Complete Matrix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3716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828800"/>
            <a:ext cx="3383280" cy="3977639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828800"/>
            <a:ext cx="82296" cy="3977639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59536" y="2029968"/>
            <a:ext cx="457200" cy="457200"/>
          </a:xfrm>
          <a:prstGeom prst="ellipse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536" y="2029968"/>
            <a:ext cx="457200" cy="45720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26464" y="1975104"/>
            <a:ext cx="2423160" cy="41148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700" b="1">
                <a:solidFill>
                  <a:srgbClr val="16845B"/>
                </a:solidFill>
                <a:latin typeface="Arial"/>
              </a:rPr>
              <a:t>Valid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68880"/>
            <a:ext cx="2907792" cy="3227831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400" b="0">
                <a:solidFill>
                  <a:srgbClr val="5B6372"/>
                </a:solidFill>
                <a:latin typeface="Arial"/>
              </a:rPr>
              <a:t>All tools succeed and the response is qualified.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15968" y="1828800"/>
            <a:ext cx="3383280" cy="3977639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15968" y="1828800"/>
            <a:ext cx="82296" cy="3977639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517136" y="2029968"/>
            <a:ext cx="457200" cy="457200"/>
          </a:xfrm>
          <a:prstGeom prst="ellipse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17136" y="2029968"/>
            <a:ext cx="457200" cy="45720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84064" y="1975104"/>
            <a:ext cx="2423160" cy="41148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700" b="1">
                <a:solidFill>
                  <a:srgbClr val="C77600"/>
                </a:solidFill>
                <a:latin typeface="Arial"/>
              </a:rPr>
              <a:t>Partial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2468880"/>
            <a:ext cx="2907792" cy="3227831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400" b="0">
                <a:solidFill>
                  <a:srgbClr val="5B6372"/>
                </a:solidFill>
                <a:latin typeface="Arial"/>
              </a:rPr>
              <a:t>Missing news or conflicting timeframes are disclosed.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973568" y="1828800"/>
            <a:ext cx="3383280" cy="3977639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973568" y="1828800"/>
            <a:ext cx="82296" cy="3977639"/>
          </a:xfrm>
          <a:prstGeom prst="rect">
            <a:avLst/>
          </a:prstGeom>
          <a:solidFill>
            <a:srgbClr val="C241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174736" y="2029968"/>
            <a:ext cx="457200" cy="457200"/>
          </a:xfrm>
          <a:prstGeom prst="ellipse">
            <a:avLst/>
          </a:prstGeom>
          <a:solidFill>
            <a:srgbClr val="C241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174736" y="2029968"/>
            <a:ext cx="457200" cy="45720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741664" y="1975104"/>
            <a:ext cx="2423160" cy="41148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700" b="1">
                <a:solidFill>
                  <a:srgbClr val="C2413A"/>
                </a:solidFill>
                <a:latin typeface="Arial"/>
              </a:rPr>
              <a:t>Invalid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0" y="2468880"/>
            <a:ext cx="2907792" cy="3227831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400" b="0">
                <a:solidFill>
                  <a:srgbClr val="5B6372"/>
                </a:solidFill>
                <a:latin typeface="Arial"/>
              </a:rPr>
              <a:t>Bad symbol or advice request receives a safe response.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6492240"/>
            <a:ext cx="10835640" cy="18288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Business Process Automation with Power Automate and Copilot Studio Agents   |   103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47472"/>
            <a:ext cx="10789920" cy="256032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OBSERVE → REASON → ACT → RESPOND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789920" cy="566928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Lab 10 — Review the End-to-End Trace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3716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874519"/>
            <a:ext cx="1830628" cy="1325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947672"/>
            <a:ext cx="1684324" cy="1179576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300" b="1">
                <a:solidFill>
                  <a:srgbClr val="161B26"/>
                </a:solidFill>
                <a:latin typeface="Arial"/>
              </a:rPr>
              <a:t>Website request</a:t>
            </a:r>
          </a:p>
        </p:txBody>
      </p:sp>
      <p:sp>
        <p:nvSpPr>
          <p:cNvPr id="8" name="Chevron 7"/>
          <p:cNvSpPr/>
          <p:nvPr/>
        </p:nvSpPr>
        <p:spPr>
          <a:xfrm>
            <a:off x="2543860" y="2382012"/>
            <a:ext cx="274320" cy="310896"/>
          </a:xfrm>
          <a:prstGeom prst="chevron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909620" y="1874519"/>
            <a:ext cx="1830628" cy="1325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82772" y="1947672"/>
            <a:ext cx="1684324" cy="1179576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300" b="1">
                <a:solidFill>
                  <a:srgbClr val="161B26"/>
                </a:solidFill>
                <a:latin typeface="Arial"/>
              </a:rPr>
              <a:t>Power Automate run</a:t>
            </a:r>
          </a:p>
        </p:txBody>
      </p:sp>
      <p:sp>
        <p:nvSpPr>
          <p:cNvPr id="11" name="Chevron 10"/>
          <p:cNvSpPr/>
          <p:nvPr/>
        </p:nvSpPr>
        <p:spPr>
          <a:xfrm>
            <a:off x="4795112" y="2382012"/>
            <a:ext cx="274320" cy="310896"/>
          </a:xfrm>
          <a:prstGeom prst="chevron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160873" y="1874519"/>
            <a:ext cx="1830628" cy="1325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234025" y="1947672"/>
            <a:ext cx="1684324" cy="1179576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300" b="1">
                <a:solidFill>
                  <a:srgbClr val="161B26"/>
                </a:solidFill>
                <a:latin typeface="Arial"/>
              </a:rPr>
              <a:t>Tool outputs</a:t>
            </a:r>
          </a:p>
        </p:txBody>
      </p:sp>
      <p:sp>
        <p:nvSpPr>
          <p:cNvPr id="14" name="Chevron 13"/>
          <p:cNvSpPr/>
          <p:nvPr/>
        </p:nvSpPr>
        <p:spPr>
          <a:xfrm>
            <a:off x="7046365" y="2382012"/>
            <a:ext cx="274320" cy="310896"/>
          </a:xfrm>
          <a:prstGeom prst="chevron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7412126" y="1874519"/>
            <a:ext cx="1830628" cy="1325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85278" y="1947672"/>
            <a:ext cx="1684324" cy="1179576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300" b="1">
                <a:solidFill>
                  <a:srgbClr val="161B26"/>
                </a:solidFill>
                <a:latin typeface="Arial"/>
              </a:rPr>
              <a:t>Agent response</a:t>
            </a:r>
          </a:p>
        </p:txBody>
      </p:sp>
      <p:sp>
        <p:nvSpPr>
          <p:cNvPr id="17" name="Chevron 16"/>
          <p:cNvSpPr/>
          <p:nvPr/>
        </p:nvSpPr>
        <p:spPr>
          <a:xfrm>
            <a:off x="9297618" y="2382012"/>
            <a:ext cx="274320" cy="310896"/>
          </a:xfrm>
          <a:prstGeom prst="chevron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663379" y="1874519"/>
            <a:ext cx="1830628" cy="1325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736531" y="1947672"/>
            <a:ext cx="1684324" cy="1179576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300" b="1">
                <a:solidFill>
                  <a:srgbClr val="161B26"/>
                </a:solidFill>
                <a:latin typeface="Arial"/>
              </a:rPr>
              <a:t>Browser result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51560" y="3977639"/>
            <a:ext cx="10058400" cy="1417320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051560" y="3977639"/>
            <a:ext cx="82296" cy="141732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07592" y="4123943"/>
            <a:ext cx="9582912" cy="41148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700" b="1">
                <a:solidFill>
                  <a:srgbClr val="1F6FEB"/>
                </a:solidFill>
                <a:latin typeface="Arial"/>
              </a:rPr>
              <a:t>Teaching point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07592" y="4617719"/>
            <a:ext cx="9582912" cy="667512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500" b="0">
                <a:solidFill>
                  <a:srgbClr val="5B6372"/>
                </a:solidFill>
                <a:latin typeface="Arial"/>
              </a:rPr>
              <a:t>Each boundary must have a clear owner, observable input/output and safe failure behaviour.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6492240"/>
            <a:ext cx="10835640" cy="18288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Business Process Automation with Power Automate and Copilot Studio Agents   |   104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47472"/>
            <a:ext cx="10789920" cy="256032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FROM FLOW MAKER TO AGENT BUILDER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789920" cy="566928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Course Recap — The Big Picture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3716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691640"/>
            <a:ext cx="3246120" cy="4297680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691640"/>
            <a:ext cx="82296" cy="429768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59536" y="1892808"/>
            <a:ext cx="457200" cy="457200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536" y="1892808"/>
            <a:ext cx="457200" cy="45720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26464" y="1837944"/>
            <a:ext cx="2286000" cy="41148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700" b="1">
                <a:solidFill>
                  <a:srgbClr val="1F6FEB"/>
                </a:solidFill>
                <a:latin typeface="Arial"/>
              </a:rPr>
              <a:t>1 — Automate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331720"/>
            <a:ext cx="2770632" cy="3547872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700" b="0">
                <a:solidFill>
                  <a:srgbClr val="5B6372"/>
                </a:solidFill>
                <a:latin typeface="Arial"/>
              </a:rPr>
              <a:t>Instant
Scheduled
Automated
Approval
HTTP</a:t>
            </a:r>
          </a:p>
        </p:txBody>
      </p:sp>
      <p:sp>
        <p:nvSpPr>
          <p:cNvPr id="12" name="Chevron 11"/>
          <p:cNvSpPr/>
          <p:nvPr/>
        </p:nvSpPr>
        <p:spPr>
          <a:xfrm>
            <a:off x="4087368" y="3429000"/>
            <a:ext cx="530352" cy="457200"/>
          </a:xfrm>
          <a:prstGeom prst="chevron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709160" y="1691640"/>
            <a:ext cx="3246120" cy="4297680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709160" y="1691640"/>
            <a:ext cx="82296" cy="4297680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910328" y="1892808"/>
            <a:ext cx="457200" cy="457200"/>
          </a:xfrm>
          <a:prstGeom prst="ellipse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910328" y="1892808"/>
            <a:ext cx="457200" cy="45720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77256" y="1837944"/>
            <a:ext cx="2286000" cy="41148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700" b="1">
                <a:solidFill>
                  <a:srgbClr val="6D3FD2"/>
                </a:solidFill>
                <a:latin typeface="Arial"/>
              </a:rPr>
              <a:t>2 — Add the agent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65192" y="2331720"/>
            <a:ext cx="2770632" cy="3547872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700" b="0">
                <a:solidFill>
                  <a:srgbClr val="5B6372"/>
                </a:solidFill>
                <a:latin typeface="Arial"/>
              </a:rPr>
              <a:t>Instructions
RAG knowledge
Teams + website
Confirmed inputs</a:t>
            </a:r>
          </a:p>
        </p:txBody>
      </p:sp>
      <p:sp>
        <p:nvSpPr>
          <p:cNvPr id="19" name="Chevron 18"/>
          <p:cNvSpPr/>
          <p:nvPr/>
        </p:nvSpPr>
        <p:spPr>
          <a:xfrm>
            <a:off x="8138160" y="3429000"/>
            <a:ext cx="530352" cy="457200"/>
          </a:xfrm>
          <a:prstGeom prst="chevron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759952" y="1691640"/>
            <a:ext cx="2743200" cy="4297680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759952" y="1691640"/>
            <a:ext cx="82296" cy="4297680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961120" y="1892808"/>
            <a:ext cx="457200" cy="457200"/>
          </a:xfrm>
          <a:prstGeom prst="ellipse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961120" y="1892808"/>
            <a:ext cx="457200" cy="45720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528048" y="1837944"/>
            <a:ext cx="1783080" cy="41148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700" b="1">
                <a:solidFill>
                  <a:srgbClr val="16845B"/>
                </a:solidFill>
                <a:latin typeface="Arial"/>
              </a:rPr>
              <a:t>3 — Let it act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15984" y="2331720"/>
            <a:ext cx="2267712" cy="3547872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700" b="0">
                <a:solidFill>
                  <a:srgbClr val="5B6372"/>
                </a:solidFill>
                <a:latin typeface="Arial"/>
              </a:rPr>
              <a:t>Agent flow
Prompt flow
Guardrails
Returned result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" y="6492240"/>
            <a:ext cx="10835640" cy="18288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Business Process Automation with Power Automate and Copilot Studio Agents   |   105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47472"/>
            <a:ext cx="10789920" cy="256032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WORKPLACE OPPORTUNITIES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789920" cy="566928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What You Can Automate Next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3716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41248" y="1664208"/>
            <a:ext cx="10515600" cy="640080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24128" y="1773936"/>
            <a:ext cx="420624" cy="42062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24128" y="1773936"/>
            <a:ext cx="420624" cy="420624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27632" y="1664208"/>
            <a:ext cx="9464040" cy="64008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600" b="0">
                <a:solidFill>
                  <a:srgbClr val="161B26"/>
                </a:solidFill>
                <a:latin typeface="Arial"/>
              </a:rPr>
              <a:t>Onboarding: new-hire checklists and welcome emails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41248" y="2505456"/>
            <a:ext cx="10515600" cy="640080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24128" y="2615184"/>
            <a:ext cx="420624" cy="420624"/>
          </a:xfrm>
          <a:prstGeom prst="ellipse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24128" y="2615184"/>
            <a:ext cx="420624" cy="420624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27632" y="2505456"/>
            <a:ext cx="9464040" cy="64008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600" b="0">
                <a:solidFill>
                  <a:srgbClr val="161B26"/>
                </a:solidFill>
                <a:latin typeface="Arial"/>
              </a:rPr>
              <a:t>Reporting: scheduled data pulls and summaries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41248" y="3346704"/>
            <a:ext cx="10515600" cy="640080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024128" y="3456432"/>
            <a:ext cx="420624" cy="420624"/>
          </a:xfrm>
          <a:prstGeom prst="ellipse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24128" y="3456432"/>
            <a:ext cx="420624" cy="420624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7632" y="3346704"/>
            <a:ext cx="9464040" cy="64008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600" b="0">
                <a:solidFill>
                  <a:srgbClr val="161B26"/>
                </a:solidFill>
                <a:latin typeface="Arial"/>
              </a:rPr>
              <a:t>Helpdesk: route requests to the right specialist agent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41248" y="4187952"/>
            <a:ext cx="10515600" cy="640080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24128" y="4297680"/>
            <a:ext cx="420624" cy="420624"/>
          </a:xfrm>
          <a:prstGeom prst="ellipse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24128" y="4297680"/>
            <a:ext cx="420624" cy="420624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27632" y="4187952"/>
            <a:ext cx="9464040" cy="64008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600" b="0">
                <a:solidFill>
                  <a:srgbClr val="161B26"/>
                </a:solidFill>
                <a:latin typeface="Arial"/>
              </a:rPr>
              <a:t>Document handling: filing, approvals and reminders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41248" y="5029200"/>
            <a:ext cx="10515600" cy="640080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024128" y="5138928"/>
            <a:ext cx="420624" cy="420624"/>
          </a:xfrm>
          <a:prstGeom prst="ellipse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24128" y="5138928"/>
            <a:ext cx="420624" cy="420624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27632" y="5029200"/>
            <a:ext cx="9464040" cy="64008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600" b="0">
                <a:solidFill>
                  <a:srgbClr val="161B26"/>
                </a:solidFill>
                <a:latin typeface="Arial"/>
              </a:rPr>
              <a:t>Agent-assisted workflows: interpret language, then perform governed actions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" y="6492240"/>
            <a:ext cx="10835640" cy="18288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Business Process Automation with Power Automate and Copilot Studio Agents   |   106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47472"/>
            <a:ext cx="10789920" cy="256032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BEFORE PRODUCTION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789920" cy="566928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Governance and Operational Readiness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3716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41248" y="1664208"/>
            <a:ext cx="10515600" cy="640080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24128" y="1773936"/>
            <a:ext cx="420624" cy="42062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24128" y="1773936"/>
            <a:ext cx="420624" cy="420624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27632" y="1664208"/>
            <a:ext cx="9464040" cy="64008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600" b="0">
                <a:solidFill>
                  <a:srgbClr val="161B26"/>
                </a:solidFill>
                <a:latin typeface="Arial"/>
              </a:rPr>
              <a:t>Use authenticated endpoints, least privilege and protected credentials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41248" y="2505456"/>
            <a:ext cx="10515600" cy="640080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24128" y="2615184"/>
            <a:ext cx="420624" cy="420624"/>
          </a:xfrm>
          <a:prstGeom prst="ellipse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24128" y="2615184"/>
            <a:ext cx="420624" cy="420624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27632" y="2505456"/>
            <a:ext cx="9464040" cy="64008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600" b="0">
                <a:solidFill>
                  <a:srgbClr val="161B26"/>
                </a:solidFill>
                <a:latin typeface="Arial"/>
              </a:rPr>
              <a:t>Validate inputs and return only the minimum necessary output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41248" y="3346704"/>
            <a:ext cx="10515600" cy="640080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024128" y="3456432"/>
            <a:ext cx="420624" cy="420624"/>
          </a:xfrm>
          <a:prstGeom prst="ellipse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24128" y="3456432"/>
            <a:ext cx="420624" cy="420624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7632" y="3346704"/>
            <a:ext cx="9464040" cy="64008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600" b="0">
                <a:solidFill>
                  <a:srgbClr val="161B26"/>
                </a:solidFill>
                <a:latin typeface="Arial"/>
              </a:rPr>
              <a:t>Keep approvals and high-impact decisions with authorised people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41248" y="4187952"/>
            <a:ext cx="10515600" cy="640080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24128" y="4297680"/>
            <a:ext cx="420624" cy="420624"/>
          </a:xfrm>
          <a:prstGeom prst="ellipse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24128" y="4297680"/>
            <a:ext cx="420624" cy="420624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27632" y="4187952"/>
            <a:ext cx="9464040" cy="64008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600" b="0">
                <a:solidFill>
                  <a:srgbClr val="161B26"/>
                </a:solidFill>
                <a:latin typeface="Arial"/>
              </a:rPr>
              <a:t>Monitor failures, latency, connector health and source freshness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41248" y="5029200"/>
            <a:ext cx="10515600" cy="640080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024128" y="5138928"/>
            <a:ext cx="420624" cy="420624"/>
          </a:xfrm>
          <a:prstGeom prst="ellipse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24128" y="5138928"/>
            <a:ext cx="420624" cy="420624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27632" y="5029200"/>
            <a:ext cx="9464040" cy="64008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600" b="0">
                <a:solidFill>
                  <a:srgbClr val="161B26"/>
                </a:solidFill>
                <a:latin typeface="Arial"/>
              </a:rPr>
              <a:t>Document ownership, evidence, escalation and retirement procedures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" y="6492240"/>
            <a:ext cx="10835640" cy="18288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Business Process Automation with Power Automate and Copilot Studio Agents   |   107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56032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SYNTHESIS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789920" cy="603504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Six Sentences Worth Keeping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3716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737360"/>
            <a:ext cx="10835640" cy="621792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04672" y="1828800"/>
            <a:ext cx="438912" cy="438912"/>
          </a:xfrm>
          <a:prstGeom prst="roundRect">
            <a:avLst/>
          </a:prstGeom>
          <a:solidFill>
            <a:srgbClr val="C24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1828800"/>
            <a:ext cx="438912" cy="438912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737360"/>
            <a:ext cx="9921240" cy="621792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400" b="1">
                <a:solidFill>
                  <a:srgbClr val="161B26"/>
                </a:solidFill>
                <a:latin typeface="Arial"/>
              </a:rPr>
              <a:t>A control the model cannot reach beats a rule you asked it to follow.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2487168"/>
            <a:ext cx="10835640" cy="621792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04672" y="2578608"/>
            <a:ext cx="438912" cy="438912"/>
          </a:xfrm>
          <a:prstGeom prst="roundRect">
            <a:avLst/>
          </a:prstGeom>
          <a:solidFill>
            <a:srgbClr val="C77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2" y="2578608"/>
            <a:ext cx="438912" cy="438912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17320" y="2487168"/>
            <a:ext cx="9921240" cy="621792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400" b="1">
                <a:solidFill>
                  <a:srgbClr val="161B26"/>
                </a:solidFill>
                <a:latin typeface="Arial"/>
              </a:rPr>
              <a:t>A reference to nothing resolves to empty, not to an error.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3236976"/>
            <a:ext cx="10835640" cy="621792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04672" y="3328416"/>
            <a:ext cx="438912" cy="438912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672" y="3328416"/>
            <a:ext cx="438912" cy="438912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17320" y="3236976"/>
            <a:ext cx="9921240" cy="621792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400" b="1">
                <a:solidFill>
                  <a:srgbClr val="161B26"/>
                </a:solidFill>
                <a:latin typeface="Arial"/>
              </a:rPr>
              <a:t>Commit the record of the obligation before you create the obligation.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3986783"/>
            <a:ext cx="10835640" cy="621792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04672" y="4078223"/>
            <a:ext cx="438912" cy="438912"/>
          </a:xfrm>
          <a:prstGeom prst="roundRect">
            <a:avLst/>
          </a:prstGeom>
          <a:solidFill>
            <a:srgbClr val="6D3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4672" y="4078223"/>
            <a:ext cx="438912" cy="438912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17320" y="3986783"/>
            <a:ext cx="9921240" cy="621792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400" b="1">
                <a:solidFill>
                  <a:srgbClr val="161B26"/>
                </a:solidFill>
                <a:latin typeface="Arial"/>
              </a:rPr>
              <a:t>The AI decides what to do; deterministic actions do what must always happen.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4736592"/>
            <a:ext cx="10835640" cy="621792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04672" y="4828032"/>
            <a:ext cx="438912" cy="438912"/>
          </a:xfrm>
          <a:prstGeom prst="round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4672" y="4828032"/>
            <a:ext cx="438912" cy="438912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17320" y="4736592"/>
            <a:ext cx="9921240" cy="621792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400" b="1">
                <a:solidFill>
                  <a:srgbClr val="161B26"/>
                </a:solidFill>
                <a:latin typeface="Arial"/>
              </a:rPr>
              <a:t>A pause that will still be paused tomorrow is a real gate.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58368" y="5486400"/>
            <a:ext cx="10835640" cy="621792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804672" y="5577840"/>
            <a:ext cx="438912" cy="438912"/>
          </a:xfrm>
          <a:prstGeom prst="roundRect">
            <a:avLst/>
          </a:prstGeom>
          <a:solidFill>
            <a:srgbClr val="108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04672" y="5577840"/>
            <a:ext cx="438912" cy="438912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417320" y="5486400"/>
            <a:ext cx="9921240" cy="621792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400" b="1">
                <a:solidFill>
                  <a:srgbClr val="161B26"/>
                </a:solidFill>
                <a:latin typeface="Arial"/>
              </a:rPr>
              <a:t>Retrieval decides whether generation can possibly be right.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8368" y="6035040"/>
            <a:ext cx="10835640" cy="27432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200" b="0">
                <a:solidFill>
                  <a:srgbClr val="5B6372"/>
                </a:solidFill>
                <a:latin typeface="Arial"/>
              </a:rPr>
              <a:t>Six sentences. If you keep only these, you can rebuild the judgement behind every lab in this course.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Business Process Automation with Power Automate &amp; Copilot Studio Agents  ·  TGS-2022017524  ·  © 2026 Tertiary Infotech Academy Pte Ltd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60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COURSE PORTAL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Courseware &amp; Assessment on the LMS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8308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>
                <a:solidFill>
                  <a:srgbClr val="161B26"/>
                </a:solidFill>
                <a:latin typeface="Arial"/>
              </a:rPr>
              <a:t>•  Download the slides and the Learner Guide from the LMS for the open-book assessment.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161B26"/>
                </a:solidFill>
                <a:latin typeface="Arial"/>
              </a:rPr>
              <a:t>•  Portal: https://lms-tms.tertiaryinfotech.com/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161B26"/>
                </a:solidFill>
                <a:latin typeface="Arial"/>
              </a:rPr>
              <a:t>•  Submit your Written Assessment and Practical Performance answers on the LMS.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161B26"/>
                </a:solidFill>
                <a:latin typeface="Arial"/>
              </a:rPr>
              <a:t>•  Complete the TRAQOM survey via the QR code on the LMS.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73952"/>
            <a:ext cx="84124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Business Process Automation with Power Automate &amp; Copilot Studio Agents  ·  TGS-2022017524  ·  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73952"/>
            <a:ext cx="566928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64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FINAL ASSESSMENT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Assessment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8308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>
                <a:solidFill>
                  <a:srgbClr val="161B26"/>
                </a:solidFill>
                <a:latin typeface="Arial"/>
              </a:rPr>
              <a:t>•  Written Assessment (SAQ) — 1 hour. Practical Performance (PP) — 1 hour.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161B26"/>
                </a:solidFill>
                <a:latin typeface="Arial"/>
              </a:rPr>
              <a:t>•  Open book: slides, Learner Guide and approved materials only.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161B26"/>
                </a:solidFill>
                <a:latin typeface="Arial"/>
              </a:rPr>
              <a:t>•  Remember to take the Assessment digital attendance (TRAQOM).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161B26"/>
                </a:solidFill>
                <a:latin typeface="Arial"/>
              </a:rPr>
              <a:t>•  Submit your completed answers on the LMS at https://lms-tms.tertiaryinfotech.com/.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73952"/>
            <a:ext cx="84124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Business Process Automation with Power Automate &amp; Copilot Studio Agents  ·  TGS-2022017524  ·  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73952"/>
            <a:ext cx="566928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65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ON ASSESSMENT DAY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Assessment 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41424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41424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TRAQOM survey — scan the QR code on the LMS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8841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66313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966313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530497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30497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12617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Assessment digital attendance — scan the SSG QR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07914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55386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55386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19570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19570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1690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Sit WA (SAQ) then PP — open book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6987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44459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344459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908643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08643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90763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Submit your answers on the LMS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86060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533532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533532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097716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97716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79836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Sign the Assessment Summary Record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5760" y="6473952"/>
            <a:ext cx="84124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Business Process Automation with Power Automate &amp; Copilot Studio Agents  ·  TGS-2022017524  ·  © 2026 Tertiary Infotech Academy Pte Ltd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292840" y="6473952"/>
            <a:ext cx="566928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66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TRAQOM · SSG DIGITAL ATTENDANCE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Digital Attendance (Mandatory)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8308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>
                <a:solidFill>
                  <a:srgbClr val="161B26"/>
                </a:solidFill>
                <a:latin typeface="Arial"/>
              </a:rPr>
              <a:t>•  It is mandatory to take the AM, PM and Assessment digital attendance for WSQ-funded courses.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161B26"/>
                </a:solidFill>
                <a:latin typeface="Arial"/>
              </a:rPr>
              <a:t>•  The trainer/administrator displays the digital attendance QR code from the SSG portal.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161B26"/>
                </a:solidFill>
                <a:latin typeface="Arial"/>
              </a:rPr>
              <a:t>•  Scan the QR code with your mobile phone camera and submit your attendance.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161B26"/>
                </a:solidFill>
                <a:latin typeface="Arial"/>
              </a:rPr>
              <a:t>•  A minimum of 75% attendance is required to be eligible for assessment and funding.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73952"/>
            <a:ext cx="84124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Business Process Automation with Power Automate &amp; Copilot Studio Agents  ·  TGS-2022017524  ·  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73952"/>
            <a:ext cx="566928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67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3FF29D-2E00-A7A1-232C-5186174A1F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Thank You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E5E0239-BFD9-3216-03B0-6B956507258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sz="1800" b="1">
                <a:solidFill>
                  <a:srgbClr val="7C3AED"/>
                </a:solidFill>
              </a:rPr>
              <a:t>Now go automate something — questions welcome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73952"/>
            <a:ext cx="84124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Business Process Automation with Power Automate &amp; Copilot Studio Agents  ·  TGS-2022017524  ·  © 2026 Tertiary Infotech Academy Pte Ltd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473952"/>
            <a:ext cx="566928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68</a:t>
            </a:r>
          </a:p>
        </p:txBody>
      </p:sp>
    </p:spTree>
    <p:extLst>
      <p:ext uri="{BB962C8B-B14F-4D97-AF65-F5344CB8AC3E}">
        <p14:creationId xmlns:p14="http://schemas.microsoft.com/office/powerpoint/2010/main" val="393871201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 [1782148472114]">
  <a:themeElements>
    <a:clrScheme name="Office">
      <a:dk1>
        <a:srgbClr val="1B1B2F"/>
      </a:dk1>
      <a:lt1>
        <a:srgbClr val="FFFFFF"/>
      </a:lt1>
      <a:dk2>
        <a:srgbClr val="2B2B40"/>
      </a:dk2>
      <a:lt2>
        <a:srgbClr val="F3F5FB"/>
      </a:lt2>
      <a:accent1>
        <a:srgbClr val="2563EB"/>
      </a:accent1>
      <a:accent2>
        <a:srgbClr val="7C3AED"/>
      </a:accent2>
      <a:accent3>
        <a:srgbClr val="06B6D4"/>
      </a:accent3>
      <a:accent4>
        <a:srgbClr val="DB2777"/>
      </a:accent4>
      <a:accent5>
        <a:srgbClr val="10B981"/>
      </a:accent5>
      <a:accent6>
        <a:srgbClr val="F59E0B"/>
      </a:accent6>
      <a:hlink>
        <a:srgbClr val="467886"/>
      </a:hlink>
      <a:folHlink>
        <a:srgbClr val="96607D"/>
      </a:folHlink>
    </a:clrScheme>
    <a:fontScheme name="Office">
      <a:majorFont>
        <a:latin typeface="Segoe UI Semibold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Segoe UI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8DDBB792-EE95-D44E-9920-6DFB61B67727}">
  <we:reference id="WA200010001" version="1.0.0.1" store="Omex" storeType="OMEX"/>
  <we:alternateReferences>
    <we:reference id="WA200010001" version="1.0.0.1" store="WA200010001" storeType="OMEX"/>
  </we:alternateReferences>
  <we:properties>
    <we:property name="claude.fileId" value="&quot;e129c31c-d639-492d-b1a1-2a7d8dffa55f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1529</TotalTime>
  <Words>4806</Words>
  <Application>Microsoft Macintosh PowerPoint</Application>
  <PresentationFormat>Widescreen</PresentationFormat>
  <Paragraphs>225</Paragraphs>
  <Slides>87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87</vt:i4>
      </vt:variant>
    </vt:vector>
  </HeadingPairs>
  <TitlesOfParts>
    <vt:vector size="91" baseType="lpstr">
      <vt:lpstr>Arial</vt:lpstr>
      <vt:lpstr>Segoe UI</vt:lpstr>
      <vt:lpstr>Segoe UI Semibold</vt:lpstr>
      <vt:lpstr>Office Theme [1782148472114]</vt:lpstr>
      <vt:lpstr>Microsoft Copilot Studio &amp; Power Automate</vt:lpstr>
      <vt:lpstr>What You'll Learn</vt:lpstr>
      <vt:lpstr>Your 3-Day Journey</vt:lpstr>
      <vt:lpstr>How This Course Works</vt:lpstr>
      <vt:lpstr>Day 1 — Foundations &amp; Power Automate</vt:lpstr>
      <vt:lpstr>Module 1 · Introduction to Workflow Automation</vt:lpstr>
      <vt:lpstr>What Is Business Workflow Automation?</vt:lpstr>
      <vt:lpstr>Why Automate?</vt:lpstr>
      <vt:lpstr>Manual Process vs. Automated Workflow</vt:lpstr>
      <vt:lpstr>Standalone Agents vs. Integrated Workflows</vt:lpstr>
      <vt:lpstr>Introduction to Workflow Logic</vt:lpstr>
      <vt:lpstr>Triggers — What Starts a Workflow</vt:lpstr>
      <vt:lpstr>Actions — What the Workflow Does</vt:lpstr>
      <vt:lpstr>Outputs — The Result</vt:lpstr>
      <vt:lpstr>Workflow Steps — Putting It Together</vt:lpstr>
      <vt:lpstr>Anatomy of a Workflow</vt:lpstr>
      <vt:lpstr>Module 1 Recap</vt:lpstr>
      <vt:lpstr>Module 2 · Introduction to Power Automate</vt:lpstr>
      <vt:lpstr>Overview of Power Automate</vt:lpstr>
      <vt:lpstr>Types of Flow</vt:lpstr>
      <vt:lpstr>The Maker Experience</vt:lpstr>
      <vt:lpstr>Common Triggers</vt:lpstr>
      <vt:lpstr>Trigger: Email Received</vt:lpstr>
      <vt:lpstr>Trigger: File Upload</vt:lpstr>
      <vt:lpstr>Trigger: Form Submission</vt:lpstr>
      <vt:lpstr>Creating Workflow Actions</vt:lpstr>
      <vt:lpstr>Action: Send Emails</vt:lpstr>
      <vt:lpstr>Action: Create Excel Entries</vt:lpstr>
      <vt:lpstr>Action: Notifications &amp; Approvals</vt:lpstr>
      <vt:lpstr>Connectors — Linking It All Together</vt:lpstr>
      <vt:lpstr>Hands-On Labs · Power Automate</vt:lpstr>
      <vt:lpstr>Lab 1 — Automated Email Workflow</vt:lpstr>
      <vt:lpstr>Lab 2 — Excel Data Logging Workflow</vt:lpstr>
      <vt:lpstr>Lab 3 — Simple Approval Workflow</vt:lpstr>
      <vt:lpstr>Day 1 Recap</vt:lpstr>
      <vt:lpstr>Day 2 — Building Business Agents with Copilot Studio</vt:lpstr>
      <vt:lpstr>Day 2 Roadmap</vt:lpstr>
      <vt:lpstr>Module 3 · Building Business Agents with Copilot Studio</vt:lpstr>
      <vt:lpstr>What Is Copilot Studio?</vt:lpstr>
      <vt:lpstr>The Copilot Studio Maker</vt:lpstr>
      <vt:lpstr>How an Agent Works</vt:lpstr>
      <vt:lpstr>What Makes a Good Business Agent</vt:lpstr>
      <vt:lpstr>Creating Practical Business Agents</vt:lpstr>
      <vt:lpstr>Prompt Design Fundamentals</vt:lpstr>
      <vt:lpstr>Prompt Design for Structured Outputs</vt:lpstr>
      <vt:lpstr>Structured Output Formats</vt:lpstr>
      <vt:lpstr>Example: A Structured Prompt</vt:lpstr>
      <vt:lpstr>Connecting Agents to Power Automate Flows</vt:lpstr>
      <vt:lpstr>Passing Outputs into Workflows</vt:lpstr>
      <vt:lpstr>Input and Output Mapping</vt:lpstr>
      <vt:lpstr>Best Practices for Agent + Flow</vt:lpstr>
      <vt:lpstr>How Agents and Power Automate Work Together</vt:lpstr>
      <vt:lpstr>Hands-On Labs · Copilot Studio</vt:lpstr>
      <vt:lpstr>Lab 4 — Sales Enquiry Assistant</vt:lpstr>
      <vt:lpstr>Lab 5 — Procurement Request Workflow</vt:lpstr>
      <vt:lpstr>Lab 6 — Automated Response Generation</vt:lpstr>
      <vt:lpstr>Testing &amp; Debugging Agents</vt:lpstr>
      <vt:lpstr>Day 2 Recap</vt:lpstr>
      <vt:lpstr>Day 3 — End-to-End Automation &amp; Workshop</vt:lpstr>
      <vt:lpstr>Module 4 · End-to-End Workflow Automation</vt:lpstr>
      <vt:lpstr>Agents + Power Automate, End to End</vt:lpstr>
      <vt:lpstr>Workflow Orchestration</vt:lpstr>
      <vt:lpstr>Orchestration Patterns</vt:lpstr>
      <vt:lpstr>Managing Outputs &amp; Next Steps</vt:lpstr>
      <vt:lpstr>Error Handling &amp; Monitoring</vt:lpstr>
      <vt:lpstr>Business Workflow Examples</vt:lpstr>
      <vt:lpstr>Example 1 — Email Enquiry → Excel → Notification</vt:lpstr>
      <vt:lpstr>Example 2 — Invoice Upload → Approval</vt:lpstr>
      <vt:lpstr>Example 3 — Purchase Request → Approval → Notification</vt:lpstr>
      <vt:lpstr>Module 4 Recap</vt:lpstr>
      <vt:lpstr>Module 5 · Business Workflow Workshop</vt:lpstr>
      <vt:lpstr>Workshop Overview</vt:lpstr>
      <vt:lpstr>How the Workshop Works</vt:lpstr>
      <vt:lpstr>Track A — Sales</vt:lpstr>
      <vt:lpstr>Track B — Finance</vt:lpstr>
      <vt:lpstr>Track C — Procurement</vt:lpstr>
      <vt:lpstr>Track D — Order Processing</vt:lpstr>
      <vt:lpstr>Build Guidelines &amp; Success Criteria</vt:lpstr>
      <vt:lpstr>Present &amp; Get Feedback</vt:lpstr>
      <vt:lpstr>What You Can Automate Next</vt:lpstr>
      <vt:lpstr>Common Pitfalls to Avoid</vt:lpstr>
      <vt:lpstr>Governance &amp; Security Basics</vt:lpstr>
      <vt:lpstr>Rolling This Out at Work</vt:lpstr>
      <vt:lpstr>Course Recap — The Big Picture</vt:lpstr>
      <vt:lpstr>Key Takeaways</vt:lpstr>
      <vt:lpstr>Resources &amp; Where to Go Next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Tertiary Infotech Admin</dc:creator>
  <cp:lastModifiedBy>Tertiary Infotech Admin</cp:lastModifiedBy>
  <cp:revision>2</cp:revision>
  <dcterms:created xsi:type="dcterms:W3CDTF">2026-06-22T17:06:55Z</dcterms:created>
  <dcterms:modified xsi:type="dcterms:W3CDTF">2026-06-23T18:36:15Z</dcterms:modified>
</cp:coreProperties>
</file>