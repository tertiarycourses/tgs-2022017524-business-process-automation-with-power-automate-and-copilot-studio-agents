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5"/>
    <p:sldId id="353" r:id="rId6"/>
    <p:sldId id="354" r:id="rId7"/>
    <p:sldId id="355" r:id="rId8"/>
    <p:sldId id="356" r:id="rId9"/>
    <p:sldId id="259" r:id="rId10"/>
    <p:sldId id="260" r:id="rId11"/>
    <p:sldId id="261" r:id="rId12"/>
    <p:sldId id="357" r:id="rId13"/>
    <p:sldId id="361" r:id="rId14"/>
    <p:sldId id="393" r:id="rId15"/>
    <p:sldId id="400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394" r:id="rId36"/>
    <p:sldId id="395" r:id="rId37"/>
    <p:sldId id="396" r:id="rId38"/>
    <p:sldId id="397" r:id="rId39"/>
    <p:sldId id="281" r:id="rId40"/>
    <p:sldId id="282" r:id="rId41"/>
    <p:sldId id="283" r:id="rId42"/>
    <p:sldId id="398" r:id="rId43"/>
    <p:sldId id="284" r:id="rId44"/>
    <p:sldId id="285" r:id="rId45"/>
    <p:sldId id="286" r:id="rId46"/>
    <p:sldId id="401" r:id="rId47"/>
    <p:sldId id="287" r:id="rId48"/>
    <p:sldId id="402" r:id="rId49"/>
    <p:sldId id="288" r:id="rId50"/>
    <p:sldId id="403" r:id="rId51"/>
    <p:sldId id="289" r:id="rId52"/>
    <p:sldId id="404" r:id="rId53"/>
    <p:sldId id="290" r:id="rId54"/>
    <p:sldId id="291" r:id="rId55"/>
    <p:sldId id="399" r:id="rId56"/>
    <p:sldId id="345" r:id="rId57"/>
    <p:sldId id="346" r:id="rId58"/>
    <p:sldId id="292" r:id="rId59"/>
    <p:sldId id="293" r:id="rId60"/>
    <p:sldId id="294" r:id="rId61"/>
    <p:sldId id="295" r:id="rId62"/>
    <p:sldId id="296" r:id="rId63"/>
    <p:sldId id="297" r:id="rId64"/>
    <p:sldId id="298" r:id="rId65"/>
    <p:sldId id="299" r:id="rId66"/>
    <p:sldId id="300" r:id="rId67"/>
    <p:sldId id="301" r:id="rId68"/>
    <p:sldId id="302" r:id="rId69"/>
    <p:sldId id="303" r:id="rId70"/>
    <p:sldId id="304" r:id="rId71"/>
    <p:sldId id="305" r:id="rId72"/>
    <p:sldId id="306" r:id="rId73"/>
    <p:sldId id="307" r:id="rId74"/>
    <p:sldId id="392" r:id="rId75"/>
    <p:sldId id="358" r:id="rId76"/>
    <p:sldId id="359" r:id="rId77"/>
    <p:sldId id="360" r:id="rId78"/>
    <p:sldId id="362" r:id="rId79"/>
    <p:sldId id="363" r:id="rId80"/>
    <p:sldId id="364" r:id="rId81"/>
    <p:sldId id="365" r:id="rId82"/>
    <p:sldId id="344" r:id="rId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88"/>
  </p:normalViewPr>
  <p:slideViewPr>
    <p:cSldViewPr snapToGrid="0">
      <p:cViewPr varScale="1">
        <p:scale>
          <a:sx n="90" d="100"/>
          <a:sy n="90" d="100"/>
        </p:scale>
        <p:origin x="232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presProps" Target="presProps.xml"/><Relationship Id="rId85" Type="http://schemas.openxmlformats.org/officeDocument/2006/relationships/viewProps" Target="viewProps.xml"/><Relationship Id="rId86" Type="http://schemas.openxmlformats.org/officeDocument/2006/relationships/theme" Target="theme/theme1.xml"/><Relationship Id="rId8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7.3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Thirteen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9808" y="1545336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9808" y="2121408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18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8" y="2697480"/>
            <a:ext cx="402336" cy="40233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49808" y="3273552"/>
            <a:ext cx="402336" cy="40233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98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618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49808" y="3849624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618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618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49808" y="442569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98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618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Multi-Agent Content Team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618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Research → draft → review → human approval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93776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749808" y="5001768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49808" y="500176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61872" y="494233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61872" y="519836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Topic in, M365 Copilot blog, posted to Teams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148132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36208" y="1545336"/>
            <a:ext cx="402336" cy="40233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36208" y="154533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5b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48272" y="148590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Calling Workflow from Agent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48272" y="174193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runs the flow as its tool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057400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36208" y="2121408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36208" y="2121408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48272" y="2061972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48272" y="2318003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2633472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36208" y="2697480"/>
            <a:ext cx="402336" cy="40233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36208" y="2697480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8272" y="2638044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48272" y="2894075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3209544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36208" y="3273552"/>
            <a:ext cx="402336" cy="402336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36208" y="3273552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3214116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748272" y="3470147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144768" y="3785616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6236208" y="3849624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236208" y="3849624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748272" y="3790188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48272" y="4046219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144768" y="4361688"/>
            <a:ext cx="5349240" cy="521207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ounded Rectangle 66"/>
          <p:cNvSpPr/>
          <p:nvPr/>
        </p:nvSpPr>
        <p:spPr>
          <a:xfrm>
            <a:off x="6236208" y="4425696"/>
            <a:ext cx="402336" cy="402336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6236208" y="4425696"/>
            <a:ext cx="4023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48272" y="4366260"/>
            <a:ext cx="464515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5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748272" y="4622291"/>
            <a:ext cx="4645152" cy="2468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" y="5614416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14400" y="5614416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Thirteen labs, each reusing the one before it. Nothing is rebuilt from scratch.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· 4b — approval, agents, multi-agent team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10:05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· 5b — agent and workflow, each calling the other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10:05 – 11:30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11:30 – 12:10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1:10 – 2:10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2:10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90908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289" y="3039638"/>
            <a:ext cx="9765116" cy="2337034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293392"/>
            <a:ext cx="9326880" cy="76558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379016"/>
            <a:ext cx="9875520" cy="16427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741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53" y="3604708"/>
            <a:ext cx="8292787" cy="17719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Labs 4, 4b, 5 and 5b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Every agent has a Settings page. Two of its switches decide how this course's agents behave — and neither takes effect until you save and publish.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27432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2304288"/>
            <a:ext cx="6419088" cy="29260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F5F8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304288"/>
            <a:ext cx="62179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5B6372"/>
                </a:solidFill>
                <a:latin typeface="Arial"/>
              </a:rPr>
              <a:t>ⓘ  Changes to settings take effect after you save and publish the agent.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761488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Agent details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3182112"/>
            <a:ext cx="1874519" cy="347472"/>
          </a:xfrm>
          <a:prstGeom prst="round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" y="3182112"/>
            <a:ext cx="4572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3182112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3602736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Safety &amp;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023360"/>
            <a:ext cx="169164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Greeting &amp; prompts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8" y="2724912"/>
            <a:ext cx="425196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AI &amp; behavior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962655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Tune how the agent responds, reasons, and communicates.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3255264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Orchestration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3511296"/>
            <a:ext cx="425196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008376" y="3557016"/>
            <a:ext cx="3520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Allow other agents to connect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08376" y="3813048"/>
            <a:ext cx="35204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Let other agents in your organization invoke this agent as a tool.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602736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30568" y="3630168"/>
            <a:ext cx="146304" cy="14630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98648" y="4315968"/>
            <a:ext cx="4251960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50" b="1">
                <a:solidFill>
                  <a:srgbClr val="161B26"/>
                </a:solidFill>
                <a:latin typeface="Arial"/>
              </a:rPr>
              <a:t>Safety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98648" y="4572000"/>
            <a:ext cx="425196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008376" y="4608576"/>
            <a:ext cx="30632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Moderation level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08376" y="4846320"/>
            <a:ext cx="30632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Controls how strictly responses are filtered for unsafe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6480" y="4727448"/>
            <a:ext cx="896112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199632" y="4727448"/>
            <a:ext cx="82296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00" b="0">
                <a:solidFill>
                  <a:srgbClr val="161B26"/>
                </a:solidFill>
                <a:latin typeface="Arial"/>
              </a:rPr>
              <a:t>Medium  ⌄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The toggle behind Labs 4 &amp; 4b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A child agent can only be invoked as a connected agent while Allow other agents to connect is on. Manager cannot delegate to a child that has it off.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08A73"/>
                </a:solidFill>
                <a:latin typeface="Arial"/>
              </a:rPr>
              <a:t>Moderation is a platform control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moderation filter runs outside the model at the level you set — a structural control, not an instruction the agent could be talked out of.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Nothing bites until publish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Settings changes apply only after save and publish. A changed setting that “does nothing” is usually just unpublished.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Marketing Manager, Research, Blog and Review  ·  Copilot Studio connected agents  ·  60–75 min · optional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an Agent — Channels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Publish makes a version live — a channel decides who can reach it. The publish dialog lists the channels; none of them serves your edits until you publish again.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20240"/>
            <a:ext cx="6675120" cy="34015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975104"/>
            <a:ext cx="310896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1B26"/>
                </a:solidFill>
                <a:latin typeface="Arial"/>
              </a:rPr>
              <a:t>Agent published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249424"/>
            <a:ext cx="384048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6845B"/>
                </a:solidFill>
                <a:latin typeface="Arial"/>
              </a:rPr>
              <a:t>✓  Last published today, 7:46 PM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2596896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660904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Demo Website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26080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Shareable web link for anyone to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3456432"/>
            <a:ext cx="3017520" cy="7680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520440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Web 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85616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Embed your agent into a website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" y="4315968"/>
            <a:ext cx="3017520" cy="768096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4379976"/>
            <a:ext cx="23774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45152"/>
            <a:ext cx="251460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11296" y="4407408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93008" y="43799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2633472"/>
            <a:ext cx="3145536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Teams + Microsoft 365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05072" y="2944368"/>
            <a:ext cx="1234440" cy="256032"/>
          </a:xfrm>
          <a:prstGeom prst="roundRect">
            <a:avLst>
              <a:gd name="adj" fmla="val 50000"/>
            </a:avLst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05072" y="2944368"/>
            <a:ext cx="12344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Channel enabled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05072" y="3291840"/>
            <a:ext cx="3145536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Available in Copilot and Teams chats — Outlook, Word, Excel, PowerPoint and OneDrive.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05072" y="3877056"/>
            <a:ext cx="182880" cy="182880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986784" y="384962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79392" y="3822192"/>
            <a:ext cx="28712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1">
                <a:solidFill>
                  <a:srgbClr val="161B26"/>
                </a:solidFill>
                <a:latin typeface="Arial"/>
              </a:rPr>
              <a:t>Make agent available in Microsoft 365 Copilot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05072" y="4187952"/>
            <a:ext cx="3145536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850" b="0">
                <a:solidFill>
                  <a:srgbClr val="5B6372"/>
                </a:solidFill>
                <a:latin typeface="Arial"/>
              </a:rPr>
              <a:t>Publishing to the Agent Store inside Microsoft 365 Copilot goes through your admin's approval.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05072" y="4791456"/>
            <a:ext cx="3145536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50" b="0">
                <a:solidFill>
                  <a:srgbClr val="1F6FEB"/>
                </a:solidFill>
                <a:latin typeface="Arial"/>
              </a:rPr>
              <a:t>See agent in Microsoft 365  ·  See agent in Teams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4656" y="1920240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534656" y="1920240"/>
            <a:ext cx="82296" cy="106070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35824" y="1965960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Demo Website first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2249424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The shareable link is the fastest way to put the agent in a tester's hands — no Teams, no admin, anyone with the link.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4656" y="3090672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534656" y="3090672"/>
            <a:ext cx="82296" cy="106070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35824" y="3136392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6D3FD2"/>
                </a:solidFill>
                <a:latin typeface="Arial"/>
              </a:rPr>
              <a:t>Teams + Microsoft 365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35824" y="3419856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Enable this channel and the agent appears in Teams chat and Microsoft 365 Copilot — where colleagues already work.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34656" y="4261104"/>
            <a:ext cx="3959352" cy="106070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534656" y="4261104"/>
            <a:ext cx="82296" cy="1060704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35824" y="4306824"/>
            <a:ext cx="3593592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Publish, then re-publish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35824" y="4590288"/>
            <a:ext cx="3593592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Channels serve the published version only. Every later edit is invisible to users until you publish again.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_deployment step publishes each agent to Microsoft Teams  ·  Copilot Studio agents  ·  45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945" y="1874519"/>
            <a:ext cx="7725804" cy="13258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835" y="3429000"/>
            <a:ext cx="4086025" cy="1947672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topic, four agents: the Marketing Manager owns the conversation and delegates by stage of work — and nothing is final until a person approves.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1B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HUMAN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gives the topic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05456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05456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MARKETING</a:t>
            </a:r>
          </a:p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05456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orchestrates,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never writes</a:t>
            </a:r>
          </a:p>
        </p:txBody>
      </p:sp>
      <p:sp>
        <p:nvSpPr>
          <p:cNvPr id="13" name="Chevron 12"/>
          <p:cNvSpPr/>
          <p:nvPr/>
        </p:nvSpPr>
        <p:spPr>
          <a:xfrm>
            <a:off x="2340864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52544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52544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RESEARCH</a:t>
            </a:r>
          </a:p>
          <a:p>
            <a:pPr algn="ctr"/>
            <a:r>
              <a:rPr sz="1100" b="1">
                <a:solidFill>
                  <a:srgbClr val="1F6FEB"/>
                </a:solidFill>
                <a:latin typeface="Arial"/>
              </a:rPr>
              <a:t>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2544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brochures + web,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labelled apart</a:t>
            </a:r>
          </a:p>
        </p:txBody>
      </p:sp>
      <p:sp>
        <p:nvSpPr>
          <p:cNvPr id="17" name="Chevron 16"/>
          <p:cNvSpPr/>
          <p:nvPr/>
        </p:nvSpPr>
        <p:spPr>
          <a:xfrm>
            <a:off x="4187951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199632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99632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BLOG</a:t>
            </a:r>
          </a:p>
          <a:p>
            <a:pPr algn="ctr"/>
            <a:r>
              <a:rPr sz="1100" b="1">
                <a:solidFill>
                  <a:srgbClr val="108A73"/>
                </a:solidFill>
                <a:latin typeface="Arial"/>
              </a:rPr>
              <a:t>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writes from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brief, no web</a:t>
            </a:r>
          </a:p>
        </p:txBody>
      </p:sp>
      <p:sp>
        <p:nvSpPr>
          <p:cNvPr id="21" name="Chevron 20"/>
          <p:cNvSpPr/>
          <p:nvPr/>
        </p:nvSpPr>
        <p:spPr>
          <a:xfrm>
            <a:off x="6035040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046720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REVIEW</a:t>
            </a:r>
          </a:p>
          <a:p>
            <a:pPr algn="ctr"/>
            <a:r>
              <a:rPr sz="1100" b="1">
                <a:solidFill>
                  <a:srgbClr val="C77600"/>
                </a:solidFill>
                <a:latin typeface="Arial"/>
              </a:rPr>
              <a:t>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checklist; did not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write the draft</a:t>
            </a:r>
          </a:p>
        </p:txBody>
      </p:sp>
      <p:sp>
        <p:nvSpPr>
          <p:cNvPr id="25" name="Chevron 24"/>
          <p:cNvSpPr/>
          <p:nvPr/>
        </p:nvSpPr>
        <p:spPr>
          <a:xfrm>
            <a:off x="7882128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893808" y="2029968"/>
            <a:ext cx="1664208" cy="118872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93808" y="2103120"/>
            <a:ext cx="166420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HUMAN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3808" y="2596896"/>
            <a:ext cx="1664208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approves the</a:t>
            </a:r>
          </a:p>
          <a:p>
            <a:pPr algn="ctr"/>
            <a:r>
              <a:rPr sz="850" b="0">
                <a:solidFill>
                  <a:srgbClr val="5B6372"/>
                </a:solidFill>
                <a:latin typeface="Arial"/>
              </a:rPr>
              <a:t>final post</a:t>
            </a:r>
          </a:p>
        </p:txBody>
      </p:sp>
      <p:sp>
        <p:nvSpPr>
          <p:cNvPr id="29" name="Chevron 28"/>
          <p:cNvSpPr/>
          <p:nvPr/>
        </p:nvSpPr>
        <p:spPr>
          <a:xfrm>
            <a:off x="9729216" y="2487168"/>
            <a:ext cx="146304" cy="274320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4b — Multi-Agent Content Team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Research → draft → review → human approval  ·  Copilot Studio connected agents  ·  60–75 min · optional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pic>
        <p:nvPicPr>
          <p:cNvPr id="49" name="Picture 4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961" y="3419856"/>
            <a:ext cx="4091772" cy="195681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 an agent flow that collects a blog topic at the Start node, drafts the post with M365 Copilot, and posts it to the Training team's General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906" y="1874519"/>
            <a:ext cx="6633882" cy="169164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7837" y="3822192"/>
            <a:ext cx="5456020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mirror image of Lab 5: the agent decides when to call the workflow, and the flow's inputs and outputs are the contract it programs against.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611" y="2632873"/>
            <a:ext cx="5788152" cy="204945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5b — Calling Workflow from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 Writer Agent runs the flow as its tool  ·  Copilot Studio + M365 Copilot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083" y="1976441"/>
            <a:ext cx="4343400" cy="202633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1083" y="4277099"/>
            <a:ext cx="4343400" cy="108909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2097507"/>
            <a:ext cx="9326880" cy="6917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50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87" y="3109260"/>
            <a:ext cx="9875520" cy="2108431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00280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8469" y="3133353"/>
            <a:ext cx="8474757" cy="224331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231" y="1874519"/>
            <a:ext cx="790923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4890" y="3822192"/>
            <a:ext cx="6261914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051" y="1874519"/>
            <a:ext cx="8665592" cy="16916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5908" y="3822192"/>
            <a:ext cx="5179878" cy="155448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407" y="1874519"/>
            <a:ext cx="9326880" cy="149875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787" y="3629308"/>
            <a:ext cx="7100120" cy="1747363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1564</TotalTime>
  <Words>10739</Words>
  <Application>Microsoft Macintosh PowerPoint</Application>
  <PresentationFormat>Widescreen</PresentationFormat>
  <Paragraphs>1507</Paragraphs>
  <Slides>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6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5</cp:revision>
  <dcterms:created xsi:type="dcterms:W3CDTF">2026-06-22T17:06:55Z</dcterms:created>
  <dcterms:modified xsi:type="dcterms:W3CDTF">2026-08-07T08:15:58Z</dcterms:modified>
</cp:coreProperties>
</file>