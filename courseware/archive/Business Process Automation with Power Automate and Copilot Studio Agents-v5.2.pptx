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352" r:id="rId100"/>
    <p:sldId id="353" r:id="rId101"/>
    <p:sldId id="354" r:id="rId102"/>
    <p:sldId id="355" r:id="rId103"/>
    <p:sldId id="356" r:id="rId104"/>
    <p:sldId id="259" r:id="rId3"/>
    <p:sldId id="260" r:id="rId4"/>
    <p:sldId id="261" r:id="rId5"/>
    <p:sldId id="357" r:id="rId105"/>
    <p:sldId id="358" r:id="rId106"/>
    <p:sldId id="359" r:id="rId107"/>
    <p:sldId id="360" r:id="rId108"/>
    <p:sldId id="361" r:id="rId109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345" r:id="rId93"/>
    <p:sldId id="346" r:id="rId94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47" r:id="rId95"/>
    <p:sldId id="348" r:id="rId96"/>
    <p:sldId id="349" r:id="rId97"/>
    <p:sldId id="311" r:id="rId55"/>
    <p:sldId id="312" r:id="rId56"/>
    <p:sldId id="313" r:id="rId57"/>
    <p:sldId id="314" r:id="rId58"/>
    <p:sldId id="315" r:id="rId59"/>
    <p:sldId id="337" r:id="rId81"/>
    <p:sldId id="338" r:id="rId82"/>
    <p:sldId id="351" r:id="rId99"/>
    <p:sldId id="339" r:id="rId83"/>
    <p:sldId id="340" r:id="rId84"/>
    <p:sldId id="341" r:id="rId85"/>
    <p:sldId id="342" r:id="rId86"/>
    <p:sldId id="343" r:id="rId87"/>
    <p:sldId id="362" r:id="rId110"/>
    <p:sldId id="363" r:id="rId111"/>
    <p:sldId id="364" r:id="rId112"/>
    <p:sldId id="365" r:id="rId113"/>
    <p:sldId id="344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1"/>
  </p:normalViewPr>
  <p:slideViewPr>
    <p:cSldViewPr snapToGrid="0">
      <p:cViewPr varScale="1">
        <p:scale>
          <a:sx n="90" d="100"/>
          <a:sy n="90" d="100"/>
        </p:scale>
        <p:origin x="21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7.xml"/><Relationship Id="rId4" Type="http://schemas.openxmlformats.org/officeDocument/2006/relationships/slide" Target="slides/slide8.xml"/><Relationship Id="rId5" Type="http://schemas.openxmlformats.org/officeDocument/2006/relationships/slide" Target="slides/slide9.xml"/><Relationship Id="rId6" Type="http://schemas.openxmlformats.org/officeDocument/2006/relationships/slide" Target="slides/slide15.xml"/><Relationship Id="rId7" Type="http://schemas.openxmlformats.org/officeDocument/2006/relationships/slide" Target="slides/slide16.xml"/><Relationship Id="rId8" Type="http://schemas.openxmlformats.org/officeDocument/2006/relationships/slide" Target="slides/slide17.xml"/><Relationship Id="rId9" Type="http://schemas.openxmlformats.org/officeDocument/2006/relationships/slide" Target="slides/slide18.xml"/><Relationship Id="rId10" Type="http://schemas.openxmlformats.org/officeDocument/2006/relationships/slide" Target="slides/slide19.xml"/><Relationship Id="rId11" Type="http://schemas.openxmlformats.org/officeDocument/2006/relationships/slide" Target="slides/slide20.xml"/><Relationship Id="rId12" Type="http://schemas.openxmlformats.org/officeDocument/2006/relationships/slide" Target="slides/slide21.xml"/><Relationship Id="rId13" Type="http://schemas.openxmlformats.org/officeDocument/2006/relationships/slide" Target="slides/slide22.xml"/><Relationship Id="rId14" Type="http://schemas.openxmlformats.org/officeDocument/2006/relationships/slide" Target="slides/slide23.xml"/><Relationship Id="rId15" Type="http://schemas.openxmlformats.org/officeDocument/2006/relationships/slide" Target="slides/slide24.xml"/><Relationship Id="rId16" Type="http://schemas.openxmlformats.org/officeDocument/2006/relationships/slide" Target="slides/slide25.xml"/><Relationship Id="rId17" Type="http://schemas.openxmlformats.org/officeDocument/2006/relationships/slide" Target="slides/slide26.xml"/><Relationship Id="rId18" Type="http://schemas.openxmlformats.org/officeDocument/2006/relationships/slide" Target="slides/slide27.xml"/><Relationship Id="rId19" Type="http://schemas.openxmlformats.org/officeDocument/2006/relationships/slide" Target="slides/slide28.xml"/><Relationship Id="rId20" Type="http://schemas.openxmlformats.org/officeDocument/2006/relationships/slide" Target="slides/slide29.xml"/><Relationship Id="rId21" Type="http://schemas.openxmlformats.org/officeDocument/2006/relationships/slide" Target="slides/slide30.xml"/><Relationship Id="rId22" Type="http://schemas.openxmlformats.org/officeDocument/2006/relationships/slide" Target="slides/slide31.xml"/><Relationship Id="rId23" Type="http://schemas.openxmlformats.org/officeDocument/2006/relationships/slide" Target="slides/slide32.xml"/><Relationship Id="rId24" Type="http://schemas.openxmlformats.org/officeDocument/2006/relationships/slide" Target="slides/slide33.xml"/><Relationship Id="rId25" Type="http://schemas.openxmlformats.org/officeDocument/2006/relationships/slide" Target="slides/slide34.xml"/><Relationship Id="rId26" Type="http://schemas.openxmlformats.org/officeDocument/2006/relationships/slide" Target="slides/slide35.xml"/><Relationship Id="rId27" Type="http://schemas.openxmlformats.org/officeDocument/2006/relationships/slide" Target="slides/slide36.xml"/><Relationship Id="rId28" Type="http://schemas.openxmlformats.org/officeDocument/2006/relationships/slide" Target="slides/slide37.xml"/><Relationship Id="rId29" Type="http://schemas.openxmlformats.org/officeDocument/2006/relationships/slide" Target="slides/slide38.xml"/><Relationship Id="rId30" Type="http://schemas.openxmlformats.org/officeDocument/2006/relationships/slide" Target="slides/slide39.xml"/><Relationship Id="rId31" Type="http://schemas.openxmlformats.org/officeDocument/2006/relationships/slide" Target="slides/slide40.xml"/><Relationship Id="rId32" Type="http://schemas.openxmlformats.org/officeDocument/2006/relationships/slide" Target="slides/slide41.xml"/><Relationship Id="rId33" Type="http://schemas.openxmlformats.org/officeDocument/2006/relationships/slide" Target="slides/slide42.xml"/><Relationship Id="rId34" Type="http://schemas.openxmlformats.org/officeDocument/2006/relationships/slide" Target="slides/slide43.xml"/><Relationship Id="rId35" Type="http://schemas.openxmlformats.org/officeDocument/2006/relationships/slide" Target="slides/slide44.xml"/><Relationship Id="rId36" Type="http://schemas.openxmlformats.org/officeDocument/2006/relationships/slide" Target="slides/slide47.xml"/><Relationship Id="rId37" Type="http://schemas.openxmlformats.org/officeDocument/2006/relationships/slide" Target="slides/slide48.xml"/><Relationship Id="rId38" Type="http://schemas.openxmlformats.org/officeDocument/2006/relationships/slide" Target="slides/slide49.xml"/><Relationship Id="rId39" Type="http://schemas.openxmlformats.org/officeDocument/2006/relationships/slide" Target="slides/slide50.xml"/><Relationship Id="rId40" Type="http://schemas.openxmlformats.org/officeDocument/2006/relationships/slide" Target="slides/slide51.xml"/><Relationship Id="rId41" Type="http://schemas.openxmlformats.org/officeDocument/2006/relationships/slide" Target="slides/slide52.xml"/><Relationship Id="rId42" Type="http://schemas.openxmlformats.org/officeDocument/2006/relationships/slide" Target="slides/slide53.xml"/><Relationship Id="rId43" Type="http://schemas.openxmlformats.org/officeDocument/2006/relationships/slide" Target="slides/slide54.xml"/><Relationship Id="rId44" Type="http://schemas.openxmlformats.org/officeDocument/2006/relationships/slide" Target="slides/slide55.xml"/><Relationship Id="rId45" Type="http://schemas.openxmlformats.org/officeDocument/2006/relationships/slide" Target="slides/slide56.xml"/><Relationship Id="rId46" Type="http://schemas.openxmlformats.org/officeDocument/2006/relationships/slide" Target="slides/slide57.xml"/><Relationship Id="rId47" Type="http://schemas.openxmlformats.org/officeDocument/2006/relationships/slide" Target="slides/slide58.xml"/><Relationship Id="rId48" Type="http://schemas.openxmlformats.org/officeDocument/2006/relationships/slide" Target="slides/slide59.xml"/><Relationship Id="rId49" Type="http://schemas.openxmlformats.org/officeDocument/2006/relationships/slide" Target="slides/slide60.xml"/><Relationship Id="rId50" Type="http://schemas.openxmlformats.org/officeDocument/2006/relationships/slide" Target="slides/slide61.xml"/><Relationship Id="rId51" Type="http://schemas.openxmlformats.org/officeDocument/2006/relationships/slide" Target="slides/slide62.xml"/><Relationship Id="rId52" Type="http://schemas.openxmlformats.org/officeDocument/2006/relationships/slide" Target="slides/slide63.xml"/><Relationship Id="rId53" Type="http://schemas.openxmlformats.org/officeDocument/2006/relationships/slide" Target="slides/slide64.xml"/><Relationship Id="rId54" Type="http://schemas.openxmlformats.org/officeDocument/2006/relationships/slide" Target="slides/slide65.xml"/><Relationship Id="rId55" Type="http://schemas.openxmlformats.org/officeDocument/2006/relationships/slide" Target="slides/slide69.xml"/><Relationship Id="rId56" Type="http://schemas.openxmlformats.org/officeDocument/2006/relationships/slide" Target="slides/slide70.xml"/><Relationship Id="rId57" Type="http://schemas.openxmlformats.org/officeDocument/2006/relationships/slide" Target="slides/slide71.xml"/><Relationship Id="rId58" Type="http://schemas.openxmlformats.org/officeDocument/2006/relationships/slide" Target="slides/slide72.xml"/><Relationship Id="rId59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6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Relationship Id="rId93" Type="http://schemas.openxmlformats.org/officeDocument/2006/relationships/slide" Target="slides/slide45.xml"/><Relationship Id="rId94" Type="http://schemas.openxmlformats.org/officeDocument/2006/relationships/slide" Target="slides/slide46.xml"/><Relationship Id="rId95" Type="http://schemas.openxmlformats.org/officeDocument/2006/relationships/slide" Target="slides/slide66.xml"/><Relationship Id="rId96" Type="http://schemas.openxmlformats.org/officeDocument/2006/relationships/slide" Target="slides/slide67.xml"/><Relationship Id="rId97" Type="http://schemas.openxmlformats.org/officeDocument/2006/relationships/slide" Target="slides/slide68.xml"/><Relationship Id="rId99" Type="http://schemas.openxmlformats.org/officeDocument/2006/relationships/slide" Target="slides/slide76.xml"/><Relationship Id="rId100" Type="http://schemas.openxmlformats.org/officeDocument/2006/relationships/slide" Target="slides/slide2.xml"/><Relationship Id="rId101" Type="http://schemas.openxmlformats.org/officeDocument/2006/relationships/slide" Target="slides/slide3.xml"/><Relationship Id="rId102" Type="http://schemas.openxmlformats.org/officeDocument/2006/relationships/slide" Target="slides/slide4.xml"/><Relationship Id="rId103" Type="http://schemas.openxmlformats.org/officeDocument/2006/relationships/slide" Target="slides/slide5.xml"/><Relationship Id="rId104" Type="http://schemas.openxmlformats.org/officeDocument/2006/relationships/slide" Target="slides/slide6.xml"/><Relationship Id="rId105" Type="http://schemas.openxmlformats.org/officeDocument/2006/relationships/slide" Target="slides/slide10.xml"/><Relationship Id="rId106" Type="http://schemas.openxmlformats.org/officeDocument/2006/relationships/slide" Target="slides/slide11.xml"/><Relationship Id="rId107" Type="http://schemas.openxmlformats.org/officeDocument/2006/relationships/slide" Target="slides/slide12.xml"/><Relationship Id="rId108" Type="http://schemas.openxmlformats.org/officeDocument/2006/relationships/slide" Target="slides/slide13.xml"/><Relationship Id="rId109" Type="http://schemas.openxmlformats.org/officeDocument/2006/relationships/slide" Target="slides/slide14.xml"/><Relationship Id="rId110" Type="http://schemas.openxmlformats.org/officeDocument/2006/relationships/slide" Target="slides/slide82.xml"/><Relationship Id="rId111" Type="http://schemas.openxmlformats.org/officeDocument/2006/relationships/slide" Target="slides/slide83.xml"/><Relationship Id="rId112" Type="http://schemas.openxmlformats.org/officeDocument/2006/relationships/slide" Target="slides/slide84.xml"/><Relationship Id="rId113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6D94-6626-3BFF-0A17-61948D6E3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82959-52E1-24EA-654D-899B4BD85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C601-C670-DE5C-B4B0-7A9A0C1D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A4546-02A5-E0E4-1B88-DDD5C232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9858-4AC1-6BEE-F28D-B259566E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6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08F2-2494-FD25-40BA-7A458F90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68CF-139A-1485-F8C3-1135EBA75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95C4C-F738-AC92-997B-00880EDF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B43F1-EC25-F65B-2464-2BB178DD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87FA-9C49-DA04-2AEC-CE02D084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21AD-FA2B-E962-1895-0B829208A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C836-5AF6-11F1-ABDC-F6A1CD43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EB5A-83F2-D22F-1013-D078D5F9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E6E4-9057-95F7-57F5-42B4228D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C075-54A9-7B26-2083-EAEF01DE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EEAB-96C8-B417-18FB-A71942AA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5E33-F4BD-5B41-65F4-A233430D4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30329-B6CA-2C59-7CE7-8211A3897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F930-D68C-D4BB-D655-76183CA6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D846B-938E-E072-48D2-C7D94D95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CB0EE-912C-A444-3339-E1B54EF3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2965-DF3B-ED3E-7532-71CC7BC9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DB5A2-A181-E7B2-6ED3-6A3E56EE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B1024-7DAF-4B66-9FB5-FC3C33D73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5716D-854D-ACD7-D87B-1AF011AED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961B-F921-8CBD-BC63-8FE4505D5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2C8CF-7AD9-FDC8-5CD5-04645E92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7C7EC-D94D-F23D-3AD7-F978DC38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BC93F-DE87-5D34-711A-0A7C96BC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4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5314-FF69-9488-55AA-609B6D6C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0D748-7526-E5B4-882B-CD1974BE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BB65D-3C7C-330F-F2E4-68BE6A78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3AB25-A9B3-E208-BB21-C2850A87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7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C9D19-4C72-6EBE-BEBB-990F367C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E9465-1D86-3400-70F7-6C14221D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DA129-7B6B-7A0C-6CD8-225A88BC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3D7A-3E00-B6C8-FC83-37E63C7A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536C-DEC8-9406-DD9A-A1598880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1E554-74F9-4F2B-DACA-7437D1FAD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B9C74-1F4A-2756-20E0-3A30ED8F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6718F-0AFB-B05B-56DD-676CA42E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6564F-EB95-772B-629C-CA39D04B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0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3D48-84A0-3F37-1AE1-A5DA0976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4D8CE-7D33-3A1C-0B10-C0B372A0E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18348-DD38-2ED9-AC93-F0E0BC5AF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F0CDE-79A3-51A3-3B3F-A9FD15F5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91F49-8EAB-7B01-7B0F-F3373424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271A9-A83C-0006-00BD-C17BB3D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9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BB60-560A-1F72-035E-D28F19A9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B78FD-69CC-9F5B-3C11-CA323EC93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6BB40-F65B-5299-E32D-CB9858A5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87E16-F02D-E203-D4E9-10D833FCA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2DCF-D6B7-31C6-D936-E12073FA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6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F187E-5DCA-9F88-B1CD-F03AB7AF3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12709-B093-275F-2926-9D91A582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667EC-5ABA-1D42-42D4-EC9393BB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2F67-6755-C1B8-DF06-6E0417CD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0EB6B-719C-9679-CCF7-F153C3A2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704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80EE1-0B02-5C56-7378-94DD6DA0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E5EFC-134F-BED3-F8A7-9FE56534C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02C69-0810-50C4-85CE-437D064ED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F4EC-F5FE-2D4B-BE07-2A0946F33E8D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ED32-ED41-42FF-749B-D7F0BB634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D752B-E364-D67C-7654-6A11A46BA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40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1B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B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2017524---Business-Process-Automation-with-Power-Automate-and-Copilot-Studio-Agent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EDD3-BAC6-2E59-FAA8-908301B11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b="1" dirty="0"/>
              <a:t>Business Process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574B3-66A5-8402-1E67-380A6A832E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with Power Automate and Copilot Studio Agents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</a:rPr>
              <a:t>WSQ Course Code: TGS-2022017524  ·  2-Day Hands-On Training  ·  Modules 1–4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5623560"/>
            <a:ext cx="9144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5.2 (25 Jul 2026)  ·  www.tertiarycourses.com.sg  ·  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802864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experience with Power Automate, Copilot Studio or other automation tools (if any).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One repetitive business process you would love to automate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You’ll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0881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Power Automate
flows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3629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2081" y="1618487"/>
            <a:ext cx="640080" cy="2286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874519"/>
            <a:ext cx="2393441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5585" y="1947672"/>
            <a:ext cx="2247137" cy="10881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Copilot Studio
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0739" y="2336291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56146" y="1618487"/>
            <a:ext cx="640080" cy="2286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publish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874519"/>
            <a:ext cx="2393441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1" y="1947672"/>
            <a:ext cx="2247137" cy="10881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Teams + website
channels</a:t>
            </a:r>
          </a:p>
        </p:txBody>
      </p:sp>
      <p:sp>
        <p:nvSpPr>
          <p:cNvPr id="16" name="Chevron 15"/>
          <p:cNvSpPr/>
          <p:nvPr/>
        </p:nvSpPr>
        <p:spPr>
          <a:xfrm>
            <a:off x="8734805" y="233629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0212" y="1618487"/>
            <a:ext cx="640080" cy="2286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take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874519"/>
            <a:ext cx="2393441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3717" y="1947672"/>
            <a:ext cx="2247137" cy="10881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Agent tools
and prompts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03320"/>
            <a:ext cx="3337560" cy="16459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703320"/>
            <a:ext cx="82296" cy="1645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49624"/>
            <a:ext cx="286207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Day 1 — automate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43400"/>
            <a:ext cx="2862072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Build reliable trigger → action flows without an AI agent.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703320"/>
            <a:ext cx="3337560" cy="16459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3703320"/>
            <a:ext cx="82296" cy="16459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3849624"/>
            <a:ext cx="286207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Day 2 — converse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4343400"/>
            <a:ext cx="2862072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Create a grounded agent that understands and confirms user intent.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5552" y="3703320"/>
            <a:ext cx="3648456" cy="16459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5552" y="3703320"/>
            <a:ext cx="82296" cy="16459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4" y="3849624"/>
            <a:ext cx="317296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Integrate — 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4" y="4343400"/>
            <a:ext cx="3172968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Let the agent call deterministic or prompt-based Power Automate tools.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</a:t>
            </a:r>
          </a:p>
        </p:txBody>
      </p:sp>
    </p:spTree>
    <p:extLst>
      <p:ext uri="{BB962C8B-B14F-4D97-AF65-F5344CB8AC3E}">
        <p14:creationId xmlns:p14="http://schemas.microsoft.com/office/powerpoint/2010/main" val="135091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TEN CONNECTED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Your 2-Day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82296" cy="175564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93852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88366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Form to Email Confirmation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Confirm the submitted 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73736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1215" y="1737360"/>
            <a:ext cx="82296" cy="175564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72383" y="193852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383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1" y="188366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08A73"/>
                </a:solidFill>
                <a:latin typeface="Arial"/>
              </a:rPr>
              <a:t>Log Enquiry + Send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37744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Add an audit row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73736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1737360"/>
            <a:ext cx="82296" cy="175564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85232" y="193852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188366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Event Registration Branching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37744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Route Yes and 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73736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737360"/>
            <a:ext cx="82296" cy="175564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0" y="1938528"/>
            <a:ext cx="457200" cy="45720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188366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37744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Manager decides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73736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1737360"/>
            <a:ext cx="82296" cy="175564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10928" y="193852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0928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77856" y="188366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IT Support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37744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FAQ + Teams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88620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3886200"/>
            <a:ext cx="82296" cy="175564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9536" y="40873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40873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" y="403250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HR Support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SharePoint + Teams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71215" y="388620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71215" y="3886200"/>
            <a:ext cx="82296" cy="175564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072383" y="40873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72383" y="40873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39311" y="403250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08A73"/>
                </a:solidFill>
                <a:latin typeface="Arial"/>
              </a:rPr>
              <a:t>Support Request Routing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27247" y="452628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or HR reply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84064" y="388620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84064" y="3886200"/>
            <a:ext cx="82296" cy="175564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285232" y="40873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85232" y="40873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0" y="403250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Website HTTP Enquiry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0096" y="452628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Website webhook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96912" y="388620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96912" y="3886200"/>
            <a:ext cx="82296" cy="175564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98080" y="4087368"/>
            <a:ext cx="457200" cy="45720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0" y="40873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65008" y="403250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Finance Agent Web Chat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52944" y="452628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Grounded agent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09760" y="3886200"/>
            <a:ext cx="1938528" cy="1755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09760" y="3886200"/>
            <a:ext cx="82296" cy="175564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710928" y="40873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40873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77856" y="4032504"/>
            <a:ext cx="978408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AI Trading Advisor Website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65792" y="4526280"/>
            <a:ext cx="146304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Candles + news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5980176"/>
            <a:ext cx="108356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Day 1 builds Forms, flows and support agents. Day 2 adds webhooks and the Finance Advisor capstone.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</a:t>
            </a:r>
          </a:p>
        </p:txBody>
      </p:sp>
    </p:spTree>
    <p:extLst>
      <p:ext uri="{BB962C8B-B14F-4D97-AF65-F5344CB8AC3E}">
        <p14:creationId xmlns:p14="http://schemas.microsoft.com/office/powerpoint/2010/main" val="1100239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64208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7393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664208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Concept, then demonstration, then hands-on practice for every topic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61518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1518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05456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Built entirely in Microsoft 365 and the Power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46704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345643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564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346704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No coding required—use low-code, drag-and-drop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87952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97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187952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Save flows and agents so they can be reused in the workplace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029200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389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029200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Use daily recap and open Q&amp;A to consolidate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9</a:t>
            </a:r>
          </a:p>
        </p:txBody>
      </p:sp>
    </p:spTree>
    <p:extLst>
      <p:ext uri="{BB962C8B-B14F-4D97-AF65-F5344CB8AC3E}">
        <p14:creationId xmlns:p14="http://schemas.microsoft.com/office/powerpoint/2010/main" val="2259203294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Lesson Plan — 2 Days, 9:00am–6:00pm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074920" cy="42976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82296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3852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883664"/>
            <a:ext cx="411480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Day 1 — Build and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377440"/>
            <a:ext cx="4599432" cy="35478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9:00–10:40  Concepts + flow types
10:55–3:15  Labs 1–4: Forms, Excel, event branch, approval
3:30–5:50  Agent concepts + Labs 5–7
5:50–6:00  Evidence check and recap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074920" cy="42976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37360"/>
            <a:ext cx="82296" cy="42976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193852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93852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1883664"/>
            <a:ext cx="411480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Day 2 — Connect and advise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377440"/>
            <a:ext cx="4599432" cy="35478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9:00–10:05  HTTP requests and webhooks
10:05–12:15  Lab 8 + Finance Agent foundation
1:15–4:00  Labs 9–10: web chat and trading advisor
4:00–6:00  Written + practical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Written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Modules 1–4 and the lab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Practical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Build and verify a working flow and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Submit on the LMS
Competent result + attendance requirement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10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Lab 0 setup plus Labs 1–10 and four concept modules.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Excel tables, searchable PDFs, HTML pages and JSON schemas.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Use the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Open each index.md or the compiled Learner Guide and work in order.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Day 1 — Forms, Flows and Business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34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Choose the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543860" y="33192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2772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Capture form data</a:t>
            </a:r>
          </a:p>
        </p:txBody>
      </p:sp>
      <p:sp>
        <p:nvSpPr>
          <p:cNvPr id="12" name="Chevron 11"/>
          <p:cNvSpPr/>
          <p:nvPr/>
        </p:nvSpPr>
        <p:spPr>
          <a:xfrm>
            <a:off x="4795112" y="33192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0873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4025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Route and approve</a:t>
            </a:r>
          </a:p>
        </p:txBody>
      </p:sp>
      <p:sp>
        <p:nvSpPr>
          <p:cNvPr id="15" name="Chevron 14"/>
          <p:cNvSpPr/>
          <p:nvPr/>
        </p:nvSpPr>
        <p:spPr>
          <a:xfrm>
            <a:off x="7046365" y="3319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12126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5278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Ground agents</a:t>
            </a:r>
          </a:p>
        </p:txBody>
      </p:sp>
      <p:sp>
        <p:nvSpPr>
          <p:cNvPr id="18" name="Chevron 17"/>
          <p:cNvSpPr/>
          <p:nvPr/>
        </p:nvSpPr>
        <p:spPr>
          <a:xfrm>
            <a:off x="9297618" y="33192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63379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6531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Email the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10149840" cy="7315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800" b="0">
                <a:solidFill>
                  <a:srgbClr val="5B6372"/>
                </a:solidFill>
                <a:latin typeface="Arial"/>
              </a:rPr>
              <a:t>Build one connected automation story, then add specialised agents.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15</a:t>
            </a:r>
          </a:p>
        </p:txBody>
      </p:sp>
    </p:spTree>
    <p:extLst>
      <p:ext uri="{BB962C8B-B14F-4D97-AF65-F5344CB8AC3E}">
        <p14:creationId xmlns:p14="http://schemas.microsoft.com/office/powerpoint/2010/main" val="2029470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WORKFLOW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 Business Workflow Has a Clear Start and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Business event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Actions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Name the start event, required work, expected result and proof before opening the designer.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16</a:t>
            </a:r>
          </a:p>
        </p:txBody>
      </p:sp>
    </p:spTree>
    <p:extLst>
      <p:ext uri="{BB962C8B-B14F-4D97-AF65-F5344CB8AC3E}">
        <p14:creationId xmlns:p14="http://schemas.microsoft.com/office/powerpoint/2010/main" val="2293972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CORE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Trigger → Actions →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Exactly one trigger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Get or validate data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Perform work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Every lab uses the same skeleton; only the trigger, actions and business rules change.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17</a:t>
            </a:r>
          </a:p>
        </p:txBody>
      </p:sp>
    </p:spTree>
    <p:extLst>
      <p:ext uri="{BB962C8B-B14F-4D97-AF65-F5344CB8AC3E}">
        <p14:creationId xmlns:p14="http://schemas.microsoft.com/office/powerpoint/2010/main" val="2507022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HOW A CLOUD FLOW 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Three Cloud Flow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Instant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 person deliberately selects Run, presses a button or invokes the flow from an app.
Use when the user controls the exact start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Scheduled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 Recurrence trigger reaches a defined time.
Use for daily, weekly or other timetable-driven 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Automated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 connected-service event occurs, such as a new form response.
Use when the process must react immediately.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18</a:t>
            </a:r>
          </a:p>
        </p:txBody>
      </p:sp>
    </p:spTree>
    <p:extLst>
      <p:ext uri="{BB962C8B-B14F-4D97-AF65-F5344CB8AC3E}">
        <p14:creationId xmlns:p14="http://schemas.microsoft.com/office/powerpoint/2010/main" val="2083644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DECISION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Choose the Flow Type by Asking 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3331464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3185159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person?</a:t>
            </a:r>
          </a:p>
        </p:txBody>
      </p:sp>
      <p:sp>
        <p:nvSpPr>
          <p:cNvPr id="8" name="Chevron 7"/>
          <p:cNvSpPr/>
          <p:nvPr/>
        </p:nvSpPr>
        <p:spPr>
          <a:xfrm>
            <a:off x="4044696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10456" y="1874519"/>
            <a:ext cx="3331464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3608" y="1947672"/>
            <a:ext cx="3185159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clock?</a:t>
            </a:r>
          </a:p>
        </p:txBody>
      </p:sp>
      <p:sp>
        <p:nvSpPr>
          <p:cNvPr id="11" name="Chevron 10"/>
          <p:cNvSpPr/>
          <p:nvPr/>
        </p:nvSpPr>
        <p:spPr>
          <a:xfrm>
            <a:off x="7796784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62544" y="1874519"/>
            <a:ext cx="3331464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5696" y="1947672"/>
            <a:ext cx="3185159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new event?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Person = instant. Clock = scheduled. New record, form, file or message = automated.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19</a:t>
            </a:r>
          </a:p>
        </p:txBody>
      </p:sp>
    </p:spTree>
    <p:extLst>
      <p:ext uri="{BB962C8B-B14F-4D97-AF65-F5344CB8AC3E}">
        <p14:creationId xmlns:p14="http://schemas.microsoft.com/office/powerpoint/2010/main" val="2049180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FLOW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Same Actions, Different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Instant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Manual trigger → send email → add Excel 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Scheduled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Recurrence → read pending items → send reminder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Automated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Form response → get details → email / log / approve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20</a:t>
            </a:r>
          </a:p>
        </p:txBody>
      </p:sp>
    </p:spTree>
    <p:extLst>
      <p:ext uri="{BB962C8B-B14F-4D97-AF65-F5344CB8AC3E}">
        <p14:creationId xmlns:p14="http://schemas.microsoft.com/office/powerpoint/2010/main" val="3493130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AUTOMATED CLOUD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Microsoft Forms Trigger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Response Id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Get response details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Use answers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trigger identifies the response; Get response details retrieves the actual answers.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21</a:t>
            </a:r>
          </a:p>
        </p:txBody>
      </p:sp>
    </p:spTree>
    <p:extLst>
      <p:ext uri="{BB962C8B-B14F-4D97-AF65-F5344CB8AC3E}">
        <p14:creationId xmlns:p14="http://schemas.microsoft.com/office/powerpoint/2010/main" val="1182492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Form to Email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3116120"/>
            <a:ext cx="11018520" cy="11652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arrows; decision branches are labelled.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22</a:t>
            </a:r>
          </a:p>
        </p:txBody>
      </p:sp>
    </p:spTree>
    <p:extLst>
      <p:ext uri="{BB962C8B-B14F-4D97-AF65-F5344CB8AC3E}">
        <p14:creationId xmlns:p14="http://schemas.microsoft.com/office/powerpoint/2010/main" val="1953617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REQUIRED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Design the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Name
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Enquiry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Message (long answer)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23</a:t>
            </a:r>
          </a:p>
        </p:txBody>
      </p:sp>
    </p:spTree>
    <p:extLst>
      <p:ext uri="{BB962C8B-B14F-4D97-AF65-F5344CB8AC3E}">
        <p14:creationId xmlns:p14="http://schemas.microsoft.com/office/powerpoint/2010/main" val="1395163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FORM ANSWERS BECOME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Map Dynamic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 token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Email token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Message token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Personalised email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Insert tokens from Get response details. Typed labels are not dynamic content.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24</a:t>
            </a:r>
          </a:p>
        </p:txBody>
      </p:sp>
    </p:spTree>
    <p:extLst>
      <p:ext uri="{BB962C8B-B14F-4D97-AF65-F5344CB8AC3E}">
        <p14:creationId xmlns:p14="http://schemas.microsoft.com/office/powerpoint/2010/main" val="963911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Test the Real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Submit once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Inspect run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Check recipient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Confirm one email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One form submission should produce one successful run and exactly one message.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25</a:t>
            </a:r>
          </a:p>
        </p:txBody>
      </p:sp>
    </p:spTree>
    <p:extLst>
      <p:ext uri="{BB962C8B-B14F-4D97-AF65-F5344CB8AC3E}">
        <p14:creationId xmlns:p14="http://schemas.microsoft.com/office/powerpoint/2010/main" val="3659566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Log the Enquiry and Send Email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3206892"/>
            <a:ext cx="11018520" cy="9837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arrows; decision branches are labelled.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26</a:t>
            </a:r>
          </a:p>
        </p:txBody>
      </p:sp>
    </p:spTree>
    <p:extLst>
      <p:ext uri="{BB962C8B-B14F-4D97-AF65-F5344CB8AC3E}">
        <p14:creationId xmlns:p14="http://schemas.microsoft.com/office/powerpoint/2010/main" val="3892726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 EXCEL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Enquiry Log.xlsx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Timestamp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 + contact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Message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Status +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Excel Online actions require a named table: EnquiryLog.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27</a:t>
            </a:r>
          </a:p>
        </p:txBody>
      </p:sp>
    </p:spTree>
    <p:extLst>
      <p:ext uri="{BB962C8B-B14F-4D97-AF65-F5344CB8AC3E}">
        <p14:creationId xmlns:p14="http://schemas.microsoft.com/office/powerpoint/2010/main" val="1611371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Action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Get details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Add row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Send email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Verify workbook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Put logging before email when confirmation should be sent only after a successful record.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28</a:t>
            </a:r>
          </a:p>
        </p:txBody>
      </p:sp>
    </p:spTree>
    <p:extLst>
      <p:ext uri="{BB962C8B-B14F-4D97-AF65-F5344CB8AC3E}">
        <p14:creationId xmlns:p14="http://schemas.microsoft.com/office/powerpoint/2010/main" val="3403971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COMMON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Troubleshooting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Workbook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Store in OneDrive for Business or SharePoint.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Select EnquiryLog; loose cells are not a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Close desktop Excel if the connector reports a file lock.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29</a:t>
            </a:r>
          </a:p>
        </p:txBody>
      </p:sp>
    </p:spTree>
    <p:extLst>
      <p:ext uri="{BB962C8B-B14F-4D97-AF65-F5344CB8AC3E}">
        <p14:creationId xmlns:p14="http://schemas.microsoft.com/office/powerpoint/2010/main" val="4119977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Event Registration Branching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813093"/>
            <a:ext cx="11018520" cy="1771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arrows; decision branches are labelled.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30</a:t>
            </a:r>
          </a:p>
        </p:txBody>
      </p:sp>
    </p:spTree>
    <p:extLst>
      <p:ext uri="{BB962C8B-B14F-4D97-AF65-F5344CB8AC3E}">
        <p14:creationId xmlns:p14="http://schemas.microsoft.com/office/powerpoint/2010/main" val="3976227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PARTICIPANT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Yes Branch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Joining = Yes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Add EventLog row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Email admin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Participant details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administrator receives the person's name, email and telephone number.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31</a:t>
            </a:r>
          </a:p>
        </p:txBody>
      </p:sp>
    </p:spTree>
    <p:extLst>
      <p:ext uri="{BB962C8B-B14F-4D97-AF65-F5344CB8AC3E}">
        <p14:creationId xmlns:p14="http://schemas.microsoft.com/office/powerpoint/2010/main" val="1332822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PARTICIPANT DECLINES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No Branch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Joining = No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Add EventLog row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Email user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Invite next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user receives thanks and a respectful next-event message.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32</a:t>
            </a:r>
          </a:p>
        </p:txBody>
      </p:sp>
    </p:spTree>
    <p:extLst>
      <p:ext uri="{BB962C8B-B14F-4D97-AF65-F5344CB8AC3E}">
        <p14:creationId xmlns:p14="http://schemas.microsoft.com/office/powerpoint/2010/main" val="2395582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TEST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Branch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Yes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Correct row + administrator 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No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Correct row + user 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JoiningEvent and NotificationSent explain the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33</a:t>
            </a:r>
          </a:p>
        </p:txBody>
      </p:sp>
    </p:spTree>
    <p:extLst>
      <p:ext uri="{BB962C8B-B14F-4D97-AF65-F5344CB8AC3E}">
        <p14:creationId xmlns:p14="http://schemas.microsoft.com/office/powerpoint/2010/main" val="2304567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784357"/>
            <a:ext cx="11018520" cy="18287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arrows; decision branches are labelled.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34</a:t>
            </a:r>
          </a:p>
        </p:txBody>
      </p:sp>
    </p:spTree>
    <p:extLst>
      <p:ext uri="{BB962C8B-B14F-4D97-AF65-F5344CB8AC3E}">
        <p14:creationId xmlns:p14="http://schemas.microsoft.com/office/powerpoint/2010/main" val="2112617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REQUIRED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Leave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Employee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Name
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Leave from date
Leave end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Leave type
Reason for leave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35</a:t>
            </a:r>
          </a:p>
        </p:txBody>
      </p:sp>
    </p:spTree>
    <p:extLst>
      <p:ext uri="{BB962C8B-B14F-4D97-AF65-F5344CB8AC3E}">
        <p14:creationId xmlns:p14="http://schemas.microsoft.com/office/powerpoint/2010/main" val="21480003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APPROVE OR 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Approval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Start and wait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Approve branch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Reject branch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Compare Outcome to Approve and include manager comments in the applicant email.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36</a:t>
            </a:r>
          </a:p>
        </p:txBody>
      </p:sp>
    </p:spTree>
    <p:extLst>
      <p:ext uri="{BB962C8B-B14F-4D97-AF65-F5344CB8AC3E}">
        <p14:creationId xmlns:p14="http://schemas.microsoft.com/office/powerpoint/2010/main" val="10904523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HANDLE PEOPLE DATA CAREFULLY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Use only authorised approvers.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Limit medical and personal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Retain decision, comments and run history.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37</a:t>
            </a:r>
          </a:p>
        </p:txBody>
      </p:sp>
    </p:spTree>
    <p:extLst>
      <p:ext uri="{BB962C8B-B14F-4D97-AF65-F5344CB8AC3E}">
        <p14:creationId xmlns:p14="http://schemas.microsoft.com/office/powerpoint/2010/main" val="12616571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Copilot Agent — Six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Approved files, websites or SharePoint sources used to ground answers.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Capabilities realised through topics, tools and agent 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Connected functions that read data or create authorised outcomes.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38</a:t>
            </a:r>
          </a:p>
        </p:txBody>
      </p:sp>
    </p:spTree>
    <p:extLst>
      <p:ext uri="{BB962C8B-B14F-4D97-AF65-F5344CB8AC3E}">
        <p14:creationId xmlns:p14="http://schemas.microsoft.com/office/powerpoint/2010/main" val="5895502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Copilot Agent — Six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Conversation context and variables; persistence depends on enabled features and governance.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The generative model interpreting requests and composing responses.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System message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Instructions defining role, scope, tone, safety and escalation.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39</a:t>
            </a:r>
          </a:p>
        </p:txBody>
      </p:sp>
    </p:spTree>
    <p:extLst>
      <p:ext uri="{BB962C8B-B14F-4D97-AF65-F5344CB8AC3E}">
        <p14:creationId xmlns:p14="http://schemas.microsoft.com/office/powerpoint/2010/main" val="862407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Knowledge Answers; Tools 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User asks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Instructions set scope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Knowledge grounds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Tool acts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Agent replies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Use static knowledge for approved explanations and tools for live, authorised actions.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40</a:t>
            </a:r>
          </a:p>
        </p:txBody>
      </p:sp>
    </p:spTree>
    <p:extLst>
      <p:ext uri="{BB962C8B-B14F-4D97-AF65-F5344CB8AC3E}">
        <p14:creationId xmlns:p14="http://schemas.microsoft.com/office/powerpoint/2010/main" val="13488177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PUBLISHING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Agent Safety Test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Expected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Questions the agent should answer.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77600"/>
                </a:solidFill>
                <a:latin typeface="Arial"/>
              </a:rPr>
              <a:t>Unsupported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Missing or out-of-scope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Unsafe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Credentials, personal data or prohibited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41</a:t>
            </a:r>
          </a:p>
        </p:txBody>
      </p:sp>
    </p:spTree>
    <p:extLst>
      <p:ext uri="{BB962C8B-B14F-4D97-AF65-F5344CB8AC3E}">
        <p14:creationId xmlns:p14="http://schemas.microsoft.com/office/powerpoint/2010/main" val="2805015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 — IT Support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413939"/>
            <a:ext cx="11018520" cy="25696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arrows; decision branches are labelled.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42</a:t>
            </a:r>
          </a:p>
        </p:txBody>
      </p:sp>
    </p:spTree>
    <p:extLst>
      <p:ext uri="{BB962C8B-B14F-4D97-AF65-F5344CB8AC3E}">
        <p14:creationId xmlns:p14="http://schemas.microsoft.com/office/powerpoint/2010/main" val="3540214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COPILOT STUDIO →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 — Test and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Positive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Password reset, MFA, VPN and device loss.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Negative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Credential request and unrelated HR question.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Publish latest version and verify in Teams.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43</a:t>
            </a:r>
          </a:p>
        </p:txBody>
      </p:sp>
    </p:spTree>
    <p:extLst>
      <p:ext uri="{BB962C8B-B14F-4D97-AF65-F5344CB8AC3E}">
        <p14:creationId xmlns:p14="http://schemas.microsoft.com/office/powerpoint/2010/main" val="30421729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6 — HR Support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582811"/>
            <a:ext cx="11018520" cy="2231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arrows; decision branches are labelled.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44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INFORMATION, NOT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6 — HR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Approved leave, expenses and workplace policy.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Never expose another employee's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Escalate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HR and managers make final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45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7 — Support Request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955687"/>
            <a:ext cx="11018520" cy="148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arrows; decision branches are labelled.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46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ONE CONNECTED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Day 1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Forms → email → Excel → condition → approval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IT FAQ and HR SharePoint knowledge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Form → specialised agent → user 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47</a:t>
            </a:r>
          </a:p>
        </p:txBody>
      </p:sp>
    </p:spTree>
    <p:extLst>
      <p:ext uri="{BB962C8B-B14F-4D97-AF65-F5344CB8AC3E}">
        <p14:creationId xmlns:p14="http://schemas.microsoft.com/office/powerpoint/2010/main" val="15264767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Day 2 — HTTP, Webhooks and Agent Websites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340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HTTP request</a:t>
            </a:r>
          </a:p>
        </p:txBody>
      </p:sp>
      <p:sp>
        <p:nvSpPr>
          <p:cNvPr id="9" name="Chevron 8"/>
          <p:cNvSpPr/>
          <p:nvPr/>
        </p:nvSpPr>
        <p:spPr>
          <a:xfrm>
            <a:off x="2543860" y="33192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2772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Webhook URL</a:t>
            </a:r>
          </a:p>
        </p:txBody>
      </p:sp>
      <p:sp>
        <p:nvSpPr>
          <p:cNvPr id="12" name="Chevron 11"/>
          <p:cNvSpPr/>
          <p:nvPr/>
        </p:nvSpPr>
        <p:spPr>
          <a:xfrm>
            <a:off x="4795112" y="33192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0873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4025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Finance chat</a:t>
            </a:r>
          </a:p>
        </p:txBody>
      </p:sp>
      <p:sp>
        <p:nvSpPr>
          <p:cNvPr id="15" name="Chevron 14"/>
          <p:cNvSpPr/>
          <p:nvPr/>
        </p:nvSpPr>
        <p:spPr>
          <a:xfrm>
            <a:off x="7046365" y="3319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12126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5278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Market tools</a:t>
            </a:r>
          </a:p>
        </p:txBody>
      </p:sp>
      <p:sp>
        <p:nvSpPr>
          <p:cNvPr id="18" name="Chevron 17"/>
          <p:cNvSpPr/>
          <p:nvPr/>
        </p:nvSpPr>
        <p:spPr>
          <a:xfrm>
            <a:off x="9297618" y="33192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63379" y="2788920"/>
            <a:ext cx="1830628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6531" y="2862072"/>
            <a:ext cx="1684324" cy="12252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Trading 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10149840" cy="7315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800" b="0">
                <a:solidFill>
                  <a:srgbClr val="5B6372"/>
                </a:solidFill>
                <a:latin typeface="Arial"/>
              </a:rPr>
              <a:t>Expose flows safely to websites and finish with a tool-using Finance Advisor Agent.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48</a:t>
            </a:r>
          </a:p>
        </p:txBody>
      </p:sp>
    </p:spTree>
    <p:extLst>
      <p:ext uri="{BB962C8B-B14F-4D97-AF65-F5344CB8AC3E}">
        <p14:creationId xmlns:p14="http://schemas.microsoft.com/office/powerpoint/2010/main" val="20260207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WEB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 HTTP Request Has Four Main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URL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Headers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Body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lab websites use POST to send a JSON body to the Power Automate endpoint.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49</a:t>
            </a:r>
          </a:p>
        </p:txBody>
      </p:sp>
    </p:spTree>
    <p:extLst>
      <p:ext uri="{BB962C8B-B14F-4D97-AF65-F5344CB8AC3E}">
        <p14:creationId xmlns:p14="http://schemas.microsoft.com/office/powerpoint/2010/main" val="38157952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Common HTTP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20040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24028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72491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Read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828800"/>
            <a:ext cx="320040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873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885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5464" y="1975104"/>
            <a:ext cx="224028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468880"/>
            <a:ext cx="272491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Submit data or start 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16368" y="1828800"/>
            <a:ext cx="3977639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163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175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1975104"/>
            <a:ext cx="3017519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PUT · PATCH · 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468880"/>
            <a:ext cx="3502151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Update or remove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50</a:t>
            </a:r>
          </a:p>
        </p:txBody>
      </p:sp>
    </p:spTree>
    <p:extLst>
      <p:ext uri="{BB962C8B-B14F-4D97-AF65-F5344CB8AC3E}">
        <p14:creationId xmlns:p14="http://schemas.microsoft.com/office/powerpoint/2010/main" val="40821782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REQUEST AND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 Webhook Is an Event Endpoint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Website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POST JSON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Flow actions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JSON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Power Automate generates the URL after a valid trigger-and-action flow saves.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51</a:t>
            </a:r>
          </a:p>
        </p:txBody>
      </p:sp>
    </p:spTree>
    <p:extLst>
      <p:ext uri="{BB962C8B-B14F-4D97-AF65-F5344CB8AC3E}">
        <p14:creationId xmlns:p14="http://schemas.microsoft.com/office/powerpoint/2010/main" val="20762356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CLASSROOM VERSUS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Webhook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Treat an anonymous webhook URL like a secret.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Validate, minimise and never include credentials.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Return only the data the website needs.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52</a:t>
            </a:r>
          </a:p>
        </p:txBody>
      </p:sp>
    </p:spTree>
    <p:extLst>
      <p:ext uri="{BB962C8B-B14F-4D97-AF65-F5344CB8AC3E}">
        <p14:creationId xmlns:p14="http://schemas.microsoft.com/office/powerpoint/2010/main" val="7041770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Website HTTP Enquiry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799915"/>
            <a:ext cx="11018520" cy="17976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arrows; decision branches are labelled.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53</a:t>
            </a:r>
          </a:p>
        </p:txBody>
      </p:sp>
    </p:spTree>
    <p:extLst>
      <p:ext uri="{BB962C8B-B14F-4D97-AF65-F5344CB8AC3E}">
        <p14:creationId xmlns:p14="http://schemas.microsoft.com/office/powerpoint/2010/main" val="40718705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JSON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Request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tel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message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Generate the trigger schema from a sample payload before mapping fields.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54</a:t>
            </a:r>
          </a:p>
        </p:txBody>
      </p:sp>
    </p:spTree>
    <p:extLst>
      <p:ext uri="{BB962C8B-B14F-4D97-AF65-F5344CB8AC3E}">
        <p14:creationId xmlns:p14="http://schemas.microsoft.com/office/powerpoint/2010/main" val="7599357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URL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Complete the Flow Before Saving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Send email action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Response action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Copy 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A trigger alone is incomplete; add at least one action and resolve validation errors.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55</a:t>
            </a:r>
          </a:p>
        </p:txBody>
      </p:sp>
    </p:spTree>
    <p:extLst>
      <p:ext uri="{BB962C8B-B14F-4D97-AF65-F5344CB8AC3E}">
        <p14:creationId xmlns:p14="http://schemas.microsoft.com/office/powerpoint/2010/main" val="17514619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END-TO-END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Browser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Paste and save the current webhook URL.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Enter realistic classroom data once.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Page status, run history and administrator email.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56</a:t>
            </a:r>
          </a:p>
        </p:txBody>
      </p:sp>
    </p:spTree>
    <p:extLst>
      <p:ext uri="{BB962C8B-B14F-4D97-AF65-F5344CB8AC3E}">
        <p14:creationId xmlns:p14="http://schemas.microsoft.com/office/powerpoint/2010/main" val="23614961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Finance Agent Web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483344"/>
            <a:ext cx="11018520" cy="24308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arrows; decision branches are labelled.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57</a:t>
            </a:r>
          </a:p>
        </p:txBody>
      </p:sp>
    </p:spTree>
    <p:extLst>
      <p:ext uri="{BB962C8B-B14F-4D97-AF65-F5344CB8AC3E}">
        <p14:creationId xmlns:p14="http://schemas.microsoft.com/office/powerpoint/2010/main" val="10299759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EDUCATIONAL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Finance Knowledge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Orders, candles, timeframes, volatility and news.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Qualify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Separate facts from interpretation and uncertainty.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Refuse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No guarantees or personalised buy/sell instructions.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58</a:t>
            </a:r>
          </a:p>
        </p:txBody>
      </p:sp>
    </p:spTree>
    <p:extLst>
      <p:ext uri="{BB962C8B-B14F-4D97-AF65-F5344CB8AC3E}">
        <p14:creationId xmlns:p14="http://schemas.microsoft.com/office/powerpoint/2010/main" val="30082586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RUN A PUBLISHED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HTTP-to-Agent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prompt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Run Finance Agent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agent response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Response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Insert the actual agent-response output token into the JSON reply.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59</a:t>
            </a:r>
          </a:p>
        </p:txBody>
      </p:sp>
    </p:spTree>
    <p:extLst>
      <p:ext uri="{BB962C8B-B14F-4D97-AF65-F5344CB8AC3E}">
        <p14:creationId xmlns:p14="http://schemas.microsoft.com/office/powerpoint/2010/main" val="39475096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GROUNDING AND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Test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Market versus limit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77600"/>
                </a:solidFill>
                <a:latin typeface="Arial"/>
              </a:rPr>
              <a:t>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Question not covered by knowledge.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Request for guaranteed returns.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60</a:t>
            </a:r>
          </a:p>
        </p:txBody>
      </p:sp>
    </p:spTree>
    <p:extLst>
      <p:ext uri="{BB962C8B-B14F-4D97-AF65-F5344CB8AC3E}">
        <p14:creationId xmlns:p14="http://schemas.microsoft.com/office/powerpoint/2010/main" val="25366111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LEARNER-ENTERED 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Connect the Chat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Save URL locally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Send prompt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Display reply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Show disclaimer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One message should create one flow run; do not embed tenant URLs in source.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61</a:t>
            </a:r>
          </a:p>
        </p:txBody>
      </p:sp>
    </p:spTree>
    <p:extLst>
      <p:ext uri="{BB962C8B-B14F-4D97-AF65-F5344CB8AC3E}">
        <p14:creationId xmlns:p14="http://schemas.microsoft.com/office/powerpoint/2010/main" val="1397997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SHARED WORKFLOW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AI Trading Advisor Website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572768"/>
            <a:ext cx="115488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" y="2378481"/>
            <a:ext cx="11018520" cy="26405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852160"/>
            <a:ext cx="103327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Shared workflow visual — follow the arrows; decision branches are labelled.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62</a:t>
            </a:r>
          </a:p>
        </p:txBody>
      </p:sp>
    </p:spTree>
    <p:extLst>
      <p:ext uri="{BB962C8B-B14F-4D97-AF65-F5344CB8AC3E}">
        <p14:creationId xmlns:p14="http://schemas.microsoft.com/office/powerpoint/2010/main" val="27075783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LIVE 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Four Authorised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Twelve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1-minute candles
15-minute candles
1-hour candles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NewsAPI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Recent relevant company or symbol news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Validate symbols, limits, errors and credentials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63</a:t>
            </a:r>
          </a:p>
        </p:txBody>
      </p:sp>
    </p:spTree>
    <p:extLst>
      <p:ext uri="{BB962C8B-B14F-4D97-AF65-F5344CB8AC3E}">
        <p14:creationId xmlns:p14="http://schemas.microsoft.com/office/powerpoint/2010/main" val="27127987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 NOT FORCE AGREEMENT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Multi-Timeframe Reasoning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1-minute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15-minute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1-hour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Compare direction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Explain conflict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Short intervals contain more noise; a sound response preserves conflicting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64</a:t>
            </a:r>
          </a:p>
        </p:txBody>
      </p:sp>
    </p:spTree>
    <p:extLst>
      <p:ext uri="{BB962C8B-B14F-4D97-AF65-F5344CB8AC3E}">
        <p14:creationId xmlns:p14="http://schemas.microsoft.com/office/powerpoint/2010/main" val="22438431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RECENT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Add News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Query news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Check time + source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Relate cautiously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State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A headline can be delayed, incomplete or already reflected in price.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65</a:t>
            </a:r>
          </a:p>
        </p:txBody>
      </p:sp>
    </p:spTree>
    <p:extLst>
      <p:ext uri="{BB962C8B-B14F-4D97-AF65-F5344CB8AC3E}">
        <p14:creationId xmlns:p14="http://schemas.microsoft.com/office/powerpoint/2010/main" val="27341898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NO KEYS IN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Secure API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Protected connections, environment variables or custom connector.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Limit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Small result sets and provider rate limits.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Hide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Never expose keys in HTML, prompts, logs or screenshots.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66</a:t>
            </a:r>
          </a:p>
        </p:txBody>
      </p:sp>
    </p:spTree>
    <p:extLst>
      <p:ext uri="{BB962C8B-B14F-4D97-AF65-F5344CB8AC3E}">
        <p14:creationId xmlns:p14="http://schemas.microsoft.com/office/powerpoint/2010/main" val="17508540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MODEL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Finance Advisor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Use all tools</a:t>
            </a:r>
          </a:p>
        </p:txBody>
      </p:sp>
      <p:sp>
        <p:nvSpPr>
          <p:cNvPr id="8" name="Chevron 7"/>
          <p:cNvSpPr/>
          <p:nvPr/>
        </p:nvSpPr>
        <p:spPr>
          <a:xfrm>
            <a:off x="310667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2433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585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Separate data and inference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5920739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499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9651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Describe uncertainty</a:t>
            </a:r>
          </a:p>
        </p:txBody>
      </p:sp>
      <p:sp>
        <p:nvSpPr>
          <p:cNvPr id="14" name="Chevron 13"/>
          <p:cNvSpPr/>
          <p:nvPr/>
        </p:nvSpPr>
        <p:spPr>
          <a:xfrm>
            <a:off x="873480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00565" y="1874519"/>
            <a:ext cx="2393441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3717" y="1947672"/>
            <a:ext cx="2247137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End with risk note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The agent provides education; it never promises returns or tells a person what to buy.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67</a:t>
            </a:r>
          </a:p>
        </p:txBody>
      </p:sp>
    </p:spTree>
    <p:extLst>
      <p:ext uri="{BB962C8B-B14F-4D97-AF65-F5344CB8AC3E}">
        <p14:creationId xmlns:p14="http://schemas.microsoft.com/office/powerpoint/2010/main" val="17508540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WEBSITE TO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HTTP Request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symbol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prompt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Validate + normalise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Run agent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Return 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Reject invalid symbols and return a clear error instead of fabricated analysis.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68</a:t>
            </a:r>
          </a:p>
        </p:txBody>
      </p:sp>
    </p:spTree>
    <p:extLst>
      <p:ext uri="{BB962C8B-B14F-4D97-AF65-F5344CB8AC3E}">
        <p14:creationId xmlns:p14="http://schemas.microsoft.com/office/powerpoint/2010/main" val="17508540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INTERACTIVE FRONT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TradingView Website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Enter symbol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Update chart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Paste webhook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Ask agent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Render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TradingView visualisation and agent analysis are related but independent components.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69</a:t>
            </a:r>
          </a:p>
        </p:txBody>
      </p:sp>
    </p:spTree>
    <p:extLst>
      <p:ext uri="{BB962C8B-B14F-4D97-AF65-F5344CB8AC3E}">
        <p14:creationId xmlns:p14="http://schemas.microsoft.com/office/powerpoint/2010/main" val="17508540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EXPECTED FAILURES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Test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Valid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All data tools succeed and output is qualified.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77600"/>
                </a:solidFill>
                <a:latin typeface="Arial"/>
              </a:rPr>
              <a:t>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Missing news or conflicting timeframes are disclosed.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Invalid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Bad symbol or advice request gets a safe response.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70</a:t>
            </a:r>
          </a:p>
        </p:txBody>
      </p:sp>
    </p:spTree>
    <p:extLst>
      <p:ext uri="{BB962C8B-B14F-4D97-AF65-F5344CB8AC3E}">
        <p14:creationId xmlns:p14="http://schemas.microsoft.com/office/powerpoint/2010/main" val="11136791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OBSERVE → REASON → ACT → RESPOND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End-to-End Agentic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Website user</a:t>
            </a:r>
          </a:p>
        </p:txBody>
      </p:sp>
      <p:sp>
        <p:nvSpPr>
          <p:cNvPr id="8" name="Chevron 7"/>
          <p:cNvSpPr/>
          <p:nvPr/>
        </p:nvSpPr>
        <p:spPr>
          <a:xfrm>
            <a:off x="2543860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620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2772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Power Automate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4795112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0873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025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Copilot agent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6365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126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5278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Data tools</a:t>
            </a:r>
          </a:p>
        </p:txBody>
      </p:sp>
      <p:sp>
        <p:nvSpPr>
          <p:cNvPr id="17" name="Chevron 16"/>
          <p:cNvSpPr/>
          <p:nvPr/>
        </p:nvSpPr>
        <p:spPr>
          <a:xfrm>
            <a:off x="9297618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3379" y="1874519"/>
            <a:ext cx="1830628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6531" y="1947672"/>
            <a:ext cx="1684324" cy="11795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Browser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977639"/>
            <a:ext cx="10058400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977639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4123943"/>
            <a:ext cx="9582912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617719"/>
            <a:ext cx="9582912" cy="6675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Each boundary has a distinct responsibility and an auditable input/output.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71</a:t>
            </a:r>
          </a:p>
        </p:txBody>
      </p:sp>
    </p:spTree>
    <p:extLst>
      <p:ext uri="{BB962C8B-B14F-4D97-AF65-F5344CB8AC3E}">
        <p14:creationId xmlns:p14="http://schemas.microsoft.com/office/powerpoint/2010/main" val="33684372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Operational Readiness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413A"/>
                </a:solidFill>
                <a:latin typeface="Arial"/>
              </a:rP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Authentication, secrets and least privilege.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Timeouts, retries, rate limits and fallbacks.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Approved sources, disclaimers, logs and owners.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72</a:t>
            </a:r>
          </a:p>
        </p:txBody>
      </p:sp>
    </p:spTree>
    <p:extLst>
      <p:ext uri="{BB962C8B-B14F-4D97-AF65-F5344CB8AC3E}">
        <p14:creationId xmlns:p14="http://schemas.microsoft.com/office/powerpoint/2010/main" val="14157661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FROM WEBHOOK TO TOOL-USING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Day 2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HTTP request + learner-entered webhook URL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Finance knowledge + live authorised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Respond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Structured JSON + uncertainty + risk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73</a:t>
            </a:r>
          </a:p>
        </p:txBody>
      </p:sp>
    </p:spTree>
    <p:extLst>
      <p:ext uri="{BB962C8B-B14F-4D97-AF65-F5344CB8AC3E}">
        <p14:creationId xmlns:p14="http://schemas.microsoft.com/office/powerpoint/2010/main" val="40757400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WORKPLACE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 Can Automate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64208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7393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664208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Onboarding: new-hire checklists and welcome emails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61518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1518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05456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Reporting: scheduled data pulls and summaries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46704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345643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564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346704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Helpdesk: triage and route incoming requests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87952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97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187952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Document handling: filing, approvals and reminders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029200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389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029200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Any process where people copy data or chase approvals by hand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74</a:t>
            </a:r>
          </a:p>
        </p:txBody>
      </p:sp>
    </p:spTree>
    <p:extLst>
      <p:ext uri="{BB962C8B-B14F-4D97-AF65-F5344CB8AC3E}">
        <p14:creationId xmlns:p14="http://schemas.microsoft.com/office/powerpoint/2010/main" val="40573558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IMPLEMENTATION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Common Pitfalls to Avoid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64208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7393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664208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Automating a broken process—fix the process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61518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1518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05456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Trying to build everything in one giant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46704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345643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564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346704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Skipping tests and discovering surprises in 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87952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97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187952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Omitting error handling so failures go unnoticed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029200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389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029200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Using vague agent instructions that return inconsistent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75</a:t>
            </a:r>
          </a:p>
        </p:txBody>
      </p:sp>
    </p:spTree>
    <p:extLst>
      <p:ext uri="{BB962C8B-B14F-4D97-AF65-F5344CB8AC3E}">
        <p14:creationId xmlns:p14="http://schemas.microsoft.com/office/powerpoint/2010/main" val="17879579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Common Errors &amp; Quick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64208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7393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664208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Unauthorized email action: reconnect Outlook with a mailbox-enabled 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61518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1518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05456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Approval valid-users error: select a real tenant user from the approver 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46704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345643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564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346704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Literal utcNow(): enter the value through the Expression editor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87952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97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187952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Excel shows ####: widen or auto-fit the affected column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029200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389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029200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Unexpected loop or missing agent flow: use single-value fields and one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76</a:t>
            </a:r>
          </a:p>
        </p:txBody>
      </p:sp>
    </p:spTree>
    <p:extLst>
      <p:ext uri="{BB962C8B-B14F-4D97-AF65-F5344CB8AC3E}">
        <p14:creationId xmlns:p14="http://schemas.microsoft.com/office/powerpoint/2010/main" val="208364452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RESPONSIBLE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Governance &amp; Security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64208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7393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664208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Use only connections and permissions you are authorised to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61518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1518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05456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Keep sensitive data out of email and logs where possible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46704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345643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564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346704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Follow organisational data, privacy and approval policies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87952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97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187952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Document what each flow does and who owns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029200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389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029200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Review and retire flows that are no longer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77</a:t>
            </a:r>
          </a:p>
        </p:txBody>
      </p:sp>
    </p:spTree>
    <p:extLst>
      <p:ext uri="{BB962C8B-B14F-4D97-AF65-F5344CB8AC3E}">
        <p14:creationId xmlns:p14="http://schemas.microsoft.com/office/powerpoint/2010/main" val="22623357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ADOPTION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Rolling This Out 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64208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7393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664208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Choose one painful, repetitive task to automate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61518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1518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05456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Prove the value, then share the outcome with the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46704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345643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564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346704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Build a small library of reusable flows and agents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87952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97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187952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Involve the people who perform the work in the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029200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389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029200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Iterate as needs, controls and evidence requirements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78</a:t>
            </a:r>
          </a:p>
        </p:txBody>
      </p:sp>
    </p:spTree>
    <p:extLst>
      <p:ext uri="{BB962C8B-B14F-4D97-AF65-F5344CB8AC3E}">
        <p14:creationId xmlns:p14="http://schemas.microsoft.com/office/powerpoint/2010/main" val="19179625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FROM FLOW MAKER TO AGENT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 Recap — The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246120" cy="42976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89280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9280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837944"/>
            <a:ext cx="228600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1 — 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2770632" cy="35478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5B6372"/>
                </a:solidFill>
                <a:latin typeface="Arial"/>
              </a:rPr>
              <a:t>Instant
Scheduled
Automated
Approval
HTTP</a:t>
            </a:r>
          </a:p>
        </p:txBody>
      </p:sp>
      <p:sp>
        <p:nvSpPr>
          <p:cNvPr id="12" name="Chevron 11"/>
          <p:cNvSpPr/>
          <p:nvPr/>
        </p:nvSpPr>
        <p:spPr>
          <a:xfrm>
            <a:off x="4087368" y="3429000"/>
            <a:ext cx="530352" cy="457200"/>
          </a:xfrm>
          <a:prstGeom prst="chevron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60" y="1691640"/>
            <a:ext cx="3246120" cy="42976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691640"/>
            <a:ext cx="82296" cy="42976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10328" y="189280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8" y="189280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7256" y="1837944"/>
            <a:ext cx="228600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2 — Add the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2331720"/>
            <a:ext cx="2770632" cy="35478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5B6372"/>
                </a:solidFill>
                <a:latin typeface="Arial"/>
              </a:rPr>
              <a:t>Instructions
RAG knowledge
Teams + website
Confirmed inputs</a:t>
            </a:r>
          </a:p>
        </p:txBody>
      </p:sp>
      <p:sp>
        <p:nvSpPr>
          <p:cNvPr id="19" name="Chevron 18"/>
          <p:cNvSpPr/>
          <p:nvPr/>
        </p:nvSpPr>
        <p:spPr>
          <a:xfrm>
            <a:off x="8138160" y="3429000"/>
            <a:ext cx="530352" cy="457200"/>
          </a:xfrm>
          <a:prstGeom prst="chevron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59952" y="1691640"/>
            <a:ext cx="2743200" cy="42976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1691640"/>
            <a:ext cx="82296" cy="42976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0" y="1892808"/>
            <a:ext cx="457200" cy="4572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1892808"/>
            <a:ext cx="457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1837944"/>
            <a:ext cx="178308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845B"/>
                </a:solidFill>
                <a:latin typeface="Arial"/>
              </a:rPr>
              <a:t>3 — Let it 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2331720"/>
            <a:ext cx="2267712" cy="35478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5B6372"/>
                </a:solidFill>
                <a:latin typeface="Arial"/>
              </a:rPr>
              <a:t>Agent flow
Prompt flow
Guardrails
Returned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79</a:t>
            </a:r>
          </a:p>
        </p:txBody>
      </p:sp>
    </p:spTree>
    <p:extLst>
      <p:ext uri="{BB962C8B-B14F-4D97-AF65-F5344CB8AC3E}">
        <p14:creationId xmlns:p14="http://schemas.microsoft.com/office/powerpoint/2010/main" val="27666484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64208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7393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664208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Every workflow follows Trigger → Actions →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61518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1518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05456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Power Automate performs work; Copilot Studio adds intelligence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46704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345643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564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346704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Structured agent outputs make connected flows reliable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87952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97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187952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Orchestration combines separate steps into complete processes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029200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389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029200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Start small, test and improve—then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80</a:t>
            </a:r>
          </a:p>
        </p:txBody>
      </p:sp>
    </p:spTree>
    <p:extLst>
      <p:ext uri="{BB962C8B-B14F-4D97-AF65-F5344CB8AC3E}">
        <p14:creationId xmlns:p14="http://schemas.microsoft.com/office/powerpoint/2010/main" val="23431137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CONTINUE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Resources &amp; Where to Go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64208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7393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7393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664208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make.powerautomate.com — build and manage cloud 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61518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61518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05456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copilotstudio.microsoft.com — create and publish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46704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345643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4564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346704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Microsoft Learn — follow free guided learning paths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87952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297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4187952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Templates gallery — start from reviewed pre-built flows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029200"/>
            <a:ext cx="10515600" cy="640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389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029200"/>
            <a:ext cx="946404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Your community — share safe patterns and lessons learned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1083564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and Copilot Studio Agents   |   81</a:t>
            </a:r>
          </a:p>
        </p:txBody>
      </p:sp>
    </p:spTree>
    <p:extLst>
      <p:ext uri="{BB962C8B-B14F-4D97-AF65-F5344CB8AC3E}">
        <p14:creationId xmlns:p14="http://schemas.microsoft.com/office/powerpoint/2010/main" val="2032098328"/>
      </p:ext>
    </p:extLst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Download the slides and the Learner Guide from the LMS for the open-book assessment.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Portal: https://lms-tms.tertiaryinfotech.com/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Submit your Written Assessment and Practical Performance answers on the LMS.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Complete the TRAQOM survey via the QR code on the LMS.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Written Assessment (SAQ) — 1 hour. Practical Performance (PP) — 1 hour.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F29D-2E00-A7A1-232C-5186174A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E0239-BFD9-3216-03B0-6B9565072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>
                <a:solidFill>
                  <a:srgbClr val="7C3AED"/>
                </a:solidFill>
              </a:rPr>
              <a:t>Now go automate something — questions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3938712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148472114]">
  <a:themeElements>
    <a:clrScheme name="Office">
      <a:dk1>
        <a:srgbClr val="1B1B2F"/>
      </a:dk1>
      <a:lt1>
        <a:srgbClr val="FFFFFF"/>
      </a:lt1>
      <a:dk2>
        <a:srgbClr val="2B2B40"/>
      </a:dk2>
      <a:lt2>
        <a:srgbClr val="F3F5FB"/>
      </a:lt2>
      <a:accent1>
        <a:srgbClr val="2563EB"/>
      </a:accent1>
      <a:accent2>
        <a:srgbClr val="7C3AED"/>
      </a:accent2>
      <a:accent3>
        <a:srgbClr val="06B6D4"/>
      </a:accent3>
      <a:accent4>
        <a:srgbClr val="DB2777"/>
      </a:accent4>
      <a:accent5>
        <a:srgbClr val="10B981"/>
      </a:accent5>
      <a:accent6>
        <a:srgbClr val="F59E0B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DBB792-EE95-D44E-9920-6DFB61B6772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129c31c-d639-492d-b1a1-2a7d8dffa5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4806</Words>
  <Application>Microsoft Macintosh PowerPoint</Application>
  <PresentationFormat>Widescreen</PresentationFormat>
  <Paragraphs>225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1" baseType="lpstr">
      <vt:lpstr>Arial</vt:lpstr>
      <vt:lpstr>Segoe UI</vt:lpstr>
      <vt:lpstr>Segoe UI Semibold</vt:lpstr>
      <vt:lpstr>Office Theme [1782148472114]</vt:lpstr>
      <vt:lpstr>Microsoft Copilot Studio &amp; Power Automate</vt:lpstr>
      <vt:lpstr>What You'll Learn</vt:lpstr>
      <vt:lpstr>Your 3-Day Journey</vt:lpstr>
      <vt:lpstr>How This Course Works</vt:lpstr>
      <vt:lpstr>Day 1 — Foundations &amp; Power Automate</vt:lpstr>
      <vt:lpstr>Module 1 · Introduction to Workflow Automation</vt:lpstr>
      <vt:lpstr>What Is Business Workflow Automation?</vt:lpstr>
      <vt:lpstr>Why Automate?</vt:lpstr>
      <vt:lpstr>Manual Process vs. Automated Workflow</vt:lpstr>
      <vt:lpstr>Standalone Agents vs. Integrated Workflows</vt:lpstr>
      <vt:lpstr>Introduction to Workflow Logic</vt:lpstr>
      <vt:lpstr>Triggers — What Starts a Workflow</vt:lpstr>
      <vt:lpstr>Actions — What the Workflow Does</vt:lpstr>
      <vt:lpstr>Outputs — The Result</vt:lpstr>
      <vt:lpstr>Workflow Steps — Putting It Together</vt:lpstr>
      <vt:lpstr>Anatomy of a Workflow</vt:lpstr>
      <vt:lpstr>Module 1 Recap</vt:lpstr>
      <vt:lpstr>Module 2 · Introduction to Power Automate</vt:lpstr>
      <vt:lpstr>Overview of Power Automate</vt:lpstr>
      <vt:lpstr>Types of Flow</vt:lpstr>
      <vt:lpstr>The Maker Experience</vt:lpstr>
      <vt:lpstr>Common Triggers</vt:lpstr>
      <vt:lpstr>Trigger: Email Received</vt:lpstr>
      <vt:lpstr>Trigger: File Upload</vt:lpstr>
      <vt:lpstr>Trigger: Form Submission</vt:lpstr>
      <vt:lpstr>Creating Workflow Actions</vt:lpstr>
      <vt:lpstr>Action: Send Emails</vt:lpstr>
      <vt:lpstr>Action: Create Excel Entries</vt:lpstr>
      <vt:lpstr>Action: Notifications &amp; Approvals</vt:lpstr>
      <vt:lpstr>Connectors — Linking It All Together</vt:lpstr>
      <vt:lpstr>Hands-On Labs · Power Automate</vt:lpstr>
      <vt:lpstr>Lab 1 — Automated Email Workflow</vt:lpstr>
      <vt:lpstr>Lab 2 — Excel Data Logging Workflow</vt:lpstr>
      <vt:lpstr>Lab 3 — Simple Approval Workflow</vt:lpstr>
      <vt:lpstr>Day 1 Recap</vt:lpstr>
      <vt:lpstr>Day 2 — Building Business Agents with Copilot Studio</vt:lpstr>
      <vt:lpstr>Day 2 Roadmap</vt:lpstr>
      <vt:lpstr>Module 3 · Building Business Agents with Copilot Studio</vt:lpstr>
      <vt:lpstr>What Is Copilot Studio?</vt:lpstr>
      <vt:lpstr>The Copilot Studio Maker</vt:lpstr>
      <vt:lpstr>How an Agent Works</vt:lpstr>
      <vt:lpstr>What Makes a Good Business Agent</vt:lpstr>
      <vt:lpstr>Creating Practical Business Agents</vt:lpstr>
      <vt:lpstr>Prompt Design Fundamentals</vt:lpstr>
      <vt:lpstr>Prompt Design for Structured Outputs</vt:lpstr>
      <vt:lpstr>Structured Output Formats</vt:lpstr>
      <vt:lpstr>Example: A Structured Prompt</vt:lpstr>
      <vt:lpstr>Connecting Agents to Power Automate Flows</vt:lpstr>
      <vt:lpstr>Passing Outputs into Workflows</vt:lpstr>
      <vt:lpstr>Input and Output Mapping</vt:lpstr>
      <vt:lpstr>Best Practices for Agent + Flow</vt:lpstr>
      <vt:lpstr>How Agents and Power Automate Work Together</vt:lpstr>
      <vt:lpstr>Hands-On Labs · Copilot Studio</vt:lpstr>
      <vt:lpstr>Lab 4 — Sales Enquiry Assistant</vt:lpstr>
      <vt:lpstr>Lab 5 — Procurement Request Workflow</vt:lpstr>
      <vt:lpstr>Lab 6 — Automated Response Generation</vt:lpstr>
      <vt:lpstr>Testing &amp; Debugging Agents</vt:lpstr>
      <vt:lpstr>Day 2 Recap</vt:lpstr>
      <vt:lpstr>Day 3 — End-to-End Automation &amp; Workshop</vt:lpstr>
      <vt:lpstr>Module 4 · End-to-End Workflow Automation</vt:lpstr>
      <vt:lpstr>Agents + Power Automate, End to End</vt:lpstr>
      <vt:lpstr>Workflow Orchestration</vt:lpstr>
      <vt:lpstr>Orchestration Patterns</vt:lpstr>
      <vt:lpstr>Managing Outputs &amp; Next Steps</vt:lpstr>
      <vt:lpstr>Error Handling &amp; Monitoring</vt:lpstr>
      <vt:lpstr>Business Workflow Examples</vt:lpstr>
      <vt:lpstr>Example 1 — Email Enquiry → Excel → Notification</vt:lpstr>
      <vt:lpstr>Example 2 — Invoice Upload → Approval</vt:lpstr>
      <vt:lpstr>Example 3 — Purchase Request → Approval → Notification</vt:lpstr>
      <vt:lpstr>Module 4 Recap</vt:lpstr>
      <vt:lpstr>Module 5 · Business Workflow Workshop</vt:lpstr>
      <vt:lpstr>Workshop Overview</vt:lpstr>
      <vt:lpstr>How the Workshop Works</vt:lpstr>
      <vt:lpstr>Track A — Sales</vt:lpstr>
      <vt:lpstr>Track B — Finance</vt:lpstr>
      <vt:lpstr>Track C — Procurement</vt:lpstr>
      <vt:lpstr>Track D — Order Processing</vt:lpstr>
      <vt:lpstr>Build Guidelines &amp; Success Criteria</vt:lpstr>
      <vt:lpstr>Present &amp; Get Feedback</vt:lpstr>
      <vt:lpstr>What You Can Automate Next</vt:lpstr>
      <vt:lpstr>Common Pitfalls to Avoid</vt:lpstr>
      <vt:lpstr>Governance &amp; Security Basics</vt:lpstr>
      <vt:lpstr>Rolling This Out at Work</vt:lpstr>
      <vt:lpstr>Course Recap — The Big Picture</vt:lpstr>
      <vt:lpstr>Key Takeaways</vt:lpstr>
      <vt:lpstr>Resources &amp; Where to Go Next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Tertiary Infotech Admin</dc:creator>
  <cp:lastModifiedBy>Tertiary Infotech Admin</cp:lastModifiedBy>
  <cp:revision>2</cp:revision>
  <dcterms:created xsi:type="dcterms:W3CDTF">2026-06-22T17:06:55Z</dcterms:created>
  <dcterms:modified xsi:type="dcterms:W3CDTF">2026-06-23T18:36:15Z</dcterms:modified>
</cp:coreProperties>
</file>