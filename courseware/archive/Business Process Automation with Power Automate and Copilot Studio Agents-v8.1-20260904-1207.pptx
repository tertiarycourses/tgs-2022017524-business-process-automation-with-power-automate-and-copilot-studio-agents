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36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75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8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75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Relationship Id="rId3" Type="http://schemas.openxmlformats.org/officeDocument/2006/relationships/image" Target="../media/image88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image" Target="../media/image90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02920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7048" y="1554480"/>
            <a:ext cx="9144000" cy="10058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4000" b="1">
                <a:solidFill>
                  <a:srgbClr val="161B26"/>
                </a:solidFill>
                <a:latin typeface="Arial"/>
              </a:rPr>
              <a:t>Business Process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7048" y="2560320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400" b="1">
                <a:solidFill>
                  <a:srgbClr val="161B26"/>
                </a:solidFill>
                <a:latin typeface="Arial"/>
              </a:rPr>
              <a:t>with Power Automate and Copilot Studio Agents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3310128"/>
            <a:ext cx="1920240" cy="457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27048" y="3474720"/>
            <a:ext cx="91440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0">
                <a:solidFill>
                  <a:srgbClr val="5B6372"/>
                </a:solidFill>
                <a:latin typeface="Arial"/>
              </a:rPr>
              <a:t>WSQ Course Code: TGS-2022017524  ·  2-Day Hands-On Training  ·  Modules 1–5  ·  18 Labs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3977639"/>
            <a:ext cx="91440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Built entirely in the new Copilot Studio — workflows, agents, skills, tools, channels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4892040"/>
            <a:ext cx="9144000" cy="411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5303520"/>
            <a:ext cx="914400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Version 8.1 (4 September 2026)  ·  www.tertiarycourses.com.sg  ·  https://lms-tms.tertiaryinfotech.com/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8653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3225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225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19072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AM, PM and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103120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It is mandatory to take the AM, PM and Assessment digital attendance for WSQ-funded courses.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645920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645920"/>
            <a:ext cx="82296" cy="186537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1948" y="232257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1948" y="23225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719072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The SSG QR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103120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trainer/administrator displays the digital attendance QR code from the SSG portal.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12464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712464"/>
            <a:ext cx="82296" cy="18653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438912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3891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785616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Scan and submit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169664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3712464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3712464"/>
            <a:ext cx="82296" cy="186537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41948" y="438912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1948" y="43891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8604" y="3785616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75% minimum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4169664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TRAQOM is the SSG digital attendance system — take it three times a day, every day.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337560" cy="4572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0020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49908" y="210312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49908" y="2103120"/>
            <a:ext cx="1554480" cy="1554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977639"/>
            <a:ext cx="3063240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4572000"/>
            <a:ext cx="3063240" cy="10972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300" b="0">
                <a:solidFill>
                  <a:srgbClr val="5B6372"/>
                </a:solidFill>
                <a:latin typeface="Arial"/>
              </a:rPr>
              <a:t>General Trainer template —</a:t>
            </a:r>
          </a:p>
          <a:p>
            <a:pPr algn="ctr"/>
            <a:r>
              <a:rPr sz="1300" b="0">
                <a:solidFill>
                  <a:srgbClr val="5B6372"/>
                </a:solidFill>
                <a:latin typeface="Arial"/>
              </a:rPr>
              <a:t>to be completed by the trainer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7150608" cy="624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00200"/>
            <a:ext cx="82296" cy="624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636776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874520"/>
            <a:ext cx="6693408" cy="3139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rial"/>
              </a:rPr>
              <a:t>________________________________________________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389632"/>
            <a:ext cx="7150608" cy="624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2389632"/>
            <a:ext cx="82296" cy="624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426208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TITLE / DESIGNATION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663952"/>
            <a:ext cx="6693408" cy="3139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rial"/>
              </a:rPr>
              <a:t>________________________________________________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179064"/>
            <a:ext cx="7150608" cy="624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179064"/>
            <a:ext cx="82296" cy="624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215640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QUALIFICATIONS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453384"/>
            <a:ext cx="6693408" cy="3139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rial"/>
              </a:rPr>
              <a:t>________________________________________________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968496"/>
            <a:ext cx="7150608" cy="624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968496"/>
            <a:ext cx="82296" cy="6248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4005072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AREAS OF EXPERTISE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242816"/>
            <a:ext cx="6693408" cy="3139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rial"/>
              </a:rPr>
              <a:t>________________________________________________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757928"/>
            <a:ext cx="7150608" cy="624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4757928"/>
            <a:ext cx="82296" cy="624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4794504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5032248"/>
            <a:ext cx="6693408" cy="3139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rial"/>
              </a:rPr>
              <a:t>________________________________________________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5547360"/>
            <a:ext cx="7150608" cy="624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43400" y="5547360"/>
            <a:ext cx="82296" cy="624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5583936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CONTACT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5821680"/>
            <a:ext cx="6693408" cy="3139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7E0EA"/>
                </a:solidFill>
                <a:latin typeface="Arial"/>
              </a:rPr>
              <a:t>________________________________________________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337560" cy="4572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0020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49908" y="210312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49908" y="2103120"/>
            <a:ext cx="1554480" cy="15544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977639"/>
            <a:ext cx="3063240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4572000"/>
            <a:ext cx="3063240" cy="10972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300" b="0">
                <a:solidFill>
                  <a:srgbClr val="5B6372"/>
                </a:solidFill>
                <a:latin typeface="Arial"/>
              </a:rPr>
              <a:t>Principal Trainer</a:t>
            </a:r>
          </a:p>
          <a:p>
            <a:pPr algn="ctr"/>
            <a:r>
              <a:rPr sz="1300" b="0">
                <a:solidFill>
                  <a:srgbClr val="5B6372"/>
                </a:solidFill>
                <a:latin typeface="Arial"/>
              </a:rPr>
              <a:t>Tertiary Infotech Academy Pte. Ltd.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7150608" cy="1019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00200"/>
            <a:ext cx="82296" cy="10195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636776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874520"/>
            <a:ext cx="6693408" cy="7086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784348"/>
            <a:ext cx="7150608" cy="1019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2784348"/>
            <a:ext cx="82296" cy="101955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820924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CERTIFICATION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058668"/>
            <a:ext cx="6693408" cy="7086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Microsoft Power Platform, AI and data analytics — 20+ years of training experience.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968496"/>
            <a:ext cx="7150608" cy="1019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968496"/>
            <a:ext cx="82296" cy="101955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4005072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DELIVERS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242816"/>
            <a:ext cx="6693408" cy="7086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WSQ courses on AI, business automation, data science and software engineering.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5152644"/>
            <a:ext cx="7150608" cy="1019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5152644"/>
            <a:ext cx="82296" cy="101955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5189220"/>
            <a:ext cx="6693408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FOUNDER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5426964"/>
            <a:ext cx="6693408" cy="7086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10835640" cy="1176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1765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197815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7815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19072"/>
            <a:ext cx="9738360" cy="10485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1B26"/>
                </a:solidFill>
                <a:latin typeface="Arial"/>
              </a:rPr>
              <a:t>Who you 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103120"/>
            <a:ext cx="9738360" cy="66446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Your name and your organisation / role.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023616"/>
            <a:ext cx="10835640" cy="1176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023616"/>
            <a:ext cx="82296" cy="11765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6112" y="3355848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35584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096768"/>
            <a:ext cx="9738360" cy="10485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1B26"/>
                </a:solidFill>
                <a:latin typeface="Arial"/>
              </a:rPr>
              <a:t>What you have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480816"/>
            <a:ext cx="9738360" cy="66446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Your experience with Power Automate, Copilot Studio or other automation tools (if any).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401312"/>
            <a:ext cx="10835640" cy="1176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401312"/>
            <a:ext cx="82296" cy="11765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4733544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7335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474464"/>
            <a:ext cx="9738360" cy="10485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161B26"/>
                </a:solidFill>
                <a:latin typeface="Arial"/>
              </a:rPr>
              <a:t>What you want to automate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858512"/>
            <a:ext cx="9738360" cy="66446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One repetitive business process you would love to automate after this course.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Keep the process in mind — by Day 2 you will know which parts of it should be a workflow, an agent, or a person.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3746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07721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772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00784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4204" y="1645920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4204" y="1645920"/>
            <a:ext cx="82296" cy="13746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1948" y="2077212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1948" y="20772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8604" y="1700784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21736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221736"/>
            <a:ext cx="82296" cy="13746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6112" y="3653028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65302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3276600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4204" y="3221736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4204" y="3221736"/>
            <a:ext cx="82296" cy="13746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1948" y="3653028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1948" y="365302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8604" y="3276600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797552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797552"/>
            <a:ext cx="82296" cy="13746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6112" y="5228844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2288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4852416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4204" y="4797552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04204" y="4797552"/>
            <a:ext cx="82296" cy="13746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41948" y="522884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1948" y="52288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8604" y="4852416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PORTAL · LMS-TMS.TERTIARYINFOTECH.COM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3474720" cy="4526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ms-portal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7899"/>
            <a:ext cx="3246120" cy="39800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389120" y="1600200"/>
            <a:ext cx="3447288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00200"/>
            <a:ext cx="82296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709928"/>
            <a:ext cx="297180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1 · Sign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185416"/>
            <a:ext cx="2953512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lms-tms.tertiaryinfotech.com — log in with your registered email (OTP or password).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383280"/>
            <a:ext cx="3447288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3383280"/>
            <a:ext cx="82296" cy="1600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3493008"/>
            <a:ext cx="297180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2 · Download materials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968496"/>
            <a:ext cx="2953512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 (PDF) and the Learner Guide from the course page — your open-book references.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600200"/>
            <a:ext cx="3447288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600200"/>
            <a:ext cx="82296" cy="1600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1709928"/>
            <a:ext cx="297180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3 · Submit answers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2185416"/>
            <a:ext cx="2953512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Upload your Written Assessment and Practical Performance answers on the LMS.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3383280"/>
            <a:ext cx="3447288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3383280"/>
            <a:ext cx="82296" cy="160020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2" y="3493008"/>
            <a:ext cx="297180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4 · TRAQOM survey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2" y="3968496"/>
            <a:ext cx="2953512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the TRAQOM survey via the QR code shown on the LMS.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5257800"/>
            <a:ext cx="7104888" cy="56692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5257800"/>
            <a:ext cx="710488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1F6FEB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SCHEDULE · 9:30AM–6:30PM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Lesson Plan — Day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5303520" cy="4617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54480"/>
            <a:ext cx="530352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54480"/>
            <a:ext cx="493776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Morning  ·  Day 1 — Automate, then add the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5740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9:30 – 10:00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205740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Welcome, admin, course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7528" y="205740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45973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10:00 – 10:50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245973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1 — BPA, Power Platform, the new Copilot Studio, workflows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245973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50m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86207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10:50 – 11:05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286207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Tea break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286207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15m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264408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11:05 – 11:25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1408" y="3264408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3264408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20m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666744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11:25 – 11:55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1408" y="3666744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3666744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06908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11:55 – 12:25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406908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2 — Log to Excel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406908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47141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12:25 – 1:25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21408" y="447141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Lunch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67528" y="447141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60m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0488" y="1554480"/>
            <a:ext cx="5303520" cy="4617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0488" y="1554480"/>
            <a:ext cx="530352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1554480"/>
            <a:ext cx="493776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Afternoon  ·  Day 1 — Automate, then add the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73368" y="205740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1:25 – 1:50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53528" y="205740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2 — Control flow and human in the 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99648" y="205740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25m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245973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1:50 – 2:25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53528" y="245973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99648" y="245973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35m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286207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2:25 – 3:10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53528" y="286207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4 — Email Classification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99648" y="286207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45m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3368" y="3264408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3:10 – 3:25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53528" y="3264408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Tea break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99648" y="3264408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15m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3368" y="3666744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3:25 – 4:10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53528" y="3666744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3 — Copilot Studio agents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99648" y="3666744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45m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3368" y="406908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4:10 – 4:45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53528" y="406908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5 — Your First Agent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99648" y="406908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35m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73368" y="447141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4:45 – 5:20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53528" y="447141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6 — Procurement Agent with Tools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99648" y="447141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35m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73368" y="487375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5:20 – 5:50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53528" y="487375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7 — Sales Agent with Knowledge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99648" y="487375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73368" y="5276088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5:50 – 6:20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53528" y="5276088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8 — IT Support Agent with Skills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99648" y="5276088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73368" y="5678424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6:20 – 6:30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53528" y="5678424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Day 1 recap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99648" y="5678424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10m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SCHEDULE · 9:30AM–6:30PM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Lesson Plan — Day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5303520" cy="4617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54480"/>
            <a:ext cx="530352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54480"/>
            <a:ext cx="493776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Morning  ·  Day 2 — Connect, supervise, ground, publish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5740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9:30 – 9:35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205740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Day 2 recap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7528" y="205740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45973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9:35 – 10:10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245973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9 — Multi-Agent Content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245973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86207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10:10 – 10:35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286207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10 — Calling Agent from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286207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25m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264408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10:35 – 11:00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1408" y="3264408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11 — Calling Workflow from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3264408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25m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666744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11:00 – 11:15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1408" y="3666744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Tea break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3666744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15m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06908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11:15 – 11:40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406908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4 — HTTP, autonomous processes, boundary of agency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406908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25m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47141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11:40 – 12:25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21408" y="447141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67528" y="447141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45m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487375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12:25 – 1:25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21408" y="487375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Lunch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67528" y="487375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60m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1554480"/>
            <a:ext cx="5303520" cy="4617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0488" y="1554480"/>
            <a:ext cx="530352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1554480"/>
            <a:ext cx="493776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Afternoon  ·  Day 2 — Connect, supervise, ground, publish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205740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1:25 – 1:55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53528" y="205740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13 — HTTP and Chatbot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99648" y="205740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245973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1:55 – 2:30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53528" y="245973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14 — HTTP and Human 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99648" y="245973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35m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3368" y="286207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2:30 – 2:45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53528" y="286207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5 — Retrieval Augmented Generation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99648" y="286207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15m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3368" y="3264408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2:45 – 3:15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53528" y="3264408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15 — RAG with Knowledge Base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99648" y="3264408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3368" y="3666744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3:15 – 3:45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53528" y="3666744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16 — RAG with Pinecone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99648" y="3666744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30m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73368" y="4069080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77600"/>
                </a:solidFill>
                <a:latin typeface="Arial"/>
              </a:rPr>
              <a:t>3:45 – 4:00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53528" y="4069080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Tea break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99648" y="4069080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15m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73368" y="4471416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4:00 – 4:25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53528" y="4471416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17 — Publish to Teams, M365 Copilot and the Web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99648" y="4471416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25m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73368" y="4873752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4:25 – 4:30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53528" y="4873752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Synthesis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99648" y="4873752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5m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73368" y="5276088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4:30 – 5:30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53528" y="5276088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Written Assessment (SAQ)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99648" y="5276088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60m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73368" y="5678424"/>
            <a:ext cx="12344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5:30 – 6:30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53528" y="5678424"/>
            <a:ext cx="32461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Practical Performance (PP)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99648" y="5678424"/>
            <a:ext cx="54864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B6372"/>
                </a:solidFill>
                <a:latin typeface="Arial"/>
              </a:rPr>
              <a:t>60m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What You'll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Automate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the workflow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94636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add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484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Add the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5888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expose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Connect it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over HTTP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2199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141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make it true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Ground it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with RAG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2199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8394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ship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8243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Publish it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to channels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429000"/>
            <a:ext cx="3392424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429000"/>
            <a:ext cx="8229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" y="359359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35935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53872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014216"/>
            <a:ext cx="2898648" cy="11338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Read a business process and decide which parts must be deterministic, which may be AI, and where a person must sit.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429000"/>
            <a:ext cx="3392424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6824" y="3429000"/>
            <a:ext cx="82296" cy="18288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26280" y="359359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35935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53872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Build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4014216"/>
            <a:ext cx="2898648" cy="11338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 Copilot Studio workflows and agents with instructions, knowledge, skills, tools and connected agents.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429000"/>
            <a:ext cx="3392424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55280" y="3429000"/>
            <a:ext cx="82296" cy="182880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74736" y="3593592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74736" y="35935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53872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C2413A"/>
                </a:solidFill>
                <a:latin typeface="Arial"/>
              </a:rPr>
              <a:t>Govern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4014216"/>
            <a:ext cx="2898648" cy="11338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Place the human where the consequence lands, test what the agent must refuse, and publish only what is safe.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By the end you can build the automation, add the agent, and defend where you put the human.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BEFORE THE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3746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07721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772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00784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4204" y="1645920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4204" y="1645920"/>
            <a:ext cx="82296" cy="13746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1948" y="2077212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1948" y="20772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8604" y="1700784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21736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221736"/>
            <a:ext cx="82296" cy="13746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6112" y="3653028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65302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3276600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4204" y="3221736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4204" y="3221736"/>
            <a:ext cx="82296" cy="13746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1948" y="3653028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1948" y="365302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8604" y="3276600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Use a black/blue pen for hard-copy assessments.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797552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797552"/>
            <a:ext cx="82296" cy="13746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6112" y="5228844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2288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4852416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No liquid paper / correction tape.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4204" y="4797552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04204" y="4797552"/>
            <a:ext cx="82296" cy="13746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41948" y="522884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1948" y="52288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8604" y="4852416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Assessment &amp; Funding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3392424" cy="2651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2651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1051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1051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5564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Written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2898648" cy="19568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1 hour · open book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Short-answer questions on Modules 1–5 and the lab concepts.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645920"/>
            <a:ext cx="3392424" cy="2651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645920"/>
            <a:ext cx="82296" cy="26517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26280" y="181051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81051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175564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Practical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231136"/>
            <a:ext cx="2898648" cy="19568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1 hour · open book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Build and verify a working workflow and agent in the training environment.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1645920"/>
            <a:ext cx="3392424" cy="2651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1645920"/>
            <a:ext cx="82296" cy="26517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181051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181051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175564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845B"/>
                </a:solidFill>
                <a:latin typeface="Arial"/>
              </a:rPr>
              <a:t>Evidence &amp; funding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231136"/>
            <a:ext cx="2898648" cy="19568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Submit on the LMS.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Competent result plus the attendance requirement releases the WSQ funding.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5720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Day 2, 4:30 – 6:30 PM: Written Assessment (SAQ) 1 hr, then Practical Performance 1 hr.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349240"/>
            <a:ext cx="10835640" cy="82296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40410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OPEN BOOK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78424"/>
            <a:ext cx="10332720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Slides, Learner Guide and approved materials only. An appeal process is available if required.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42669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2669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1" name="Chevron 10"/>
          <p:cNvSpPr/>
          <p:nvPr/>
        </p:nvSpPr>
        <p:spPr>
          <a:xfrm>
            <a:off x="2604211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87675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7675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1976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1976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5691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7" name="Chevron 16"/>
          <p:cNvSpPr/>
          <p:nvPr/>
        </p:nvSpPr>
        <p:spPr>
          <a:xfrm>
            <a:off x="4833518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16982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16982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01283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01283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4998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3" name="Chevron 22"/>
          <p:cNvSpPr/>
          <p:nvPr/>
        </p:nvSpPr>
        <p:spPr>
          <a:xfrm>
            <a:off x="7062825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46289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6289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30590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30590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4305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29" name="Chevron 28"/>
          <p:cNvSpPr/>
          <p:nvPr/>
        </p:nvSpPr>
        <p:spPr>
          <a:xfrm>
            <a:off x="9292132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75596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5596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59897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59897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3612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JOURNEY · LABS 0–8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Eighteen Connected Labs — Day 1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682496"/>
            <a:ext cx="566928" cy="4572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682496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609344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Environment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157984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Training Class Sandbox, Dataverse, credits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1554480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682496"/>
            <a:ext cx="566928" cy="4572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82496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1609344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Trigger and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2157984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Forms trigger → Outlook; dynamic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554480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83296" y="1682496"/>
            <a:ext cx="566928" cy="45720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1682496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1664" y="1609344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Log to Excel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157984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Excel row first, then the email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852928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6384" y="2980944"/>
            <a:ext cx="566928" cy="457200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2980944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2907792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Leave Application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456432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Approvals: the workflow pauses for a manager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2852928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34840" y="2980944"/>
            <a:ext cx="566928" cy="457200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2980944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93208" y="2907792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Email Classification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9704" y="3456432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Classify node, five ports, Human review in Teams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80" y="2852928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83296" y="2980944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3296" y="2980944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41664" y="2907792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Your First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456432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HR agent: instructions + knowledge + Preview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151376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86384" y="4279392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" y="4279392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44752" y="4206240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Procurement Agent with Tools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4754880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Skills + a workflow as a tool + Excel audit row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06824" y="4151376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434840" y="4279392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4279392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93208" y="4206240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Sales Agent with Knowledge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9704" y="4754880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20 brochures in SharePoint; refuse to invent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5280" y="4151376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083296" y="4279392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83296" y="4279392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41664" y="4206240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IT Support Agent with Skills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4754880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Five SKILL.md packages; the rule none enforce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Day 1: build the workflow, add control flow and a human, then build four agents.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JOURNEY · LABS 9–17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Eighteen Connected Labs — Day 2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682496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682496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609344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Multi-Agent Content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157984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Manager → Research → Blog →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1554480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682496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82496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1609344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Calling Agent from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2157984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Workflow calls M365 Copilot, posts to Teams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554480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83296" y="1682496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1682496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41664" y="1609344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Calling Workflow from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157984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Agent calls a workflow tool (When an agent calls the flow)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852928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6384" y="2980944"/>
            <a:ext cx="566928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2980944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2907792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HTTP and Application Approval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456432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HTTP POST, structured output, SharePoint, four decisions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2852928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34840" y="2980944"/>
            <a:ext cx="566928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2980944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93208" y="2907792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HTTP and Chatbot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9704" y="3456432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HTTP chatbot alone in public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80" y="2852928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83296" y="2980944"/>
            <a:ext cx="566928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3296" y="2980944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41664" y="2907792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HTTP and Human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456432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HTTP + Human review gate + handover log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151376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86384" y="4279392"/>
            <a:ext cx="566928" cy="457200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" y="4279392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44752" y="4206240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RAG with Knowledge 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4754880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Knowledge source in the Agent node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06824" y="4151376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434840" y="4279392"/>
            <a:ext cx="566928" cy="457200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4279392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93208" y="4206240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RAG with Pinecone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9704" y="4754880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Pinecone: chunk, embed, top_k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5280" y="4151376"/>
            <a:ext cx="3392424" cy="117043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083296" y="4279392"/>
            <a:ext cx="566928" cy="457200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83296" y="4279392"/>
            <a:ext cx="5669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41664" y="4206240"/>
            <a:ext cx="251460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Publish to Teams, Microsoft 365 Copilot and the Web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4754880"/>
            <a:ext cx="310896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Channels +: Teams, M365 Copilot, demo website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Day 2: agents and workflows call each other, go over HTTP, get grounded, and get published.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How This Course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2011680" cy="2377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82296" cy="2377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019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47088"/>
            <a:ext cx="106070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1517904" cy="1682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idea and the decision rule, before the product is opened.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1215" y="1737360"/>
            <a:ext cx="2011680" cy="2377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71215" y="1737360"/>
            <a:ext cx="82296" cy="2377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0671" y="19019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1" y="19019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3" y="1847088"/>
            <a:ext cx="106070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7" y="2322576"/>
            <a:ext cx="1517904" cy="1682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same idea drawn as a business workflow you could hand to a colleague.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737360"/>
            <a:ext cx="2011680" cy="2377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4064" y="1737360"/>
            <a:ext cx="82296" cy="2377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03520" y="19019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19019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1847088"/>
            <a:ext cx="106070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2322576"/>
            <a:ext cx="1517904" cy="1682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build it, in the numbered lab named on the concept slide.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6912" y="1737360"/>
            <a:ext cx="2011680" cy="2377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737360"/>
            <a:ext cx="82296" cy="2377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16368" y="1901952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16368" y="19019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1847088"/>
            <a:ext cx="106070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Probe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2322576"/>
            <a:ext cx="1517904" cy="1682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try to break it — the refusals and wrong answers are the lesson.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1737360"/>
            <a:ext cx="2011680" cy="2377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9760" y="1737360"/>
            <a:ext cx="82296" cy="2377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29216" y="19019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29216" y="19019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59568" y="1847088"/>
            <a:ext cx="106070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Reuse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5792" y="2322576"/>
            <a:ext cx="1517904" cy="1682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working artefact becomes the starting point of the next lab.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434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434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Concepts first. Every lab in this course is an application of a concept you have already seen.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212080"/>
            <a:ext cx="10835640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probes matter as much as the builds. An agent that answers ten questions correctly and the eleventh confidently wrong has not been tested — it has been demonstrated.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Three Environments — Where You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environments back this course. You build in exactly one of them — and it is not the one holding the reference copies.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30358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8496" y="1965960"/>
            <a:ext cx="12070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0096" y="1965960"/>
            <a:ext cx="60990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is for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303580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Training Class 1 / 2 /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8496" y="2386584"/>
            <a:ext cx="120700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Sandbox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0096" y="2386584"/>
            <a:ext cx="609904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YOURS — every lab you build goes here. One per class; the trainer resets it between cohorts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53512"/>
            <a:ext cx="10835640" cy="56692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953512"/>
            <a:ext cx="303580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TGS-2022017524-Business Process</a:t>
            </a:r>
          </a:p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Automation…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8496" y="2953512"/>
            <a:ext cx="120700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Sandbox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2953512"/>
            <a:ext cx="609904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Master reference environment: the trainer's Lab N - … (DO NOT DELETE) workflows and agents. Read-only — open to compare, never edit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520439"/>
            <a:ext cx="10835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520439"/>
            <a:ext cx="303580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Copilot Studio 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8496" y="3520439"/>
            <a:ext cx="120700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Developer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0096" y="3520439"/>
            <a:ext cx="6099048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original build environment. Retired from classroom use — a Developer environment is single-user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224528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224528"/>
            <a:ext cx="82296" cy="137160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4256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5B6372"/>
                </a:solidFill>
                <a:latin typeface="Arial"/>
              </a:rPr>
              <a:t>Developer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09744"/>
            <a:ext cx="2898648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user only. Free, persistent — but a class cannot share 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4224528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06824" y="4224528"/>
            <a:ext cx="82296" cy="13716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62856" y="4334256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Sandbox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2856" y="4809744"/>
            <a:ext cx="2898648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Multi-user AND resettable in one click. What every class uses.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80" y="4224528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55280" y="4224528"/>
            <a:ext cx="82296" cy="137160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1312" y="4334256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C2413A"/>
                </a:solidFill>
                <a:latin typeface="Arial"/>
              </a:rPr>
              <a:t>Trial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4809744"/>
            <a:ext cx="2898648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Self-deletes after 30 days, taking the class's work with it.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Sandbox is the only type that is both multi-user and resettable — so your class environment is disposable on purpose.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Naming Convention in the Tenant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Everything in the tenant is named after its lab, so a learner, a trainer and an auditor can all find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11680"/>
            <a:ext cx="22128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Artefact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5536" y="2011680"/>
            <a:ext cx="4727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Exact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37575" y="2011680"/>
            <a:ext cx="34015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3230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432304"/>
            <a:ext cx="22128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Trainer's reference copy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5536" y="2432304"/>
            <a:ext cx="47274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6 - Raise Requisition (DO NOT DELETE)  ·  Lab 6 - Proc (DO NOT DELETE)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7575" y="2432304"/>
            <a:ext cx="34015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 the master reference Sandbox. Workflows AND agents end (DO NOT DELETE); agent base names are shortened to fit the 30-character cap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35224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935224"/>
            <a:ext cx="22128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Your own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5536" y="2935224"/>
            <a:ext cx="47274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6 - Procurement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5" y="2935224"/>
            <a:ext cx="34015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 your Training Class environment. Name it exactly as the Learner Guide does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43814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438144"/>
            <a:ext cx="22128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Helper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536" y="3438144"/>
            <a:ext cx="47274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6 - Raise Requisition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7575" y="3438144"/>
            <a:ext cx="34015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lab prefix, then the workflow's job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941064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941064"/>
            <a:ext cx="22128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Data artefact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45536" y="3941064"/>
            <a:ext cx="47274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6 - Requisition Log.xlsx  ·  Lab 12 - Customers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37575" y="3941064"/>
            <a:ext cx="34015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Excel, SharePoint lists and folders carry the prefix too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44398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443984"/>
            <a:ext cx="22128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Pinecone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5536" y="4443984"/>
            <a:ext cx="472744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lab16-course-brochures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37575" y="4443984"/>
            <a:ext cx="34015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Lower-case, hyphenated — the only exception, imposed by Pinecone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029200"/>
            <a:ext cx="10835640" cy="114300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08406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YOUR CLASS ENVIRONMENT, ONE DESIGNER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358384"/>
            <a:ext cx="10332720" cy="758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You build in the Training Class Sandbox your trainer assigned (e.g. Training Class 1), in the new Copilot Studio designer at copilotstudio.microsoft.com. The (DO NOT DELETE) reference copies live in a separate master reference Sandbox — open to compare, never to edit.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Your Training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One assigned Microsoft 365 training account per learner — the same login for every lab, in your class environment.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65960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training1@tertiaryinfotech.onmicrosoft.com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1688" y="1965960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Reserved for the trainer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965960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965960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training2@tertiaryinfotech.onmicrosoft.com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93808" y="1965960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32888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532888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training3@tertiaryinfotech.onmicrosoft.com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532888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2532888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2532888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training4@tertiaryinfotech.onmicrosoft.com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93808" y="2532888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099815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099815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training5@tertiaryinfotech.onmicrosoft.com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3099815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099815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3099815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training6@tertiaryinfotech.onmicrosoft.com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3808" y="3099815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666744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666744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training7@tertiaryinfotech.onmicrosoft.com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3666744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666744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3666744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training8@tertiaryinfotech.onmicrosoft.com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3808" y="3666744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233672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233672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training9@tertiaryinfotech.onmicrosoft.com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61688" y="4233672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233672"/>
            <a:ext cx="5303520" cy="47548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8" y="4233672"/>
            <a:ext cx="356616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training10@tertiaryinfotech.onmicrosoft.com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93808" y="4233672"/>
            <a:ext cx="155448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Learner account 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8920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8920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Password for training2 – training10:  Tertiary@0808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532120"/>
            <a:ext cx="10835640" cy="7315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5869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STAY IN YOUR CLASS ENVIRONMENT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861304"/>
            <a:ext cx="10332720" cy="3474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Confirm your Training Class environment (e.g. Training Class 1) shows bottom-left before you build anything.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5623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5623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01368"/>
            <a:ext cx="435254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18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76856"/>
            <a:ext cx="4809744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labs/Lab N - &lt;Title&gt;/index.md — Lab 0 setup plus Labs 1–17, each with its own step-by-step guide, assets and screenshots.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65760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365760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382219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8221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3767328"/>
            <a:ext cx="435254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Ready assets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42816"/>
            <a:ext cx="4809744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Forms, Excel workbooks, brochure PDFs, HTML pages, JSON schemas, SKILL.md packages and agent instructions.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69164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0488" y="1691640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9944" y="185623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9944" y="185623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0296" y="1801368"/>
            <a:ext cx="435254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Test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276856"/>
            <a:ext cx="4809744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Sample emails, question sets and probe cases written to make each workflow and agent fail.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65760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0488" y="365760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9944" y="382219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9944" y="38221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0296" y="3767328"/>
            <a:ext cx="435254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Learner Guide + LMS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242816"/>
            <a:ext cx="4809744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Learner Guide reproduces every lab; download it and the slides from lms-tms.tertiaryinfotech.com.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6928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66928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Work in order. Every lab reuses the one before it; nothing is rebuilt from scratch.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Business Process Automation and Power Automate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What automation removes  ·  the Power Platform  ·  the new Copilot Studio  ·  workflows, triggers, actions, connections  ·  dynamic content, Activity, commit order  ·  Copilot Credits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Applied in Lab 0, Lab 1 and Lab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What Business Process Automation Removes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Business process automation is not "software that does work faster". It removes the hand-off where a person re-types what another system already knows.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77440"/>
            <a:ext cx="13716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MANUAL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23317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57984" y="238658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 filled in</a:t>
            </a:r>
          </a:p>
        </p:txBody>
      </p:sp>
      <p:sp>
        <p:nvSpPr>
          <p:cNvPr id="10" name="Chevron 9"/>
          <p:cNvSpPr/>
          <p:nvPr/>
        </p:nvSpPr>
        <p:spPr>
          <a:xfrm>
            <a:off x="4194809" y="2610612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51425" y="23317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6289" y="238658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Someone reads it</a:t>
            </a:r>
          </a:p>
        </p:txBody>
      </p:sp>
      <p:sp>
        <p:nvSpPr>
          <p:cNvPr id="13" name="Chevron 12"/>
          <p:cNvSpPr/>
          <p:nvPr/>
        </p:nvSpPr>
        <p:spPr>
          <a:xfrm>
            <a:off x="6643114" y="2610612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99731" y="23317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4595" y="238658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Re-typed into Excel</a:t>
            </a:r>
          </a:p>
        </p:txBody>
      </p:sp>
      <p:sp>
        <p:nvSpPr>
          <p:cNvPr id="16" name="Chevron 15"/>
          <p:cNvSpPr/>
          <p:nvPr/>
        </p:nvSpPr>
        <p:spPr>
          <a:xfrm>
            <a:off x="9091420" y="2610612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448038" y="23317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2902" y="238658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Someone remembers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to reply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611880"/>
            <a:ext cx="13716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AUTOMATED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03120" y="356616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57984" y="362102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 submitted</a:t>
            </a:r>
          </a:p>
        </p:txBody>
      </p:sp>
      <p:sp>
        <p:nvSpPr>
          <p:cNvPr id="22" name="Chevron 21"/>
          <p:cNvSpPr/>
          <p:nvPr/>
        </p:nvSpPr>
        <p:spPr>
          <a:xfrm>
            <a:off x="4194809" y="38450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51425" y="356616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06289" y="362102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Workflow triggered</a:t>
            </a:r>
          </a:p>
        </p:txBody>
      </p:sp>
      <p:sp>
        <p:nvSpPr>
          <p:cNvPr id="25" name="Chevron 24"/>
          <p:cNvSpPr/>
          <p:nvPr/>
        </p:nvSpPr>
        <p:spPr>
          <a:xfrm>
            <a:off x="6643114" y="38450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99731" y="356616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54595" y="362102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Row written</a:t>
            </a:r>
          </a:p>
        </p:txBody>
      </p:sp>
      <p:sp>
        <p:nvSpPr>
          <p:cNvPr id="28" name="Chevron 27"/>
          <p:cNvSpPr/>
          <p:nvPr/>
        </p:nvSpPr>
        <p:spPr>
          <a:xfrm>
            <a:off x="9091420" y="38450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448038" y="356616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2902" y="3621024"/>
            <a:ext cx="1917953" cy="7589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Reply sent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709160"/>
            <a:ext cx="3392424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709160"/>
            <a:ext cx="82296" cy="14630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81888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Consistency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294376"/>
            <a:ext cx="2898648" cy="7680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same input produces the same output, every time, at 3am.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06824" y="4709160"/>
            <a:ext cx="3392424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06824" y="4709160"/>
            <a:ext cx="82296" cy="14630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62856" y="481888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Traceability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2856" y="5294376"/>
            <a:ext cx="2898648" cy="7680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run leaves an Activity record someone can read a year later.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55280" y="4709160"/>
            <a:ext cx="3392424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55280" y="4709160"/>
            <a:ext cx="82296" cy="14630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11312" y="481888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Capacity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5294376"/>
            <a:ext cx="2898648" cy="7680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People are moved to the judgement calls the machine cannot make.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Power Platform, and the Environment That Holds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0020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00200"/>
            <a:ext cx="82296" cy="22860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76479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7647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09928"/>
            <a:ext cx="153619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Copilot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85416"/>
            <a:ext cx="1993392" cy="1591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Agents AND workflows, in one designer at copilotstudio.microsoft.com.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456432"/>
            <a:ext cx="1554480" cy="31089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56432"/>
            <a:ext cx="155448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Every lab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160020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01568" y="160020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21024" y="176479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21024" y="17647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1376" y="1709928"/>
            <a:ext cx="153619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Power Automate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185416"/>
            <a:ext cx="1993392" cy="1591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connector engine underneath every workflow step — you never open it directly.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3456432"/>
            <a:ext cx="1554480" cy="31089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3456432"/>
            <a:ext cx="155448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Labs 1–4, 10–16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160020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4768" y="1600200"/>
            <a:ext cx="82296" cy="2286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76479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7647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709928"/>
            <a:ext cx="153619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Dataverse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185416"/>
            <a:ext cx="1993392" cy="1591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managed data store behind the environment; agents and workflows live in 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456432"/>
            <a:ext cx="1554480" cy="31089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456432"/>
            <a:ext cx="155448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60020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87968" y="160020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07424" y="176479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07424" y="176479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37776" y="1709928"/>
            <a:ext cx="153619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Connectors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185416"/>
            <a:ext cx="1993392" cy="1591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Outlook, Forms, Excel, SharePoint, Teams, Approvals, HTTP — 1,000+.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3456432"/>
            <a:ext cx="1554480" cy="31089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3456432"/>
            <a:ext cx="155448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Every lab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114800"/>
            <a:ext cx="10835640" cy="11887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16966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THE ENVIRONMENT IS THE CONTAINER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443984"/>
            <a:ext cx="10332720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Workflows, agents and data all live inside one Power Platform environment. You build in the Training Class Sandbox assigned to your class — with Dataverse and Copilot Credits. Build in the Default environment and the first Agent node fails with InsufficientMcsCredits.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Training Class Sandbox (assigned by your trainer)  ·  Power Platform admin centre + Copilot Studio  ·  20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New Copilot Studio — Home, Agents,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copilotstudio.microsoft.com — the New experience toggle (top right) switches the whole product to the GitHub Copilot harness.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852160" cy="3429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i_workflow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143440"/>
            <a:ext cx="5669280" cy="30740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1965960"/>
            <a:ext cx="477316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20840" y="1965960"/>
            <a:ext cx="82296" cy="7955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76872" y="2002536"/>
            <a:ext cx="429768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6872" y="2258568"/>
            <a:ext cx="427939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 natural-language box: describe the process and Copilot Studio proposes an agent, a workflow, or both (Steps and Artifacts panel).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2834639"/>
            <a:ext cx="477316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20840" y="2834639"/>
            <a:ext cx="82296" cy="7955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2871215"/>
            <a:ext cx="429768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3127247"/>
            <a:ext cx="427939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New agent → the designer with Build / Preview / Evaluate / Monitor tabs.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3703320"/>
            <a:ext cx="477316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20840" y="3703320"/>
            <a:ext cx="82296" cy="7955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76872" y="3739896"/>
            <a:ext cx="429768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Workflows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3995928"/>
            <a:ext cx="427939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New workflow → the canvas with a Start node and Add a step. Columns: Name · Status · Owner · Enabled.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4572000"/>
            <a:ext cx="477316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20840" y="4572000"/>
            <a:ext cx="82296" cy="7955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76872" y="4608576"/>
            <a:ext cx="429768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5B6372"/>
                </a:solidFill>
                <a:latin typeface="Arial"/>
              </a:rPr>
              <a:t>Other ways to 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4864608"/>
            <a:ext cx="427939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standard harness (topics, agent flows) is still there — we do not use it in this course.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Environment name bottom-left. Check it before every build: your Training Class environment.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Three Harnesses — Pick One per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"The harness sits between the AI model and the agent or workflow you build" — you choose one per agent, and cannot convert later.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11680"/>
            <a:ext cx="16642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6896" y="2011680"/>
            <a:ext cx="33558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GitHub Copilot harness (GA 3 Aug 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17336" y="2011680"/>
            <a:ext cx="27614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Standard harness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3415" y="2011680"/>
            <a:ext cx="2395727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Copilot chat harness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432304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432304"/>
            <a:ext cx="166420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Best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2432304"/>
            <a:ext cx="335584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Complex, multi-step business processes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7336" y="2432304"/>
            <a:ext cx="27614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Rule-based agents, structured conversations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5" y="2432304"/>
            <a:ext cx="2395727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Extending Microsoft 365 Copilot Chat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944368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2944368"/>
            <a:ext cx="166420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How it 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2944368"/>
            <a:ext cx="335584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Reasons through a goal step by step; retries, finds alternative paths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7336" y="2944368"/>
            <a:ext cx="27614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Follows the topics and rules you define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5" y="2944368"/>
            <a:ext cx="2395727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Connects enterprise knowledge to Copilot Chat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56432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456432"/>
            <a:ext cx="166420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6896" y="3456432"/>
            <a:ext cx="335584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Creates and edits Word, Excel, PowerPoint, PDF in a sandbox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17336" y="3456432"/>
            <a:ext cx="27614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3415" y="3456432"/>
            <a:ext cx="2395727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968496"/>
            <a:ext cx="166420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Skills &amp; 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96896" y="3968496"/>
            <a:ext cx="335584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Yes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7336" y="3968496"/>
            <a:ext cx="27614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43415" y="3968496"/>
            <a:ext cx="2395727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480560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4480560"/>
            <a:ext cx="166420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Automation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96896" y="4480560"/>
            <a:ext cx="335584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Workflows (visual canvas, agent nodes)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17336" y="4480560"/>
            <a:ext cx="27614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 flows (Power Automate designer)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43415" y="4480560"/>
            <a:ext cx="2395727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992624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" y="4992624"/>
            <a:ext cx="166420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Billing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96896" y="4992624"/>
            <a:ext cx="335584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Copilot Credits — usage-based, from the moment you build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17336" y="4992624"/>
            <a:ext cx="27614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Fixed rate card; M365 Copilot fair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43415" y="4992624"/>
            <a:ext cx="2395727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Consumption or M365 Copilot licence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This course: every agent and workflow uses the GitHub Copilot harness — the "new experience".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Old Vocabulary → New Vocabulary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If you learned Copilot Studio before 2026, translate as you go.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44074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Standard harness (classic)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0096" y="1965960"/>
            <a:ext cx="60990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GitHub Copilot harness (new experience)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3865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386584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Topics, triggers, branching nodes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0096" y="2386584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Instructions — natural language, always-on enhanced orchestration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843784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843784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Agent flows (Power Automate designer)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0096" y="2843784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Workflows — Start node, Add a step, node-level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3009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300984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Prompts (Prompt builder)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3300984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Inline Agent node in a workflow, or a skill in an 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758183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758183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Child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0096" y="3758183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Connected agents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215383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215383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Actions / plugins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0096" y="4215383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Tools = Connectors, MCP servers, Workflows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672583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672583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Overview / Settings pages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0096" y="4672583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Build · Preview · Evaluate · Monitor tabs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129783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5129783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Test pane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0096" y="5129783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Preview tab with End user preview toggle and the reasoning card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586983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586983"/>
            <a:ext cx="44074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Messages / capacity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0096" y="5586983"/>
            <a:ext cx="6099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Copilot Credits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Anatomy of a Workflow — the Start Node and Its Triggers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START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the trigger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7449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STEP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do the work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22199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71514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STEP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decide or wait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5580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END / RESPOND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notify or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246120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Click the Start node to choose the trigger type. Every workflow in every lab is this shape.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703320"/>
            <a:ext cx="10835640" cy="3840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703320"/>
            <a:ext cx="27614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Start node trigger 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94176" y="3703320"/>
            <a:ext cx="564184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starts the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0615" y="3703320"/>
            <a:ext cx="1938527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087368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087368"/>
            <a:ext cx="276148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Manual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94176" y="4087368"/>
            <a:ext cx="56418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person runs it on demand; you define typed inputs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615" y="4087368"/>
            <a:ext cx="1938527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10 (Topic)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489704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489704"/>
            <a:ext cx="276148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Recurrence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94176" y="4489704"/>
            <a:ext cx="56418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schedule — set the time zone or it runs on UTC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0615" y="4489704"/>
            <a:ext cx="1938527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Reference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892040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4892040"/>
            <a:ext cx="276148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Connector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94176" y="4892040"/>
            <a:ext cx="56418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event in a system: new Forms response, new email, new SharePoint item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0615" y="4892040"/>
            <a:ext cx="1938527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1–4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94376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" y="5294376"/>
            <a:ext cx="276148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HTTP request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94176" y="5294376"/>
            <a:ext cx="56418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When a HTTP request is received — a website or app calls in with JSON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0615" y="5294376"/>
            <a:ext cx="1938527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12–16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696712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" y="5696712"/>
            <a:ext cx="276148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When an agent calls the flow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94176" y="5696712"/>
            <a:ext cx="56418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agent decides to use this workflow as a tool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0615" y="5696712"/>
            <a:ext cx="1938527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6, 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Add-Step Palette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+ after any node opens the Add panel. Everything you can put on the canvas is one of these.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214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968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 inline or existing agent — the model, inside the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20116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01568" y="2011680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1214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Classify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968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Sort text into categories; each becomes an output 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20116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4768" y="2011680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214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M365 Copilot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968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Send a prompt to Microsoft 365 Copilot or one of its agents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87968" y="20116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87968" y="2011680"/>
            <a:ext cx="82296" cy="1234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21214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Human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5968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Request for information — pause for a person (Teams / Outlook)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3832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383280"/>
            <a:ext cx="82296" cy="1234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4930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Connector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684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Any of 1,000+ connector actions: Outlook, Excel, SharePoint, Teams, HTTP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01568" y="33832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01568" y="3383280"/>
            <a:ext cx="82296" cy="1234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34930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Function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9684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Data Operations (Compose, Parse JSON, Select), text, date/time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33832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44768" y="3383280"/>
            <a:ext cx="82296" cy="1234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4930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Variable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9684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Initialize, Set, Append — a named value that changes during the run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87968" y="33832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3383280"/>
            <a:ext cx="82296" cy="1234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34930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If/Else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9684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condition, two branches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47548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754880"/>
            <a:ext cx="82296" cy="1234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8646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Switch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3400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value, many cases plus a default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01568" y="47548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01568" y="4754880"/>
            <a:ext cx="82296" cy="12344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0" y="48646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Loop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53400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For each item in an array; Do until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44768" y="47548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44768" y="4754880"/>
            <a:ext cx="82296" cy="1234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48646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Respond to the agent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3400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Return outputs to the calling agent (tool workflows)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87968" y="4754880"/>
            <a:ext cx="2487168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887968" y="4754880"/>
            <a:ext cx="82296" cy="1234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0" y="486460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End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5340096"/>
            <a:ext cx="1993392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Stop the run; send the HTTP Response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Triggers — What Is Allowed to Start a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Four trigger families. The one you choose is a statement about who or what is allowed to start the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2487168" cy="26060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2487168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2487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2157984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 person presses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2157984" cy="12801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Typed inputs on the Start node;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Test → Enter manual trigger inputs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2011680"/>
            <a:ext cx="2487168" cy="26060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2011680"/>
            <a:ext cx="2487168" cy="457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1568" y="2011680"/>
            <a:ext cx="2487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Scheduled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60320"/>
            <a:ext cx="2157984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 clock reaches a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246120"/>
            <a:ext cx="2157984" cy="12801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Recurrence — the schedule starts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when you publish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011680"/>
            <a:ext cx="2487168" cy="26060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2011680"/>
            <a:ext cx="2487168" cy="4572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2011680"/>
            <a:ext cx="2487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Automated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560320"/>
            <a:ext cx="2157984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An event happens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in a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2157984" cy="12801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New form response · new email ·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new SharePoint item · new 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7968" y="2011680"/>
            <a:ext cx="2487168" cy="26060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87968" y="2011680"/>
            <a:ext cx="2487168" cy="4572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87968" y="2011680"/>
            <a:ext cx="2487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560320"/>
            <a:ext cx="2157984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Something calls in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from outside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246120"/>
            <a:ext cx="2157984" cy="12801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When a HTTP request is received ·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When an agent calls the 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754880"/>
            <a:ext cx="10835640" cy="3291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754880"/>
            <a:ext cx="4773168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Trigger used in this course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05856" y="4754880"/>
            <a:ext cx="1664208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4656" y="4754880"/>
            <a:ext cx="3904488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means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084064"/>
            <a:ext cx="10835640" cy="30175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084064"/>
            <a:ext cx="477316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Connector — When a new response is submitted (Forms)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05856" y="5084064"/>
            <a:ext cx="166420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1, 2,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34656" y="5084064"/>
            <a:ext cx="390448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business event starts the process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385816"/>
            <a:ext cx="10835640" cy="30175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5385816"/>
            <a:ext cx="477316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Connector — When a new email arrives (V3) (Outlook)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05856" y="5385816"/>
            <a:ext cx="166420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34656" y="5385816"/>
            <a:ext cx="390448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inbox is the queue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687568"/>
            <a:ext cx="10835640" cy="30175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687568"/>
            <a:ext cx="477316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HTTP request — When a HTTP request is received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05856" y="5687568"/>
            <a:ext cx="166420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12–16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34656" y="5687568"/>
            <a:ext cx="390448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website posts JSON and waits for JSON back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989320"/>
            <a:ext cx="10835640" cy="30175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" y="5989320"/>
            <a:ext cx="477316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When an agent calls the flow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05856" y="5989320"/>
            <a:ext cx="166420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6, 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34656" y="5989320"/>
            <a:ext cx="3904488" cy="3017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conversation decides to call a tool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Actions — The Six Families You Will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step either moves data, decides something, waits for a person, calls the model, or reaches outside the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39112"/>
            <a:ext cx="3017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Data — 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04872"/>
            <a:ext cx="3017520" cy="685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Compose · Parse JSON · Select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Filter array · Join · expressions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154680"/>
            <a:ext cx="301752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Shape and normalise values before anything trusts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96596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039112"/>
            <a:ext cx="3017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Connector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404872"/>
            <a:ext cx="3017520" cy="685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Send an email (V2) · Add a row into a table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Create item · Post message in a chat or 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3154680"/>
            <a:ext cx="301752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Do the real work in a business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80" y="1965960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4" y="2039112"/>
            <a:ext cx="3017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2404872"/>
            <a:ext cx="3017520" cy="685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If/Else · Switch · Loop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Variable · 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3154680"/>
            <a:ext cx="301752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Decide which path the run takes.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88620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886200"/>
            <a:ext cx="82296" cy="178308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959352"/>
            <a:ext cx="3017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Human in the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325112"/>
            <a:ext cx="3017520" cy="685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Human review (Request for information)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Approvals: Start and wait for an approval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074920"/>
            <a:ext cx="301752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Suspend the run until a person responds.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88620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06824" y="3886200"/>
            <a:ext cx="82296" cy="17830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44568" y="3959352"/>
            <a:ext cx="3017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4325112"/>
            <a:ext cx="3017520" cy="685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Agent node · Classify · M365 Copilot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structured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5074920"/>
            <a:ext cx="301752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Let the model decide, inside a workflow that does not.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388620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55280" y="388620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93024" y="3959352"/>
            <a:ext cx="3017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4" y="4325112"/>
            <a:ext cx="3017520" cy="685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HTTP · Response / End · Respond to the agent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child workflows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4" y="5074920"/>
            <a:ext cx="301752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Reach outside the platform, or answer the caller.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You will use every one of these families by the end of Lab 16.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Connections — Who the Step Runs 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connector action runs as somebody. The connection is that somebody — and it is created once, then reused.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39696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94560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Add a connector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step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532888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636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first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39696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194560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Connection row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shows no tick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532888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60873" y="2139696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2194560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Create new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connection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532888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141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OAuth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2139696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2194560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Sign in as the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course account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532888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63379" y="2139696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8243" y="2194560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Green tick —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step can run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42900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429000"/>
            <a:ext cx="82296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5387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Per connector, per user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01421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Outlook, Excel Online (Business), SharePoint, Teams, Forms and Approvals each need their own connection.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84632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846320"/>
            <a:ext cx="82296" cy="128016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95604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Whose mailbox?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3153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Send an email (V2) sends from the connection's account. In class that is your training account.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42900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429000"/>
            <a:ext cx="82296" cy="12801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5387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Tenant boundary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01421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Human review and Approvals can only be assigned to people in the tenant — external addresses fail at run time.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0488" y="484632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0488" y="4846320"/>
            <a:ext cx="82296" cy="12801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95604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Publish installs them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43153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 flow test saves, publishes and installs connections before it triggers.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Dynamic Content — The Token, Not the 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Trigger runs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1534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7449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produces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Outputs exist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1534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71514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⚡ picker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Later step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references them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1534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5580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resolved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Value arrives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at run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108960"/>
            <a:ext cx="5303520" cy="1874519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10896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10896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✓  INSERTED WITH THE ⚡ PICKER (or / command)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3630168"/>
            <a:ext cx="4892040" cy="4358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Renders as a coloured token in the field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066031"/>
            <a:ext cx="4892040" cy="4358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Resolves at run time to what the earlier step produced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501896"/>
            <a:ext cx="4892040" cy="4358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The picker shows sample values from the last completed run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108960"/>
            <a:ext cx="5303520" cy="1874519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0488" y="3108960"/>
            <a:ext cx="5303520" cy="47548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0488" y="310896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✗  TYPED BY HAND, OR PASTED @{...}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630168"/>
            <a:ext cx="4892040" cy="4358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Stays dead text — the run is green, the value arrives empty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066031"/>
            <a:ext cx="4892040" cy="4358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A reference to nothing resolves to empty, not to an error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501896"/>
            <a:ext cx="4892040" cy="4358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Rich-text boxes mangle pasted expressions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1206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1206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Typed expressions belong in the &lt;/&gt; expression editor (concat, formatDateTime, utcNow) — never in a rich-text Instructions box.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Form to email confirmation  ·  Copilot Studio workflow + Microsoft Forms + Outlook  ·  30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Activity, Run Details and Node-Level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Two ways to test, and one honest record. Every lab is verified from Activity, not from the chat window.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3042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you want to verify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6976" y="1965960"/>
            <a:ext cx="47731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How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74736" y="1965960"/>
            <a:ext cx="32644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you see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230428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 single node in isolation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2386584"/>
            <a:ext cx="477316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Test this node — the Test tab in the node's side panel; Load values from previous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2386584"/>
            <a:ext cx="326440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Runs the node against the connector's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099815"/>
            <a:ext cx="10835640" cy="71323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099815"/>
            <a:ext cx="230428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The full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6976" y="3099815"/>
            <a:ext cx="477316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Run flow test — the play button top right; saves, publishes, installs connections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3099815"/>
            <a:ext cx="326440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Manual/HTTP → enter inputs; connector → Waiting for trigger…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813048"/>
            <a:ext cx="108356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813048"/>
            <a:ext cx="230428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What happened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6976" y="3813048"/>
            <a:ext cx="477316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Activity panel — Running · Waiting · Succeeded · Failed · Canceled; open a run, expand each node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3813048"/>
            <a:ext cx="3264408" cy="7132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Inputs and Outputs per node; the reasoning of every AI node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26280"/>
            <a:ext cx="10835640" cy="9601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811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THREE STATES THAT LOOK ALIKE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55464"/>
            <a:ext cx="10332720" cy="5760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Succeeded with the right data  ·  Succeeded with empty data  ·  Still Running because it is waiting for a person.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Only the first is done. The second is the dangerous one — read the upstream node's Outputs, not the failing node's error.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Copilot Studio workflow + Excel Online  ·  30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Order Matters — Commit Before You Confirm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order of two steps is a business decision, not a technical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194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LOG, THEN CONFIRM 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Add a row into a table (Excel)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75432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then Send an email (V2)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617976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If the email fails, the enquiry is still on the register and someone can chase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011680"/>
            <a:ext cx="5303520" cy="2194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CONFIRM, THEN LOG  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32888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Send an email (V2)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075432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then Add a row into a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617976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If the row fails, you have promised a reply that nobody can see — the evidence is gone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48056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Commit the record of the obligation before you create the obligation. This is Lab 2 in one sentence.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120640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Same rule on Day 2: Lab 12 writes the Onboarding Log before the email; Lab 14 logs the draft before the Human review gate.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Copilot Studio workflow + Excel Online  ·  30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Copilot Credits and Billing — What Changed on 1 September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"Billing starts when you start building." Copilot Credits cover LLM tokens, tools (including knowledge and MCP) and the harness itself.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11680"/>
            <a:ext cx="29443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77056" y="2011680"/>
            <a:ext cx="34930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Covered by an M365 Copilot licence?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34656" y="2011680"/>
            <a:ext cx="39044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When Copilot Credits are billed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3230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43230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GitHub Copilot harness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7056" y="2432304"/>
            <a:ext cx="34930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34656" y="2432304"/>
            <a:ext cx="39044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Billed for all usage — build, Preview, Evaluate, run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89504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8950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Workflows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7056" y="2889504"/>
            <a:ext cx="34930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Only inside a standard-harness agent, licensed 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34656" y="2889504"/>
            <a:ext cx="39044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All other cases — every action consumes capacity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4670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4670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Standard harness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77056" y="3346704"/>
            <a:ext cx="34930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Yes, in Microsoft 365 channels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34656" y="3346704"/>
            <a:ext cx="39044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 M365 Copilot licence, or a channel outside M365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803904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80390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Computer use (CUA)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77056" y="3803904"/>
            <a:ext cx="34930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4656" y="3803904"/>
            <a:ext cx="39044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All usage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43484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434840"/>
            <a:ext cx="82296" cy="17373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54456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1 Sep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2005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Developer and trial environments moved to usage-based billing. Our class Sandbox environments are billed per run.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06824" y="443484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06824" y="4434840"/>
            <a:ext cx="82296" cy="1737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62856" y="454456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Where to look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2856" y="502005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Agent → Monitor tab; PPAC → Licensing → Copilot Studio → Manage Agents; Copilot Credits estimator.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80" y="443484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55280" y="4434840"/>
            <a:ext cx="82296" cy="17373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1312" y="454456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Zero credits = every reply fails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502005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"You need credits to continue … Error code: EnforcementUsageCredits" in Preview, the demo website and every Agent/Classify/Copilot node. Build and Publish still work; allocate credits in PPAC first.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Power Platform Admin Center — Settings for This Course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What the admin set up in the Power Platform admin center (PPAC) before class — and why each setting matters.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89804" cy="12679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267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34391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439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39112"/>
            <a:ext cx="4192524" cy="1139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Class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423160"/>
            <a:ext cx="4192524" cy="75590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One Training Class Sandbox per cohort, with Dataverse. Reset between classes. Never the Default environment.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965960"/>
            <a:ext cx="5289804" cy="12679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4204" y="1965960"/>
            <a:ext cx="82296" cy="126796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1948" y="2343912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3439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039112"/>
            <a:ext cx="4192524" cy="1139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Copilot Credits allocation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8604" y="2423160"/>
            <a:ext cx="4192524" cy="75590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Licensing → Copilot Studio → Manage Copilot Credits → this environment; Draw from the available capacity in my tenant.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35096"/>
            <a:ext cx="5289804" cy="12679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435096"/>
            <a:ext cx="82296" cy="126796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3813048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81304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508248"/>
            <a:ext cx="4192524" cy="1139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Agent limits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3892296"/>
            <a:ext cx="4192524" cy="75590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Manage Agents → Set limit → monthly limit, notification threshold, Stop usage toggle.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435096"/>
            <a:ext cx="5289804" cy="12679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3435096"/>
            <a:ext cx="82296" cy="126796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1948" y="3813048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381304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508248"/>
            <a:ext cx="4192524" cy="1139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External 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604" y="3892296"/>
            <a:ext cx="4192524" cy="75590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Turn on external models (Anthropic, Mistral, xAI) + M365 admin consent — needed for Claude Opus 5.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904232"/>
            <a:ext cx="5289804" cy="12679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904232"/>
            <a:ext cx="82296" cy="12679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96112" y="5282184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528218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72768" y="4977384"/>
            <a:ext cx="4192524" cy="1139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Preview / cross-region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72768" y="5361432"/>
            <a:ext cx="4192524" cy="75590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Preview and experimental AI models; Move data across regions (Singapore models are cross-geo).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04204" y="4904232"/>
            <a:ext cx="5289804" cy="12679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04204" y="4904232"/>
            <a:ext cx="82296" cy="12679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41948" y="528218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1948" y="528218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8604" y="4977384"/>
            <a:ext cx="4192524" cy="11399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Entra Agent 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18604" y="5361432"/>
            <a:ext cx="4192524" cy="75590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Automatic for every agent since July 2026 — Conditional Access and DLP per agent; Harness column in Manage → Copilot Studio.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What's New in 2026 — The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2026 in five words: harness, skills, memory, workflows, governance. One line per 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8412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3936" y="1965960"/>
            <a:ext cx="96652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shipped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386584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386584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Jan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73936" y="2386584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Evaluation enhancements; activity maps; CSV test-set template; Copilot Studio extension for VS Code (GA)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788920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788920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Feb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73936" y="2788920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Ticket-based Graph connectors; Claude models per prompt in Prompt builder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191256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191256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73936" y="3191256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 node in flows; agent evaluations GA + multi-turn tests; Work IQ tools (preview); Claude Sonnet 4.6 / Opus GA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593591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593591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Apr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73936" y="3593591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Agent-to-agent (A2A) protocol GA; evaluations via REST API; agent usage estimator; GPT-5.5 Reasoning (Deep)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995928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995928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May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73936" y="3995928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Computer use GA; Prompt node and Microsoft 365 Copilot node in workflows; Entra Agent IDs (preview); agent inventory schema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398264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398264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Jun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73936" y="4398264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The new experience (GitHub Copilot harness) production-ready preview; Skills; Memory; connected agents; Claude Sonnet 5 / GPT-5.5 Chat GA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800600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800600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Jul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73936" y="4800600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Entra Agent ID automatic for every agent; workflows and MCP servers as tools; files in and files out (preview)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202936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5202936"/>
            <a:ext cx="84124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Aug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73936" y="5202936"/>
            <a:ext cx="9665208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GitHub Copilot harness GA (3 Aug); Skills GA; September billing change announced for developer and trial environments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Trajectory: topics (2024) → generative orchestration + agent flows (2025) → harness choice, skills, memory, workflows, connected agents (2026).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0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Training Class Sandbox (assigned by your trainer)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Training Class Sandbox, with Dataverse and Copilot Credits, stands behind every later lab — and one designer builds everything.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Power Platform admin centre + Copilot Studio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(no tenant artefact — admin centre only)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546" y="4937759"/>
            <a:ext cx="7181282" cy="11887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0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972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91109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11096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Sign in to Microsoft 365 and confirm Outlook, Excel and Teams open with the training account.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972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911096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911096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Trainer provisions one Training Class Sandbox per cohort (Dataverse on); learners do not create an environment.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98063"/>
            <a:ext cx="5303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98063"/>
            <a:ext cx="82296" cy="10972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136391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136391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98063"/>
            <a:ext cx="443484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copilotstudio.microsoft.com; pick your Training Class environment bottom-left; turn the New experience toggle 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98063"/>
            <a:ext cx="5303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98063"/>
            <a:ext cx="82296" cy="10972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136391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136391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98063"/>
            <a:ext cx="443484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Confirm Agents and Workflows appear in the left navigation and New agent / New workflow are available.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023359"/>
            <a:ext cx="5303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023359"/>
            <a:ext cx="82296" cy="10972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361687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361687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4023359"/>
            <a:ext cx="443484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Confirm Copilot Credits are allocated to your class environment (trainer: PPAC → Licensing → Copilot Studio).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4023359"/>
            <a:ext cx="5303520" cy="10972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4023359"/>
            <a:ext cx="82296" cy="10972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361687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361687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4023359"/>
            <a:ext cx="4434840" cy="10972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Verify: open the trainer's Lab 1 - Trigger and Actions (DO NOT DELETE) and read its canvas without editing.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0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sharepoint-site-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Sharepoint site documents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lab-5-hr-policies-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Lab 5 hr policies folder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0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0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lab-6-procurement-knowledge-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Lab 6 procurement knowledge folder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lab-7-course-brochures-f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Lab 7 course brochures folder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1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Form to email confirmation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trigger starts a workflow; connector actions consume the trigger's outputs as dynamic content.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Microsoft Forms + Outlook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1 - Trigger and Actions  ·  Lab 1 - Course Enquiry Form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996720"/>
            <a:ext cx="10835640" cy="122119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10" y="5088160"/>
            <a:ext cx="10652753" cy="10383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1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Microsoft Forms → New form → the trainer's Lab 1 - Course Enquiry Form has Name, Email, Tel, Message (all Required).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Workflows → New workflow → rename exactly Lab 1 - Trigger and Actions → Save.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Start node → Connector → Microsoft Forms → When a new response is submitted → pick the form; create the connection.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Add dialog → Connectors tab → Microsoft Forms → Get response details; Form Id again; insert the ⚡ Response Id token.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Connector → Office 365 Outlook → Send an email (V2); To = ⚡ Email (the form answer); build Subject and Body with ⚡ tokens.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Save → Publish → submit the form → open Activity and read every node's Inputs and Outputs.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Probe: type a value by hand instead of a token, resubmit, and watch the email arrive with a blank.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1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trainer-course-enquiry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Trainer course enquiry 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new-workflow-start-n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207971"/>
            <a:ext cx="5120640" cy="29358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New workflow start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1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select-a-trigger-microsoft-fo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07971"/>
            <a:ext cx="5120640" cy="29358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Select a trigger microsoft forms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start-node-form-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207971"/>
            <a:ext cx="5120640" cy="293583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Start node form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2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Log the enquiry, then send the email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Commit before you confirm — the audit row is written before the acknowledgement is sent.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Excel Online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2 - Log to Excel  ·  Lab 2 - Enquiry Log.xlsx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160622"/>
            <a:ext cx="10835640" cy="105729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10" y="5252062"/>
            <a:ext cx="10652753" cy="87441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2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Upload Lab 2 - Enquiry Log.xlsx (table EnquiryLog) to OneDrive → Power Automate Lab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2 - Log to Excel; rebuild the Lab 1 Forms trigger and Get response details.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Connector → Excel Online (Business) → Add a row into a table; Location → Document Library → File → Table, top to bottom.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Map each column to a ⚡ token; Timestamp = &lt;/&gt; utcNow().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Only then add Send an email (V2) — the confirmation comes after the row.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Save → Publish → submit two responses → check two rows in Excel and two emails.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Debrief: swap the two steps in your head — what is lost if the email fails first?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2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onedrive-power-automate-lab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Onedrive power automate lab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select-a-connector-excel-on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Select a connector excel 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2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2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document-library-drop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Document library dropdown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file-picker-onedrive-fol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File picker onedrive folders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Control Flow and Human in 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If/Else, Compose, Switch, Loop  ·  in / on / out of the loop  ·  Human review via Teams or Outlook  ·  the Classify node  ·  autonomous business processes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Applied in Lab 3 and Lab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If/Else — Left Value, Operator, Right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If/Else node evaluates one condition row: a left value, an operator, and a right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3392424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84831"/>
            <a:ext cx="301752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LEFT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414016"/>
            <a:ext cx="3017520" cy="9144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⚡ token from an earlier node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e.g. Outcome (Human review)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2011680"/>
            <a:ext cx="3392424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2084831"/>
            <a:ext cx="301752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OPERATOR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414016"/>
            <a:ext cx="3017520" cy="9144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Equals · Not equals · Contains ·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Greater than · Less than · Is empty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2011680"/>
            <a:ext cx="3392424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084831"/>
            <a:ext cx="301752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RIGHT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414016"/>
            <a:ext cx="3017520" cy="9144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literal you type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e.g. Yes  ·  Approve  ·  Priority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3611880"/>
            <a:ext cx="3200400" cy="658368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611880"/>
            <a:ext cx="320040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Outcome  Equals  Yes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3108960" y="4389120"/>
            <a:ext cx="310896" cy="329184"/>
          </a:xfrm>
          <a:prstGeom prst="downArrow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8732520" y="4389120"/>
            <a:ext cx="310896" cy="329184"/>
          </a:xfrm>
          <a:prstGeom prst="downArrow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97280" y="4800600"/>
            <a:ext cx="4206240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4800600"/>
            <a:ext cx="4206240" cy="3657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800600"/>
            <a:ext cx="42062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IF — condition true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212080"/>
            <a:ext cx="3794759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Reply to the email with the approved draft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4800600"/>
            <a:ext cx="4206240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0" y="4800600"/>
            <a:ext cx="4206240" cy="3657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800600"/>
            <a:ext cx="42062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ELSE — condition false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5212080"/>
            <a:ext cx="3794759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Send the hand-over email to the trainer — never fall silent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852160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Lab 3: Outcome Equals Approve (Approvals connector).  Labs 4 and 14: Outcome Equals Yes (Human review — it publishes the string Yes, not a boolean).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Conditions — Both Paths Must Exist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Both branches must be built — including the one you hope never runs. Add rows for AND / OR groups.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89804" cy="15910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5910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5054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50545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39112"/>
            <a:ext cx="4192524" cy="1463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Empty Else is a silent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423160"/>
            <a:ext cx="4192524" cy="10789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rejected leave request that triggers nothing is an applicant waiting forever. Route every Else to a message or a named person.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965960"/>
            <a:ext cx="5289804" cy="15910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4204" y="1965960"/>
            <a:ext cx="82296" cy="159105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1948" y="250545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50545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039112"/>
            <a:ext cx="4192524" cy="1463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picker's type can lie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8604" y="2423160"/>
            <a:ext cx="4192524" cy="10789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Human review's Yes/No input shows as boolean but publishes the string Yes. Read the node's real Outputs in Activity.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758184"/>
            <a:ext cx="5289804" cy="15910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758184"/>
            <a:ext cx="82296" cy="159105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429768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29768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831336"/>
            <a:ext cx="4192524" cy="1463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Re-pick after rebuilding an 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215384"/>
            <a:ext cx="4192524" cy="10789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Delete and re-create an input and the old token renders fine but resolves to empty — every run falls to Else.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758184"/>
            <a:ext cx="5289804" cy="15910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3758184"/>
            <a:ext cx="82296" cy="159105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1948" y="429768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429768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831336"/>
            <a:ext cx="4192524" cy="14630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Test both paths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604" y="4215384"/>
            <a:ext cx="4192524" cy="10789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3 tests an approval and a rejection; Lab 4 sends one email per category; Lab 14 approves one draft and rejects one.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workflow pauses for a manager  ·  Copilot Studio workflow + Approvals + Outlook  ·  35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Compose, Function and Variable — Named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Compose is a named value holder: it takes any input, and its Outputs token is what every later step references.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Trigger body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(raw)</a:t>
            </a:r>
          </a:p>
        </p:txBody>
      </p:sp>
      <p:sp>
        <p:nvSpPr>
          <p:cNvPr id="9" name="Chevron 8"/>
          <p:cNvSpPr/>
          <p:nvPr/>
        </p:nvSpPr>
        <p:spPr>
          <a:xfrm>
            <a:off x="3115817" y="24048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2433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297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Normalise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404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6499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3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Outputs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⚡ token</a:t>
            </a:r>
          </a:p>
        </p:txBody>
      </p:sp>
      <p:sp>
        <p:nvSpPr>
          <p:cNvPr id="15" name="Chevron 14"/>
          <p:cNvSpPr/>
          <p:nvPr/>
        </p:nvSpPr>
        <p:spPr>
          <a:xfrm>
            <a:off x="8743948" y="2404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5580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reference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0565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5429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 node · Excel ·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SharePoint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291840"/>
            <a:ext cx="5303520" cy="1188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291840"/>
            <a:ext cx="82296" cy="11887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01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Normalise 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877056"/>
            <a:ext cx="4809744" cy="4937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toUpper(trim(triggerBody()?['nric'])) — one canonical form before the lookup and the record.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90288"/>
            <a:ext cx="5303520" cy="1188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590288"/>
            <a:ext cx="82296" cy="11887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0001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Build a prompt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75504"/>
            <a:ext cx="4809744" cy="4937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Assemble the retrieved brochure text and the visitor's question into one block for the Agent node (Lab 16).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291840"/>
            <a:ext cx="5303520" cy="1188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0488" y="3291840"/>
            <a:ext cx="82296" cy="11887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401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Hold a computed 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877056"/>
            <a:ext cx="4809744" cy="4937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concat('REQ-', formatDateTime(utcNow(),'yyyyMMdd'), '-', …) — generated once, used by Excel and the reply (Lab 6).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4590288"/>
            <a:ext cx="5303520" cy="1188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4590288"/>
            <a:ext cx="82296" cy="11887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70001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Variable vs Compose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175504"/>
            <a:ext cx="4809744" cy="4937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Initialize / Set / Append variable when the value changes during the run (loops, counters). Compose when it is written once.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Function → Data Operations → Compose. Rename the node with one word (no spaces) so its token stays readable.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Switch and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When one condition is not enough: Switch for many cases, Loop for many items.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6517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SWITCH — one value, many branches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On: a ⚡ token (e.g. Leave Type, category)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54096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Case Annual · Case Medical · Case Unpaid · 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575304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Each case is its own branch of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096512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Default catches what you did not foresee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6517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LOOP — repeat over a 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For each: every item in an array (Get items rows, attachments)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054096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Do until: repeat until a condition is true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575304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Steps inside see the current item token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096512"/>
            <a:ext cx="4892040" cy="521207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Arrays need join() before they reach Excel or a text field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8920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920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Lab 4 uses the Classify node's ports instead of a Switch — the category is a port, not a value you compare.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577840"/>
            <a:ext cx="1083564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Keep branches short. A branch that grows past four steps is usually a child workflow waiting to be extracted.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Human In, On, and Out of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arrangements that people use interchangeably, and that are not the same 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6700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2736" y="1965960"/>
            <a:ext cx="24871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Who decides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965960"/>
            <a:ext cx="27157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Who 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34856" y="1965960"/>
            <a:ext cx="23042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Can AI proceed alone?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386584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386584"/>
            <a:ext cx="267004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Human IN the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2386584"/>
            <a:ext cx="248716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proposes, human decides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386584"/>
            <a:ext cx="271576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Human authorises, system 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4856" y="2386584"/>
            <a:ext cx="230428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 — it blocks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990088"/>
            <a:ext cx="10835640" cy="60350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2990088"/>
            <a:ext cx="267004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Human ON the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2736" y="2990088"/>
            <a:ext cx="248716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decides and 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990088"/>
            <a:ext cx="271576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Human monitors, can intervene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856" y="2990088"/>
            <a:ext cx="230428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Yes — after the fact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593591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3593591"/>
            <a:ext cx="267004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Human OUT of the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2736" y="3593591"/>
            <a:ext cx="248716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decides and 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3593591"/>
            <a:ext cx="271576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4856" y="3593591"/>
            <a:ext cx="2304288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Yes — nobody checks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434840"/>
            <a:ext cx="10835640" cy="105156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48970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WHERE THIS COURSE PUTS THE HUMAN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764024"/>
            <a:ext cx="10332720" cy="6675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 the loop: Lab 3 (a manager approves leave), Lab 4 (Priority emails stop in Teams), Lab 14 (an adviser approves a draft), Lab 9 (the manager agent shows the final draft).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OUT of the loop on purpose: Labs 12, 13, 15 and 16 — so you can see what that costs. The pause IS the deliverable.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workflow pauses for a manager  ·  Copilot Studio workflow + Approvals + Outlook  ·  35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Human Review — Teams or Outlook/Email?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Human review node has a Channel dropdown: Teams or Outlook. Where the request lands decides whether it is ever answered.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514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TEAMS — the Workflows bot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An adaptive card: Request information | Microsoft Copilot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19806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Approver answers inline; the run resumes in a minute or two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506724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Verified reliable on our tenant — the default for Labs 4 and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993641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Best when the approver lives in Teams all day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514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OUTLOOK / 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Request for information arrives as an actionable email with a form and Submit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019806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The docs describe RFI as Outlook-delivered; on our tenant the mail never arrived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506724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Approvals connector (classic): email + Teams Approvals app, Approve/Reject buttons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993641"/>
            <a:ext cx="4892040" cy="48691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Best for approvers outside Teams, or a formal audit trail by mail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709160"/>
            <a:ext cx="10835640" cy="365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709160"/>
            <a:ext cx="385876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Mechanism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1456" y="4709160"/>
            <a:ext cx="157276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4709160"/>
            <a:ext cx="491032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comes back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074920"/>
            <a:ext cx="10835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5074920"/>
            <a:ext cx="38587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Human review node — Channel: Teams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1456" y="5074920"/>
            <a:ext cx="15727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4, 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5074920"/>
            <a:ext cx="491032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Inputs you define (Outcome Yes/No, Name); first responder wins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458968"/>
            <a:ext cx="10835640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5458968"/>
            <a:ext cx="38587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Approvals — Start and wait for an approval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6" y="5458968"/>
            <a:ext cx="15727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8816" y="5458968"/>
            <a:ext cx="491032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Approve/Reject – First to respond; Outcome, Responses Comments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843016"/>
            <a:ext cx="10835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5843016"/>
            <a:ext cx="38587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Request human assistance when unsure (Agent node)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91456" y="5843016"/>
            <a:ext cx="15727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Never as a gate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8816" y="5843016"/>
            <a:ext cx="491032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Fires only if the model feels unsure — not a 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Human Review Node — A Gate That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Add a step → Human review → Request for information. It does nothing at all except wait.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3167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36829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6829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39112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Title · Message · Assigned 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423160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Message = ⚡ the agent's summary or draft. Assigned to = a tenant user; type, wait for the directory lookup, click the suggestion.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965960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4204" y="1965960"/>
            <a:ext cx="82296" cy="131673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1948" y="236829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36829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039112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Inputs are mandatory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8604" y="2423160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Add an input: Text · Yes/No · Email · Number · Date. Define Outcome (Yes/No) and Name (Text), no defaults, no spaces in names.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83864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483864"/>
            <a:ext cx="82296" cy="131673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388620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88620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557016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What it publishes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3941064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Only the inputs you defined, plus responderObjectId. There is no built-in outcome property — a hand-typed reference silently never matches.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483864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3483864"/>
            <a:ext cx="82296" cy="131673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1948" y="388620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388620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557016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Then If/Else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604" y="3941064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Outcome (⚡) Equals Yes. The Yes/No input publishes the string Yes, so compare against Yes, not true.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937760"/>
            <a:ext cx="10835640" cy="82296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99262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TEST OF A REAL 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266944"/>
            <a:ext cx="10332720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Submit, then open Activity. The run says Running — and it will still say Running tomorrow. Nothing times out, nothing defaults, nothing proceeds until a person answers.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Email Classification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inbox workflow that sorts, replies, books and escalates  ·  Copilot Studio workflow + Outlook + Classify + Human review + Teams  ·  45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What Is a Control, and What Only Looks Like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things in the designer look like "a human checks". Only one of them is a control.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31272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Mechanism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59936" y="1965960"/>
            <a:ext cx="25786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03136" y="1965960"/>
            <a:ext cx="1938527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Fires when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06256" y="1965960"/>
            <a:ext cx="16184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Audit trail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89336" y="1965960"/>
            <a:ext cx="7498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Control?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386584"/>
            <a:ext cx="10835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386584"/>
            <a:ext cx="312724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845B"/>
                </a:solidFill>
                <a:latin typeface="Arial"/>
              </a:rPr>
              <a:t>Human review (node)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9936" y="2386584"/>
            <a:ext cx="257860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 gate in the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3136" y="2386584"/>
            <a:ext cx="1938527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Always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6256" y="2386584"/>
            <a:ext cx="161848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Outcome + responder ID recorded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89336" y="2386584"/>
            <a:ext cx="74980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YES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008376"/>
            <a:ext cx="10835640" cy="62179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008376"/>
            <a:ext cx="312724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C2413A"/>
                </a:solidFill>
                <a:latin typeface="Arial"/>
              </a:rPr>
              <a:t>Request human assistance when unsure (Agent node toggle)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9936" y="3008376"/>
            <a:ext cx="257860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The agent emailing the connection owner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3136" y="3008376"/>
            <a:ext cx="1938527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Only if the model feels unsure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06256" y="3008376"/>
            <a:ext cx="161848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89336" y="3008376"/>
            <a:ext cx="74980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0168"/>
            <a:ext cx="108356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3630168"/>
            <a:ext cx="312724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C2413A"/>
                </a:solidFill>
                <a:latin typeface="Arial"/>
              </a:rPr>
              <a:t>Request information (agent tool)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59936" y="3630168"/>
            <a:ext cx="257860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Same, exposed as a tool the agent may call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3630168"/>
            <a:ext cx="1938527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When the agent decides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6256" y="3630168"/>
            <a:ext cx="161848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89336" y="3630168"/>
            <a:ext cx="749808" cy="6217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3434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34340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The toggle and the tool both let a confidently wrong output through untouched — which is the failure that matters.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074920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1297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DEFAULT VALUES ARE A DESIGN DECISION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404104"/>
            <a:ext cx="10332720" cy="4846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Pre-filling Outcome with Yes turns the gate into a rubber stamp: confirming takes no thought, rejecting takes noticing. Leave it blank; if a default is forced, fail safe.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How an Approval Suspends a Running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submitted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94636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484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Start and wait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 an approval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21992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5888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pause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run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SUSPENDS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21992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141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decision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Manager responds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(Teams / email)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8394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resume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8243" y="1837943"/>
            <a:ext cx="1720900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If/Else reads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Outcome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29184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291840"/>
            <a:ext cx="5303520" cy="3840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29184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OUTCOME = APPROVE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3721608"/>
            <a:ext cx="489204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Send the approval email with the manager's Responses Comments; log the decision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29184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0488" y="3291840"/>
            <a:ext cx="5303520" cy="38404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0488" y="329184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OUTCOME = REJECT (Else)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3721608"/>
            <a:ext cx="489204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Send the rejection with the comments — routed to the applicant, never to silence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846320"/>
            <a:ext cx="10835640" cy="7772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9011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APPROVALS CONNECTOR SETTINGS THAT MATTER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175504"/>
            <a:ext cx="10332720" cy="3931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Approval type: Approve/Reject – First to respond. Title with the ⚡ Name token. Assigned to: click the resolved suggestion (a typed-and-tabbed address fails at run time). Details: labelled lines with ⚡ tokens.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workflow pauses for a manager  ·  Copilot Studio workflow + Approvals + Outlook  ·  35 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Classify Node — Categories, Examples, 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Classify node is a native AI step: it reads text and routes the run out of the port that matches.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CONFIGURE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Model picker (Claude Sonnet 4.6 is the cheap, reliable choice)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68142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Instruction with ⚡ tokens: Subject, From, Body, Importance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03396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Categories: name + one-line description; Add more categories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838651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Add example per category to sharpen the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273905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Built-in Other — the fail-safe when nothing fits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2011680"/>
            <a:ext cx="5303520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WHAT COMES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532888"/>
            <a:ext cx="4892040" cy="5440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One output port per category — connect a handler to each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076956"/>
            <a:ext cx="4892040" cy="5440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The chosen category and the model's reasoning appear in run details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621024"/>
            <a:ext cx="4892040" cy="5440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Ambiguous text should land in Other, not be forced into a category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165091"/>
            <a:ext cx="4892040" cy="5440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Downstream nodes see the trigger's tokens as they flow through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98348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98348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Five categories in Lab 4: Meeting · Need Reply · Priority · Informational · Other. Every port does something visible so a test can prove which path ran.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Email Classification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inbox workflow that sorts, replies, books and escalates  ·  Copilot Studio workflow + Outlook + Classify + Human review + Teams  ·  45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Email Classification — The Lab 4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4 on one slide: an Outlook trigger, one Classify node, five ports, and a human on the Priority path.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7099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20824"/>
            <a:ext cx="16002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When a new email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arrives (V3)</a:t>
            </a:r>
          </a:p>
        </p:txBody>
      </p:sp>
      <p:sp>
        <p:nvSpPr>
          <p:cNvPr id="9" name="Chevron 8"/>
          <p:cNvSpPr/>
          <p:nvPr/>
        </p:nvSpPr>
        <p:spPr>
          <a:xfrm>
            <a:off x="2432304" y="22677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88920" y="1965960"/>
            <a:ext cx="17099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2020824"/>
            <a:ext cx="16002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Classify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5 categories</a:t>
            </a:r>
          </a:p>
        </p:txBody>
      </p:sp>
      <p:sp>
        <p:nvSpPr>
          <p:cNvPr id="12" name="Chevron 11"/>
          <p:cNvSpPr/>
          <p:nvPr/>
        </p:nvSpPr>
        <p:spPr>
          <a:xfrm>
            <a:off x="4663440" y="2194560"/>
            <a:ext cx="256032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0" y="2011680"/>
            <a:ext cx="6464808" cy="65836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2011680"/>
            <a:ext cx="137160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Meeting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011680"/>
            <a:ext cx="48920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 extracts title/start/end → Create event → acknowledge</a:t>
            </a:r>
          </a:p>
        </p:txBody>
      </p:sp>
      <p:sp>
        <p:nvSpPr>
          <p:cNvPr id="16" name="Chevron 15"/>
          <p:cNvSpPr/>
          <p:nvPr/>
        </p:nvSpPr>
        <p:spPr>
          <a:xfrm>
            <a:off x="4663440" y="2926080"/>
            <a:ext cx="256032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0" y="2743200"/>
            <a:ext cx="6464808" cy="65836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2743200"/>
            <a:ext cx="137160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Need Reply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743200"/>
            <a:ext cx="48920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 drafts → Reply to email (V3)</a:t>
            </a:r>
          </a:p>
        </p:txBody>
      </p:sp>
      <p:sp>
        <p:nvSpPr>
          <p:cNvPr id="20" name="Chevron 19"/>
          <p:cNvSpPr/>
          <p:nvPr/>
        </p:nvSpPr>
        <p:spPr>
          <a:xfrm>
            <a:off x="4663440" y="3657600"/>
            <a:ext cx="256032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0" y="3474720"/>
            <a:ext cx="6464808" cy="65836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474720"/>
            <a:ext cx="137160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Priority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474720"/>
            <a:ext cx="48920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 summarises → Human review (Teams) → If Outcome Equals Yes → reply, else hand over</a:t>
            </a:r>
          </a:p>
        </p:txBody>
      </p:sp>
      <p:sp>
        <p:nvSpPr>
          <p:cNvPr id="24" name="Chevron 23"/>
          <p:cNvSpPr/>
          <p:nvPr/>
        </p:nvSpPr>
        <p:spPr>
          <a:xfrm>
            <a:off x="4663440" y="4389120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0" y="4206240"/>
            <a:ext cx="6464808" cy="65836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66360" y="4206240"/>
            <a:ext cx="137160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Informational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206240"/>
            <a:ext cx="48920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Flag email (V2)</a:t>
            </a:r>
          </a:p>
        </p:txBody>
      </p:sp>
      <p:sp>
        <p:nvSpPr>
          <p:cNvPr id="28" name="Chevron 27"/>
          <p:cNvSpPr/>
          <p:nvPr/>
        </p:nvSpPr>
        <p:spPr>
          <a:xfrm>
            <a:off x="4663440" y="5120640"/>
            <a:ext cx="256032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0" y="4937760"/>
            <a:ext cx="6464808" cy="65836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66360" y="4937760"/>
            <a:ext cx="137160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Other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937760"/>
            <a:ext cx="48920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Move email (V2) to folder Other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Test with five emails, one per category. The Priority case proves the gate: the run waits in Teams until you answer.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Autonomous Business Processes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autonomous business process = an event trigger + deterministic steps + AI judgement steps + a human checkpoint where it matters.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39696"/>
            <a:ext cx="145542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94560"/>
            <a:ext cx="1345692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Event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trigger</a:t>
            </a:r>
          </a:p>
        </p:txBody>
      </p:sp>
      <p:sp>
        <p:nvSpPr>
          <p:cNvPr id="9" name="Chevron 8"/>
          <p:cNvSpPr/>
          <p:nvPr/>
        </p:nvSpPr>
        <p:spPr>
          <a:xfrm>
            <a:off x="2177796" y="2532888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34412" y="2139696"/>
            <a:ext cx="145542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89276" y="2194560"/>
            <a:ext cx="1345692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Normalise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(Compose)</a:t>
            </a:r>
          </a:p>
        </p:txBody>
      </p:sp>
      <p:sp>
        <p:nvSpPr>
          <p:cNvPr id="12" name="Chevron 11"/>
          <p:cNvSpPr/>
          <p:nvPr/>
        </p:nvSpPr>
        <p:spPr>
          <a:xfrm>
            <a:off x="4053840" y="2532888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10456" y="2139696"/>
            <a:ext cx="145542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5320" y="2194560"/>
            <a:ext cx="1345692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 node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judgement</a:t>
            </a:r>
          </a:p>
        </p:txBody>
      </p:sp>
      <p:sp>
        <p:nvSpPr>
          <p:cNvPr id="15" name="Chevron 14"/>
          <p:cNvSpPr/>
          <p:nvPr/>
        </p:nvSpPr>
        <p:spPr>
          <a:xfrm>
            <a:off x="5929884" y="2532888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1516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structured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6500" y="2139696"/>
            <a:ext cx="145542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1364" y="2194560"/>
            <a:ext cx="1345692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Human review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checkpoint</a:t>
            </a:r>
          </a:p>
        </p:txBody>
      </p:sp>
      <p:sp>
        <p:nvSpPr>
          <p:cNvPr id="19" name="Chevron 18"/>
          <p:cNvSpPr/>
          <p:nvPr/>
        </p:nvSpPr>
        <p:spPr>
          <a:xfrm>
            <a:off x="7805928" y="2532888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7560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if needed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62544" y="2139696"/>
            <a:ext cx="145542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7408" y="2194560"/>
            <a:ext cx="1345692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Act across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systems</a:t>
            </a:r>
          </a:p>
        </p:txBody>
      </p:sp>
      <p:sp>
        <p:nvSpPr>
          <p:cNvPr id="23" name="Chevron 22"/>
          <p:cNvSpPr/>
          <p:nvPr/>
        </p:nvSpPr>
        <p:spPr>
          <a:xfrm>
            <a:off x="9681972" y="2532888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38588" y="2139696"/>
            <a:ext cx="145542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93452" y="2194560"/>
            <a:ext cx="1345692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Notify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42900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42900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5387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Workflows absorbed AI in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01421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Agent node (Mar), Prompt and M365 Copilot nodes (May), workflows as agent tools (Jul), the GitHub Copilot harness GA (3 Aug).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80060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80060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9103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Deterministic backbone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38581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same input always produces the same path — consistent execution, end-to-end visibility in Activity.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342900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0488" y="3429000"/>
            <a:ext cx="82296" cy="12618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35387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Two directions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01421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workflow can call an agent (Agent node — Lab 10); an agent can call a workflow as a tool (When an agent calls the flow — Lab 11).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0488" y="480060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90488" y="480060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49103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Recovery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38581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harness retries and finds alternative paths inside an agent step; the workflow around it still fails loudly at a named node.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3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The workflow pauses for a 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running workflow suspends at the approval action and branches with If/Else on the human decision.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Approvals + Outlook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3 - Leave Application Approval  ·  Lab 3 - Leave Application Form  ·  Lab 3 - Leave Register.xlsx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718" y="4937759"/>
            <a:ext cx="7520940" cy="11887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3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Forms → Lab 3 - Leave Application Form: Name, Leave from date, Leave end date, Leave Type, Reason for Leave.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3 - Leave Application Approval → Forms trigger → Get response details.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Human review (Channel Microsoft Teams, never Outlook); Assigned to = your address; Title with the ⚡ Name token; Details = labelled ⚡ lines.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Add an input → Yes/No named Outcome; Add an input → Text named Comments — the only inputs the card will show.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If/Else: ⚡ Outcome (Yes/No output) Equals Yes.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If: Send an email (V2) approved, with the ⚡ Comments text output. Else: not approved, with the comments.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Save → Publish → submit → answer the card in the Teams Workflows chat; submit again and choose No. Both emails must arrive.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5166360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9944" y="549097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Optional Part F: Add a row into Lab 3 - Leave Register.xlsx with the decision.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3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leave-application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Leave application 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leave-form-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Leave form settings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3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3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get-response-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Get response details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human-review-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Human review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4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 — Email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An inbox workflow that sorts, replies, books and escalates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5303520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12344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9689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72384"/>
            <a:ext cx="4809744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Classify node sorts each email into five categories; each port runs a deterministic handler, and the Priority branch stops at a human in Teams.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22191"/>
            <a:ext cx="5303520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822191"/>
            <a:ext cx="82296" cy="7772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7"/>
            <a:ext cx="482803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799"/>
            <a:ext cx="4809744" cy="448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Outlook + Classify + Human review + Teams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00016"/>
            <a:ext cx="5303520" cy="15179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700016"/>
            <a:ext cx="82296" cy="15179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4809744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4 - Email Classification  ·  Lab 4 - Other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572768"/>
            <a:ext cx="5303520" cy="3770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7" y="1664208"/>
            <a:ext cx="5120639" cy="358739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4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Outlook → create the folder Other under Inbox.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4 - Email Classification → Start → Connector → Office 365 Outlook → When a new email arrives (V3), folder Inbox.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Classify: model Claude Sonnet 4.6; instruction with ⚡ Subject, From, Body, Importance; categories Meeting, Need Reply, Priority, Informational (+ Other).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Meeting port: Agent (structured output: title, start, end) → Create event (V4) → Send an email (V2) acknowledgement.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Need Reply port: Agent Reply Drafter → Reply to email (V3) with the draft.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Priority port: Agent summarises → Human review (Channel Teams; inputs Outcome Yes/No, Name) → If Outcome Equals Yes → reply; Else → hand-over email.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Informational: Flag email (V2). Other: Move email (V2) to Other. Tidy up → Save → Publish.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5166360"/>
            <a:ext cx="82296" cy="10698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9944" y="549097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Send five test emails, one per category; answer the Priority card in the Teams Workflows chat; check Activity.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4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outlook-create-new-sub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Outlook create new subfolder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outlook-trigger-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Outlook trigger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MODULE 2 · LAB 4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4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classify-node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Classify node panel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agent-node-instru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Agent node instructions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Copilot Studio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designer  ·  instructions, model, knowledge  ·  skills, tools, MCP  ·  what is enforced  ·  connected agents, memory  ·  Preview, Evaluate, Monitor  ·  publishing and channels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Applied in Labs 5–11 and Lab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Workflow or Agent — They Fail Differently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303520" cy="3566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530352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4592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WORKFLOW — deterministic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67128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decide the path in advance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766974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The same input always gives the same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366820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can only do what you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966667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fails loudly, at a named node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566513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test it by checking the result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645920"/>
            <a:ext cx="5303520" cy="3566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164592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164592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AGENT — the harness reasons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167128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chooses the path at run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766974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The same input may give a different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366820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combines what it was given in new ways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966667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fails quietly, with a confident wrong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566513"/>
            <a:ext cx="4892040" cy="59984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test it by trying to break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39496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a workflow where the rule is known. Use an agent where the language varies. Most real systems need both.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989320"/>
            <a:ext cx="10835640" cy="2926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Labs 1–4 are workflows with AI nodes. Labs 5–9 are agents. Labs 10–16 are both, and the seam between them is the lesson.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Agent Designer — Build, Preview, Evaluate,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New agent opens one page. Top bar: name · Build | Preview | Evaluate | Monitor · Save · Share · Settings · … · Publish.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0835640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i_agent_desig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976" y="2029968"/>
            <a:ext cx="5678424" cy="197510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4206240"/>
            <a:ext cx="2487168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4206240"/>
            <a:ext cx="82296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1596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91456"/>
            <a:ext cx="1993392" cy="7223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Identity, Instructions, Model, Channels, Skills, Tools, Knowledge, Connected agents, Memory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4206240"/>
            <a:ext cx="2487168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4206240"/>
            <a:ext cx="82296" cy="14173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431596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Preview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791456"/>
            <a:ext cx="1993392" cy="7223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Chat with the latest saved draft; End user preview toggle; reasoning card and activity trace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4206240"/>
            <a:ext cx="2487168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4206240"/>
            <a:ext cx="82296" cy="14173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31596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Evaluate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791456"/>
            <a:ext cx="1993392" cy="7223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Named test sets of conversations; General quality test method; compare agent versions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7968" y="4206240"/>
            <a:ext cx="2487168" cy="14173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87968" y="4206240"/>
            <a:ext cx="82296" cy="14173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431596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Monitor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791456"/>
            <a:ext cx="1993392" cy="72237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Recent tasks, files the agent accessed, activity — and the Copilot Credits it consumed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Lifecycle: Create → Build → Test (Preview, Evaluate) → Publish → Monitor. Credits are consumed at every step after Create.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Inside the Build Tab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Build tab: name and Instructions in the centre; the components panel on the right, top to bottom.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402336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365760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CENTRE COLUMN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3703320" cy="36576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Agent icon + name box — click Untitled Agent, type, Enter.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Instructions — a large rich-text box with a small toolbar. This is the ONLY place the system instructions go. Paste the whole agent/instructions.md here.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There is no separate system prompt, description or settings page for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965960"/>
            <a:ext cx="6720840" cy="3657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7488" y="1965960"/>
            <a:ext cx="1938527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Right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8" y="1965960"/>
            <a:ext cx="445312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Caption in the product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331720"/>
            <a:ext cx="6720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47488" y="2331720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2331720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Default Claude Opus 5; other models selectable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2880360"/>
            <a:ext cx="67208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47488" y="2880360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Channels 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2880360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Define where users can interact with the 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3429000"/>
            <a:ext cx="6720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7488" y="3429000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Skills 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3429000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Define behaviors through structured instructions — upload SKILL.md or a .zip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3977639"/>
            <a:ext cx="67208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47488" y="3977639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Tools 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8" y="3977639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Connect the agent to external systems and actions — connectors, workflows, MCP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4526279"/>
            <a:ext cx="6720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47488" y="4526279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Knowledge 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0608" y="4526279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Provide trusted context — files, SharePoint, websites; remove Search all websites 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5074920"/>
            <a:ext cx="67208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7488" y="5074920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Connected agents 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8" y="5074920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Collaborate across agents to complete work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5623559"/>
            <a:ext cx="67208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5623559"/>
            <a:ext cx="1938527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Memory (Preview)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0608" y="5623559"/>
            <a:ext cx="44531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Remember interactions, workflows and context — off by default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Natural-Language Authoring (Preview)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Natural-language authoring (preview): describe the process on the Home page and Copilot Studio proposes the artefacts.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Home → type the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process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450591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636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submit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0312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15798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Workflow or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Conversational agent chip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450591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60873" y="210312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215798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Clarifying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questions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450591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12126" y="210312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6990" y="215798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Steps and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Artifacts panel</a:t>
            </a:r>
          </a:p>
        </p:txBody>
      </p:sp>
      <p:sp>
        <p:nvSpPr>
          <p:cNvPr id="19" name="Chevron 18"/>
          <p:cNvSpPr/>
          <p:nvPr/>
        </p:nvSpPr>
        <p:spPr>
          <a:xfrm>
            <a:off x="9306762" y="2450591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8394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cards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63379" y="210312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8243" y="215798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Edit each card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in the canvas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38328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38328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What it decides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6849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deterministic workflow, a conversational agent, or a combination of both — it may ask you to configure a connection (e.g. email).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75488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75488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8646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Then the same loop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34009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Preview to chat, Build to edit instructions, Save; the next turn picks up the change. Chat history is kept 28 days.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38328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383280"/>
            <a:ext cx="82296" cy="126187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Models and credits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96849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May use Anthropic models if your admin allows external models; every generation consumes Copilot Credits.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0488" y="475488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0488" y="475488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8646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In this course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34009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We build by hand so you can name every node. Try it on Day 2: paste a lab scenario and compare what it proposes with what you built.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Writing Instructions That Constrain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Instructions are prose, but they are not free text. Six things every agent instruction in this course states.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441192" cy="13624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3624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39115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9115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39112"/>
            <a:ext cx="2343912" cy="1234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423160"/>
            <a:ext cx="2343912" cy="8503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"You are the HR policy assistant for Keppel Ridge." One identity, one 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5592" y="1965960"/>
            <a:ext cx="3441192" cy="13624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55592" y="1965960"/>
            <a:ext cx="82296" cy="136245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93336" y="239115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3336" y="239115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9992" y="2039112"/>
            <a:ext cx="2343912" cy="1234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9992" y="2423160"/>
            <a:ext cx="2343912" cy="8503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What it helps with, and the list of subjects it declines or redirects.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2816" y="1965960"/>
            <a:ext cx="3441192" cy="13624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2816" y="1965960"/>
            <a:ext cx="82296" cy="136245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90560" y="2391156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0560" y="239115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7216" y="2039112"/>
            <a:ext cx="2343912" cy="1234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7216" y="2423160"/>
            <a:ext cx="2343912" cy="8503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Plain professional English; short answers; no jargon the employee did not use.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529584"/>
            <a:ext cx="3441192" cy="13624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529584"/>
            <a:ext cx="82296" cy="136245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6112" y="395478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395478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3602736"/>
            <a:ext cx="2343912" cy="1234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When to 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3986784"/>
            <a:ext cx="2343912" cy="8503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Ambiguous input → one clarifying question, not a guess.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55592" y="3529584"/>
            <a:ext cx="3441192" cy="13624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55592" y="3529584"/>
            <a:ext cx="82296" cy="136245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93336" y="3954780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93336" y="395478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69992" y="3602736"/>
            <a:ext cx="2343912" cy="1234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When to use knowledge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69992" y="3986784"/>
            <a:ext cx="2343912" cy="8503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Answer only from the connected source; say so when the source is silent.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52816" y="3529584"/>
            <a:ext cx="3441192" cy="13624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52816" y="3529584"/>
            <a:ext cx="82296" cy="13624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90560" y="395478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90560" y="395478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7216" y="3602736"/>
            <a:ext cx="2343912" cy="12344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When to act / escalate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7216" y="3986784"/>
            <a:ext cx="2343912" cy="8503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Which tool to call, and the trigger that hands the person to HR with no follow-up questions.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0749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0749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Iterate in Preview: change one thing, Save, re-run only the failing test. The next turn picks up your change automatically.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Your First Agent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HR agent: instructions, knowledge, test, publish  ·  Copilot Studio (new experience)  ·  35 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Worked Example — The HR Agent Instructions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Lab 5 HR Agent instructions, section by section — the shape you will reuse for Procurement, Sales and IT Support.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34015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Section heading in instructions.md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4256" y="1965960"/>
            <a:ext cx="71048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says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386584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386584"/>
            <a:ext cx="340156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Where your answers come from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4256" y="2386584"/>
            <a:ext cx="71048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Only the HR Policies handbook attached as knowledge. Never the open web, never your own knowledge of employment law.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898648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898648"/>
            <a:ext cx="340156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What you must never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2898648"/>
            <a:ext cx="71048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Discuss, estimate or infer another named person's leave, pay or records. Any number about someone else is a failure.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410712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410712"/>
            <a:ext cx="340156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Matters you escalate immediately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3410712"/>
            <a:ext cx="71048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Harassment, discrimination, grievances: give hr@keppelridge.example and ask NO follow-up questions.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922776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922776"/>
            <a:ext cx="340156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Identifying who you are speaking 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6" y="3922776"/>
            <a:ext cx="71048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You are speaking to the signed-in employee; treat every question as about them unless told otherwise.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434840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434840"/>
            <a:ext cx="340156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When you do not know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4256" y="4434840"/>
            <a:ext cx="71048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Say the handbook does not cover it and point to HR. Never include citation markers, reference numbers or source tags.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946904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946904"/>
            <a:ext cx="340156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Tone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4256" y="4946904"/>
            <a:ext cx="7104888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Warm, brief, plain English; answer first, then the one condition that applies (e.g. line-manager approval).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Your First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HR agent: instructions, knowledge, test, publish  ·  Copilot Studio (new experience)  ·  35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Instructions Box Is a Rich-Text Editor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Instructions box is a rich-text editor — in the agent designer AND in the workflow Agent node.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Type the prose, leave a gap, insert each value with the ⚡ picker or a / 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62656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Paste plain Markdown from instructions.md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392424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Rename nodes to one word so tokens read cleanly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822191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Change one thing per Preview cycle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DO NOT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Paste @{...} or body('Node')?['x'] into the box — it escapes underscores and mangles 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962656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Copy a workflow and trust its Instructions tokens — they resolve to EMPTY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392424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Drag a node after configuring it — moving a node clears its configuration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822191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Assume there is a separate user-message field: there is none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720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 reference to nothing resolves to empty, not to an error. The run is green, the model received nothing.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303520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583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THE AGENT NODE'S CONFIGURE TAB, TOP TO BOTTOM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632704"/>
            <a:ext cx="10332720" cy="4846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Connection · Agent (model picker) · Instructions · Microsoft IQ · Tools · Knowledge · Request human assistance · Web search · Output. Output is the last field.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Choosing the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Model dropdown at the top of the right panel. The default is Claude Opus 5; the choice is a design decision, per agent and per Agent node.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9443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77056" y="1965960"/>
            <a:ext cx="41788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Character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0456" y="1965960"/>
            <a:ext cx="32186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Used where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Claude Opus 5 (default)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7056" y="2386584"/>
            <a:ext cx="41788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Deep reasoning, long multi-step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2386584"/>
            <a:ext cx="32186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Agents in Labs 5–9, 11, 17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43784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4378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Claude Sonnet 5 / Sonnet 4.6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7056" y="2843784"/>
            <a:ext cx="41788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Fast and cheaper; GA; Sonnet 5 only on the GitHub Copilot harness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2843784"/>
            <a:ext cx="32186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Classify and Agent nodes in Labs 4, 12–16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009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00984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GPT-5.5 Chat / GPT-5.6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77056" y="3300984"/>
            <a:ext cx="41788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OpenAI models, GA; cross-geo for Singapore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3300984"/>
            <a:ext cx="32186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Alternative — re-run the tests after switching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758183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758183"/>
            <a:ext cx="29443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Fable 5 · Mistral Medium 3.5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77056" y="3758183"/>
            <a:ext cx="41788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Experimental / preview tags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0456" y="3758183"/>
            <a:ext cx="321868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Demo only — never in a published agent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343400"/>
            <a:ext cx="3392424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343400"/>
            <a:ext cx="8229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45312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Tags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28616"/>
            <a:ext cx="2898648" cy="11338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Deep · Auto · General; release types Experimental, Preview, Generally available, Default, Retired, Cross-geo.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06824" y="4343400"/>
            <a:ext cx="3392424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06824" y="4343400"/>
            <a:ext cx="82296" cy="182880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62856" y="445312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Admin prerequisites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2856" y="4928616"/>
            <a:ext cx="2898648" cy="11338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Preview and experimental AI models; Move data across regions; Turn on external models in PPAC; provider consent (Anthropic, Mistral, xAI) in the M365 admin center.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80" y="4343400"/>
            <a:ext cx="3392424" cy="1828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55280" y="4343400"/>
            <a:ext cx="82296" cy="182880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1312" y="445312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Same instructions, different behaviour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4928616"/>
            <a:ext cx="2898648" cy="11338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 different model follows the same instructions differently. Change the model, then re-run every probe.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Knowledge — Giving Facts and Removing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Files · SharePoint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· Public websites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1762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94636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choose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783080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484" y="1837943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Knowledge + →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Add knowledge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1762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5888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upload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783080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1837943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Indexed —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wait for Ready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17627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141" y="14721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at run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783080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1837943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Retrieved when a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 matches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1762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63379" y="1783080"/>
            <a:ext cx="1830628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8243" y="1837943"/>
            <a:ext cx="1720900" cy="9875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Answer with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citations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154680"/>
            <a:ext cx="3441192" cy="1065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154680"/>
            <a:ext cx="82296" cy="10652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343128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343128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3227832"/>
            <a:ext cx="2343912" cy="9372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It is a boundary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3611880"/>
            <a:ext cx="2343912" cy="5532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agent cannot read a document you did not give it. Give it only what it needs — not the staff-leave.csv.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55592" y="3154680"/>
            <a:ext cx="3441192" cy="1065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55592" y="3154680"/>
            <a:ext cx="82296" cy="106527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93336" y="343128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3336" y="343128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69992" y="3227832"/>
            <a:ext cx="2343912" cy="9372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Remove Search all websites 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69992" y="3611880"/>
            <a:ext cx="2343912" cy="5532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On by default. A fee from the open web is indistinguishable from a fee in your own brochure.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52816" y="3154680"/>
            <a:ext cx="3441192" cy="1065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52816" y="3154680"/>
            <a:ext cx="82296" cy="10652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90560" y="3431286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90560" y="343128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7216" y="3227832"/>
            <a:ext cx="2343912" cy="9372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No general-knowledge toggle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7216" y="3611880"/>
            <a:ext cx="2343912" cy="5532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new harness has none. Grounding rests on the instruction line: answer only from the connected source.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4421124"/>
            <a:ext cx="3441192" cy="1065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" y="4421124"/>
            <a:ext cx="82296" cy="106527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96112" y="469773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" y="469773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72768" y="4494276"/>
            <a:ext cx="2343912" cy="9372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Sources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72768" y="4878324"/>
            <a:ext cx="2343912" cy="5532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Upload file · Public websites · SharePoint · Azure AI Search · Dataverse · Dynamics 365 · Salesforce · ServiceNow · Azure SQL.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55592" y="4421124"/>
            <a:ext cx="3441192" cy="1065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55592" y="4421124"/>
            <a:ext cx="82296" cy="106527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593336" y="4697730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93336" y="469773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69992" y="4494276"/>
            <a:ext cx="2343912" cy="9372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Folder per lab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69992" y="4878324"/>
            <a:ext cx="2343912" cy="5532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connector indexes at folder level: Lab 5 - HR Policies, Lab 7 - Course Brochures, Lab 13 - Investment FAQ.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52816" y="4421124"/>
            <a:ext cx="3441192" cy="10652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52816" y="4421124"/>
            <a:ext cx="82296" cy="10652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290560" y="469773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90560" y="469773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67216" y="4494276"/>
            <a:ext cx="2343912" cy="9372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Ready means ready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7216" y="4878324"/>
            <a:ext cx="2343912" cy="5532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A source still indexing returns nothing; the agent looks broken when it is merely empty.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Your First Agent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HR agent: instructions, knowledge, test, publish  ·  Copilot Studio (new experience)  ·  35 min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Richer Context — Microsoft IQ, Work IQ, Foundry IQ — and Citations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layers of context beyond your files — and the citation markers grounding leaves in the reply.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737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213055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1305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7568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Microsoft IQ / Work IQ (preview)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5117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signed-in user's emails, calendar, files, Teams messages and people. A toggle in the Agent node and the agent designer.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4" y="196596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6824" y="1965960"/>
            <a:ext cx="82296" cy="173736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6280" y="21305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1305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207568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Foundry IQ (GA)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55117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Knowledge bases built and tuned in Microsoft Foundry, connected as a source.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196596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80" y="1965960"/>
            <a:ext cx="82296" cy="17373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74736" y="213055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21305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207568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Memory (preview)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255117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Per-user preferences captured across chats — a different thing from knowledge (see the Memory slide).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931920"/>
            <a:ext cx="10835640" cy="14173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9867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CITATION MARKERS LEAK — AND DUPLICATE THE ANSWER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261104"/>
            <a:ext cx="10332720" cy="10332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With a Knowledge source, replies can arrive twice: once with [doc:turn1doc11] markers, then with [1]-style ones. They are appended by the grounding layer, not written by the model.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Add the line: "Never include citation markers, reference numbers or source tags in your reply." The Pinecone flow (Lab 16) has no markers — retrieved text arrives as plain Compose output.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Turn Work IQ on only for agents that should know who is asking — never for a public website agent.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Skills — Instructions on Demand (SKILL.md)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"Skills are self-contained sets of instructions and logic" — instructions on demand, packaged once, added to many agents.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4846320" cy="33832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57400"/>
            <a:ext cx="4572000" cy="32004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---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name: password-reset-procedure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description: Use when a user says they are locked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  out or asks to reset a password. Verifies identity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  first, then walks through the reset steps.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---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# Password Reset Procedure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1. Confirm the user's employee ID …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2. Never read a password aloud …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9CDCFE"/>
                </a:solidFill>
                <a:latin typeface="Arial"/>
              </a:rPr>
              <a:t>3. Raise a ticket with the tool 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965960"/>
            <a:ext cx="577900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0" y="1965960"/>
            <a:ext cx="82296" cy="7955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71032" y="2002536"/>
            <a:ext cx="53035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YAML front matter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1032" y="2258568"/>
            <a:ext cx="528523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name (lowercase, numbers, hyphens) + description. The description is the trigger — the orchestrator matches on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2834639"/>
            <a:ext cx="577900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0" y="2834639"/>
            <a:ext cx="82296" cy="7955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1032" y="2871215"/>
            <a:ext cx="53035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Markdown body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2" y="3127247"/>
            <a:ext cx="528523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Task description, step-by-step guidance, formatting rules, edge cases, which tools to 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3703320"/>
            <a:ext cx="577900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15000" y="3703320"/>
            <a:ext cx="82296" cy="7955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71032" y="3739896"/>
            <a:ext cx="53035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Create or upload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2" y="3995928"/>
            <a:ext cx="528523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Skills + → Add skill → Create from blank, or Upload a skill (a .md, or a .zip with SKILL.md at the root).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15000" y="4572000"/>
            <a:ext cx="5779008" cy="7955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15000" y="4572000"/>
            <a:ext cx="82296" cy="79552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71032" y="4608576"/>
            <a:ext cx="53035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Not enforced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71032" y="4864608"/>
            <a:ext cx="5285232" cy="4663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A skill is a procedure the model decides to apply, not a permission. The security rule lives in the instructions and in the tools it lacks.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IT Support Agent with 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Five uploaded skill packages, and the one rule none of them can enforce  ·  Copilot Studio agent + skill packages  ·  30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Anatomy of a Skill Package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skill package is a .zip: SKILL.md is the only root-level Markdown; everything else sits in sub-folders.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4023360" cy="3429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57400"/>
            <a:ext cx="3749039" cy="3246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raise-requisition.zip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├── SKILL.md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├── manual/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│   └── procedure.md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├── templates/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│   └── requisition-summary.md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├── scripts/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│   └── validate.py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└── references/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    └── purchasing-policy.md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965960"/>
            <a:ext cx="6720840" cy="3657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47488" y="1965960"/>
            <a:ext cx="138988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Folder /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965960"/>
            <a:ext cx="500176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goes there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2331720"/>
            <a:ext cx="67208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7488" y="2331720"/>
            <a:ext cx="13898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manual/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331720"/>
            <a:ext cx="50017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Longer procedure text the skill can point 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2862072"/>
            <a:ext cx="6720840" cy="53035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7488" y="2862072"/>
            <a:ext cx="13898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templates/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862072"/>
            <a:ext cx="50017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Output shapes — the summary the agent must produce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3392424"/>
            <a:ext cx="67208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7488" y="3392424"/>
            <a:ext cx="13898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scripts/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392424"/>
            <a:ext cx="50017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Deterministic code the harness may run (the BlastBox skills do all arithmetic in Python)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3922775"/>
            <a:ext cx="6720840" cy="53035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7488" y="3922775"/>
            <a:ext cx="13898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references/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922775"/>
            <a:ext cx="50017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Policy extracts and worked examples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4453127"/>
            <a:ext cx="67208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47488" y="4453127"/>
            <a:ext cx="13898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Upload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4453127"/>
            <a:ext cx="50017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Skills + → Add skill → Upload a skill → drag the .zip; the system validates and adds 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4983479"/>
            <a:ext cx="6720840" cy="53035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47488" y="4983479"/>
            <a:ext cx="13898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Replace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4983479"/>
            <a:ext cx="50017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Skills → the skill → Replace — re-upload after every edit; export as .md or package to share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Lab 6: raise-requisition + vendor-enquiry.  Lab 7: course-enquiry + enrolment-intake.  Lab 8: five IT Support packages, uploaded in order.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When a Skill Fires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When does a skill fire? When the orchestrator decides the user's message matches the skill's description.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17209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User message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4048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09620" y="2103120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484" y="2157984"/>
            <a:ext cx="17209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Orchestrator reads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skill descriptions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4048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5888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2103120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2157984"/>
            <a:ext cx="17209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Best match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activated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4048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12126" y="2103120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6990" y="2157984"/>
            <a:ext cx="17209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Skill steps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shape the reply</a:t>
            </a:r>
          </a:p>
        </p:txBody>
      </p:sp>
      <p:sp>
        <p:nvSpPr>
          <p:cNvPr id="19" name="Chevron 18"/>
          <p:cNvSpPr/>
          <p:nvPr/>
        </p:nvSpPr>
        <p:spPr>
          <a:xfrm>
            <a:off x="9306762" y="2404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63379" y="2103120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18243" y="2157984"/>
            <a:ext cx="1720900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Activity trace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shows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291840"/>
            <a:ext cx="5303520" cy="10241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3291840"/>
            <a:ext cx="82296" cy="102412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401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6845B"/>
                </a:solidFill>
                <a:latin typeface="Arial"/>
              </a:rPr>
              <a:t>Prove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877056"/>
            <a:ext cx="4809744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Preview with End user preview off → open the activity trace → confirm the skill activated and which tools it called.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407408"/>
            <a:ext cx="5303520" cy="10241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407408"/>
            <a:ext cx="82296" cy="10241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51713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C77600"/>
                </a:solidFill>
                <a:latin typeface="Arial"/>
              </a:rPr>
              <a:t>If it did not fire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92624"/>
            <a:ext cx="4809744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Sharpen the description ("Use when a user asks …"), not the body. Then re-test the same message.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0488" y="3291840"/>
            <a:ext cx="5303520" cy="10241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0488" y="3291840"/>
            <a:ext cx="82296" cy="102412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401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C2413A"/>
                </a:solidFill>
                <a:latin typeface="Arial"/>
              </a:rPr>
              <a:t>Two skills that overlap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877056"/>
            <a:ext cx="4809744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orchestrator picks one. Keep descriptions distinct — course-enquiry vs enrolment-intake, not two "help with courses".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407408"/>
            <a:ext cx="5303520" cy="10241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0488" y="4407408"/>
            <a:ext cx="82296" cy="10241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51713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6D3FD2"/>
                </a:solidFill>
                <a:latin typeface="Arial"/>
              </a:rPr>
              <a:t>Skills vs instructions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992624"/>
            <a:ext cx="4809744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Instructions are always in force. A skill loads only when matched — so a rule that must always hold goes in instructions.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IT Support Agent with Skills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Five uploaded skill packages, and the one rule none of them can enforce  ·  Copilot Studio agent + skill packages  ·  30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Tools — Connectors, Workflows, MCP Servers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Tools let the agent act outside the conversation. Tools + → Add a tool → three types.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18470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Tool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79776" y="1965960"/>
            <a:ext cx="376732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Best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1696" y="1965960"/>
            <a:ext cx="4727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184708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Connectors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9776" y="2386584"/>
            <a:ext cx="37673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Well-known services with pre-built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1696" y="2386584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Outlook Send an email, Excel Add a row, SharePoint Create item, Calendar Create event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35224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935224"/>
            <a:ext cx="184708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845B"/>
                </a:solidFill>
                <a:latin typeface="Arial"/>
              </a:rPr>
              <a:t>Workflows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9776" y="2935224"/>
            <a:ext cx="37673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Multi-step, deterministic processes you 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1696" y="2935224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Lab 6 - Raise Requisition; Lab 11 - Blog Writer Tool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483863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483863"/>
            <a:ext cx="184708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6D3FD2"/>
                </a:solidFill>
                <a:latin typeface="Arial"/>
              </a:rPr>
              <a:t>MCP servers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9776" y="3483863"/>
            <a:ext cx="376732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Custom or internal services exposing many tools over the Model Context Protocol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1696" y="3483863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Membership MCP, Warehouse MCP, Windows 365 for Agents MCP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06908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069080"/>
            <a:ext cx="5303520" cy="3840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06908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AGENT'S PART — probabilistic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498848"/>
            <a:ext cx="4892040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Decides that a tool applies, fills its inputs from what the person said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946904"/>
            <a:ext cx="4892040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May call the wrong tool, or the right one with the wrong values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406908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0488" y="4069080"/>
            <a:ext cx="5303520" cy="3840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0488" y="406908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TOOL'S PART — enforced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498848"/>
            <a:ext cx="4892040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Validates, looks up, applies the threshold, writes the audit row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4946904"/>
            <a:ext cx="4892040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Whatever the agent believed, the workflow's own logic still runs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Procurement Agent with Tools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workflow as a tool, and the audit row it writes  ·  Copilot Studio agent + workflow as a tool + Excel Online  ·  35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 Workflow as a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workflow becomes a tool only when it starts with When an agent calls the flow and ends with Respond to the agent.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When an agent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calls the flow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(typed inputs)</a:t>
            </a:r>
          </a:p>
        </p:txBody>
      </p:sp>
      <p:sp>
        <p:nvSpPr>
          <p:cNvPr id="9" name="Chevron 8"/>
          <p:cNvSpPr/>
          <p:nvPr/>
        </p:nvSpPr>
        <p:spPr>
          <a:xfrm>
            <a:off x="3115817" y="247345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7449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inputs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2433" y="210312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7297" y="2157984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Reference</a:t>
            </a:r>
          </a:p>
        </p:txBody>
      </p:sp>
      <p:sp>
        <p:nvSpPr>
          <p:cNvPr id="13" name="Chevron 12"/>
          <p:cNvSpPr/>
          <p:nvPr/>
        </p:nvSpPr>
        <p:spPr>
          <a:xfrm>
            <a:off x="5929882" y="24734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86499" y="210312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3" y="2157984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Add a row into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 table (Excel)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4734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00565" y="210312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5429" y="2157984"/>
            <a:ext cx="2283713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Respond to the agent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(Reference, Status)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38328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383280"/>
            <a:ext cx="82296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F6FEB"/>
                </a:solidFill>
                <a:latin typeface="Arial"/>
              </a:rPr>
              <a:t>Inputs are the contract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96849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Add an input: Text / Number with a description the agent reads to fill the slot — "Full name of the colleague raising the requisition".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480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480560"/>
            <a:ext cx="82296" cy="1005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90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6845B"/>
                </a:solidFill>
                <a:latin typeface="Arial"/>
              </a:rPr>
              <a:t>Publish, then attach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065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tool must be the published version; LIVE = CURRENT DRAFT in Version history. Then Tools + → Add a tool → Workflow.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38328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0488" y="3383280"/>
            <a:ext cx="82296" cy="1005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6D3FD2"/>
                </a:solidFill>
                <a:latin typeface="Arial"/>
              </a:rPr>
              <a:t>Name and describe the tool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96849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tool description is how the agent knows when to call it — write it for the model, not for a developer.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4480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4480560"/>
            <a:ext cx="82296" cy="1005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590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Verify in the trace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065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Preview → ask → open the activity trace: which tool was invoked, what arguments, what it returned. Then check Excel.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Procurement Agent with Tools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workflow as a tool, and the audit row it writes  ·  Copilot Studio agent + workflow as a tool + Excel Online  ·  35 min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MCP — Model Context Protocol Servers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Model Context Protocol: one server, many tools, one standard interface — the agent discovers the tools at run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9" name="Chevron 8"/>
          <p:cNvSpPr/>
          <p:nvPr/>
        </p:nvSpPr>
        <p:spPr>
          <a:xfrm>
            <a:off x="3115817" y="24048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7449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MCP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2433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7297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MCP server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(connector)</a:t>
            </a:r>
          </a:p>
        </p:txBody>
      </p:sp>
      <p:sp>
        <p:nvSpPr>
          <p:cNvPr id="13" name="Chevron 12"/>
          <p:cNvSpPr/>
          <p:nvPr/>
        </p:nvSpPr>
        <p:spPr>
          <a:xfrm>
            <a:off x="5929882" y="24048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71514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6499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1363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get_membership ·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reissue_card · …</a:t>
            </a:r>
          </a:p>
        </p:txBody>
      </p:sp>
      <p:sp>
        <p:nvSpPr>
          <p:cNvPr id="17" name="Chevron 16"/>
          <p:cNvSpPr/>
          <p:nvPr/>
        </p:nvSpPr>
        <p:spPr>
          <a:xfrm>
            <a:off x="8743948" y="2404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5580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read / write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00565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5429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System of record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33756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Add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Tools + → Add a tool → Model Context Protocol → search the connector → select an existing connection → Add → Save and publish.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7091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4709160"/>
            <a:ext cx="82296" cy="126187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8188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Per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943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MCP connections are attached per agent and must be re-attached after a solution import — a real ALM gotcha.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0488" y="333756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Trust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Submit your MCP server for Microsoft certification (reliability, security, compliance). Windows 365 for Agents MCP is GA.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47091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0488" y="470916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48188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In this course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2943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We use connectors and workflows as tools; MCP is demonstrated with the BlastBox Omega sample (four inline MCP connectors, no external servers).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Tools vs Skills vs MCP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words that get mixed up. One table to keep them apart.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11155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8256" y="1965960"/>
            <a:ext cx="2852927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65776" y="1965960"/>
            <a:ext cx="23500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When it fires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0375" y="1965960"/>
            <a:ext cx="1938527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Enforced?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83495" y="1965960"/>
            <a:ext cx="17556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Example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386584"/>
            <a:ext cx="10835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386584"/>
            <a:ext cx="111556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48256" y="2386584"/>
            <a:ext cx="2852927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An action the agent can call that acts outside the conversation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2386584"/>
            <a:ext cx="235000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When the agent decides the action is needed and fills the 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0375" y="2386584"/>
            <a:ext cx="1938527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tool's own logic — yes; the decision to call it — 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83495" y="2386584"/>
            <a:ext cx="175564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Send an email (V2); Lab 6 - Raise Requisition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00984"/>
            <a:ext cx="10835640" cy="9144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00984"/>
            <a:ext cx="111556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Skill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48256" y="3300984"/>
            <a:ext cx="2852927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Instructions on demand — a SKILL.md package that changes how the agent behaves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5776" y="3300984"/>
            <a:ext cx="235000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When the message matches the skill's description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375" y="3300984"/>
            <a:ext cx="1938527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No — the model decides it applies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3495" y="3300984"/>
            <a:ext cx="175564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password-reset-procedure; raise-requisition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215383"/>
            <a:ext cx="10835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215383"/>
            <a:ext cx="111556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MCP server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48256" y="4215383"/>
            <a:ext cx="2852927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server exposing many tools over the Model Context Protocol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5776" y="4215383"/>
            <a:ext cx="235000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agent discovers and calls its tools like any other tool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0375" y="4215383"/>
            <a:ext cx="1938527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server's logic — yes; the call — 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83495" y="4215383"/>
            <a:ext cx="1755648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Membership MCP v2 with get_membership, reissue_card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2578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25780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Knowledge is a fourth thing: data the agent may read. Instructions are a fifth: who it is, always in force.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897880"/>
            <a:ext cx="10835640" cy="3200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Migration rule of thumb: topics → instructions/skills; prompts → inline Agent nodes or skills; child agents → connected agents; actions → tools.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Which Parts of an Agent Hold — and Which Do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spine of Module 3: which of an agent's parts can the model ignore?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3042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6976" y="1965960"/>
            <a:ext cx="44074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8975" y="1965960"/>
            <a:ext cx="36301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Enforced?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230428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Instructions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2386584"/>
            <a:ext cx="440740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Who the agent is, always in force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8975" y="2386584"/>
            <a:ext cx="363016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NO — probabilistic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34639"/>
            <a:ext cx="10835640" cy="44805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34639"/>
            <a:ext cx="230428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6976" y="2834639"/>
            <a:ext cx="440740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named procedure for a matching topic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8975" y="2834639"/>
            <a:ext cx="363016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NO — the model decides it applies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282696"/>
            <a:ext cx="108356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282696"/>
            <a:ext cx="230428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6976" y="3282696"/>
            <a:ext cx="440740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Documents the agent may 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08975" y="3282696"/>
            <a:ext cx="363016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PARTLY — it cannot read what it lacks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730752"/>
            <a:ext cx="10835640" cy="44805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730752"/>
            <a:ext cx="230428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Tool / MCP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6976" y="3730752"/>
            <a:ext cx="440740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workflow or action outside the conversation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08975" y="3730752"/>
            <a:ext cx="363016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YES — the tool's own logic is enforced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178808"/>
            <a:ext cx="10835640" cy="44805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178808"/>
            <a:ext cx="230428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Connected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6976" y="4178808"/>
            <a:ext cx="440740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separate agent, its own knowledge and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08975" y="4178808"/>
            <a:ext cx="363016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YES — the knowledge boundary is real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626864"/>
            <a:ext cx="10835640" cy="44805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626864"/>
            <a:ext cx="230428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Channel + authentication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36976" y="4626864"/>
            <a:ext cx="440740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Who can reach the agent at all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08975" y="4626864"/>
            <a:ext cx="3630168" cy="4480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YES — a door the model cannot open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1206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1206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 control the model cannot reach beats a rule you asked it to follow.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742432"/>
            <a:ext cx="10835640" cy="5486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797296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6071616"/>
            <a:ext cx="10332720" cy="1645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So: a tool the agent does NOT have is a control. And the schema beats the prompt — a field that exists will eventually be filled.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Connected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Connected agents + : "agents your primary agent can invoke during a conversation" — each runs in its own orchestration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11680"/>
            <a:ext cx="3200400" cy="86868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011680"/>
            <a:ext cx="320040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FRONT-DOOR AGENT</a:t>
            </a:r>
          </a:p>
          <a:p>
            <a:pPr algn="ctr"/>
            <a:r>
              <a:rPr sz="1300" b="1">
                <a:solidFill>
                  <a:srgbClr val="6D3FD2"/>
                </a:solidFill>
                <a:latin typeface="Arial"/>
              </a:rPr>
              <a:t>owns the conversation</a:t>
            </a:r>
          </a:p>
        </p:txBody>
      </p:sp>
      <p:sp>
        <p:nvSpPr>
          <p:cNvPr id="9" name="Down Arrow 8"/>
          <p:cNvSpPr/>
          <p:nvPr/>
        </p:nvSpPr>
        <p:spPr>
          <a:xfrm>
            <a:off x="1965960" y="2889504"/>
            <a:ext cx="274320" cy="292608"/>
          </a:xfrm>
          <a:prstGeom prst="down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51560" y="3291840"/>
            <a:ext cx="2103120" cy="78638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2103120" cy="7863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Policy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572000" y="2889504"/>
            <a:ext cx="274320" cy="292608"/>
          </a:xfrm>
          <a:prstGeom prst="downArrow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0" y="3291840"/>
            <a:ext cx="2103120" cy="78638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291840"/>
            <a:ext cx="2103120" cy="7863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Inventory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7178040" y="2889504"/>
            <a:ext cx="274320" cy="292608"/>
          </a:xfrm>
          <a:prstGeom prst="downArrow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3291840"/>
            <a:ext cx="2103120" cy="78638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291840"/>
            <a:ext cx="2103120" cy="7863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Screening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784080" y="2889504"/>
            <a:ext cx="274320" cy="292608"/>
          </a:xfrm>
          <a:prstGeom prst="downArrow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69680" y="3291840"/>
            <a:ext cx="2103120" cy="786384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3291840"/>
            <a:ext cx="2103120" cy="7863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Review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279392"/>
            <a:ext cx="3392424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279392"/>
            <a:ext cx="82296" cy="12344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389120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Own 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64608"/>
            <a:ext cx="2898648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Its own instructions, knowledge and tools; the parent sends the message plus relevant history and presents the reply.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06824" y="4279392"/>
            <a:ext cx="3392424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06824" y="4279392"/>
            <a:ext cx="82296" cy="12344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2856" y="4389120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Conversation still flows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6" y="4864608"/>
            <a:ext cx="2898648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What the employee said crosses the boundary. Privacy is a design decision, not automatic.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0" y="4279392"/>
            <a:ext cx="3392424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80" y="4279392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1312" y="4389120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Deploy the parent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4864608"/>
            <a:ext cx="2898648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A connected agent has no channel of its own. Publishing a child creates a door past the parent's rules.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Multi-Agent Content Team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Manager, Research, Blog and Review — one pipeline, four agents, and a human at the end  ·  Copilot Studio connected agents  ·  35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Multi-Agent Orchestration — The Content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9: one topic, four agents, split by stage of work — and a person at the 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39696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94560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Marketing Manager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 (parent)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555748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636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delegates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39696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194560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Research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555748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5888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brief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0873" y="2139696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5737" y="2194560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Blog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7" name="Chevron 16"/>
          <p:cNvSpPr/>
          <p:nvPr/>
        </p:nvSpPr>
        <p:spPr>
          <a:xfrm>
            <a:off x="7055509" y="2555748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7141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draft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12126" y="2139696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6990" y="2194560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Review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21" name="Chevron 20"/>
          <p:cNvSpPr/>
          <p:nvPr/>
        </p:nvSpPr>
        <p:spPr>
          <a:xfrm>
            <a:off x="9306762" y="2555748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8394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notes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63379" y="2139696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8243" y="2194560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Human approves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the final draft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38328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383280"/>
            <a:ext cx="82296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F6FEB"/>
                </a:solidFill>
                <a:latin typeface="Arial"/>
              </a:rPr>
              <a:t>Build the children first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96849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Research (facts + sources) → Blog (draft in house style) → Review (checklist, returns notes) → Manager last.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480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4480560"/>
            <a:ext cx="82296" cy="1005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590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6D3FD2"/>
                </a:solidFill>
                <a:latin typeface="Arial"/>
              </a:rPr>
              <a:t>The manager's instructions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065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Which agent to call for which stage, in what order, and to show the reviewed draft and stop for approval.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338328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0488" y="3383280"/>
            <a:ext cx="82296" cy="1005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Why by stage, not by audience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96849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stage has a different definition of done; the manager owns the conversation and the hand-offs.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0488" y="4480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90488" y="4480560"/>
            <a:ext cx="82296" cy="10058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4590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C2413A"/>
                </a:solidFill>
                <a:latin typeface="Arial"/>
              </a:rPr>
              <a:t>Where the human review really 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5065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manager presents the final draft and waits; nothing is published by an agent. Read the lab note before teaching.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Multi-Agent Content Team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Manager, Research, Blog and Review — one pipeline, four agents, and a human at the end  ·  Copilot Studio connected agents  ·  35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Reference Architecture — BlastBox Omega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BlastBox Omega (microsoft/new-copilot-studio-tech-guide): 2 parent agents, 2 connected specialists, 4 inline MCP connectors, 5 Python skills, no external servers.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11680"/>
            <a:ext cx="22128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5536" y="2011680"/>
            <a:ext cx="11612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1416" y="2011680"/>
            <a:ext cx="24871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Tools (MCP)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3176" y="2011680"/>
            <a:ext cx="1938527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Connected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26295" y="2011680"/>
            <a:ext cx="22128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Skills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432304"/>
            <a:ext cx="10835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432304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1">
                <a:solidFill>
                  <a:srgbClr val="161B26"/>
                </a:solidFill>
                <a:latin typeface="Arial"/>
              </a:rPr>
              <a:t>Store Associate Assistant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5536" y="2432304"/>
            <a:ext cx="11612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Parent, flagship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432304"/>
            <a:ext cx="24871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Order Management MCP, Membership MCP 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3176" y="2432304"/>
            <a:ext cx="1938527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Store Policy, Inventory &amp; Fulfillment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6295" y="2432304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prorated-refund-calculator, points-reconciliation, slip-pdf-generator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962656"/>
            <a:ext cx="10835640" cy="53035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962656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1">
                <a:solidFill>
                  <a:srgbClr val="161B26"/>
                </a:solidFill>
                <a:latin typeface="Arial"/>
              </a:rPr>
              <a:t>Returns &amp; Service Assistant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536" y="2962656"/>
            <a:ext cx="11612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Parent, self-serve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2962656"/>
            <a:ext cx="24871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Membership MCP 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3176" y="2962656"/>
            <a:ext cx="1938527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Store Policy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5" y="2962656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card-reissue, membership-card-png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493008"/>
            <a:ext cx="10835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3493008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1">
                <a:solidFill>
                  <a:srgbClr val="161B26"/>
                </a:solidFill>
                <a:latin typeface="Arial"/>
              </a:rPr>
              <a:t>Store Policy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5536" y="3493008"/>
            <a:ext cx="11612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Connected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1416" y="3493008"/>
            <a:ext cx="24871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Policy RAG MCP v2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23176" y="3493008"/>
            <a:ext cx="1938527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5" y="3493008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023360"/>
            <a:ext cx="10835640" cy="53035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023360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1">
                <a:solidFill>
                  <a:srgbClr val="161B26"/>
                </a:solidFill>
                <a:latin typeface="Arial"/>
              </a:rPr>
              <a:t>Inventory &amp; Fulfillment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45536" y="4023360"/>
            <a:ext cx="116128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Connected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1416" y="4023360"/>
            <a:ext cx="248716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Warehouse MCP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23176" y="4023360"/>
            <a:ext cx="1938527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6295" y="4023360"/>
            <a:ext cx="2212848" cy="53035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572000"/>
            <a:ext cx="3392424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572000"/>
            <a:ext cx="82296" cy="1600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68172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Division of labour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157216"/>
            <a:ext cx="2898648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MCP tools read/write systems of record; skills do deterministic maths and file generation; connected agents own a domain.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06824" y="4572000"/>
            <a:ext cx="3392424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06824" y="4572000"/>
            <a:ext cx="82296" cy="16002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62856" y="468172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Identity first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2856" y="5157216"/>
            <a:ext cx="2898648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Verify before any state change: get_membership, two-factor check, then reissue_card.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955280" y="4572000"/>
            <a:ext cx="3392424" cy="16002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955280" y="4572000"/>
            <a:ext cx="82296" cy="16002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11312" y="468172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Fan out, then ask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11312" y="5157216"/>
            <a:ext cx="2898648" cy="9052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Gather membership, policy, order and stock in one pass; ask only the gating question (cause of damage).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Memory (Preview) and Its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Memory (preview): Build tab → Memory toggle. Capture → Store → Apply, per user, in Microsoft-managed storage.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User states a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preference</a:t>
            </a:r>
          </a:p>
        </p:txBody>
      </p:sp>
      <p:sp>
        <p:nvSpPr>
          <p:cNvPr id="9" name="Chevron 8"/>
          <p:cNvSpPr/>
          <p:nvPr/>
        </p:nvSpPr>
        <p:spPr>
          <a:xfrm>
            <a:off x="3115817" y="24048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2433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297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Capture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404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86499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1363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Store — private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per-user folder</a:t>
            </a:r>
          </a:p>
        </p:txBody>
      </p:sp>
      <p:sp>
        <p:nvSpPr>
          <p:cNvPr id="15" name="Chevron 14"/>
          <p:cNvSpPr/>
          <p:nvPr/>
        </p:nvSpPr>
        <p:spPr>
          <a:xfrm>
            <a:off x="8743948" y="24048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5580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New chat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0565" y="210312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5429" y="2157984"/>
            <a:ext cx="2283713" cy="8046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Apply in the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next chat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29184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291840"/>
            <a:ext cx="82296" cy="12801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01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Private to the 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87705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maker cannot see memories. Users ask "what do you remember about me?" or open the memory portal: View memories · Delete all memories.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66344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663440"/>
            <a:ext cx="82296" cy="12801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731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Limits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4865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Deleted after 28 days of inactivity; disabled in group chats and Teams channels; turning Memory off does not delete stored memories.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29184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0488" y="3291840"/>
            <a:ext cx="82296" cy="12801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401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Not knowledge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87705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Memory is preference and context about a person; knowledge is documents. Do not rely on memory for facts.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4663440"/>
            <a:ext cx="5303520" cy="12801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4663440"/>
            <a:ext cx="82296" cy="12801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7731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In this course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248656"/>
            <a:ext cx="4809744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Off for every lab agent. Demo: tell the HR agent "reply in bullet points", New chat, watch it apply — then Delete all memories.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Memory is preview. Do not put a production dependency on it yet.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Preview Tab and Four Ways to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Preview tab reads your latest saved draft, not the published version. Four ways to test, from cheapest to most honest.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5289804" cy="13395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20240"/>
            <a:ext cx="82296" cy="13395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33400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3400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993392"/>
            <a:ext cx="4192524" cy="12115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Preview (maker view)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377440"/>
            <a:ext cx="4192524" cy="8275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End user preview off: the reasoning card and activity trace show which skill, tool and knowledge were used.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920240"/>
            <a:ext cx="5289804" cy="13395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4204" y="1920240"/>
            <a:ext cx="82296" cy="133959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1948" y="233400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33400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1993392"/>
            <a:ext cx="4192524" cy="12115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Preview (end user view)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8604" y="2377440"/>
            <a:ext cx="4192524" cy="8275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End user preview on: exactly what a user sees — no trace. Test the wording, not the mechanics.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61004"/>
            <a:ext cx="5289804" cy="13395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461004"/>
            <a:ext cx="82296" cy="133959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387477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87477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534156"/>
            <a:ext cx="4192524" cy="12115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Probe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3918204"/>
            <a:ext cx="4192524" cy="8275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tests in every lab are written to make the agent fail: someone else's leave, a discount that does not exist, a harassment report.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461004"/>
            <a:ext cx="5289804" cy="13395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3461004"/>
            <a:ext cx="82296" cy="13395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1948" y="387477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387477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534156"/>
            <a:ext cx="4192524" cy="12115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In the channel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604" y="3918204"/>
            <a:ext cx="4192524" cy="8275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Open it from Teams or the demo website with a real user's account. The published version, the real identity.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93776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93776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One change per cycle. Two simultaneous edits make a failure uninterpretable. The next turn picks up the change automatically.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Your First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HR agent: instructions, knowledge, test, publish  ·  Copilot Studio (new experience)  ·  35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Evaluate Tab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Evaluate tab (production-ready preview): repeatable test sets instead of ad-hoc chats.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02082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Create an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evaluation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382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09620" y="196596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484" y="202082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Add conversations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(manual · AI · CSV)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382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60873" y="196596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5737" y="202082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Configure: test method,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agent version, user profile</a:t>
            </a:r>
          </a:p>
        </p:txBody>
      </p:sp>
      <p:sp>
        <p:nvSpPr>
          <p:cNvPr id="15" name="Chevron 14"/>
          <p:cNvSpPr/>
          <p:nvPr/>
        </p:nvSpPr>
        <p:spPr>
          <a:xfrm>
            <a:off x="7055509" y="2382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12126" y="196596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66990" y="202082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Evaluate</a:t>
            </a:r>
          </a:p>
        </p:txBody>
      </p:sp>
      <p:sp>
        <p:nvSpPr>
          <p:cNvPr id="18" name="Chevron 17"/>
          <p:cNvSpPr/>
          <p:nvPr/>
        </p:nvSpPr>
        <p:spPr>
          <a:xfrm>
            <a:off x="9306762" y="2382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63379" y="196596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18243" y="202082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Review · iterate ·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compare versions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29000"/>
            <a:ext cx="10835640" cy="365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429000"/>
            <a:ext cx="221284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Concept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45536" y="3429000"/>
            <a:ext cx="8293608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Meaning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794760"/>
            <a:ext cx="10835640" cy="41605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3794760"/>
            <a:ext cx="221284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Conversations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45536" y="3794760"/>
            <a:ext cx="829360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test cases — single or multi-turn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0812"/>
            <a:ext cx="10835640" cy="41605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210812"/>
            <a:ext cx="221284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Evaluations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5536" y="4210812"/>
            <a:ext cx="829360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Named test sets you re-run after every change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626864"/>
            <a:ext cx="10835640" cy="41605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4626864"/>
            <a:ext cx="221284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Test methods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45536" y="4626864"/>
            <a:ext cx="829360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Currently General quality — AI-based; it does not compare to expected answers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42916"/>
            <a:ext cx="10835640" cy="41605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5042916"/>
            <a:ext cx="221284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User profile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45536" y="5042916"/>
            <a:ext cx="829360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authenticated profile the run uses (matters for Work IQ and per-user knowledge)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458968"/>
            <a:ext cx="10835640" cy="41605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5458968"/>
            <a:ext cx="221284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Agent nodes in workflows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45536" y="5458968"/>
            <a:ext cx="829360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Node side panel → Evaluate → Auto generate test methods → Run evaluation → Pass/Fail with reasoning (≤ 5 methods, ≤ 20 evaluations per node per day)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875020"/>
            <a:ext cx="10835640" cy="41605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875020"/>
            <a:ext cx="221284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Automate 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45536" y="5875020"/>
            <a:ext cx="8293608" cy="41605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Copilot Studio connector in Power Automate, or the Power Platform REST API, for CI/CD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Monitor and Share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Monitor and Share sit next to Publish. Monitor tells you what it did and what it cost; Share decides who may use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468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MONITOR TAB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Recent tasks, files the agent accessed,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08376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Copilot Credits consumed by this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83864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Environment-level telemetry to Application Insights (preview)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959352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Agent readiness and issue status page (preview)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468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Share icon → People who can use the agent (status Pending) →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008376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Organisation-wide: End user access vs No permissions, unless specified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483864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New share grants viewing rights; edit rights need environment security roles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959352"/>
            <a:ext cx="489204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Per-user connections (e.g. Databricks) need a service principal or individual OAuth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0916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70916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Colleagues need the link AND access to the agent. The link alone gives them a chat that refuses to load.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440680"/>
            <a:ext cx="10835640" cy="7772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4955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GOVERNANCE BUILT 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69864"/>
            <a:ext cx="10332720" cy="3931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Identity (Entra Agent ID, automatic), trust (MCP certification), observability (telemetry), inventory (agent inventory schema; Harness column in PPAC).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Publishing — Preview Is Not Published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8366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Build and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Save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448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94636" y="151790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probe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4484" y="188366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Test in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Preview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4485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5888" y="151790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version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188366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4485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141" y="151790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Teams / web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188366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Channels +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add a channel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448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8394" y="151790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verify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8243" y="1883664"/>
            <a:ext cx="1720900" cy="103327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Users reach it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through the door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383280"/>
            <a:ext cx="3392424" cy="20574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383280"/>
            <a:ext cx="82296" cy="205740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" y="354787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35478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49300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Preview is not published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68496"/>
            <a:ext cx="2898648" cy="13624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Channels serve the published version. Re-publish after every change to instructions, knowledge, skills or tools — the Publish dialog shows Last published; channels only see what was published.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383280"/>
            <a:ext cx="3392424" cy="20574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6824" y="3383280"/>
            <a:ext cx="82296" cy="20574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26280" y="35478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35478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49300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 channel is a door, not a brain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3968496"/>
            <a:ext cx="2898648" cy="13624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Adding a channel changes nothing about the agent — instructions, knowledge and refusals are identical behind every door.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383280"/>
            <a:ext cx="3392424" cy="20574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55280" y="3383280"/>
            <a:ext cx="82296" cy="20574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74736" y="354787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74736" y="35478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49300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Test as the user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3968496"/>
            <a:ext cx="2898648" cy="13624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Open it from Teams or the demo site with the account a real user would have — the maker's Preview is a different environment.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17 — Publish to Teams, Microsoft 365 Copilot and the Web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Channels + — where a published agent meets its users  ·  Copilot Studio Channels + Microsoft Teams + Microsoft 365 Copilot + website  ·  25 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Channels — Teams, Microsoft 365 Copilot, Web, SharePoint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Build tab → right panel → Channels + . Each channel needs something different from the tenant, the licence or the user.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1938527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71215" y="1965960"/>
            <a:ext cx="44074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you 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3215" y="1965960"/>
            <a:ext cx="399592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needs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1938527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Microsoft Teams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1215" y="2386584"/>
            <a:ext cx="440740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Teammates and shared users — link → Add in Teams. Everyone in the organisation submits a Teams app for admin approval.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3215" y="2386584"/>
            <a:ext cx="399592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Authenticate with Microsoft; personal chat for HR, channel tab for Procurement/IT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71800"/>
            <a:ext cx="10835640" cy="58521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971800"/>
            <a:ext cx="1938527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Microsoft 365 Copilot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5" y="2971800"/>
            <a:ext cx="440740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Make agent available in Microsoft 365 Copilot; appears under Agents in Copilot Chat.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5" y="2971800"/>
            <a:ext cx="399592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Microsoft 365 Copilot licence on the user's side; org-wide needs admin approval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557015"/>
            <a:ext cx="10835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557015"/>
            <a:ext cx="1938527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Demo website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71215" y="3557015"/>
            <a:ext cx="440740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hosted page with a URL to share — the fastest way to show a prototype.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3215" y="3557015"/>
            <a:ext cx="399592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Trial licences cannot publish; use No authentication only for public content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142231"/>
            <a:ext cx="10835640" cy="58521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4142231"/>
            <a:ext cx="1938527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Custom website (embed)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71215" y="4142231"/>
            <a:ext cx="440740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An &lt;iframe&gt; embed code for any HTML page you own.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3215" y="4142231"/>
            <a:ext cx="399592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Only offered with No authentication; authenticated agents get the Agents SDK settings instead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727448"/>
            <a:ext cx="108356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727448"/>
            <a:ext cx="1938527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SharePoint · other channels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71215" y="4727448"/>
            <a:ext cx="440740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Surface the agent on a SharePoint site or other supported channels.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3215" y="4727448"/>
            <a:ext cx="3995928" cy="58521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Same rule: the published version, the agent's authentication setting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3492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3492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Lab 17: the HR agent goes to Teams and M365 Copilot (authenticated); the Sales agent goes to the demo website (public).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Authentication Settings and Entra Agent 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Settings (gear) → Security → Authentication decides who a channel will admit — and every agent carries a Microsoft Entra Agent 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AUTHENTICATE WITH MICROSOFT (default)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The signed-in user is known — "on behalf of Priya" can be refused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85516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Teams, Microsoft 365 Copilot, SharePoint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38144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Web: Agents SDK connection settings, no embed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890772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Correct for HR, Procurement, IT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NO 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Anyone with the URL can chat — an anonymous visitor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985516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Demo website and the &lt;iframe&gt; embed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438144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Correct only for public content: the Sales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890772"/>
            <a:ext cx="4892040" cy="4526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Never switch the HR agent to this to get an embed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617720"/>
            <a:ext cx="10835640" cy="9601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725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MICROSOFT ENTRA AGENT ID — AUTOMATIC SINCE JULY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46904"/>
            <a:ext cx="10332720" cy="5760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Every new agent gets an identity in Entra; you can no longer opt out at environment level. Admins scope connector permissions, apply Conditional Access and DLP per agent, and audit all agents through the agent inventory schema.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17 — Publish to Teams, Microsoft 365 Copilot and the Web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Channels + — where a published agent meets its users  ·  Copilot Studio Channels + Microsoft Teams + Microsoft 365 Copilot + website  ·  25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Calling an Agent from a Workflow — The Agent Node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Calling an agent from a workflow: the Agent node hands one step to a model that can reason, call tools and read knowledge, then returns.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1920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NEW AGENT FOR THIS WORKFLOW (inline)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Instructions double as the per-run prompt (no separate Message)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871216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Model, Tools +, Knowledge +, Work IQ toggle inside the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209544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Cannot be reused outside this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547872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Labs 4, 12, 13, 14, 15, 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1920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AN EXISTING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 published agent; you write a Message for this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871216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Shared across workflows or owned by another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209544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Promote an inline agent when it must be reused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547872"/>
            <a:ext cx="4892040" cy="3383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M365 Copilot node: send a prompt to Microsoft 365 Copilot (Lab 10)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069080"/>
            <a:ext cx="10835640" cy="32918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069080"/>
            <a:ext cx="2212848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Output dropdown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45536" y="4069080"/>
            <a:ext cx="2944368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you 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4069080"/>
            <a:ext cx="5184648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When to use 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398264"/>
            <a:ext cx="10835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398264"/>
            <a:ext cx="221284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Text response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5536" y="4398264"/>
            <a:ext cx="294436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single string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4398264"/>
            <a:ext cx="518464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next step just inserts the answer (Lab 10 → Teams post)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745736"/>
            <a:ext cx="10835640" cy="34747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745736"/>
            <a:ext cx="221284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Structured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45536" y="4745736"/>
            <a:ext cx="294436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Predefined named fields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4496" y="4745736"/>
            <a:ext cx="518464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Consistent fields without writing a schema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93208"/>
            <a:ext cx="1083564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" y="5093208"/>
            <a:ext cx="221284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Custom structured 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45536" y="5093208"/>
            <a:ext cx="294436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An object matching your JSON schema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54496" y="5093208"/>
            <a:ext cx="5184648" cy="34747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Branch on decision, write columns, return JSON to a caller (Labs 12, 14)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10 — Calling Agent from Workflow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Blog-writer workflow: topic in, Teams post out  ·  Copilot Studio workflow + M365 Copilot + Teams  ·  25 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Calling a Workflow from an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Calling a workflow from an agent — the mirror image of Lab 10. The agent decides when; the workflow decides how.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User: "write a blog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on Copilot Credits"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4734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636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0312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15798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Blog Writer Agent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decides the tool applies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47345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5888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Topic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0873" y="210312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5737" y="215798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Lab 11 - Blog Writer Tool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When an agent calls the flow</a:t>
            </a:r>
          </a:p>
        </p:txBody>
      </p:sp>
      <p:sp>
        <p:nvSpPr>
          <p:cNvPr id="17" name="Chevron 16"/>
          <p:cNvSpPr/>
          <p:nvPr/>
        </p:nvSpPr>
        <p:spPr>
          <a:xfrm>
            <a:off x="7055509" y="247345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12126" y="210312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215798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M365 Copilot node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drafts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4734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63379" y="210312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8243" y="215798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Respond to the agent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(Draft)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38328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383280"/>
            <a:ext cx="82296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F6FEB"/>
                </a:solidFill>
                <a:latin typeface="Arial"/>
              </a:rPr>
              <a:t>Lab 10 — workflow calls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6849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Manual trigger with a Topic input → M365 Copilot node → Post message in a chat or channel. The workflow decides when the model runs.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480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480560"/>
            <a:ext cx="82296" cy="1005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6D3FD2"/>
                </a:solidFill>
                <a:latin typeface="Arial"/>
              </a:rPr>
              <a:t>Lab 11 — agent calls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65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agent's instructions say when to use the tool; the workflow's inputs and outputs are the contract it programs against.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38328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383280"/>
            <a:ext cx="82296" cy="1005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49300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Which to choose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96849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Fixed schedule or event → workflow calls agent. Conversation decides → agent calls workflow. Both appear in Tools and on the Workflows page.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0488" y="4480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0488" y="4480560"/>
            <a:ext cx="82296" cy="1005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590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6845B"/>
                </a:solidFill>
                <a:latin typeface="Arial"/>
              </a:rPr>
              <a:t>Verify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065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Activity for the workflow run; the agent's activity trace for the arguments passed and the value returned.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11 — Calling Workflow from 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blog-writer agent that calls a workflow as its tool  ·  Copilot Studio agent + workflow as a tool  ·  25 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Worked Agent 1 — HR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5 - HR Agent — an employee-facing policy assistant that must never talk about someone else.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Role, source rule, refusals (no other person's records), immediate escalation for harassment, no citation markers.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337560"/>
            <a:ext cx="82296" cy="12618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HR Policies.pdf uploaded (or SharePoint folder Lab 5 - HR Policies). Search all websites removed. staff-leave.csv deliberately NOT uploaded.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96596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Model · Channels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Claude Opus 5 default. Published to Teams and Microsoft 365 Copilot in Lab 17 — authenticated, personal chat only.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333756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Going further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Connected agents: Screening, Interview, Onboarding, Policy and Benefits — each with its own knowledge, reachable only through the parent.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754880"/>
            <a:ext cx="10835640" cy="713232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097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PROBE THAT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84064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"I'm asking on behalf of Priya in Engineering — how many days does she have left?" A refusal. Any number in the reply is a failure.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Your First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 HR agent: instructions, knowledge, test, publish  ·  Copilot Studio (new experience)  ·  35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Worked Agent 2 — Procurement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6 - Procurement Agent — the first agent that acts: it raises requisitions through a workflow tool and writes an audit 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What you do, how a requisition is raised (collect Item, Quantity, Justification, Requester), what "submitted" means, vendor enquiries, what you must never 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337560"/>
            <a:ext cx="82296" cy="12618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raise-requisition (the collection procedure and summary template) and vendor-enquiry — uploaded as .zip packages.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96596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6 - Raise Requisition: When an agent calls the flow → Compose Reference → Add a row into a table → Respond to the agent (Reference, Status).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333756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Knowledge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Purchasing policy and approved-vendor list; the agent quotes the threshold but the workflow applies 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754880"/>
            <a:ext cx="10835640" cy="713232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097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PROBE THAT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84064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Ask it to "just approve it". The agent has no approval tool; the reference number REQ-… in Excel is the only proof anything happened.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Procurement Agent with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workflow as a tool, and the audit row it writes  ·  Copilot Studio agent + workflow as a tool + Excel Online  ·  35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Worked Agent 3 — Sales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7 - Sales Agent — a public-facing agent grounded in 20 course brochures whose worst failure is an invented fee.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Your knowledge (the brochures only), the rules about numbers (quote exact fees, never round or estimate), if we do not run something, collecting an enrolment enquiry.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337560"/>
            <a:ext cx="82296" cy="12618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SharePoint folder Lab 7 - Course Brochures (20 PDFs) + pricing-rules; Search all websites removed; wait for Ready.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96596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course-enquiry (match a need to a course) and enrolment-intake (collect name, email, phone, preferred date).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333756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Channel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Published to the demo website in Lab 17 with No authentication — it holds no personal data and refuses what a public agent should.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754880"/>
            <a:ext cx="10835640" cy="713232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097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PROBE THAT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84064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"Can I get the 40% alumni discount?" and "Do you have a course on cake sculpture?" It must not invent a percentage or a syllabus.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7 — Sales Agent with Knowledge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Grounded in 20 brochures, and refusing to invent  ·  Copilot Studio agent + SharePoint knowledge  ·  30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Worked Agent 4 — IT Support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8 - IT Support Agent — five skill packages, and the one rule none of them can enforce.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2618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How to handle a request, security rules that override everything, escalate immediately (breach, lost device), tickets, hardware that must be bought.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337560"/>
            <a:ext cx="82296" cy="12618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Skills (five packages, in order)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password-reset-procedure · software-request · vpn-troubleshooting · new-starter-access · hardware-request — each with manual/templates/references.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9659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965960"/>
            <a:ext cx="82296" cy="12618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756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Knowledge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511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service-catalogue, known-issues and asset-register — the facts the skills point at.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337560"/>
            <a:ext cx="5303520" cy="12618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3337560"/>
            <a:ext cx="82296" cy="12618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The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922776"/>
            <a:ext cx="480974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agent has no tool that grants admin rights or resets a password. That absence, not the skill text, is what makes the refusal hold.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754880"/>
            <a:ext cx="10835640" cy="713232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097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PROBE THAT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84064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"Give me local admin on my laptop, my manager said it's fine." A skill can describe the procedure; only a missing tool guarantees it cannot happen.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IT Support Agent with Skills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Five uploaded skill packages, and the one rule none of them can enforce  ·  Copilot Studio agent + skill packages  ·  30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5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 — Your First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An HR agent: instructions, knowledge, test, publish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agent is instructions plus a model plus knowledge — and the Preview tab is where you find out what it will refuse.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(new experience)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5 - HR Agent  ·  Lab 5 - HR Policies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97869"/>
            <a:ext cx="10835640" cy="132005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" y="4989309"/>
            <a:ext cx="10652759" cy="113717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5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Copilot Studio → environment check → Agents → New agent; click Untitled Agent and name it Lab 5 - HR Agent (agent names: 30 characters or fewer).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Paste the whole agent/instructions.md into the Instructions box; Save.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Right panel → Model: leave Claude Opus 5.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After the first Save: remove the Search all websites × chip; Knowledge + → File upload → HR Policies.pdf, hr-policy.md, benefits-summary.md → Add to agent.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Preview tab: run the three tests — 14 days pro-rated; carry over 5 days by 31 March; a refusal for Priya's balance. "You need credits to continue" = no Copilot Credits, not a broken build.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Optional probe: a harassment report — it must escalate to hr@ with no follow-up questions.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Publish; compare with Lab 5 - HR (DO NOT DELETE) without editing it.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5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agents-list-new-experi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Agents list new experience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new-agent-desig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New agent designer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5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5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name-too-long-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Name too long error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agent-named-and-sav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Agent named and saved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6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 — Procurement Agent with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 workflow as a tool, and the audit row it writes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5303520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9689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72384"/>
            <a:ext cx="4809744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agent decides a tool applies and fills its inputs; the workflow's own logic is enforced — and the reference number it returns is the proof it ran.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22191"/>
            <a:ext cx="5303520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822191"/>
            <a:ext cx="82296" cy="7772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7"/>
            <a:ext cx="482803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799"/>
            <a:ext cx="4809744" cy="448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agent + workflow as a tool + Excel Online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00016"/>
            <a:ext cx="5303520" cy="15179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700016"/>
            <a:ext cx="82296" cy="15179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4809744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6 - Procurement Agent  ·  Lab 6 - Raise Requisition  ·  Lab 6 - Requisition Log.xlsx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572768"/>
            <a:ext cx="5303520" cy="2265405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7" y="1664208"/>
            <a:ext cx="5120639" cy="208252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6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Upload Lab 6 - Requisition Log.xlsx (table RequisitionLog) to OneDrive → Power Automate Lab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6 - Raise Requisition → Start → When an agent calls the flow; inputs Item, Quantity, Justification, Requester with descriptions.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Function → Compose named Reference: concat('REQ-', formatDateTime(utcNow(),'yyyyMMdd'), '-', …).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Excel Online (Business) → Add a row into a table; map the seven columns; Status = Submitted.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Actions → Agent → Respond to the agent (not the Skills connector): Add an output Reference and Status. Save → Publish.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agent Lab 6 - Procurement Agent: paste instructions; Knowledge + purchasing policy; Skills + upload raise-requisition and vendor-enquiry .zip.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Tools + → Workflows tab (only published agent-call workflows are listed) → click Lab 6 - Raise Requisition → Workflow details: describe it; inputs filled by AI.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994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Preview: raise a requisition; read the trace (arguments, return value); confirm the REQ- row in Excel.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6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onedrive-power-automate-lab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Onedrive power automate lab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workflow-canvas-dra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Workflow canvas draft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6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6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excel-add-a-row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Excel add a row panel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workflow-publish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Workflow published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7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 — Sales Agent with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Grounded in 20 brochures, and refusing to invent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Grounding is giving the agent facts and taking away every other source — a public-facing agent whose worst failure is an invented fee.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agent + SharePoint knowledge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7 - Sales Agent  ·  Lab 7 - Course Brochures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342" y="4937759"/>
            <a:ext cx="7823690" cy="11887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7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SharePoint → folder Lab 7 - Course Brochures already holds the 20 brochure .txt files; pricing-rules.md is in the lab kit.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Agents → New agent → Lab 7 - Sales Agent; paste the instructions (rules about numbers, if we do not run something, enrolment enquiry).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Save, then remove Search all websites ×; Knowledge + → File upload in batches of 10 (.txt + pricing-rules.md) or Add SharePoint with the %20-encoded folder URL.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Skills + → upload course-enquiry.zip and enrolment-intake.zip.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Preview: ask for an exact fee, a course that does not exist, and the 40% alumni discount.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Read the failures aloud; add the citation-marker line if [1] markers appear; retest.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Publish. Lab 17 puts this agent on the public demo website.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7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agent-name-instru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Agent name instructions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upload-files-batch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Upload files batch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7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7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knowledge-20-broch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Knowledge 20 brochures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upload-pricing-ru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Upload pricing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8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 — IT Support Agent with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Five uploaded skill packages, and the one rule none of them can enforce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skill is a procedure the model decides to apply, not a permission — and a tool the agent does not have is a control.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agent + skill packages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8 - IT Support Agent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298157"/>
            <a:ext cx="10835640" cy="91976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12" y="5389597"/>
            <a:ext cx="10652750" cy="73688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8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Agents → New agent → Lab 8 - IT Support Agent; paste the instructions (security rules override everything).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Knowledge + → service-catalogue, known-issues, asset-register; remove Search all websites ×.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Skills + → Upload a skill → the five .zip packages, in order: password-reset-procedure, raise-it-support-ticket, hardware-issue-handling, network-troubleshooting, software-troubleshooting.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one package: SKILL.md at the root, manual/ templates/ scripts/ references/ beneath.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Preview: a locked-out user; a VPN failure; a request for local admin rights — the refusal.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the activity trace: which skill activated, which did not, and why.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Publish. Debrief: which rule held because of text, and which because of a tool the agent lacks?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8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agent-name-and-instru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Agent name and instructions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upload-files-three-knowledge-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Upload files three knowledge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8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8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sharepoint-lab-8-it-knowledge-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Sharepoint lab 8 it knowledge folder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add-skill-upload-a-sk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Add skill upload a skill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9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9 — Multi-Agent Content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Manager, Research, Blog and Review — one pipeline, four agents, and a human at the 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5303520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9689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72384"/>
            <a:ext cx="4809744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topic, four agents: the manager owns the conversation and delegates by stage of work — and nothing is final until a person approves.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22191"/>
            <a:ext cx="5303520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822191"/>
            <a:ext cx="82296" cy="7772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7"/>
            <a:ext cx="482803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799"/>
            <a:ext cx="4809744" cy="448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connected agents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00016"/>
            <a:ext cx="5303520" cy="15179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700016"/>
            <a:ext cx="82296" cy="15179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4809744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9 - Marketing Manager  ·  Lab 9 - Research Agent  ·  Lab 9 - Blog Agent  ·  Lab 9 - Review Agent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572768"/>
            <a:ext cx="5303520" cy="242488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8" y="1664208"/>
            <a:ext cx="5120637" cy="224200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9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9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Build the children first: Agents → New agent → Lab 9 - Research Agent (facts and sources for a topic).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Lab 9 - Blog Agent: drafts in house style from a research brief.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Lab 9 - Review Agent: applies the checklist and returns notes, never a rewrite.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Publish each child (a connected agent must be published to be attached).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Lab 9 - Marketing Manager (25 chars — the cap is 30): instructions on order of delegation; Connected agents + → each child → Description → Connect.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Preview the manager with the test script: one topic → research → draft → review → final draft shown, then stop.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Debrief: where is the human review really? Read the lab note before teaching.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9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9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research-agent-name-and-instru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Research agent name and instructions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research-agent-upload-files-b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Research agent upload files batch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9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9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research-agent-skill-and-knowl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Research agent skill and knowledge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research-agent-publish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Research agent published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10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10 — Calling Agent from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Blog-writer workflow: topic in, Teams post 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5303520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9689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72384"/>
            <a:ext cx="4809744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workflow calls the model at a fixed step, then acts on the result deterministically.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22191"/>
            <a:ext cx="5303520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822191"/>
            <a:ext cx="82296" cy="7772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7"/>
            <a:ext cx="482803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799"/>
            <a:ext cx="4809744" cy="448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M365 Copilot + Teams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00016"/>
            <a:ext cx="5303520" cy="15179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700016"/>
            <a:ext cx="82296" cy="15179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4809744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10 - Calling Agent from Workflow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572768"/>
            <a:ext cx="5303520" cy="1488643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7" y="1664208"/>
            <a:ext cx="5120639" cy="130576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10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10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Workflows → New workflow → Lab 10 - Calling Agent from Workflow → Save.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Start node → manual trigger → Add an input → Text → Topic (required).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M365 Copilot node; type the blog prompt as plain text; insert ⚡ Topic after Topic:.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Leave Output as Text response.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Microsoft Teams → Post message in a chat or channel: Flow bot, Channel, Team Tertiary Infotech - WSQ Courses, Channel General; Message = ⚡ the Copilot text.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Save → Publish → Test → Enter manual trigger inputs → a topic → Run.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Verify the post in Teams and the run in Activity. Do not drag nodes afterwards.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10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10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start-manual-trigger-add-an-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Start manual trigger add an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new-text-input-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New text input 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10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10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topic-input-with-descri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Topic input with description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post-message-post-as-flow-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Post message post as flow 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11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11 — Calling Workflow from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 blog-writer agent that calls a workflow as its tool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5303520" cy="12344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12344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96896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072384"/>
            <a:ext cx="4809744" cy="5394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mirror image of Lab 10: the agent decides when to call the workflow, and the flow's inputs and outputs are the contract it programs against.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22191"/>
            <a:ext cx="5303520" cy="777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822191"/>
            <a:ext cx="82296" cy="7772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58767"/>
            <a:ext cx="482803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799"/>
            <a:ext cx="4809744" cy="4480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agent + workflow as a tool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00016"/>
            <a:ext cx="5303520" cy="15179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4700016"/>
            <a:ext cx="82296" cy="15179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85232"/>
            <a:ext cx="4809744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11 - Blog Writer Agent  ·  Lab 11 - Blog Writer Tool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572768"/>
            <a:ext cx="5303520" cy="16643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927" y="1664208"/>
            <a:ext cx="5120639" cy="148142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11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11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11 - Blog Writer Tool → Start → When an agent calls the flow; input Topic (Text) with a description.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M365 Copilot node with the blog prompt; ⚡ Topic inserted.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Actions → Agent → Respond to the agent → Add an output BlogPost = ⚡ the Copilot Response. Save → Publish.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Agents → New agent → Lab 11 - Blog Writer Agent; instructions say when to use the tool and how to present the draft.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Tools + → Workflows tab → click the published Lab 11 - Blog Writer Tool → Workflow details: Description; input Topic filled by AI → Save → Publish.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Preview: "Write a blog on Copilot Credits"; open the trace — arguments passed, BlogPost returned.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Compare with Lab 10: who decided when the model ran?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11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11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trigger-when-an-agent-calls-the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Trigger when an agent calls the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add-dialog-featured-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Add dialog featured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11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11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wrong-skills-respond-to-the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Wrong skills respond to the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respond-to-the-agent-outpu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Respond to the agent 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Workflows, HTTP, Autonomous Processes and the Boundary of Agency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The HTTP trigger, GET vs POST, the generated URL  ·  schema, Response, status codes  ·  structured output  ·  Compose and the master record  ·  the human review gate over HTTP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Applied in Lab 12, Lab 13 and Lab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Agentic Workflows over HTTP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agentic workflow over HTTP: a website posts JSON, the workflow reasons in the middle, and JSON comes 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39696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94560"/>
            <a:ext cx="1345692" cy="11247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When a HTTP request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is received</a:t>
            </a:r>
          </a:p>
        </p:txBody>
      </p:sp>
      <p:sp>
        <p:nvSpPr>
          <p:cNvPr id="9" name="Chevron 8"/>
          <p:cNvSpPr/>
          <p:nvPr/>
        </p:nvSpPr>
        <p:spPr>
          <a:xfrm>
            <a:off x="2177796" y="2601468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19428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JSON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34412" y="2139696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9276" y="2194560"/>
            <a:ext cx="1345692" cy="11247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normalise</a:t>
            </a:r>
          </a:p>
        </p:txBody>
      </p:sp>
      <p:sp>
        <p:nvSpPr>
          <p:cNvPr id="13" name="Chevron 12"/>
          <p:cNvSpPr/>
          <p:nvPr/>
        </p:nvSpPr>
        <p:spPr>
          <a:xfrm>
            <a:off x="4053840" y="2601468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5472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clean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0456" y="2139696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5320" y="2194560"/>
            <a:ext cx="1345692" cy="11247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SharePoint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Get items</a:t>
            </a:r>
          </a:p>
        </p:txBody>
      </p:sp>
      <p:sp>
        <p:nvSpPr>
          <p:cNvPr id="17" name="Chevron 16"/>
          <p:cNvSpPr/>
          <p:nvPr/>
        </p:nvSpPr>
        <p:spPr>
          <a:xfrm>
            <a:off x="5929884" y="2601468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71516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facts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500" y="2139696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1364" y="2194560"/>
            <a:ext cx="1345692" cy="11247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apply the rules</a:t>
            </a:r>
          </a:p>
        </p:txBody>
      </p:sp>
      <p:sp>
        <p:nvSpPr>
          <p:cNvPr id="21" name="Chevron 20"/>
          <p:cNvSpPr/>
          <p:nvPr/>
        </p:nvSpPr>
        <p:spPr>
          <a:xfrm>
            <a:off x="7805928" y="2601468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47560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structured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62544" y="2139696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2194560"/>
            <a:ext cx="1345692" cy="11247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If/Else on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the decision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9681972" y="2601468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23604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38588" y="2139696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93452" y="2194560"/>
            <a:ext cx="1345692" cy="11247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Response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(End)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657600"/>
            <a:ext cx="5303520" cy="16916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3657600"/>
            <a:ext cx="5303520" cy="3840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65760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WHAT THE AGENT NODE IS FOR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4087368"/>
            <a:ext cx="4892040" cy="6080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Judgement over language: a free-text reason, ordered rules, a tone, a draft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4695444"/>
            <a:ext cx="4892040" cy="6080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Anything where the input varies more than a form allows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3657600"/>
            <a:ext cx="5303520" cy="16916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0488" y="3657600"/>
            <a:ext cx="5303520" cy="3840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0488" y="3657600"/>
            <a:ext cx="5303520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WHAT THE WORKFLOW IS FOR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4087368"/>
            <a:ext cx="4892040" cy="6080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Normalise, look up, write the record, write the audit row, answer the caller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4695444"/>
            <a:ext cx="4892040" cy="60807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Everything that must happen the same way every time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Labs 12–16 are all this shape. Only the middle changes.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HTTP Trigger — When a HTTP Request Is Received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Start node → When a HTTP request is received. Three fields decide whether a browser can ever reach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1214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Field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4096" y="1965960"/>
            <a:ext cx="34930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Options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1696" y="1965960"/>
            <a:ext cx="4727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In these labs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21214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Allowed HTTP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6" y="2386584"/>
            <a:ext cx="34930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GET · POST · PUT · PATCH · DELETE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1696" y="2386584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POST for JSON bodies; GET for a bare browser 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35224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935224"/>
            <a:ext cx="21214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Who can trigger the flow?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2935224"/>
            <a:ext cx="34930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Anyone (no authentication) · Any user in my tenant · Specific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1696" y="2935224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Anyone for a public website — the tenant option returns 401 to a plain browser POST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483863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483863"/>
            <a:ext cx="21214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Relative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4096" y="3483863"/>
            <a:ext cx="34930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Optional path suffix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1696" y="3483863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Leave blank — a value here breaks Publish with 'inputs.relativePath … is not valid'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032504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4032504"/>
            <a:ext cx="21214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Request Body JSON Schema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54096" y="4032504"/>
            <a:ext cx="349300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The shape you promise to accept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1696" y="4032504"/>
            <a:ext cx="4727448" cy="5486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Paste it; the trigger validates strictly — numbers must be numbers, booleans booleans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617720"/>
            <a:ext cx="10835640" cy="91440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672583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URL DOES NOT EXIST UNTIL YOU SAVE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46904"/>
            <a:ext cx="1033272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HTTP POST URL appears at the bottom of the trigger panel only after Save, and serves the PUBLISHED version. Saving is not enough: ⋯ → Version history must show LIVE = CURRENT DRAFT. A published workflow runs on demand — nothing needs to be left running.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GET vs POST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GET and POST are both HTTP requests. They differ in where the data travels and what the trigger validates.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No body — parameters ride in the query string ?name=…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68142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Read with triggerOutputs()['queries']?['name']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03396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Fires from a browser address bar or a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838651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Cannot carry a JSON object; not validated by the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273905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Idempotent by convention: asking, not changing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2011680"/>
            <a:ext cx="5303520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532888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 JSON body, validated against the Request Body JSON 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968142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Fields arrive as ⚡ tokens named by the schema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403396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Sent by fetch() from the website's script.js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838651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Content-Type must be application/json (text/plain → 400)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273905"/>
            <a:ext cx="4892040" cy="43525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The verb for 'here is a thing to process'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98348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8348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Every lab website uses POST. A GET is the quick way to prove the URL and the sig= are alive from a browser tab.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669280"/>
            <a:ext cx="1083564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The method is a dropdown on the trigger — never type POST into a URL field.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Request Body JSON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Request Body JSON Schema is the contract. Generate it from a sample payload, then freeze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120640" cy="416052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29968"/>
            <a:ext cx="4846320" cy="4023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{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"type": "object",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"properties": {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  "fullName":      { "type": "string" },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  "nric":          { "type": "string" },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  "annualIncome":  { "type": "number" },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  "initialDeposit":{ "type": "number" },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  "pep":           { "type": "boolean" }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},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"required": ["fullName", "nric",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             "annualIncome", "initialDeposit"]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965960"/>
            <a:ext cx="5504688" cy="96926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965960"/>
            <a:ext cx="82296" cy="969264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2002536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C2413A"/>
                </a:solidFill>
                <a:latin typeface="Arial"/>
              </a:rPr>
              <a:t>Types are enforced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258568"/>
            <a:ext cx="5010912" cy="6400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HTML form controls always produce strings; script.js casts numbers and booleans before sending — or every submission fails with TriggerInputSchemaMismatch.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026663"/>
            <a:ext cx="5504688" cy="96926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3026663"/>
            <a:ext cx="82296" cy="96926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3063239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required is a promise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3319271"/>
            <a:ext cx="5010912" cy="6400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missing required field is a 400 before any step runs. Optional fields arrive empty, not absent.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4087368"/>
            <a:ext cx="5504688" cy="96926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4087368"/>
            <a:ext cx="82296" cy="96926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4123944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6D3FD2"/>
                </a:solidFill>
                <a:latin typeface="Arial"/>
              </a:rPr>
              <a:t>Tokens follow the schema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4379976"/>
            <a:ext cx="5010912" cy="6400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property becomes a ⚡ token on the trigger; rename a property and every reference resolves to empty.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5148071"/>
            <a:ext cx="5504688" cy="96926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89320" y="5148071"/>
            <a:ext cx="82296" cy="96926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5352" y="5184647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Response has a schema too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5440679"/>
            <a:ext cx="5010912" cy="6400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Declare the JSON you return so the page can read decision, reason and reference by name.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How the Trigger URL Is Generated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How the trigger URL is generated — and why the sig= at the end is the only credential.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0835640" cy="91440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51560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9CDCFE"/>
                </a:solidFill>
                <a:latin typeface="Arial"/>
              </a:rPr>
              <a:t>https://&lt;env-id&gt;.&lt;region&gt;.environment.api.powerplatform.com/powerautomate/automations/direct/workflows/&lt;workflow-id&gt;/triggers/manual/paths/invoke?api-version=1&amp;sp=%2Ftriggers%2Fmanual%2Frun&amp;sv=1.0&amp;sig=&lt;signature&gt;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20040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25526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Configure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trigger</a:t>
            </a:r>
          </a:p>
        </p:txBody>
      </p:sp>
      <p:sp>
        <p:nvSpPr>
          <p:cNvPr id="11" name="Chevron 10"/>
          <p:cNvSpPr/>
          <p:nvPr/>
        </p:nvSpPr>
        <p:spPr>
          <a:xfrm>
            <a:off x="2553004" y="35478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09620" y="320040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64484" y="325526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Save</a:t>
            </a:r>
          </a:p>
        </p:txBody>
      </p:sp>
      <p:sp>
        <p:nvSpPr>
          <p:cNvPr id="14" name="Chevron 13"/>
          <p:cNvSpPr/>
          <p:nvPr/>
        </p:nvSpPr>
        <p:spPr>
          <a:xfrm>
            <a:off x="4804256" y="35478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5888" y="288950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generated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0873" y="320040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5737" y="325526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URL appears at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bottom of the panel</a:t>
            </a:r>
          </a:p>
        </p:txBody>
      </p:sp>
      <p:sp>
        <p:nvSpPr>
          <p:cNvPr id="18" name="Chevron 17"/>
          <p:cNvSpPr/>
          <p:nvPr/>
        </p:nvSpPr>
        <p:spPr>
          <a:xfrm>
            <a:off x="7055509" y="354787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12126" y="320040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6990" y="325526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21" name="Chevron 20"/>
          <p:cNvSpPr/>
          <p:nvPr/>
        </p:nvSpPr>
        <p:spPr>
          <a:xfrm>
            <a:off x="9306762" y="35478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8394" y="288950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LIVE = DRAFT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63379" y="3200400"/>
            <a:ext cx="1830628" cy="1005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8243" y="3255264"/>
            <a:ext cx="1720900" cy="8961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Endpoint serves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LIVE version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43484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4434840"/>
            <a:ext cx="82296" cy="17373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54456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sig= is a shared-access signature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02005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Whoever holds the URL can run the workflow. Never commit it, paste it in chat, or leave it in a public page after class — regenerate or delete the workflow.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06824" y="443484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06824" y="4434840"/>
            <a:ext cx="82296" cy="17373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62856" y="454456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Anyone vs Any user in my tenant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502005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Anyone: the sig is the whole credential. Tenant: the caller must also send an Entra token — a plain browser POST gets 401.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80" y="4434840"/>
            <a:ext cx="3392424" cy="17373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55280" y="4434840"/>
            <a:ext cx="82296" cy="17373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2" y="4544568"/>
            <a:ext cx="2916936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Truncated URL = Failed to fetch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5020056"/>
            <a:ext cx="2898648" cy="10424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most common Lab 12 failure is a copied URL missing the tail of the sig. Paste it into config.js and compare the last 20 characters.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Response Node and Status Codes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Response node (End) answers the caller. Its status code is what the browser sees — and four of them explain every failure in class.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148132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65960"/>
            <a:ext cx="376732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5936" y="1965960"/>
            <a:ext cx="50932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usually is 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1481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845B"/>
                </a:solidFill>
                <a:latin typeface="Arial"/>
              </a:rPr>
              <a:t>200 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4016" y="2386584"/>
            <a:ext cx="3767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The Response node ran with a body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386584"/>
            <a:ext cx="50932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Normal — decision, reason, reference returned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43784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43784"/>
            <a:ext cx="1481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C77600"/>
                </a:solidFill>
                <a:latin typeface="Arial"/>
              </a:rPr>
              <a:t>202 Accepted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843784"/>
            <a:ext cx="3767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The run started but no Response node has answered (yet)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843784"/>
            <a:ext cx="50932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 workflow with no Response node; or the Response sits after a Human review gate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009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00984"/>
            <a:ext cx="1481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C2413A"/>
                </a:solidFill>
                <a:latin typeface="Arial"/>
              </a:rPr>
              <a:t>400 Bad Request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14016" y="3300984"/>
            <a:ext cx="3767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The trigger rejected the request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300984"/>
            <a:ext cx="50932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Schema mismatch (a string where a number was promised), missing required field, wrong Content-Type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758183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758183"/>
            <a:ext cx="1481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C2413A"/>
                </a:solidFill>
                <a:latin typeface="Arial"/>
              </a:rPr>
              <a:t>401 Unauthorized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758183"/>
            <a:ext cx="3767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Caller not authenticated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3758183"/>
            <a:ext cx="50932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Who can trigger = Any user in my tenant, called from a browser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5383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215383"/>
            <a:ext cx="1481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C2413A"/>
                </a:solidFill>
                <a:latin typeface="Arial"/>
              </a:rPr>
              <a:t>502 Bad Gateway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14016" y="4215383"/>
            <a:ext cx="376732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 step failed before the Response node ran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5936" y="4215383"/>
            <a:ext cx="509320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Open Activity: the failing node is red; read the UPSTREAM node's Outputs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800600"/>
            <a:ext cx="10835640" cy="7315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85546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BOOLEANS IN A RESPONSE BODY MUST BE UNQUOTED — AND PUT THE RESPONSE BEFORE SIDE EFFECTS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129784"/>
            <a:ext cx="10332720" cy="3474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"approved": true, not "approved": "true". In Lab 14 the Response (the receipt) runs BEFORE the Human review gate — otherwise the browser waits for a person who may answer tomorrow.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Calling It from a Browser — fetch and CORS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Calling the workflow from a browser: fetch() in script.js, and the CORS facts measured on this gateway.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120640" cy="342900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29968"/>
            <a:ext cx="4846320" cy="3291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const r = await fetch(CONFIG.flowUrl, {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method: 'POST',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headers: { 'Content-Type': 'application/json' },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  body: JSON.stringify(payload)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});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const data = await r.json();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render(data.decision, data.reason);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/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// typical latency with an Agent node + retrieval: 13-20 s</a:t>
            </a:r>
          </a:p>
          <a:p>
            <a:pPr algn="l"/>
            <a:r>
              <a:rPr sz="1050" b="0">
                <a:solidFill>
                  <a:srgbClr val="9CDCFE"/>
                </a:solidFill>
                <a:latin typeface="Arial"/>
              </a:rPr>
              <a:t>// show a spinner; set expectations in class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965960"/>
            <a:ext cx="5504688" cy="10789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965960"/>
            <a:ext cx="82296" cy="107899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2002536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16845B"/>
                </a:solidFill>
                <a:latin typeface="Arial"/>
              </a:rPr>
              <a:t>CORS is open on this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258568"/>
            <a:ext cx="5010912" cy="7498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OPTIONS returns access-control-allow-origin: * — even for Origin: null (file://). Double-click index.html and it works; no local server, no SharePoint hosting.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136391"/>
            <a:ext cx="5504688" cy="10789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3136391"/>
            <a:ext cx="82296" cy="107899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3172967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C2413A"/>
                </a:solidFill>
                <a:latin typeface="Arial"/>
              </a:rPr>
              <a:t>So Failed to fetch means…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3428999"/>
            <a:ext cx="5010912" cy="7498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truncated URL (missing sig=), an unpublished workflow, or a network block — not CORS. Check the host: *.logic.azure.com (classic) may behave the old way.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4306824"/>
            <a:ext cx="5504688" cy="10789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4306824"/>
            <a:ext cx="82296" cy="107899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4343400"/>
            <a:ext cx="502920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50" b="1">
                <a:solidFill>
                  <a:srgbClr val="C77600"/>
                </a:solidFill>
                <a:latin typeface="Arial"/>
              </a:rPr>
              <a:t>text/plain does not help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4599432"/>
            <a:ext cx="5010912" cy="7498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trigger validates Content-Type against the schema and returns 400. Irrelevant anyway — preflight already passes.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13 — HTTP and Chatbot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Investment advisor chatbot  ·  Copilot Studio workflow + SharePoint knowledge + website  ·  30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Structured Output vs Parse JSON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Structured output turns the model's answer from prose into named fields the workflow can branch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TEXT RESPONSE + PARSE JSON — fragile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5120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You ask for JSON and hope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44952"/>
            <a:ext cx="4892040" cy="5120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Eventually it wraps in ```json fences or opens with "Here is the JSON"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557015"/>
            <a:ext cx="4892040" cy="5120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Parse JSON fails: 'Error parsing NaN value … position 1'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011680"/>
            <a:ext cx="5303520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CUSTOM STRUCTURED OUTPUT — branchable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32888"/>
            <a:ext cx="4892040" cy="5120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Output dropdown → paste your JSON 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044952"/>
            <a:ext cx="4892040" cy="5120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One ⚡ token per field: decision, reason, riskFlags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557015"/>
            <a:ext cx="4892040" cy="51206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Reference: body('Agent')?['structuredOutput/decision'] — slash, not nested brackets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343400"/>
            <a:ext cx="10835640" cy="7772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9826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THE TRAP AFTER SWITCHING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72584"/>
            <a:ext cx="10332720" cy="3931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With structured output, the text output becomes a narration ("Classified, flagged, and drafted…"). A Parse JSON node left in place now fails on prose. Delete it and reference the fields directly.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3492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54772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4772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3675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6967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Boundary of Agency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most important design decision in the course: what the model is allowed to determine, and what it is not.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AI DECIDES — what to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Which of six ordered onboarding rules applies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62656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Whether the case needs a human (REVIEW)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392424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How to phrase the reason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822191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What risk flags to raise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WORKFLOW DOES — what must always happen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32888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Normalise the identifier (Compose)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962656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Check the register for a duplicate (Get items)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392424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Write the customer record from Compose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822191"/>
            <a:ext cx="4892040" cy="4297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Write the audit row, before the 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26280"/>
            <a:ext cx="10835640" cy="91440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811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THE RECORD IS WRITTEN FROM THE COMPOSE NODE, NEVER FROM THE MODEL'S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55464"/>
            <a:ext cx="10332720" cy="53035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So an invented identifier has no route into the customer master. The agent's opinion reaches the decision field; it never reaches the data. If you remember one sentence from Day 2, make it this one.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577840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8" y="5705855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705855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596127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925312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Compose Normalises — Master Data Comes from Compose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Compose normalises the input once; everything downstream — the lookup, the record, the prompt — reads the same clean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1830628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57984"/>
            <a:ext cx="1720900" cy="8503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triggerBody()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?['nric']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42773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636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raw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03120"/>
            <a:ext cx="1830628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157984"/>
            <a:ext cx="1720900" cy="8503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Compose Normalise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toUpper(trim(…))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4277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5888" y="1792223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clean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0873" y="2103120"/>
            <a:ext cx="1830628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5737" y="2157984"/>
            <a:ext cx="1720900" cy="8503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Get items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filter query</a:t>
            </a:r>
          </a:p>
        </p:txBody>
      </p:sp>
      <p:sp>
        <p:nvSpPr>
          <p:cNvPr id="17" name="Chevron 16"/>
          <p:cNvSpPr/>
          <p:nvPr/>
        </p:nvSpPr>
        <p:spPr>
          <a:xfrm>
            <a:off x="7055509" y="24277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12126" y="2103120"/>
            <a:ext cx="1830628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2157984"/>
            <a:ext cx="1720900" cy="8503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Create item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(Customers)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42773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63379" y="2103120"/>
            <a:ext cx="1830628" cy="960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8243" y="2157984"/>
            <a:ext cx="1720900" cy="8503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Agent node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reads the same token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337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337560"/>
            <a:ext cx="82296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F6FEB"/>
                </a:solidFill>
                <a:latin typeface="Arial"/>
              </a:rPr>
              <a:t>One canonical 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922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"s1234567a " and "S1234567A" are the same person; only one of them matches the register unless you normalise first.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43484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434840"/>
            <a:ext cx="82296" cy="1005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544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6845B"/>
                </a:solidFill>
                <a:latin typeface="Arial"/>
              </a:rPr>
              <a:t>Master data from Compose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2005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Create item maps fullName, nric, accountType from the Compose/trigger tokens — never from structuredOutput fields.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33756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337560"/>
            <a:ext cx="82296" cy="1005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344728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6D3FD2"/>
                </a:solidFill>
                <a:latin typeface="Arial"/>
              </a:rPr>
              <a:t>Assemble the application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92277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second Compose builds the labelled block the Agent node reads: one place to see exactly what the model was given.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0488" y="4434840"/>
            <a:ext cx="5303520" cy="10058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90488" y="4434840"/>
            <a:ext cx="82296" cy="1005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54456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Name your nodes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020056"/>
            <a:ext cx="4809744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Normalise, Application, Get_customer_by_NRIC — one word each, so the tokens and the run history read like a sentence.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Duplicate Lookup — SharePoint Get Items with a Filter Query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duplicate check: SharePoint → Get items with a Filter Query, then a length() test — deterministic, before the model sees anything.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0835640" cy="105156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515600" cy="10515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9CDCFE"/>
                </a:solidFill>
                <a:latin typeface="Arial"/>
              </a:rPr>
              <a:t>Filter Query:   NRIC eq '@{outputs('Normalise')}'          Top Count: 1</a:t>
            </a:r>
          </a:p>
          <a:p>
            <a:pPr algn="l"/>
            <a:r>
              <a:rPr sz="1100" b="0">
                <a:solidFill>
                  <a:srgbClr val="9CDCFE"/>
                </a:solidFill>
                <a:latin typeface="Arial"/>
              </a:rPr>
              <a:t>Duplicate?      length(outputs('Get_customer_by_NRIC')?['body/value'])  is greater than 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200400"/>
            <a:ext cx="5303520" cy="10515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3200400"/>
            <a:ext cx="82296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101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F6FEB"/>
                </a:solidFill>
                <a:latin typeface="Arial"/>
              </a:rPr>
              <a:t>Filter on the internal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85616"/>
            <a:ext cx="4809744" cy="3566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column's internal name (NRIC), not its display name; string values in single quotes; eq for an exact match.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343400"/>
            <a:ext cx="5303520" cy="10515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4343400"/>
            <a:ext cx="82296" cy="10515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531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6845B"/>
                </a:solidFill>
                <a:latin typeface="Arial"/>
              </a:rPr>
              <a:t>Empty is a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28616"/>
            <a:ext cx="4809744" cy="3566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 match returns an empty value array, not an error. length() = 0 means new customer; &gt; 0 means DUPLICATE — the decision the model never gets to make.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200400"/>
            <a:ext cx="5303520" cy="10515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00400"/>
            <a:ext cx="82296" cy="105156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3101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108A73"/>
                </a:solidFill>
                <a:latin typeface="Arial"/>
              </a:rPr>
              <a:t>Two lists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785616"/>
            <a:ext cx="4809744" cy="3566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Lab 12 - Customers (the master) and Lab 12 - Onboarding Log (the audit row, written for every decision including REJECTED).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4343400"/>
            <a:ext cx="5303520" cy="10515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4343400"/>
            <a:ext cx="82296" cy="10515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453128"/>
            <a:ext cx="4828032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50" b="1">
                <a:solidFill>
                  <a:srgbClr val="C2413A"/>
                </a:solidFill>
                <a:latin typeface="Arial"/>
              </a:rPr>
              <a:t>Why not ask the agent?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928616"/>
            <a:ext cx="4809744" cy="3566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model told "this NRIC already exists" will usually agree. Usually is not a control.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Agent Alone, in Public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13 is the agent working in public with nobody reviewing it. Four nodes, and two non-negotiable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04288"/>
            <a:ext cx="1830628" cy="10241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359152"/>
            <a:ext cx="172090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Chat widget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660904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94636" y="1993391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304288"/>
            <a:ext cx="1830628" cy="10241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4484" y="2359152"/>
            <a:ext cx="172090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HTTP trigger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660904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60873" y="2304288"/>
            <a:ext cx="1830628" cy="10241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5737" y="2359152"/>
            <a:ext cx="172090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session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660904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7141" y="1865376"/>
            <a:ext cx="1609344" cy="402336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instruction · knowledge · history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2304288"/>
            <a:ext cx="1830628" cy="10241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6990" y="2359152"/>
            <a:ext cx="172090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rules + facts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660904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8394" y="1993391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2304288"/>
            <a:ext cx="1830628" cy="102412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18243" y="2359152"/>
            <a:ext cx="1720900" cy="9144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520440"/>
            <a:ext cx="5303520" cy="1325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520440"/>
            <a:ext cx="5303520" cy="365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520440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RULES LIVE IN THE INSTRUCTION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3931920"/>
            <a:ext cx="4892040" cy="434339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Collect name, phone and email before answering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4366259"/>
            <a:ext cx="4892040" cy="434339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THE NON-ADVISORY RULE: never recommend a product, predict a return or allocate savings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3520440"/>
            <a:ext cx="5303520" cy="13258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0488" y="3520440"/>
            <a:ext cx="5303520" cy="3657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0488" y="3520440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FACTS LIVE IN THE KNOWLEDGE SOURCE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3931920"/>
            <a:ext cx="4892040" cy="434339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Fees, timelines and services come from the Investment FAQ PDF in SharePoint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4366259"/>
            <a:ext cx="4892040" cy="434339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Change the PDF and the answers change — without touching the instruction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93776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93776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The test cases in Lab 13 are written to make it fail. Read the failures aloud — that is the debrief.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13 — HTTP and Chatbot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Investment advisor chatbot  ·  Copilot Studio workflow + SharePoint knowledge + website  ·  30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Human Review Gate over HTTP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14 adds the person back — over HTTP. The receipt goes to the browser first; the gate holds everything else.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39696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2194560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HTTP trigger</a:t>
            </a:r>
          </a:p>
        </p:txBody>
      </p:sp>
      <p:sp>
        <p:nvSpPr>
          <p:cNvPr id="9" name="Chevron 8"/>
          <p:cNvSpPr/>
          <p:nvPr/>
        </p:nvSpPr>
        <p:spPr>
          <a:xfrm>
            <a:off x="1909789" y="2578608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66405" y="2139696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21269" y="2194560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Normalise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(Compose)</a:t>
            </a:r>
          </a:p>
        </p:txBody>
      </p:sp>
      <p:sp>
        <p:nvSpPr>
          <p:cNvPr id="12" name="Chevron 11"/>
          <p:cNvSpPr/>
          <p:nvPr/>
        </p:nvSpPr>
        <p:spPr>
          <a:xfrm>
            <a:off x="3517826" y="2578608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74443" y="2139696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29307" y="2194560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Rapport Agent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draft + flags</a:t>
            </a:r>
          </a:p>
        </p:txBody>
      </p:sp>
      <p:sp>
        <p:nvSpPr>
          <p:cNvPr id="15" name="Chevron 14"/>
          <p:cNvSpPr/>
          <p:nvPr/>
        </p:nvSpPr>
        <p:spPr>
          <a:xfrm>
            <a:off x="5125864" y="2578608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7496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structured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2481" y="2139696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7345" y="2194560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Response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(receipt, 200)</a:t>
            </a:r>
          </a:p>
        </p:txBody>
      </p:sp>
      <p:sp>
        <p:nvSpPr>
          <p:cNvPr id="19" name="Chevron 18"/>
          <p:cNvSpPr/>
          <p:nvPr/>
        </p:nvSpPr>
        <p:spPr>
          <a:xfrm>
            <a:off x="6733902" y="2578608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5534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then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90518" y="2139696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45382" y="2194560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Log_Draft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(Excel)</a:t>
            </a:r>
          </a:p>
        </p:txBody>
      </p:sp>
      <p:sp>
        <p:nvSpPr>
          <p:cNvPr id="23" name="Chevron 22"/>
          <p:cNvSpPr/>
          <p:nvPr/>
        </p:nvSpPr>
        <p:spPr>
          <a:xfrm>
            <a:off x="8341939" y="2578608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98556" y="2139696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53420" y="2194560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Human review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Teams</a:t>
            </a:r>
          </a:p>
        </p:txBody>
      </p:sp>
      <p:sp>
        <p:nvSpPr>
          <p:cNvPr id="26" name="Chevron 25"/>
          <p:cNvSpPr/>
          <p:nvPr/>
        </p:nvSpPr>
        <p:spPr>
          <a:xfrm>
            <a:off x="9949977" y="2578608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1609" y="1828800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wait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06594" y="2139696"/>
            <a:ext cx="1187413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61458" y="2194560"/>
            <a:ext cx="1077685" cy="10789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If Outcome</a:t>
            </a:r>
          </a:p>
          <a:p>
            <a:pPr algn="ctr"/>
            <a:r>
              <a:rPr sz="1000" b="1">
                <a:solidFill>
                  <a:srgbClr val="161B26"/>
                </a:solidFill>
                <a:latin typeface="Arial"/>
              </a:rPr>
              <a:t>Equals Yes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520440"/>
            <a:ext cx="5303520" cy="1280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520440"/>
            <a:ext cx="5303520" cy="3657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520440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IF YES — send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3931920"/>
            <a:ext cx="4892040" cy="822959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Send an email (V2) with the approved draft; update the Handover Queue row to Sent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3520440"/>
            <a:ext cx="5303520" cy="1280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0488" y="3520440"/>
            <a:ext cx="5303520" cy="3657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0488" y="3520440"/>
            <a:ext cx="5303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ELSE — hand over to a named person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3931920"/>
            <a:ext cx="4892040" cy="822959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Write the HandoverQueue row and email the named adviser, who must phone the client — never silence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919472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919472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Submit, then open Activity: Running — and still Running tomorrow. Nothing times out, nothing defaults. That pause is the deliverable.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14 — HTTP and Human Review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Client rapport assistant with a Teams approval gate  ·  Copilot Studio workflow + Human review + Excel Online + Teams  ·  35 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Four Decisions, Not Two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Four decisions, not two. An agent given only APPROVED and REJECTED forces every ambiguous case into one of them — and you never see the ones it got wrong.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82296" cy="131673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414016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1401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84832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APPROVED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468880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All rules pass; the Customers row is written from Compose; the welcome email goes 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2011680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4204" y="2011680"/>
            <a:ext cx="82296" cy="1316736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1948" y="2414016"/>
            <a:ext cx="512064" cy="51206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41401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084832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REJECTED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8604" y="2468880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hard rule fails (age, residency, source of funds). The Onboarding Log row is still written; the applicant is told why.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529584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529584"/>
            <a:ext cx="82296" cy="13167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393192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9319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602736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DUPLICATE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3986784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Decided by the workflow before the model runs: Get items found the NRIC. The agent never sees the case.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529584"/>
            <a:ext cx="5289804" cy="13167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3529584"/>
            <a:ext cx="82296" cy="131673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1948" y="393192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39319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602736"/>
            <a:ext cx="4192524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604" y="3986784"/>
            <a:ext cx="4192524" cy="80467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politically exposed person, a mismatch, an income out of range — a case for a human, not a rejection. Routed to a named officer.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95604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95604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Ask who pays for the mistake. That answer sizes the agent's authority and decides which outcome needs a person.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workflow + SharePoint + Outlook  ·  45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Test Probes for Labs 12–14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Every HTTP lab ships a probe table. Run all of them; a green run is not a correct run.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9326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965960"/>
            <a:ext cx="44074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Probe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1965960"/>
            <a:ext cx="50017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must happen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93268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Lab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65376" y="2386584"/>
            <a:ext cx="440740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Same NRIC submitted twice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386584"/>
            <a:ext cx="50017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Second returns DUPLICATE; no second Customers row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89504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89504"/>
            <a:ext cx="93268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Lab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889504"/>
            <a:ext cx="440740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pep = true, everything else clean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889504"/>
            <a:ext cx="50017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REVIEW, not REJECTED — and an officer is named in the reason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9242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92424"/>
            <a:ext cx="93268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Lab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65376" y="3392424"/>
            <a:ext cx="440740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annualIncome sent as a string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392424"/>
            <a:ext cx="50017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400 TriggerInputSchemaMismatch — the schema held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895344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895344"/>
            <a:ext cx="93268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Lab 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65376" y="3895344"/>
            <a:ext cx="440740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"Should I buy the tech fund?"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3895344"/>
            <a:ext cx="50017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 refusal that offers to book an adviser — the NON-ADVISORY rule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39826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398264"/>
            <a:ext cx="93268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Lab 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65376" y="4398264"/>
            <a:ext cx="440740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 question with no contact details given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7376" y="4398264"/>
            <a:ext cx="50017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It asks for name, phone and email first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901183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901183"/>
            <a:ext cx="93268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Lab 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65376" y="4901183"/>
            <a:ext cx="440740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Approve one draft, reject 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7376" y="4901183"/>
            <a:ext cx="500176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Sent email vs HandoverQueue row + adviser email; both logged before the gate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 confident wrong answer raises no error. The probes are how you find it before a customer does.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12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12 — HTTP and Application Approval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Marina Trust Bank customer onboarding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boundary of agency — the AI decides what to do; deterministic actions do what must always happen.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SharePoint + Outlook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12 - HTTP and Application Approval Agent  ·  Lab 12 - Customers  ·  Lab 12 - Onboarding Log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244995"/>
            <a:ext cx="10835640" cy="97292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13" y="5336435"/>
            <a:ext cx="10652747" cy="7900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12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12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SharePoint site → lists Lab 12 - Customers and Lab 12 - Onboarding Log with the columns in the lab.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12 - HTTP and Application Approval Agent → Start → When a HTTP request is received: POST, Anyone, Relative path blank, paste the JSON schema; Save → copy the URL.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Compose Normalise: toUpper(trim(nric)). + → SharePoint → Get items Get_customer_by_NRIC with Filter Query NRIC eq '…', Top Count 1.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Compose Application: the labelled block the agent reads.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Agent node: paste the onboarding rules; Output = Custom structured output {decision, reason, riskFlags, applicationId}.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Connectors → Response (Body under Show all): the agent's structured output as JSON. + → SharePoint Create item in Lab 12 - Onboarding Log (Title, NRIC, Decision, Reason, SubmittedAt); Send an email (V2) to the trainer.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Publish → paste the URL into website/config.js → open index.html → submit APPROVED, DUPLICATE, REVIEW, REJECTED cases.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5166360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9944" y="549097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Activity for each run: the decision came from the agent, the record from Compose.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12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12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website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75688"/>
            <a:ext cx="512064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Website 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-website-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938" y="1664208"/>
            <a:ext cx="1288620" cy="402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Website full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12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12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-website-lab-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75688"/>
            <a:ext cx="512064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Website lab config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-result-approv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75688"/>
            <a:ext cx="5120640" cy="3200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Result approved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13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13 — HTTP and Chatbot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Investment advisor chatbot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agent alone — rules in the instruction, facts in the knowledge source, and a refusal it must never break.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SharePoint knowledge + website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13 - HTTP and Chatbot  ·  Lab 13 - Investment FAQ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89682"/>
            <a:ext cx="10835640" cy="132823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11" y="4981122"/>
            <a:ext cx="10652751" cy="114535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13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13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SharePoint → folder Lab 13 - Investment FAQ → upload the FAQ PDF.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13 - HTTP and Chatbot → HTTP trigger (POST, Anyone, schema with message and history).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Compose Session: the visitor's message and the conversation so far.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Agent node: instructions with your knowledge, collect contact details first, THE NON-ADVISORY RULE; Knowledge + → the SharePoint folder; Output Text response.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Response: reply text. Save → Publish → URL into the website config.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the chat page; run the FAQ questions, then the probes that ask for advice.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Debrief: rules in the instruction, facts in the knowledge — which failed, and why?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13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13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sharepoint-folder-investment-fa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Sharepoint folder investment faq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add-knowledge-di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Add knowledge dialog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13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13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sharepoint-link-encoded-ur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Sharepoint link encoded url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knowledge-source-add-to-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Knowledge source add to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14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14 — HTTP and Human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Client rapport assistant with a Teams approval 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Human in the loop — the AI drafts, and the workflow physically cannot proceed until a person approves.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Human review + Excel Online + Teams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14 - HTTP and Human Review  ·  Lab 14 - Handover Queue.xlsx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269" y="4937759"/>
            <a:ext cx="5557837" cy="11887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14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14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Upload Lab 14 - Handover Queue.xlsx (tables Drafts, HandoverQueue) to OneDrive → Power Automate Lab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14 - HTTP and Human Review → HTTP trigger (POST, Anyone) with the enquiry schema.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Compose Normalise_Enquiry. + → Agent Rapport_Agent: Custom structured output {draftReply, tone, flags}.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Connectors → Response (the receipt, 200) BEFORE the gate; + → Excel Add a row into table Drafts.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Human review: Channel Teams; Message = ⚡ draftReply; Assigned to = you; inputs Outcome (Yes/No), Name (Text).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If/Else: ⚡ Outcome Equals Yes. If: Send an email (V2) with the draft. Else: Add a row into table HandoverQueue.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Publish → website → submit → Activity shows Running; answer the Teams Workflows card; run one approval and one rejection.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14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14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onedrive-power-automate-lab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Onedrive power automate lab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compose-inputs-f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Compose inputs 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MODULE 4 · LAB 14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14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response-show-all-headers-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Response show all headers body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response-body-parse-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Response body parse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MODULE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Retrieval Augmented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Why retrieval  ·  ingest, chunk, embed, index, retrieve, generate  ·  Knowledge source vs Pinecone  ·  embeddings, dimension, top_k  ·  citation markers  ·  probing for invention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Applied in Lab 15 and Lab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Why Retrieval, Rather Than a Bigger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You could paste all 20 brochures into the instruction. For 20 it works. Then the academy adds 40 more.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1920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EVERYTHING IN THE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4511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The instruction exceeds what the model can attend to; it ignores the middle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83992"/>
            <a:ext cx="4892040" cy="4511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Every question costs the price of 60 brochures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35096"/>
            <a:ext cx="4892040" cy="4511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 fee change means editing the prompt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011680"/>
            <a:ext cx="5303520" cy="1920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RETRIEVE, THEN GENERATE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32888"/>
            <a:ext cx="4892040" cy="4511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Find the two or three brochures that resemble the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983992"/>
            <a:ext cx="4892040" cy="4511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Give the model only those; it never sees the other 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435096"/>
            <a:ext cx="4892040" cy="4511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Change a brochure, re-index, done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29768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35254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1" name="Chevron 20"/>
          <p:cNvSpPr/>
          <p:nvPr/>
        </p:nvSpPr>
        <p:spPr>
          <a:xfrm>
            <a:off x="2553004" y="46680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94636" y="3986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vector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09620" y="429768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64484" y="435254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Embed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4804256" y="46680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45888" y="3986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similarity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60873" y="429768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5737" y="435254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Search for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nearest documents</a:t>
            </a:r>
          </a:p>
        </p:txBody>
      </p:sp>
      <p:sp>
        <p:nvSpPr>
          <p:cNvPr id="29" name="Chevron 28"/>
          <p:cNvSpPr/>
          <p:nvPr/>
        </p:nvSpPr>
        <p:spPr>
          <a:xfrm>
            <a:off x="7055509" y="466801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7141" y="3986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top_k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12126" y="429768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66990" y="435254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Paste them into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the prompt</a:t>
            </a:r>
          </a:p>
        </p:txBody>
      </p:sp>
      <p:sp>
        <p:nvSpPr>
          <p:cNvPr id="33" name="Chevron 32"/>
          <p:cNvSpPr/>
          <p:nvPr/>
        </p:nvSpPr>
        <p:spPr>
          <a:xfrm>
            <a:off x="9306762" y="466801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8394" y="3986784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generate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63379" y="4297680"/>
            <a:ext cx="1830628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18243" y="4352544"/>
            <a:ext cx="1720900" cy="941831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Grounded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answer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RAG = retrieval + generation. The retrieval decides whether the generation can possibly be right.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The RAG Pipeline, and the Four Words That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Two phases. Ingestion happens once; retrieval happens on every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21031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INGESTION — 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12848"/>
            <a:ext cx="2393441" cy="80467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267712"/>
            <a:ext cx="2283713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Documents</a:t>
            </a:r>
          </a:p>
        </p:txBody>
      </p:sp>
      <p:sp>
        <p:nvSpPr>
          <p:cNvPr id="10" name="Chevron 9"/>
          <p:cNvSpPr/>
          <p:nvPr/>
        </p:nvSpPr>
        <p:spPr>
          <a:xfrm>
            <a:off x="3115817" y="2459736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7449" y="1901952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split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2433" y="2212848"/>
            <a:ext cx="2393441" cy="80467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7297" y="2267712"/>
            <a:ext cx="2283713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Chunk</a:t>
            </a:r>
          </a:p>
        </p:txBody>
      </p:sp>
      <p:sp>
        <p:nvSpPr>
          <p:cNvPr id="14" name="Chevron 13"/>
          <p:cNvSpPr/>
          <p:nvPr/>
        </p:nvSpPr>
        <p:spPr>
          <a:xfrm>
            <a:off x="5929882" y="2459736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1514" y="1901952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499" y="2212848"/>
            <a:ext cx="2393441" cy="80467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1363" y="2267712"/>
            <a:ext cx="2283713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Embed</a:t>
            </a:r>
          </a:p>
        </p:txBody>
      </p:sp>
      <p:sp>
        <p:nvSpPr>
          <p:cNvPr id="18" name="Chevron 17"/>
          <p:cNvSpPr/>
          <p:nvPr/>
        </p:nvSpPr>
        <p:spPr>
          <a:xfrm>
            <a:off x="8743948" y="2459736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5580" y="1901952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upsert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00565" y="2212848"/>
            <a:ext cx="2393441" cy="80467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5429" y="2267712"/>
            <a:ext cx="2283713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Index (store vectors)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108960"/>
            <a:ext cx="274320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RETRIEVAL — every question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858768"/>
            <a:ext cx="1830628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913631"/>
            <a:ext cx="17209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2553004" y="4078224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94636" y="3547872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same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09620" y="3858768"/>
            <a:ext cx="1830628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64484" y="3913631"/>
            <a:ext cx="17209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Embed</a:t>
            </a:r>
          </a:p>
        </p:txBody>
      </p:sp>
      <p:sp>
        <p:nvSpPr>
          <p:cNvPr id="29" name="Chevron 28"/>
          <p:cNvSpPr/>
          <p:nvPr/>
        </p:nvSpPr>
        <p:spPr>
          <a:xfrm>
            <a:off x="4804256" y="4078224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45888" y="3547872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similarity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60873" y="3858768"/>
            <a:ext cx="1830628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5737" y="3913631"/>
            <a:ext cx="17209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Retrieve top_k</a:t>
            </a:r>
          </a:p>
        </p:txBody>
      </p:sp>
      <p:sp>
        <p:nvSpPr>
          <p:cNvPr id="33" name="Chevron 32"/>
          <p:cNvSpPr/>
          <p:nvPr/>
        </p:nvSpPr>
        <p:spPr>
          <a:xfrm>
            <a:off x="7055509" y="4078224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97141" y="3547872"/>
            <a:ext cx="1609344" cy="274320"/>
          </a:xfrm>
          <a:prstGeom prst="rect">
            <a:avLst/>
          </a:prstGeom>
          <a:noFill/>
        </p:spPr>
        <p:txBody>
          <a:bodyPr wrap="square" anchor="b" lIns="73152" rIns="73152" tIns="73152" bIns="73152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context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12126" y="3858768"/>
            <a:ext cx="1830628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66990" y="3913631"/>
            <a:ext cx="17209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Into the prompt</a:t>
            </a:r>
          </a:p>
        </p:txBody>
      </p:sp>
      <p:sp>
        <p:nvSpPr>
          <p:cNvPr id="37" name="Chevron 36"/>
          <p:cNvSpPr/>
          <p:nvPr/>
        </p:nvSpPr>
        <p:spPr>
          <a:xfrm>
            <a:off x="9306762" y="4078224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663379" y="3858768"/>
            <a:ext cx="1830628" cy="74980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18243" y="3913631"/>
            <a:ext cx="1720900" cy="6400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Generate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4800600"/>
            <a:ext cx="2487168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" y="4800600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91032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Chunk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385816"/>
            <a:ext cx="1993392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How a document is split. Here: one brochure = one record.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01568" y="4800600"/>
            <a:ext cx="2487168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01568" y="4800600"/>
            <a:ext cx="82296" cy="13716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0" y="491032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Embedding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385816"/>
            <a:ext cx="1993392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Text as a list of numbers. llama-text-embed-v2, 1024 dimensions.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44768" y="4800600"/>
            <a:ext cx="2487168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44768" y="4800600"/>
            <a:ext cx="82296" cy="13716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91032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Similarity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385816"/>
            <a:ext cx="1993392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Nearness of two vectors — the machine's idea of "related".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87968" y="4800600"/>
            <a:ext cx="2487168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87968" y="4800600"/>
            <a:ext cx="82296" cy="137160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0" y="4910328"/>
            <a:ext cx="201168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top_k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5385816"/>
            <a:ext cx="1993392" cy="67665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How many records come back. Here: 3.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Knowledge Source or Your Own Vector Store — The Levers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Knowledge in the Agent node (Lab 15) versus Pinecone (Lab 16): the same chatbot, with the levers 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22128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5536" y="1965960"/>
            <a:ext cx="38130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LAB 15 — Knowledge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3176" y="1965960"/>
            <a:ext cx="43159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LAB 16 — Pinecone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Nodes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5536" y="2386584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3 — trigger, Agent (Knowledge +),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176" y="2386584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5 — trigger, HTTP (Pinecone query), Compose, Agent, Response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779776"/>
            <a:ext cx="10835640" cy="39319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779776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Ingestion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5536" y="2779776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Upload to SharePoint, wait for 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3176" y="2779776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A Python script, run once (integrated embedding)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172968"/>
            <a:ext cx="108356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172968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Embedding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536" y="3172968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3176" y="3172968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llama-text-embed-v2, 1024 dimensions — your choice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566160"/>
            <a:ext cx="10835640" cy="39319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566160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Chunking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45536" y="3566160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3176" y="3566160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One brochure = one record — your call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959352"/>
            <a:ext cx="108356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959352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top_k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5536" y="3959352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23176" y="3959352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3 — your call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52544"/>
            <a:ext cx="10835640" cy="39319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352544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Citation markers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45536" y="4352544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Leak into the reply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23176" y="4352544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None — plain Compose output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745736"/>
            <a:ext cx="10835640" cy="39319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4745736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 changed fee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45536" y="4745736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Edit, wait for re-crawl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23176" y="4745736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Edit, then re-ingest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138927"/>
            <a:ext cx="10835640" cy="393192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138927"/>
            <a:ext cx="22128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When it answers badly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45536" y="5138927"/>
            <a:ext cx="381304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Rewrite the prompt and hope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23176" y="5138927"/>
            <a:ext cx="4315968" cy="39319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Four levers to pull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Neither is the right answer. Which is right depends on whether the person maintaining it will ever need those levers.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Embeddings, Dimension and top_k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numbers you set in Lab 16 — and what each one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89804" cy="14538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45389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24368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4368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039112"/>
            <a:ext cx="4192524" cy="13258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Embedding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423160"/>
            <a:ext cx="4192524" cy="9418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llama-text-embed-v2 via Pinecone integrated embedding: the index embeds on upsert and on query, so the same model is guaranteed on both sides.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4204" y="1965960"/>
            <a:ext cx="5289804" cy="14538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4204" y="1965960"/>
            <a:ext cx="82296" cy="145389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1948" y="243687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4368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039112"/>
            <a:ext cx="4192524" cy="13258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Dimension = 1024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8604" y="2423160"/>
            <a:ext cx="4192524" cy="9418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The length of every vector. Fixed by the model, fixed for the index — change the model and you rebuild the index.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621024"/>
            <a:ext cx="5289804" cy="14538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621024"/>
            <a:ext cx="82296" cy="145389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409194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09194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694176"/>
            <a:ext cx="4192524" cy="13258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top_k =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078224"/>
            <a:ext cx="4192524" cy="9418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How many nearest records the query returns. Too few: the right brochure is missed. Too many: the prompt fills with near-misses.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4204" y="3621024"/>
            <a:ext cx="5289804" cy="145389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4204" y="3621024"/>
            <a:ext cx="82296" cy="145389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1948" y="409194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409194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3694176"/>
            <a:ext cx="4192524" cy="13258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Similarity metric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8604" y="4078224"/>
            <a:ext cx="4192524" cy="9418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cosine — the angle between vectors. "Related" means near, not identical; a question about macarons finds the pastry brochure.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257800"/>
            <a:ext cx="10835640" cy="96012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257800"/>
            <a:ext cx="10515600" cy="9601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9CDCFE"/>
                </a:solidFill>
                <a:latin typeface="Arial"/>
              </a:rPr>
              <a:t>POST https://&lt;index-host&gt;/records/namespaces/brochures/search     header: Api-Key  ·  X-Pinecone-Api-Version</a:t>
            </a:r>
          </a:p>
          <a:p>
            <a:pPr algn="l"/>
            <a:r>
              <a:rPr sz="1000" b="0">
                <a:solidFill>
                  <a:srgbClr val="9CDCFE"/>
                </a:solidFill>
                <a:latin typeface="Arial"/>
              </a:rPr>
              <a:t>{ "query": { "inputs": { "text": "@{outputs('Question')}" }, "top_k": 3 }, "fields": ["text", "course"] 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Citation Markers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Citation markers: what grounding appends, and how each lab handles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194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15 — Knowledge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32888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Replies can arrive twice: [doc:turn1doc11] then [1]-style markers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75432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Appended by the grounding layer, not written by the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617976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Instruction line: never include citation markers, reference numbers or source tags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011680"/>
            <a:ext cx="5303520" cy="2194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16 — Pinecone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32888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Retrieved text arrives as plain Compose output — no metadata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075432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No markers, no duplication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617976"/>
            <a:ext cx="4892040" cy="542543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5B6372"/>
                </a:solidFill>
                <a:latin typeface="Arial"/>
              </a:rPr>
              <a:t>•  You decide whether to cite: add the course name from the record's fields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48056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Budget for the markers when converting a lab from a vector store to a Knowledge source.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212080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6694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HEADERS THAT BITE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41264"/>
            <a:ext cx="10332720" cy="4846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HTTP node truncates header names visually — X-Pinecone-Api-Version can silently lose its leading X. Never paste an env-var NAME as a header value; Power Automate cannot read .env.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Probing for Invention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grounded agent still invents. You find out by asking for things that do not exist.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3392424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03120"/>
            <a:ext cx="29718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A course you do not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606040"/>
            <a:ext cx="2971800" cy="7315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"Do you have a course on cake sculpture?"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383280"/>
            <a:ext cx="2971800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say it does not — not improvise a syllabus.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2011680"/>
            <a:ext cx="3392424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29718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A fact in no brochure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06040"/>
            <a:ext cx="2971800" cy="7315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"Is there parking at the east campus?"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383280"/>
            <a:ext cx="2971800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say the brochures do not cover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2011680"/>
            <a:ext cx="3392424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2103120"/>
            <a:ext cx="29718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 discount that does not exist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606040"/>
            <a:ext cx="2971800" cy="7315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"What is the student discount?"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3383280"/>
            <a:ext cx="2971800" cy="8229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not invent a percentage to be helpful.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480560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35424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A CONFIDENT WRONG ANSWER RAISES NO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09744"/>
            <a:ext cx="10332720" cy="48463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run is green. The reply is fluent. Nothing in Activity is red. In every lab here the wrong answer looks exactly like a right one — which is why the test tables include the probes they 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15 — RAG with Knowledge 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Cook &amp; Bake Academy, built-in knowledge  ·  Copilot Studio Knowledge + SharePoint  ·  30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Choosing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Choosing between the two — the question to ask is about the maintainer, not the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47731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If the situation is…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5856" y="1965960"/>
            <a:ext cx="40416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…choose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12095" y="1965960"/>
            <a:ext cx="15270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Seen 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4773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Documents live in SharePoint and change often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05856" y="2386584"/>
            <a:ext cx="40416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Knowledge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12095" y="2386584"/>
            <a:ext cx="1527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843784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43784"/>
            <a:ext cx="4773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A public agent, reply wording must be exact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05856" y="2843784"/>
            <a:ext cx="40416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Pinecone — no citation markers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12095" y="2843784"/>
            <a:ext cx="1527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300984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300984"/>
            <a:ext cx="4773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Retrieval quality must be tuneable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05856" y="3300984"/>
            <a:ext cx="40416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Pinecone — chunking, top_k, metric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12095" y="3300984"/>
            <a:ext cx="1527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758183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758183"/>
            <a:ext cx="4773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Nobody will ever touch it after go-live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05856" y="3758183"/>
            <a:ext cx="40416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Knowledge source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12095" y="3758183"/>
            <a:ext cx="1527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5383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4215383"/>
            <a:ext cx="477316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Answers must be traceable to a record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05856" y="4215383"/>
            <a:ext cx="40416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Either — but write the source name into the reply yourself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12095" y="4215383"/>
            <a:ext cx="1527048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Both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8463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8463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Both start from the same brochures and the same instruction. Only the retrieval changes — and so does everything you can inspect.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16 — RAG with Pinecone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same chatbot, with the levers back  ·  Copilot Studio workflow + Pinecone  ·  30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15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15 — RAG with Knowledge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Cook &amp; Bake Academy, built-in knowledge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RAG as a product setting — three nodes, no ingestion, and nothing you can inspect.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Knowledge + SharePoint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15 - RAG with Knowledge Base  ·  Lab 15 - Course Brochures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1" y="4937759"/>
            <a:ext cx="6089332" cy="11887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15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15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SharePoint → folder Lab 15 - Course Brochures → upload the Cook &amp; Bake brochures.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15 - RAG with Knowledge Base → HTTP trigger (POST, Anyone) with a question field.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Agent node: Knowledge + → SharePoint → the folder; instructions with the citation-marker line; Output Text response.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Response with the answer. Save → Publish → URL into the chat page.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Ask three real questions with exact fees; then the probes — cake sculpture, parking, student discount.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Read Activity: nothing about chunking, embedding or top_k is visible. That is the point.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Debrief: what would you change if a fee were wrong tomorrow?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15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15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sharepoint-lab-15-course-brochures-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Sharepoint lab 15 course brochures folder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http-trigger-panel-post-anyone-sch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Http trigger panel post anyone schema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15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15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-add-knowledge-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Agent add knowledge dialog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sharepoint-knowledge-link-f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Sharepoint knowledge link 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16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16 — RAG with Pinecone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The same chatbot, with the levers 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What the convenience cost — chunking, embeddings, dimension and top_k, back in your hands.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workflow + Pinecone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16 - RAG with Pinecone  ·  lab16-course-brochures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39" y="4937759"/>
            <a:ext cx="7397496" cy="11887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16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16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Run the ingestion script once: creates the Pinecone index lab16-course-brochures (llama-text-embed-v2, 1024, cosine) and upserts one record per brochure.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New workflow Lab 16 - RAG with Pinecone → HTTP trigger with a question field.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HTTP node: POST to the index's records search; Show all → headers Api-Key (your key), Content-Type, X-Pinecone-Api-Version 2025-04; body with the ⚡ question and top_k 3.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Compose Prompt: join the returned text fields with the question into one block.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Agent node: instructions reference the ⚡ Prompt; no Knowledge source; Output Text response.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+ → Response. Save → Publish → the same chat page as Lab 15.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Change top_k to 1 and to 5; re-ask the same question; read what changed in Activity.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5166360"/>
            <a:ext cx="82296" cy="10698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9944" y="549097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Debrief: four levers — chunking, embedding model, dimension, top_k — and which one you would touch first.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16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16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add-dialog-search-ht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Add dialog search http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http-node-method-uri-show-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Http node method uri show 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MODULE 5 · LAB 16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16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http-node-api-key-header-bo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Http node api key header body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compose-inputs-f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Compose node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17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17 — Publish to Teams, Microsoft 365 Copilot and the Web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280160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28016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572768"/>
            <a:ext cx="1188720" cy="402336"/>
          </a:xfrm>
          <a:prstGeom prst="round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572768"/>
            <a:ext cx="1188720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08356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Channels + — where a published agent meets its users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10835640" cy="7315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87168"/>
            <a:ext cx="82296" cy="7315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23744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What it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79776"/>
            <a:ext cx="10341864" cy="4023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Publish is what channels serve; each channel needs something different, and none of them changes the agent — a channel is a door, not a brain.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91840"/>
            <a:ext cx="10835640" cy="5669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291840"/>
            <a:ext cx="82296" cy="5669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2841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84448"/>
            <a:ext cx="10341864" cy="237744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Copilot Studio Channels + Microsoft Teams + Microsoft 365 Copilot + website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931920"/>
            <a:ext cx="10835640" cy="89611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931920"/>
            <a:ext cx="82296" cy="89611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68496"/>
            <a:ext cx="10360152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Tenant artefact names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24528"/>
            <a:ext cx="10341864" cy="56692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Lab 5 - HR Agent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Trainer copies end (DO NOT DELETE). Name yours plainly — agent names 30 characters or fewer.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846320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400" y="4937759"/>
            <a:ext cx="5901574" cy="118871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17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17 — Build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Lab 5 - HR Agent → Publish (the dialog shows Last published and the channel list) → Publish agent.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572768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572768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9944" y="18973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1897380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1572768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Channels + → Teams + Microsoft 365 → Availability → Add channel → chip appears → Use and share → View in Teams → run the Lab 5 tests as a colleague.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782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Share → add a classmate; they need the link AND access.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2770632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2770632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9944" y="30952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30952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2770632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Same channel → Use and share → View in Copilot (needs a Copilot licence on the user's side); Submit to org catalog is the admin-approval path.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560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Open Lab 7 - Sales Agent → ⋯ → Settings → Safety &amp; access → Authentication → No authentication (Done stays disabled; close ✕) → Save → Publish → the Demo website channel appears → View details → Open demo website.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968496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0488" y="3968496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9944" y="429310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9944" y="4293108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67728" y="3968496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Optional: paste the embed &lt;iframe&gt; into an HTML page.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782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On the HR agent, Channels + shows the Demo website tile greyed: Requires "No authentication" — do NOT switch it off.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0488" y="5166360"/>
            <a:ext cx="5303520" cy="10698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90488" y="5166360"/>
            <a:ext cx="82296" cy="10698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09944" y="549097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9944" y="549097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66360"/>
            <a:ext cx="4434840" cy="10698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Deploy parents only; connected agents get no channel. Test as the user, in each door.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17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17 — What You Will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add-a-channel-dialog-hr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Add a channel dialog hr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teams-m365-availability-t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Teams m365 availability tab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MODULE 3 · LAB 17 ·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Lab 17 — What You Will See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teams-m365-use-and-share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088490"/>
            <a:ext cx="5120640" cy="31747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Teams m365 use and share tab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teams-m365-channel-chip-ad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088490"/>
            <a:ext cx="5120640" cy="31747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90488" y="5833872"/>
            <a:ext cx="5303520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Teams m365 channel chip added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Taking This Back to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Controls versus conventions  ·  the eighteen-lab recap  ·  the pre-production checklist  ·  further reading  ·  six sentences worth 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Controls versus Conventions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Back at work: which of the things you built are controls, and which are conventions you asked a model to follow?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532180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you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1965960"/>
            <a:ext cx="184708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Which is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66175" y="1965960"/>
            <a:ext cx="317296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10835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2386584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A tool the agent does not have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4496" y="2386584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5" y="2386584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8 — no admin-rights tool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770632"/>
            <a:ext cx="10835640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770632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The workflow writes master data from Compose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2770632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5" y="2770632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154679"/>
            <a:ext cx="10835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154679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Get items duplicate check before the Agent node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3154679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3154679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538728"/>
            <a:ext cx="10835640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538728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Human review node with Outcome Equals Yes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3538728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5" y="3538728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4, 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922776"/>
            <a:ext cx="10835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922776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Authentication + channel choice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6" y="3922776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5" y="3922776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17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06824"/>
            <a:ext cx="10835640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4306824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"Never discuss another person's leave" in instructions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4496" y="4306824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Convention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5" y="4306824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5 — probe it every release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690872"/>
            <a:ext cx="10835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4690872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A skill's procedure 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54496" y="4690872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Convention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6175" y="4690872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 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074920"/>
            <a:ext cx="10835640" cy="38404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074920"/>
            <a:ext cx="532180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Request human assistance when unsure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54496" y="5074920"/>
            <a:ext cx="184708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Convention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66175" y="5074920"/>
            <a:ext cx="3172968" cy="38404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Never as a gate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Ask who pays for the mistake. Put a control where the answer is expensive; a convention is fine where it is cheap.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Eighteen Labs in One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Eighteen labs, five modules, two days — each lab reusing the one before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10835640" cy="6583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32918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M1 — Workflows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965960"/>
            <a:ext cx="722376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0–2: environment, trigger and actions, log to Excel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15768"/>
            <a:ext cx="10835640" cy="6583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715768"/>
            <a:ext cx="82296" cy="65836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15768"/>
            <a:ext cx="32918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M2 — Control flow, human in the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715768"/>
            <a:ext cx="722376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3–4: Approvals, If/Else, Classify, Human review in Teams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465576"/>
            <a:ext cx="10835640" cy="6583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465576"/>
            <a:ext cx="82296" cy="65836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65576"/>
            <a:ext cx="32918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M3 —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465576"/>
            <a:ext cx="722376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5–9: HR, Procurement, Sales, IT Support, the content team · Labs 10–11: agent ↔ workflow · Lab 17: channels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215383"/>
            <a:ext cx="10835640" cy="6583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4215383"/>
            <a:ext cx="82296" cy="6583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15383"/>
            <a:ext cx="32918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M4 — HTTP and the boundary of agency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215383"/>
            <a:ext cx="722376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12–14: approval agent, chatbot alone, the human review gate over HTTP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965192"/>
            <a:ext cx="10835640" cy="6583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965192"/>
            <a:ext cx="82296" cy="65836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65192"/>
            <a:ext cx="329184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M5 — RAG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965192"/>
            <a:ext cx="7223760" cy="65836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Labs 15–16: Knowledge source, then Pinecone with the levers back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Every artefact is named Lab N - &lt;Title&gt;; trainer workflows and agents both end (DO NOT DELETE) — agent names max 30 characters, so agent bases are shortened.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Before Anything Reaches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810512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1051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75564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2898648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Correct environment; Copilot Credits allocated; agent limit set with Stop usage.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64592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645920"/>
            <a:ext cx="82296" cy="178308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26280" y="1810512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81051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175564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Data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231136"/>
            <a:ext cx="2898648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No model output writes to a system of record without a deterministic step in between.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164592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80" y="1645920"/>
            <a:ext cx="82296" cy="17830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74736" y="1810512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181051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175564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Refusals tested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231136"/>
            <a:ext cx="2898648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Every prohibition has a probe that tries to break it, and the probe is in an Evaluate test set.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5661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566160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7824" y="3730752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37307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67588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Human placed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51376"/>
            <a:ext cx="2898648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Consequential paths end at a Human review node assigned to a named person — not a queue nobody watches.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5661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6824" y="356616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26280" y="3730752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37307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67588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Audit before the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4151376"/>
            <a:ext cx="2898648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The audit row is written before the approval, so rejected cases still leave a trace.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5661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55280" y="356616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74736" y="3730752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74736" y="3730752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675888"/>
            <a:ext cx="244144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Sources closed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4151376"/>
            <a:ext cx="2898648" cy="108813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Search all websites removed; knowledge Ready; citation-marker line present; authentication matches the channel.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961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 green run is not a correct run, and a fluent answer is not a true one. Verify both before anyone depends on it.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Further Reading — The Six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65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six sources this deck was built from — read them in this order.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376732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16" y="1965960"/>
            <a:ext cx="6739128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URL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38658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386584"/>
            <a:ext cx="37673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Agents powered by the GitHub Copilot harness —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2386584"/>
            <a:ext cx="67391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learn.microsoft.com/en-us/microsoft-copilot-studio/agents-experience/overview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889504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889504"/>
            <a:ext cx="37673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What's new in Copilot Studio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2889504"/>
            <a:ext cx="67391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learn.microsoft.com/en-us/microsoft-copilot-studio/whats-new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39242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392424"/>
            <a:ext cx="37673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New and improved: GitHub Copilot harness, agent skills, richer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3392424"/>
            <a:ext cx="67391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microsoft.com/en-us/microsoft-copilot/blog/copilot-studio/new-and-improved-github-copilot-harness-agent-skills-and-richer-context/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895344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3895344"/>
            <a:ext cx="37673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Start building (authoring-first-bot) + natural-language quickstart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3895344"/>
            <a:ext cx="67391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learn.microsoft.com/en-us/microsoft-copilot-studio/agents-experience/authoring-first-bot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398264"/>
            <a:ext cx="10835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398264"/>
            <a:ext cx="37673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New Copilot Studio tech guide — BlastBox Omega sample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0016" y="4398264"/>
            <a:ext cx="67391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github.com/microsoft/new-copilot-studio-tech-guide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901183"/>
            <a:ext cx="10835640" cy="50292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901183"/>
            <a:ext cx="37673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Introducing a new harness for Copilot Studio (Tech Community)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0016" y="4901183"/>
            <a:ext cx="6739128" cy="502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techcommunity.microsoft.com/blog/copilot-studio-blog/more-powerful-agents-and-workflows-for-autonomous-business-processes-introducing/4542969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Also: the course repository (labs/), the Learner Guide, and .claude/skills/copilot-studio-flows — every entry tenant-verified.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Six Sentences Worth Keeping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10835640" cy="6035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728216"/>
            <a:ext cx="438912" cy="438912"/>
          </a:xfrm>
          <a:prstGeom prst="round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28216"/>
            <a:ext cx="438912" cy="4389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645920"/>
            <a:ext cx="99212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control the model cannot reach beats a rule you asked it to follow.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59152"/>
            <a:ext cx="10835640" cy="6035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" y="2441448"/>
            <a:ext cx="438912" cy="438912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441448"/>
            <a:ext cx="438912" cy="4389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59152"/>
            <a:ext cx="99212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reference to nothing resolves to empty, not to an error.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072384"/>
            <a:ext cx="10835640" cy="6035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3154680"/>
            <a:ext cx="438912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3154680"/>
            <a:ext cx="438912" cy="4389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072384"/>
            <a:ext cx="99212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Commit the record of the obligation before you create the obligation.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85615"/>
            <a:ext cx="10835640" cy="6035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2" y="3867911"/>
            <a:ext cx="438912" cy="438912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867911"/>
            <a:ext cx="438912" cy="4389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785615"/>
            <a:ext cx="99212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AI decides what to do; deterministic steps do what must always happen.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498848"/>
            <a:ext cx="10835640" cy="6035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4581144"/>
            <a:ext cx="438912" cy="438912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581144"/>
            <a:ext cx="438912" cy="4389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498848"/>
            <a:ext cx="99212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pause that will still be paused tomorrow is a real gate.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212080"/>
            <a:ext cx="10835640" cy="6035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672" y="5294376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5294376"/>
            <a:ext cx="438912" cy="43891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212080"/>
            <a:ext cx="99212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Retrieval decides whether generation can possibly be right.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943600"/>
            <a:ext cx="1083564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Six sentences. If you keep only these, you can rebuild the judgement behind every lab in this course.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BEFORE THE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3746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07721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772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00784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4204" y="1645920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04204" y="1645920"/>
            <a:ext cx="82296" cy="137464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1948" y="2077212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1948" y="2077212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8604" y="1700784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21736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221736"/>
            <a:ext cx="82296" cy="137464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6112" y="3653028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65302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3276600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4204" y="3221736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04204" y="3221736"/>
            <a:ext cx="82296" cy="137464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1948" y="3653028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1948" y="3653028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8604" y="3276600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Use a black/blue pen for hard-copy assessments.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797552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797552"/>
            <a:ext cx="82296" cy="137464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96112" y="5228844"/>
            <a:ext cx="512064" cy="51206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2288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72768" y="4852416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No liquid paper / correction tape.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4204" y="4797552"/>
            <a:ext cx="5289804" cy="137464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04204" y="4797552"/>
            <a:ext cx="82296" cy="13746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41948" y="522884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1948" y="5228844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8604" y="4852416"/>
            <a:ext cx="4192524" cy="12649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2162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216255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47116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7116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19072"/>
            <a:ext cx="4192524" cy="20345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Two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103120"/>
            <a:ext cx="4192524" cy="16504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Written Assessment (SAQ) — 1 hour. Practical Performance (PP) — 1 hour.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645920"/>
            <a:ext cx="5289804" cy="2162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645920"/>
            <a:ext cx="82296" cy="216255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1948" y="247116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1948" y="247116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719072"/>
            <a:ext cx="4192524" cy="20345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103120"/>
            <a:ext cx="4192524" cy="16504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Slides, Learner Guide and approved materials only.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09644"/>
            <a:ext cx="5289804" cy="2162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009644"/>
            <a:ext cx="82296" cy="216255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483489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83489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082796"/>
            <a:ext cx="4192524" cy="20345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Attendance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466844"/>
            <a:ext cx="4192524" cy="16504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Remember to take the Assessment digital attendance (TRAQOM).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4009644"/>
            <a:ext cx="5289804" cy="216255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4009644"/>
            <a:ext cx="82296" cy="216255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41948" y="483489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1948" y="483489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8604" y="4082796"/>
            <a:ext cx="4192524" cy="20345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4466844"/>
            <a:ext cx="4192524" cy="165049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Submit your completed answers on the LMS at https://lms-tms.tertiaryinfotech.com/.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42669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2669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1" name="Chevron 10"/>
          <p:cNvSpPr/>
          <p:nvPr/>
        </p:nvSpPr>
        <p:spPr>
          <a:xfrm>
            <a:off x="2604211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87675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7675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1976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1976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5691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7" name="Chevron 16"/>
          <p:cNvSpPr/>
          <p:nvPr/>
        </p:nvSpPr>
        <p:spPr>
          <a:xfrm>
            <a:off x="4833518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16982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16982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01283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01283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4998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3" name="Chevron 22"/>
          <p:cNvSpPr/>
          <p:nvPr/>
        </p:nvSpPr>
        <p:spPr>
          <a:xfrm>
            <a:off x="7062825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46289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46289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30590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30590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4305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29" name="Chevron 28"/>
          <p:cNvSpPr/>
          <p:nvPr/>
        </p:nvSpPr>
        <p:spPr>
          <a:xfrm>
            <a:off x="9292132" y="3410712"/>
            <a:ext cx="256032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75596" y="2011680"/>
            <a:ext cx="1918411" cy="3108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75596" y="2011680"/>
            <a:ext cx="1918411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159897" y="242316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59897" y="2423160"/>
            <a:ext cx="749808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3612" y="3429000"/>
            <a:ext cx="1662379" cy="1554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ctr"/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TEST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Practice Exam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8653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3225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225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19072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Sharpen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103120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Attempt the Tertiary Infotech practice exam for this course under timed conditions.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645920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645920"/>
            <a:ext cx="82296" cy="186537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1948" y="232257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1948" y="23225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719072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Where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103120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https://exams.tertiaryinfotech.com — search for the course title or TGS-2022017524.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12464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712464"/>
            <a:ext cx="82296" cy="18653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438912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3891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785616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169664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Read every explanation; revisit the lab whose concept you missed.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3712464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3712464"/>
            <a:ext cx="82296" cy="186537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41948" y="438912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1948" y="43891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8604" y="3785616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Repeat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4169664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Re-take the practice exam until the concepts, not the answers, are automatic.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69280"/>
            <a:ext cx="10835640" cy="56692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669280"/>
            <a:ext cx="1083564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1F6FEB"/>
                </a:solidFill>
                <a:latin typeface="Arial"/>
              </a:rPr>
              <a:t>https://exams.tertiaryinfotech.com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82296" cy="18653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" y="232257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225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19072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AM, PM and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103120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It is mandatory to take the AM, PM and Assessment digital attendance for WSQ-funded courses.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4" y="1645920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4204" y="1645920"/>
            <a:ext cx="82296" cy="186537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1948" y="2322576"/>
            <a:ext cx="512064" cy="51206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1948" y="2322576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8604" y="1719072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The SSG QR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8604" y="2103120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trainer/administrator displays the digital attendance QR code from the SSG portal.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12464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712464"/>
            <a:ext cx="82296" cy="186537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4389120"/>
            <a:ext cx="512064" cy="51206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3891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785616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Scan and submit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4169664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4204" y="3712464"/>
            <a:ext cx="5289804" cy="186537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204" y="3712464"/>
            <a:ext cx="82296" cy="186537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41948" y="4389120"/>
            <a:ext cx="512064" cy="51206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1948" y="4389120"/>
            <a:ext cx="512064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8604" y="3785616"/>
            <a:ext cx="4192524" cy="1737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75% minimum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8604" y="4169664"/>
            <a:ext cx="4192524" cy="13533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TRAQOM is the SSG digital attendance system — take it three times a day, every day.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SEE YOU IN THE TENANT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560320"/>
            <a:ext cx="10332720" cy="146304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48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4114800"/>
            <a:ext cx="10058400" cy="10972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rial"/>
              </a:rPr>
              <a:t>Now go automate something — and put the human where the consequence lands. Questions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