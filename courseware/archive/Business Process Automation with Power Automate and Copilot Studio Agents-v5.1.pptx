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8" r:id="rId2"/>
    <p:sldId id="352" r:id="rId100"/>
    <p:sldId id="353" r:id="rId101"/>
    <p:sldId id="354" r:id="rId102"/>
    <p:sldId id="355" r:id="rId103"/>
    <p:sldId id="356" r:id="rId104"/>
    <p:sldId id="259" r:id="rId3"/>
    <p:sldId id="260" r:id="rId4"/>
    <p:sldId id="261" r:id="rId5"/>
    <p:sldId id="357" r:id="rId105"/>
    <p:sldId id="358" r:id="rId106"/>
    <p:sldId id="359" r:id="rId107"/>
    <p:sldId id="360" r:id="rId108"/>
    <p:sldId id="361" r:id="rId109"/>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345" r:id="rId93"/>
    <p:sldId id="346" r:id="rId94"/>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47" r:id="rId95"/>
    <p:sldId id="348" r:id="rId96"/>
    <p:sldId id="349" r:id="rId97"/>
    <p:sldId id="311" r:id="rId55"/>
    <p:sldId id="312" r:id="rId56"/>
    <p:sldId id="313" r:id="rId57"/>
    <p:sldId id="314" r:id="rId58"/>
    <p:sldId id="315" r:id="rId59"/>
    <p:sldId id="337" r:id="rId81"/>
    <p:sldId id="338" r:id="rId82"/>
    <p:sldId id="351" r:id="rId99"/>
    <p:sldId id="339" r:id="rId83"/>
    <p:sldId id="340" r:id="rId84"/>
    <p:sldId id="341" r:id="rId85"/>
    <p:sldId id="342" r:id="rId86"/>
    <p:sldId id="343" r:id="rId87"/>
    <p:sldId id="362" r:id="rId110"/>
    <p:sldId id="363" r:id="rId111"/>
    <p:sldId id="364" r:id="rId112"/>
    <p:sldId id="365" r:id="rId113"/>
    <p:sldId id="344"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51"/>
  </p:normalViewPr>
  <p:slideViewPr>
    <p:cSldViewPr snapToGrid="0">
      <p:cViewPr varScale="1">
        <p:scale>
          <a:sx n="90" d="100"/>
          <a:sy n="90" d="100"/>
        </p:scale>
        <p:origin x="216" y="7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7.xml"/><Relationship Id="rId4" Type="http://schemas.openxmlformats.org/officeDocument/2006/relationships/slide" Target="slides/slide8.xml"/><Relationship Id="rId5" Type="http://schemas.openxmlformats.org/officeDocument/2006/relationships/slide" Target="slides/slide9.xml"/><Relationship Id="rId6" Type="http://schemas.openxmlformats.org/officeDocument/2006/relationships/slide" Target="slides/slide15.xml"/><Relationship Id="rId7" Type="http://schemas.openxmlformats.org/officeDocument/2006/relationships/slide" Target="slides/slide16.xml"/><Relationship Id="rId8" Type="http://schemas.openxmlformats.org/officeDocument/2006/relationships/slide" Target="slides/slide17.xml"/><Relationship Id="rId9" Type="http://schemas.openxmlformats.org/officeDocument/2006/relationships/slide" Target="slides/slide18.xml"/><Relationship Id="rId10" Type="http://schemas.openxmlformats.org/officeDocument/2006/relationships/slide" Target="slides/slide19.xml"/><Relationship Id="rId11" Type="http://schemas.openxmlformats.org/officeDocument/2006/relationships/slide" Target="slides/slide20.xml"/><Relationship Id="rId12" Type="http://schemas.openxmlformats.org/officeDocument/2006/relationships/slide" Target="slides/slide21.xml"/><Relationship Id="rId13" Type="http://schemas.openxmlformats.org/officeDocument/2006/relationships/slide" Target="slides/slide22.xml"/><Relationship Id="rId14" Type="http://schemas.openxmlformats.org/officeDocument/2006/relationships/slide" Target="slides/slide23.xml"/><Relationship Id="rId15" Type="http://schemas.openxmlformats.org/officeDocument/2006/relationships/slide" Target="slides/slide24.xml"/><Relationship Id="rId16" Type="http://schemas.openxmlformats.org/officeDocument/2006/relationships/slide" Target="slides/slide25.xml"/><Relationship Id="rId17" Type="http://schemas.openxmlformats.org/officeDocument/2006/relationships/slide" Target="slides/slide26.xml"/><Relationship Id="rId18" Type="http://schemas.openxmlformats.org/officeDocument/2006/relationships/slide" Target="slides/slide27.xml"/><Relationship Id="rId19" Type="http://schemas.openxmlformats.org/officeDocument/2006/relationships/slide" Target="slides/slide28.xml"/><Relationship Id="rId20" Type="http://schemas.openxmlformats.org/officeDocument/2006/relationships/slide" Target="slides/slide29.xml"/><Relationship Id="rId21" Type="http://schemas.openxmlformats.org/officeDocument/2006/relationships/slide" Target="slides/slide30.xml"/><Relationship Id="rId22" Type="http://schemas.openxmlformats.org/officeDocument/2006/relationships/slide" Target="slides/slide31.xml"/><Relationship Id="rId23" Type="http://schemas.openxmlformats.org/officeDocument/2006/relationships/slide" Target="slides/slide32.xml"/><Relationship Id="rId24" Type="http://schemas.openxmlformats.org/officeDocument/2006/relationships/slide" Target="slides/slide33.xml"/><Relationship Id="rId25" Type="http://schemas.openxmlformats.org/officeDocument/2006/relationships/slide" Target="slides/slide34.xml"/><Relationship Id="rId26" Type="http://schemas.openxmlformats.org/officeDocument/2006/relationships/slide" Target="slides/slide35.xml"/><Relationship Id="rId27" Type="http://schemas.openxmlformats.org/officeDocument/2006/relationships/slide" Target="slides/slide36.xml"/><Relationship Id="rId28" Type="http://schemas.openxmlformats.org/officeDocument/2006/relationships/slide" Target="slides/slide37.xml"/><Relationship Id="rId29" Type="http://schemas.openxmlformats.org/officeDocument/2006/relationships/slide" Target="slides/slide38.xml"/><Relationship Id="rId30" Type="http://schemas.openxmlformats.org/officeDocument/2006/relationships/slide" Target="slides/slide39.xml"/><Relationship Id="rId31" Type="http://schemas.openxmlformats.org/officeDocument/2006/relationships/slide" Target="slides/slide40.xml"/><Relationship Id="rId32" Type="http://schemas.openxmlformats.org/officeDocument/2006/relationships/slide" Target="slides/slide41.xml"/><Relationship Id="rId33" Type="http://schemas.openxmlformats.org/officeDocument/2006/relationships/slide" Target="slides/slide42.xml"/><Relationship Id="rId34" Type="http://schemas.openxmlformats.org/officeDocument/2006/relationships/slide" Target="slides/slide43.xml"/><Relationship Id="rId35" Type="http://schemas.openxmlformats.org/officeDocument/2006/relationships/slide" Target="slides/slide44.xml"/><Relationship Id="rId36" Type="http://schemas.openxmlformats.org/officeDocument/2006/relationships/slide" Target="slides/slide47.xml"/><Relationship Id="rId37" Type="http://schemas.openxmlformats.org/officeDocument/2006/relationships/slide" Target="slides/slide48.xml"/><Relationship Id="rId38" Type="http://schemas.openxmlformats.org/officeDocument/2006/relationships/slide" Target="slides/slide49.xml"/><Relationship Id="rId39" Type="http://schemas.openxmlformats.org/officeDocument/2006/relationships/slide" Target="slides/slide50.xml"/><Relationship Id="rId40" Type="http://schemas.openxmlformats.org/officeDocument/2006/relationships/slide" Target="slides/slide51.xml"/><Relationship Id="rId41" Type="http://schemas.openxmlformats.org/officeDocument/2006/relationships/slide" Target="slides/slide52.xml"/><Relationship Id="rId42" Type="http://schemas.openxmlformats.org/officeDocument/2006/relationships/slide" Target="slides/slide53.xml"/><Relationship Id="rId43" Type="http://schemas.openxmlformats.org/officeDocument/2006/relationships/slide" Target="slides/slide54.xml"/><Relationship Id="rId44" Type="http://schemas.openxmlformats.org/officeDocument/2006/relationships/slide" Target="slides/slide55.xml"/><Relationship Id="rId45" Type="http://schemas.openxmlformats.org/officeDocument/2006/relationships/slide" Target="slides/slide56.xml"/><Relationship Id="rId46" Type="http://schemas.openxmlformats.org/officeDocument/2006/relationships/slide" Target="slides/slide57.xml"/><Relationship Id="rId47" Type="http://schemas.openxmlformats.org/officeDocument/2006/relationships/slide" Target="slides/slide58.xml"/><Relationship Id="rId48" Type="http://schemas.openxmlformats.org/officeDocument/2006/relationships/slide" Target="slides/slide59.xml"/><Relationship Id="rId49" Type="http://schemas.openxmlformats.org/officeDocument/2006/relationships/slide" Target="slides/slide60.xml"/><Relationship Id="rId50" Type="http://schemas.openxmlformats.org/officeDocument/2006/relationships/slide" Target="slides/slide61.xml"/><Relationship Id="rId51" Type="http://schemas.openxmlformats.org/officeDocument/2006/relationships/slide" Target="slides/slide62.xml"/><Relationship Id="rId52" Type="http://schemas.openxmlformats.org/officeDocument/2006/relationships/slide" Target="slides/slide63.xml"/><Relationship Id="rId53" Type="http://schemas.openxmlformats.org/officeDocument/2006/relationships/slide" Target="slides/slide64.xml"/><Relationship Id="rId54" Type="http://schemas.openxmlformats.org/officeDocument/2006/relationships/slide" Target="slides/slide65.xml"/><Relationship Id="rId55" Type="http://schemas.openxmlformats.org/officeDocument/2006/relationships/slide" Target="slides/slide69.xml"/><Relationship Id="rId56" Type="http://schemas.openxmlformats.org/officeDocument/2006/relationships/slide" Target="slides/slide70.xml"/><Relationship Id="rId57" Type="http://schemas.openxmlformats.org/officeDocument/2006/relationships/slide" Target="slides/slide71.xml"/><Relationship Id="rId58" Type="http://schemas.openxmlformats.org/officeDocument/2006/relationships/slide" Target="slides/slide72.xml"/><Relationship Id="rId59"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6.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 Id="rId93" Type="http://schemas.openxmlformats.org/officeDocument/2006/relationships/slide" Target="slides/slide45.xml"/><Relationship Id="rId94" Type="http://schemas.openxmlformats.org/officeDocument/2006/relationships/slide" Target="slides/slide46.xml"/><Relationship Id="rId95" Type="http://schemas.openxmlformats.org/officeDocument/2006/relationships/slide" Target="slides/slide66.xml"/><Relationship Id="rId96" Type="http://schemas.openxmlformats.org/officeDocument/2006/relationships/slide" Target="slides/slide67.xml"/><Relationship Id="rId97" Type="http://schemas.openxmlformats.org/officeDocument/2006/relationships/slide" Target="slides/slide68.xml"/><Relationship Id="rId99" Type="http://schemas.openxmlformats.org/officeDocument/2006/relationships/slide" Target="slides/slide76.xml"/><Relationship Id="rId100" Type="http://schemas.openxmlformats.org/officeDocument/2006/relationships/slide" Target="slides/slide2.xml"/><Relationship Id="rId101" Type="http://schemas.openxmlformats.org/officeDocument/2006/relationships/slide" Target="slides/slide3.xml"/><Relationship Id="rId102" Type="http://schemas.openxmlformats.org/officeDocument/2006/relationships/slide" Target="slides/slide4.xml"/><Relationship Id="rId103" Type="http://schemas.openxmlformats.org/officeDocument/2006/relationships/slide" Target="slides/slide5.xml"/><Relationship Id="rId104" Type="http://schemas.openxmlformats.org/officeDocument/2006/relationships/slide" Target="slides/slide6.xml"/><Relationship Id="rId105" Type="http://schemas.openxmlformats.org/officeDocument/2006/relationships/slide" Target="slides/slide10.xml"/><Relationship Id="rId106" Type="http://schemas.openxmlformats.org/officeDocument/2006/relationships/slide" Target="slides/slide11.xml"/><Relationship Id="rId107" Type="http://schemas.openxmlformats.org/officeDocument/2006/relationships/slide" Target="slides/slide12.xml"/><Relationship Id="rId108" Type="http://schemas.openxmlformats.org/officeDocument/2006/relationships/slide" Target="slides/slide13.xml"/><Relationship Id="rId109" Type="http://schemas.openxmlformats.org/officeDocument/2006/relationships/slide" Target="slides/slide14.xml"/><Relationship Id="rId110" Type="http://schemas.openxmlformats.org/officeDocument/2006/relationships/slide" Target="slides/slide82.xml"/><Relationship Id="rId111" Type="http://schemas.openxmlformats.org/officeDocument/2006/relationships/slide" Target="slides/slide83.xml"/><Relationship Id="rId112" Type="http://schemas.openxmlformats.org/officeDocument/2006/relationships/slide" Target="slides/slide84.xml"/><Relationship Id="rId113" Type="http://schemas.openxmlformats.org/officeDocument/2006/relationships/slide" Target="slides/slide8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46D94-6626-3BFF-0A17-61948D6E3E7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7B82959-52E1-24EA-654D-899B4BD852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DCEC601-C670-DE5C-B4B0-7A9A0C1D1642}"/>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108A4546-02A5-E0E4-1B88-DDD5C23286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E49858-4AC1-6BEE-F28D-B259566E420C}"/>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296063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708F2-2494-FD25-40BA-7A458F90F92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F4D68CF-139A-1485-F8C3-1135EBA75DA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795C4C-F738-AC92-997B-00880EDFFFB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29EB43F1-EC25-F65B-2464-2BB178DDEA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8E87FA-9C49-DA04-2AEC-CE02D08448E7}"/>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824325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621AD-FA2B-E962-1895-0B829208A4E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E0FC836-5AF6-11F1-ABDC-F6A1CD4388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6EFEB5A-83F2-D22F-1013-D078D5F9884D}"/>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59D6E6E4-9057-95F7-57F5-42B4228D00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5C075-54A9-7B26-2083-EAEF01DE4751}"/>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4290151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CEEAB-96C8-B417-18FB-A71942AA246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DED5E33-F4BD-5B41-65F4-A233430D459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D030329-B6CA-2C59-7CE7-8211A389709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89AF930-D68C-D4BB-D655-76183CA60C3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33ED846B-938E-E072-48D2-C7D94D9591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ACB0EE-912C-A444-3339-E1B54EF3B27B}"/>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251528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72965-DF3B-ED3E-7532-71CC7BC907B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90DB5A2-A181-E7B2-6ED3-6A3E56EE46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67B1024-7DAF-4B66-9FB5-FC3C33D7311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8D5716D-854D-ACD7-D87B-1AF011AEDF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AD5961B-F921-8CBD-BC63-8FE4505D574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8E2C8CF-7AD9-FDC8-5CD5-04645E926AB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8" name="Footer Placeholder 7">
            <a:extLst>
              <a:ext uri="{FF2B5EF4-FFF2-40B4-BE49-F238E27FC236}">
                <a16:creationId xmlns:a16="http://schemas.microsoft.com/office/drawing/2014/main" id="{DC47C7EC-D94D-F23D-3AD7-F978DC38F0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0BC93F-DE87-5D34-711A-0A7C96BC89B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934349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85314-FF69-9488-55AA-609B6D6C454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D0D748-7526-E5B4-882B-CD1974BE7A5D}"/>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4" name="Footer Placeholder 3">
            <a:extLst>
              <a:ext uri="{FF2B5EF4-FFF2-40B4-BE49-F238E27FC236}">
                <a16:creationId xmlns:a16="http://schemas.microsoft.com/office/drawing/2014/main" id="{A51BB65D-3C7C-330F-F2E4-68BE6A78C3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33AB25-A9B3-E208-BB21-C2850A87C7B5}"/>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582178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C9D19-4C72-6EBE-BEBB-990F367C8E26}"/>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3" name="Footer Placeholder 2">
            <a:extLst>
              <a:ext uri="{FF2B5EF4-FFF2-40B4-BE49-F238E27FC236}">
                <a16:creationId xmlns:a16="http://schemas.microsoft.com/office/drawing/2014/main" id="{9C7E9465-1D86-3400-70F7-6C14221D64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4DA129-7B6B-7A0C-6CD8-225A88BC4943}"/>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291663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83D7A-3E00-B6C8-FC83-37E63C7A337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D8F536C-DEC8-9406-DD9A-A159888086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D01E554-74F9-4F2B-DACA-7437D1FAD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25B9C74-1F4A-2756-20E0-3A30ED8FDF6A}"/>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AFB6718F-0AFB-B05B-56DD-676CA42EC6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6564F-EB95-772B-629C-CA39D04B366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199601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F3D48-84A0-3F37-1AE1-A5DA0976C0A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D64D8CE-7D33-3A1C-0B10-C0B372A0E3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818348-DD38-2ED9-AC93-F0E0BC5AFE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1CF0CDE-79A3-51A3-3B3F-A9FD15F51633}"/>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4FD91F49-8EAB-7B01-7B0F-F33734242F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3271A9-A83C-0006-00BD-C17BB3DE7C5A}"/>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19489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BBB60-560A-1F72-035E-D28F19A92A8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C3B78FD-69CC-9F5B-3C11-CA323EC93BB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36BB40-F65B-5299-E32D-CB9858A5948A}"/>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A8487E16-F02D-E203-D4E9-10D833FCA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882DCF-D6B7-31C6-D936-E12073FA200F}"/>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490863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FF187E-5DCA-9F88-B1CD-F03AB7AF3A1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2412709-B093-275F-2926-9D91A5824F6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56667EC-5ABA-1D42-42D4-EC9393BBC3FE}"/>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D46A2F67-6755-C1B8-DF06-6E0417CD32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80EB6B-719C-9679-CCF7-F153C3A2B75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1536704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E80EE1-0B02-5C56-7378-94DD6DA055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5AE5EFC-134F-BED3-F8A7-9FE56534CD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F202C69-0810-50C4-85CE-437D064ED2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A70AED32-ED41-42FF-749B-D7F0BB6346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8D752B-E364-D67C-7654-6A11A46BA2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6755A7-B2F0-374C-BC3B-9231083D8773}" type="slidenum">
              <a:rPr lang="en-US" smtClean="0"/>
              <a:t>‹#›</a:t>
            </a:fld>
            <a:endParaRPr lang="en-US"/>
          </a:p>
        </p:txBody>
      </p:sp>
      <p:sp>
        <p:nvSpPr>
          <p:cNvPr id="900" name="AccentBar"/>
          <p:cNvSpPr/>
          <p:nvPr/>
        </p:nvSpPr>
        <p:spPr>
          <a:xfrm>
            <a:off x="0" y="6784848"/>
            <a:ext cx="12192000" cy="73152"/>
          </a:xfrm>
          <a:prstGeom prst="rect">
            <a:avLst/>
          </a:prstGeom>
          <a:gradFill>
            <a:gsLst>
              <a:gs pos="0">
                <a:srgbClr val="2563EB"/>
              </a:gs>
              <a:gs pos="50000">
                <a:srgbClr val="7C3AED"/>
              </a:gs>
              <a:gs pos="100000">
                <a:srgbClr val="06B6D4"/>
              </a:gs>
            </a:gsLst>
            <a:lin ang="0" scaled="1"/>
          </a:gradFill>
          <a:ln>
            <a:noFill/>
          </a:ln>
        </p:spPr>
        <p:txBody>
          <a:bodyPr/>
          <a:lstStyle/>
          <a:p>
            <a:endParaRPr/>
          </a:p>
        </p:txBody>
      </p:sp>
    </p:spTree>
    <p:extLst>
      <p:ext uri="{BB962C8B-B14F-4D97-AF65-F5344CB8AC3E}">
        <p14:creationId xmlns:p14="http://schemas.microsoft.com/office/powerpoint/2010/main" val="3221405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B1B2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B2B4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2017524---Business-Process-Automation-with-Power-Automate-and-Copilot-Studio-Agen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EDD3-BAC6-2E59-FAA8-908301B11942}"/>
              </a:ext>
            </a:extLst>
          </p:cNvPr>
          <p:cNvSpPr>
            <a:spLocks noGrp="1"/>
          </p:cNvSpPr>
          <p:nvPr>
            <p:ph type="ctrTitle"/>
          </p:nvPr>
        </p:nvSpPr>
        <p:spPr/>
        <p:txBody>
          <a:bodyPr/>
          <a:lstStyle/>
          <a:p>
            <a:pPr algn="ctr"/>
            <a:r>
              <a:rPr lang="en-US" sz="4000" b="1" dirty="0"/>
              <a:t>Business Process Automation</a:t>
            </a:r>
          </a:p>
        </p:txBody>
      </p:sp>
      <p:sp>
        <p:nvSpPr>
          <p:cNvPr id="3" name="Subtitle 2">
            <a:extLst>
              <a:ext uri="{FF2B5EF4-FFF2-40B4-BE49-F238E27FC236}">
                <a16:creationId xmlns:a16="http://schemas.microsoft.com/office/drawing/2014/main" id="{2C0574B3-66A5-8402-1E67-380A6A832EEC}"/>
              </a:ext>
            </a:extLst>
          </p:cNvPr>
          <p:cNvSpPr>
            <a:spLocks noGrp="1"/>
          </p:cNvSpPr>
          <p:nvPr>
            <p:ph type="subTitle" idx="1"/>
          </p:nvPr>
        </p:nvSpPr>
        <p:spPr/>
        <p:txBody>
          <a:bodyPr/>
          <a:lstStyle/>
          <a:p>
            <a:pPr algn="ctr"/>
            <a:r>
              <a:rPr lang="en-US" sz="2400" b="1" dirty="0">
                <a:solidFill>
                  <a:schemeClr val="accent2"/>
                </a:solidFill>
              </a:rPr>
              <a:t>with Power Automate and Copilot Studio Agents</a:t>
            </a:r>
          </a:p>
          <a:p>
            <a:pPr algn="ctr"/>
            <a:r>
              <a:rPr lang="en-US" sz="1600" dirty="0">
                <a:solidFill>
                  <a:schemeClr val="dk2"/>
                </a:solidFill>
              </a:rPr>
              <a:t>WSQ Course Code: TGS-2022017524  ·  2-Day Hands-On Training  ·  Modules 1–4</a:t>
            </a:r>
          </a:p>
        </p:txBody>
      </p:sp>
      <p:sp>
        <p:nvSpPr>
          <p:cNvPr id="4" name="TextBox 3"/>
          <p:cNvSpPr txBox="1"/>
          <p:nvPr/>
        </p:nvSpPr>
        <p:spPr>
          <a:xfrm>
            <a:off x="1527048" y="5623560"/>
            <a:ext cx="9144000" cy="777240"/>
          </a:xfrm>
          <a:prstGeom prst="rect">
            <a:avLst/>
          </a:prstGeom>
          <a:noFill/>
        </p:spPr>
        <p:txBody>
          <a:bodyPr wrap="square" anchor="t">
            <a:spAutoFit/>
          </a:bodyPr>
          <a:lstStyle/>
          <a:p>
            <a:pPr algn="ctr">
              <a:spcAft>
                <a:spcPts val="400"/>
              </a:spcAft>
            </a:pPr>
            <a:r>
              <a:rPr sz="1400" b="0">
                <a:solidFill>
                  <a:srgbClr val="5B6372"/>
                </a:solidFill>
                <a:latin typeface="Arial"/>
              </a:rPr>
              <a:t>Conducted by Tertiary Infotech Academy Pte Ltd  ·  UEN 201200696W</a:t>
            </a:r>
          </a:p>
          <a:p>
            <a:pPr algn="ctr">
              <a:spcAft>
                <a:spcPts val="400"/>
              </a:spcAft>
            </a:pPr>
            <a:r>
              <a:rPr sz="1100" b="0">
                <a:solidFill>
                  <a:srgbClr val="5B6372"/>
                </a:solidFill>
                <a:latin typeface="Arial"/>
              </a:rPr>
              <a:t>Version 5.1 (25 Jul 2026)  ·  www.tertiarycourses.com.sg  ·  https://lms-tms.tertiaryinfotech.com/</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extLst>
      <p:ext uri="{BB962C8B-B14F-4D97-AF65-F5344CB8AC3E}">
        <p14:creationId xmlns:p14="http://schemas.microsoft.com/office/powerpoint/2010/main" val="288028645"/>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It is mandatory to take the AM, PM and Assessment digital attendance for WSQ-funded courses.</a:t>
            </a:r>
          </a:p>
          <a:p>
            <a:pPr>
              <a:spcAft>
                <a:spcPts val="1000"/>
              </a:spcAft>
            </a:pPr>
            <a:r>
              <a:rPr sz="1800">
                <a:solidFill>
                  <a:srgbClr val="161B26"/>
                </a:solidFill>
                <a:latin typeface="Arial"/>
              </a:rPr>
              <a:t>•  The trainer/administrator displays the digital attendance QR code from the SSG portal.</a:t>
            </a:r>
          </a:p>
          <a:p>
            <a:pPr>
              <a:spcAft>
                <a:spcPts val="1000"/>
              </a:spcAft>
            </a:pPr>
            <a:r>
              <a:rPr sz="1800">
                <a:solidFill>
                  <a:srgbClr val="161B26"/>
                </a:solidFill>
                <a:latin typeface="Arial"/>
              </a:rPr>
              <a:t>•  Scan the QR code with your mobile phone camera and submit your attendance.</a:t>
            </a:r>
          </a:p>
          <a:p>
            <a:pPr>
              <a:spcAft>
                <a:spcPts val="1000"/>
              </a:spcAft>
            </a:pPr>
            <a:r>
              <a:rPr sz="1800">
                <a:solidFill>
                  <a:srgbClr val="161B26"/>
                </a:solidFill>
                <a:latin typeface="Arial"/>
              </a:rPr>
              <a:t>•  A minimum of 75% attendance is required to be eligible for assessment and funding.</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2" name="TextBox 31"/>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Microsoft Power Platform, AI and data analytics — 20+ years of training experience.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AI, business automation, data science and software engineering.</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26" name="TextBox 2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Your name and organisation / role.</a:t>
            </a:r>
          </a:p>
          <a:p>
            <a:pPr>
              <a:spcAft>
                <a:spcPts val="1000"/>
              </a:spcAft>
            </a:pPr>
            <a:r>
              <a:rPr sz="1800">
                <a:solidFill>
                  <a:srgbClr val="161B26"/>
                </a:solidFill>
                <a:latin typeface="Arial"/>
              </a:rPr>
              <a:t>•  Your experience with Power Automate, Copilot Studio or other automation tools (if any).</a:t>
            </a:r>
          </a:p>
          <a:p>
            <a:pPr>
              <a:spcAft>
                <a:spcPts val="1000"/>
              </a:spcAft>
            </a:pPr>
            <a:r>
              <a:rPr sz="1800">
                <a:solidFill>
                  <a:srgbClr val="161B26"/>
                </a:solidFill>
                <a:latin typeface="Arial"/>
              </a:rPr>
              <a:t>•  One repetitive business process you would love to automate after this course.</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8" name="TextBox 37"/>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COURSE OUTCOMES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What You’ll Learn</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23444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088136"/>
          </a:xfrm>
          <a:prstGeom prst="rect">
            <a:avLst/>
          </a:prstGeom>
          <a:noFill/>
        </p:spPr>
        <p:txBody>
          <a:bodyPr wrap="square" anchor="ctr" lIns="73152" rIns="73152" tIns="73152" bIns="73152">
            <a:spAutoFit/>
          </a:bodyPr>
          <a:lstStyle/>
          <a:p>
            <a:pPr algn="ctr"/>
            <a:r>
              <a:rPr sz="1300" b="1">
                <a:solidFill>
                  <a:srgbClr val="161B26"/>
                </a:solidFill>
                <a:latin typeface="Arial"/>
              </a:rPr>
              <a:t>Power Automate
flows</a:t>
            </a:r>
          </a:p>
        </p:txBody>
      </p:sp>
      <p:sp>
        <p:nvSpPr>
          <p:cNvPr id="8" name="Chevron 7"/>
          <p:cNvSpPr/>
          <p:nvPr/>
        </p:nvSpPr>
        <p:spPr>
          <a:xfrm>
            <a:off x="3106674" y="2336291"/>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2081" y="1618487"/>
            <a:ext cx="640080" cy="228600"/>
          </a:xfrm>
          <a:prstGeom prst="rect">
            <a:avLst/>
          </a:prstGeom>
          <a:noFill/>
        </p:spPr>
        <p:txBody>
          <a:bodyPr wrap="square" anchor="ctr" lIns="73152" rIns="73152" tIns="73152" bIns="73152">
            <a:spAutoFit/>
          </a:bodyPr>
          <a:lstStyle/>
          <a:p>
            <a:pPr algn="ctr"/>
            <a:r>
              <a:rPr sz="900" b="0">
                <a:solidFill>
                  <a:srgbClr val="5B6372"/>
                </a:solidFill>
                <a:latin typeface="Arial"/>
              </a:rPr>
              <a:t>add AI</a:t>
            </a:r>
          </a:p>
        </p:txBody>
      </p:sp>
      <p:sp>
        <p:nvSpPr>
          <p:cNvPr id="10" name="Rounded Rectangle 9"/>
          <p:cNvSpPr/>
          <p:nvPr/>
        </p:nvSpPr>
        <p:spPr>
          <a:xfrm>
            <a:off x="3472433" y="1874519"/>
            <a:ext cx="2393441" cy="123444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5585" y="1947672"/>
            <a:ext cx="2247137" cy="1088136"/>
          </a:xfrm>
          <a:prstGeom prst="rect">
            <a:avLst/>
          </a:prstGeom>
          <a:noFill/>
        </p:spPr>
        <p:txBody>
          <a:bodyPr wrap="square" anchor="ctr" lIns="73152" rIns="73152" tIns="73152" bIns="73152">
            <a:spAutoFit/>
          </a:bodyPr>
          <a:lstStyle/>
          <a:p>
            <a:pPr algn="ctr"/>
            <a:r>
              <a:rPr sz="1300" b="1">
                <a:solidFill>
                  <a:srgbClr val="161B26"/>
                </a:solidFill>
                <a:latin typeface="Arial"/>
              </a:rPr>
              <a:t>Copilot Studio
agent</a:t>
            </a:r>
          </a:p>
        </p:txBody>
      </p:sp>
      <p:sp>
        <p:nvSpPr>
          <p:cNvPr id="12" name="Chevron 11"/>
          <p:cNvSpPr/>
          <p:nvPr/>
        </p:nvSpPr>
        <p:spPr>
          <a:xfrm>
            <a:off x="5920739" y="2336291"/>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56146" y="1618487"/>
            <a:ext cx="640080" cy="228600"/>
          </a:xfrm>
          <a:prstGeom prst="rect">
            <a:avLst/>
          </a:prstGeom>
          <a:noFill/>
        </p:spPr>
        <p:txBody>
          <a:bodyPr wrap="square" anchor="ctr" lIns="73152" rIns="73152" tIns="73152" bIns="73152">
            <a:spAutoFit/>
          </a:bodyPr>
          <a:lstStyle/>
          <a:p>
            <a:pPr algn="ctr"/>
            <a:r>
              <a:rPr sz="900" b="0">
                <a:solidFill>
                  <a:srgbClr val="5B6372"/>
                </a:solidFill>
                <a:latin typeface="Arial"/>
              </a:rPr>
              <a:t>publish</a:t>
            </a:r>
          </a:p>
        </p:txBody>
      </p:sp>
      <p:sp>
        <p:nvSpPr>
          <p:cNvPr id="14" name="Rounded Rectangle 13"/>
          <p:cNvSpPr/>
          <p:nvPr/>
        </p:nvSpPr>
        <p:spPr>
          <a:xfrm>
            <a:off x="6286499" y="1874519"/>
            <a:ext cx="2393441" cy="123444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1" y="1947672"/>
            <a:ext cx="2247137" cy="1088136"/>
          </a:xfrm>
          <a:prstGeom prst="rect">
            <a:avLst/>
          </a:prstGeom>
          <a:noFill/>
        </p:spPr>
        <p:txBody>
          <a:bodyPr wrap="square" anchor="ctr" lIns="73152" rIns="73152" tIns="73152" bIns="73152">
            <a:spAutoFit/>
          </a:bodyPr>
          <a:lstStyle/>
          <a:p>
            <a:pPr algn="ctr"/>
            <a:r>
              <a:rPr sz="1300" b="1">
                <a:solidFill>
                  <a:srgbClr val="161B26"/>
                </a:solidFill>
                <a:latin typeface="Arial"/>
              </a:rPr>
              <a:t>Teams + website
channels</a:t>
            </a:r>
          </a:p>
        </p:txBody>
      </p:sp>
      <p:sp>
        <p:nvSpPr>
          <p:cNvPr id="16" name="Chevron 15"/>
          <p:cNvSpPr/>
          <p:nvPr/>
        </p:nvSpPr>
        <p:spPr>
          <a:xfrm>
            <a:off x="8734805" y="2336291"/>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70212" y="1618487"/>
            <a:ext cx="640080" cy="228600"/>
          </a:xfrm>
          <a:prstGeom prst="rect">
            <a:avLst/>
          </a:prstGeom>
          <a:noFill/>
        </p:spPr>
        <p:txBody>
          <a:bodyPr wrap="square" anchor="ctr" lIns="73152" rIns="73152" tIns="73152" bIns="73152">
            <a:spAutoFit/>
          </a:bodyPr>
          <a:lstStyle/>
          <a:p>
            <a:pPr algn="ctr"/>
            <a:r>
              <a:rPr sz="900" b="0">
                <a:solidFill>
                  <a:srgbClr val="5B6372"/>
                </a:solidFill>
                <a:latin typeface="Arial"/>
              </a:rPr>
              <a:t>take action</a:t>
            </a:r>
          </a:p>
        </p:txBody>
      </p:sp>
      <p:sp>
        <p:nvSpPr>
          <p:cNvPr id="18" name="Rounded Rectangle 17"/>
          <p:cNvSpPr/>
          <p:nvPr/>
        </p:nvSpPr>
        <p:spPr>
          <a:xfrm>
            <a:off x="9100565" y="1874519"/>
            <a:ext cx="2393441" cy="123444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73717" y="1947672"/>
            <a:ext cx="2247137" cy="1088136"/>
          </a:xfrm>
          <a:prstGeom prst="rect">
            <a:avLst/>
          </a:prstGeom>
          <a:noFill/>
        </p:spPr>
        <p:txBody>
          <a:bodyPr wrap="square" anchor="ctr" lIns="73152" rIns="73152" tIns="73152" bIns="73152">
            <a:spAutoFit/>
          </a:bodyPr>
          <a:lstStyle/>
          <a:p>
            <a:pPr algn="ctr"/>
            <a:r>
              <a:rPr sz="1300" b="1">
                <a:solidFill>
                  <a:srgbClr val="161B26"/>
                </a:solidFill>
                <a:latin typeface="Arial"/>
              </a:rPr>
              <a:t>Agent tools
and prompts</a:t>
            </a:r>
          </a:p>
        </p:txBody>
      </p:sp>
      <p:sp>
        <p:nvSpPr>
          <p:cNvPr id="20" name="Rounded Rectangle 19"/>
          <p:cNvSpPr/>
          <p:nvPr/>
        </p:nvSpPr>
        <p:spPr>
          <a:xfrm>
            <a:off x="658368" y="3703320"/>
            <a:ext cx="3337560" cy="16459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703320"/>
            <a:ext cx="82296" cy="16459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849624"/>
            <a:ext cx="2862072" cy="411480"/>
          </a:xfrm>
          <a:prstGeom prst="rect">
            <a:avLst/>
          </a:prstGeom>
          <a:noFill/>
        </p:spPr>
        <p:txBody>
          <a:bodyPr wrap="square" anchor="ctr" lIns="73152" rIns="73152" tIns="73152" bIns="73152">
            <a:spAutoFit/>
          </a:bodyPr>
          <a:lstStyle/>
          <a:p>
            <a:pPr algn="l"/>
            <a:r>
              <a:rPr sz="1700" b="1">
                <a:solidFill>
                  <a:srgbClr val="1F6FEB"/>
                </a:solidFill>
                <a:latin typeface="Arial"/>
              </a:rPr>
              <a:t>Day 1 — automate</a:t>
            </a:r>
          </a:p>
        </p:txBody>
      </p:sp>
      <p:sp>
        <p:nvSpPr>
          <p:cNvPr id="23" name="TextBox 22"/>
          <p:cNvSpPr txBox="1"/>
          <p:nvPr/>
        </p:nvSpPr>
        <p:spPr>
          <a:xfrm>
            <a:off x="914400" y="4343400"/>
            <a:ext cx="2862072" cy="896112"/>
          </a:xfrm>
          <a:prstGeom prst="rect">
            <a:avLst/>
          </a:prstGeom>
          <a:noFill/>
        </p:spPr>
        <p:txBody>
          <a:bodyPr wrap="square" anchor="ctr" lIns="73152" rIns="73152" tIns="73152" bIns="73152">
            <a:spAutoFit/>
          </a:bodyPr>
          <a:lstStyle/>
          <a:p>
            <a:pPr algn="l"/>
            <a:r>
              <a:rPr sz="1400" b="0">
                <a:solidFill>
                  <a:srgbClr val="5B6372"/>
                </a:solidFill>
                <a:latin typeface="Arial"/>
              </a:rPr>
              <a:t>Build reliable trigger → action flows without an AI agent.</a:t>
            </a:r>
          </a:p>
        </p:txBody>
      </p:sp>
      <p:sp>
        <p:nvSpPr>
          <p:cNvPr id="24" name="Rounded Rectangle 23"/>
          <p:cNvSpPr/>
          <p:nvPr/>
        </p:nvSpPr>
        <p:spPr>
          <a:xfrm>
            <a:off x="4251960" y="3703320"/>
            <a:ext cx="3337560" cy="16459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51960" y="3703320"/>
            <a:ext cx="82296" cy="164592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7992" y="3849624"/>
            <a:ext cx="2862072" cy="411480"/>
          </a:xfrm>
          <a:prstGeom prst="rect">
            <a:avLst/>
          </a:prstGeom>
          <a:noFill/>
        </p:spPr>
        <p:txBody>
          <a:bodyPr wrap="square" anchor="ctr" lIns="73152" rIns="73152" tIns="73152" bIns="73152">
            <a:spAutoFit/>
          </a:bodyPr>
          <a:lstStyle/>
          <a:p>
            <a:pPr algn="l"/>
            <a:r>
              <a:rPr sz="1700" b="1">
                <a:solidFill>
                  <a:srgbClr val="6D3FD2"/>
                </a:solidFill>
                <a:latin typeface="Arial"/>
              </a:rPr>
              <a:t>Day 2 — converse</a:t>
            </a:r>
          </a:p>
        </p:txBody>
      </p:sp>
      <p:sp>
        <p:nvSpPr>
          <p:cNvPr id="27" name="TextBox 26"/>
          <p:cNvSpPr txBox="1"/>
          <p:nvPr/>
        </p:nvSpPr>
        <p:spPr>
          <a:xfrm>
            <a:off x="4507992" y="4343400"/>
            <a:ext cx="2862072" cy="896112"/>
          </a:xfrm>
          <a:prstGeom prst="rect">
            <a:avLst/>
          </a:prstGeom>
          <a:noFill/>
        </p:spPr>
        <p:txBody>
          <a:bodyPr wrap="square" anchor="ctr" lIns="73152" rIns="73152" tIns="73152" bIns="73152">
            <a:spAutoFit/>
          </a:bodyPr>
          <a:lstStyle/>
          <a:p>
            <a:pPr algn="l"/>
            <a:r>
              <a:rPr sz="1400" b="0">
                <a:solidFill>
                  <a:srgbClr val="5B6372"/>
                </a:solidFill>
                <a:latin typeface="Arial"/>
              </a:rPr>
              <a:t>Create a grounded agent that understands and confirms user intent.</a:t>
            </a:r>
          </a:p>
        </p:txBody>
      </p:sp>
      <p:sp>
        <p:nvSpPr>
          <p:cNvPr id="28" name="Rounded Rectangle 27"/>
          <p:cNvSpPr/>
          <p:nvPr/>
        </p:nvSpPr>
        <p:spPr>
          <a:xfrm>
            <a:off x="7845552" y="3703320"/>
            <a:ext cx="3648456" cy="16459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45552" y="3703320"/>
            <a:ext cx="82296" cy="164592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01584" y="3849624"/>
            <a:ext cx="3172968" cy="411480"/>
          </a:xfrm>
          <a:prstGeom prst="rect">
            <a:avLst/>
          </a:prstGeom>
          <a:noFill/>
        </p:spPr>
        <p:txBody>
          <a:bodyPr wrap="square" anchor="ctr" lIns="73152" rIns="73152" tIns="73152" bIns="73152">
            <a:spAutoFit/>
          </a:bodyPr>
          <a:lstStyle/>
          <a:p>
            <a:pPr algn="l"/>
            <a:r>
              <a:rPr sz="1700" b="1">
                <a:solidFill>
                  <a:srgbClr val="108A73"/>
                </a:solidFill>
                <a:latin typeface="Arial"/>
              </a:rPr>
              <a:t>Integrate — act</a:t>
            </a:r>
          </a:p>
        </p:txBody>
      </p:sp>
      <p:sp>
        <p:nvSpPr>
          <p:cNvPr id="31" name="TextBox 30"/>
          <p:cNvSpPr txBox="1"/>
          <p:nvPr/>
        </p:nvSpPr>
        <p:spPr>
          <a:xfrm>
            <a:off x="8101584" y="4343400"/>
            <a:ext cx="3172968" cy="896112"/>
          </a:xfrm>
          <a:prstGeom prst="rect">
            <a:avLst/>
          </a:prstGeom>
          <a:noFill/>
        </p:spPr>
        <p:txBody>
          <a:bodyPr wrap="square" anchor="ctr" lIns="73152" rIns="73152" tIns="73152" bIns="73152">
            <a:spAutoFit/>
          </a:bodyPr>
          <a:lstStyle/>
          <a:p>
            <a:pPr algn="l"/>
            <a:r>
              <a:rPr sz="1400" b="0">
                <a:solidFill>
                  <a:srgbClr val="5B6372"/>
                </a:solidFill>
                <a:latin typeface="Arial"/>
              </a:rPr>
              <a:t>Let the agent call deterministic or prompt-based Power Automate tools.</a:t>
            </a:r>
          </a:p>
        </p:txBody>
      </p:sp>
      <p:sp>
        <p:nvSpPr>
          <p:cNvPr id="32" name="TextBox 31"/>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7</a:t>
            </a:r>
          </a:p>
        </p:txBody>
      </p:sp>
    </p:spTree>
    <p:extLst>
      <p:ext uri="{BB962C8B-B14F-4D97-AF65-F5344CB8AC3E}">
        <p14:creationId xmlns:p14="http://schemas.microsoft.com/office/powerpoint/2010/main" val="1350916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TEN CONNECTED LABS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Your 2-Day Journey</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3736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82296" cy="175564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93852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883664"/>
            <a:ext cx="978408" cy="411480"/>
          </a:xfrm>
          <a:prstGeom prst="rect">
            <a:avLst/>
          </a:prstGeom>
          <a:noFill/>
        </p:spPr>
        <p:txBody>
          <a:bodyPr wrap="square" anchor="ctr" lIns="73152" rIns="73152" tIns="73152" bIns="73152">
            <a:spAutoFit/>
          </a:bodyPr>
          <a:lstStyle/>
          <a:p>
            <a:pPr algn="l"/>
            <a:r>
              <a:rPr sz="1200" b="1">
                <a:solidFill>
                  <a:srgbClr val="1F6FEB"/>
                </a:solidFill>
                <a:latin typeface="Arial"/>
              </a:rPr>
              <a:t>Form email</a:t>
            </a:r>
          </a:p>
        </p:txBody>
      </p:sp>
      <p:sp>
        <p:nvSpPr>
          <p:cNvPr id="11" name="TextBox 10"/>
          <p:cNvSpPr txBox="1"/>
          <p:nvPr/>
        </p:nvSpPr>
        <p:spPr>
          <a:xfrm>
            <a:off x="914400" y="237744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Confirm the submitted user</a:t>
            </a:r>
          </a:p>
        </p:txBody>
      </p:sp>
      <p:sp>
        <p:nvSpPr>
          <p:cNvPr id="12" name="Rounded Rectangle 11"/>
          <p:cNvSpPr/>
          <p:nvPr/>
        </p:nvSpPr>
        <p:spPr>
          <a:xfrm>
            <a:off x="2871215" y="173736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71215" y="1737360"/>
            <a:ext cx="82296" cy="175564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72383" y="193852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72383"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3639311" y="1883664"/>
            <a:ext cx="978408" cy="411480"/>
          </a:xfrm>
          <a:prstGeom prst="rect">
            <a:avLst/>
          </a:prstGeom>
          <a:noFill/>
        </p:spPr>
        <p:txBody>
          <a:bodyPr wrap="square" anchor="ctr" lIns="73152" rIns="73152" tIns="73152" bIns="73152">
            <a:spAutoFit/>
          </a:bodyPr>
          <a:lstStyle/>
          <a:p>
            <a:pPr algn="l"/>
            <a:r>
              <a:rPr sz="1200" b="1">
                <a:solidFill>
                  <a:srgbClr val="108A73"/>
                </a:solidFill>
                <a:latin typeface="Arial"/>
              </a:rPr>
              <a:t>Excel log</a:t>
            </a:r>
          </a:p>
        </p:txBody>
      </p:sp>
      <p:sp>
        <p:nvSpPr>
          <p:cNvPr id="17" name="TextBox 16"/>
          <p:cNvSpPr txBox="1"/>
          <p:nvPr/>
        </p:nvSpPr>
        <p:spPr>
          <a:xfrm>
            <a:off x="3127247" y="237744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Add an audit row</a:t>
            </a:r>
          </a:p>
        </p:txBody>
      </p:sp>
      <p:sp>
        <p:nvSpPr>
          <p:cNvPr id="18" name="Rounded Rectangle 17"/>
          <p:cNvSpPr/>
          <p:nvPr/>
        </p:nvSpPr>
        <p:spPr>
          <a:xfrm>
            <a:off x="5084064" y="173736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84064" y="1737360"/>
            <a:ext cx="82296" cy="175564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85232" y="193852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85232"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5852160" y="1883664"/>
            <a:ext cx="978408" cy="411480"/>
          </a:xfrm>
          <a:prstGeom prst="rect">
            <a:avLst/>
          </a:prstGeom>
          <a:noFill/>
        </p:spPr>
        <p:txBody>
          <a:bodyPr wrap="square" anchor="ctr" lIns="73152" rIns="73152" tIns="73152" bIns="73152">
            <a:spAutoFit/>
          </a:bodyPr>
          <a:lstStyle/>
          <a:p>
            <a:pPr algn="l"/>
            <a:r>
              <a:rPr sz="1200" b="1">
                <a:solidFill>
                  <a:srgbClr val="6D3FD2"/>
                </a:solidFill>
                <a:latin typeface="Arial"/>
              </a:rPr>
              <a:t>Event branch</a:t>
            </a:r>
          </a:p>
        </p:txBody>
      </p:sp>
      <p:sp>
        <p:nvSpPr>
          <p:cNvPr id="23" name="TextBox 22"/>
          <p:cNvSpPr txBox="1"/>
          <p:nvPr/>
        </p:nvSpPr>
        <p:spPr>
          <a:xfrm>
            <a:off x="5340096" y="237744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Route Yes and No</a:t>
            </a:r>
          </a:p>
        </p:txBody>
      </p:sp>
      <p:sp>
        <p:nvSpPr>
          <p:cNvPr id="24" name="Rounded Rectangle 23"/>
          <p:cNvSpPr/>
          <p:nvPr/>
        </p:nvSpPr>
        <p:spPr>
          <a:xfrm>
            <a:off x="7296912" y="173736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96912" y="1737360"/>
            <a:ext cx="82296" cy="1755648"/>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498080" y="1938528"/>
            <a:ext cx="457200" cy="457200"/>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0"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4</a:t>
            </a:r>
          </a:p>
        </p:txBody>
      </p:sp>
      <p:sp>
        <p:nvSpPr>
          <p:cNvPr id="28" name="TextBox 27"/>
          <p:cNvSpPr txBox="1"/>
          <p:nvPr/>
        </p:nvSpPr>
        <p:spPr>
          <a:xfrm>
            <a:off x="8065008" y="1883664"/>
            <a:ext cx="978408" cy="411480"/>
          </a:xfrm>
          <a:prstGeom prst="rect">
            <a:avLst/>
          </a:prstGeom>
          <a:noFill/>
        </p:spPr>
        <p:txBody>
          <a:bodyPr wrap="square" anchor="ctr" lIns="73152" rIns="73152" tIns="73152" bIns="73152">
            <a:spAutoFit/>
          </a:bodyPr>
          <a:lstStyle/>
          <a:p>
            <a:pPr algn="l"/>
            <a:r>
              <a:rPr sz="1200" b="1">
                <a:solidFill>
                  <a:srgbClr val="C77600"/>
                </a:solidFill>
                <a:latin typeface="Arial"/>
              </a:rPr>
              <a:t>Leave approval</a:t>
            </a:r>
          </a:p>
        </p:txBody>
      </p:sp>
      <p:sp>
        <p:nvSpPr>
          <p:cNvPr id="29" name="TextBox 28"/>
          <p:cNvSpPr txBox="1"/>
          <p:nvPr/>
        </p:nvSpPr>
        <p:spPr>
          <a:xfrm>
            <a:off x="7552944" y="237744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Manager decides</a:t>
            </a:r>
          </a:p>
        </p:txBody>
      </p:sp>
      <p:sp>
        <p:nvSpPr>
          <p:cNvPr id="30" name="Rounded Rectangle 29"/>
          <p:cNvSpPr/>
          <p:nvPr/>
        </p:nvSpPr>
        <p:spPr>
          <a:xfrm>
            <a:off x="9509760" y="173736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9760" y="1737360"/>
            <a:ext cx="82296" cy="1755648"/>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710928" y="193852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10928"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5</a:t>
            </a:r>
          </a:p>
        </p:txBody>
      </p:sp>
      <p:sp>
        <p:nvSpPr>
          <p:cNvPr id="34" name="TextBox 33"/>
          <p:cNvSpPr txBox="1"/>
          <p:nvPr/>
        </p:nvSpPr>
        <p:spPr>
          <a:xfrm>
            <a:off x="10277856" y="1883664"/>
            <a:ext cx="978408" cy="411480"/>
          </a:xfrm>
          <a:prstGeom prst="rect">
            <a:avLst/>
          </a:prstGeom>
          <a:noFill/>
        </p:spPr>
        <p:txBody>
          <a:bodyPr wrap="square" anchor="ctr" lIns="73152" rIns="73152" tIns="73152" bIns="73152">
            <a:spAutoFit/>
          </a:bodyPr>
          <a:lstStyle/>
          <a:p>
            <a:pPr algn="l"/>
            <a:r>
              <a:rPr sz="1200" b="1">
                <a:solidFill>
                  <a:srgbClr val="16845B"/>
                </a:solidFill>
                <a:latin typeface="Arial"/>
              </a:rPr>
              <a:t>IT agent</a:t>
            </a:r>
          </a:p>
        </p:txBody>
      </p:sp>
      <p:sp>
        <p:nvSpPr>
          <p:cNvPr id="35" name="TextBox 34"/>
          <p:cNvSpPr txBox="1"/>
          <p:nvPr/>
        </p:nvSpPr>
        <p:spPr>
          <a:xfrm>
            <a:off x="9765792" y="237744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FAQ + Teams</a:t>
            </a:r>
          </a:p>
        </p:txBody>
      </p:sp>
      <p:sp>
        <p:nvSpPr>
          <p:cNvPr id="36" name="Rounded Rectangle 35"/>
          <p:cNvSpPr/>
          <p:nvPr/>
        </p:nvSpPr>
        <p:spPr>
          <a:xfrm>
            <a:off x="658368" y="388620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58368" y="3886200"/>
            <a:ext cx="82296" cy="175564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59536" y="40873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9536" y="40873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6</a:t>
            </a:r>
          </a:p>
        </p:txBody>
      </p:sp>
      <p:sp>
        <p:nvSpPr>
          <p:cNvPr id="40" name="TextBox 39"/>
          <p:cNvSpPr txBox="1"/>
          <p:nvPr/>
        </p:nvSpPr>
        <p:spPr>
          <a:xfrm>
            <a:off x="1426464" y="4032504"/>
            <a:ext cx="978408" cy="411480"/>
          </a:xfrm>
          <a:prstGeom prst="rect">
            <a:avLst/>
          </a:prstGeom>
          <a:noFill/>
        </p:spPr>
        <p:txBody>
          <a:bodyPr wrap="square" anchor="ctr" lIns="73152" rIns="73152" tIns="73152" bIns="73152">
            <a:spAutoFit/>
          </a:bodyPr>
          <a:lstStyle/>
          <a:p>
            <a:pPr algn="l"/>
            <a:r>
              <a:rPr sz="1200" b="1">
                <a:solidFill>
                  <a:srgbClr val="1F6FEB"/>
                </a:solidFill>
                <a:latin typeface="Arial"/>
              </a:rPr>
              <a:t>HR agent</a:t>
            </a:r>
          </a:p>
        </p:txBody>
      </p:sp>
      <p:sp>
        <p:nvSpPr>
          <p:cNvPr id="41" name="TextBox 40"/>
          <p:cNvSpPr txBox="1"/>
          <p:nvPr/>
        </p:nvSpPr>
        <p:spPr>
          <a:xfrm>
            <a:off x="914400" y="452628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SharePoint + Teams</a:t>
            </a:r>
          </a:p>
        </p:txBody>
      </p:sp>
      <p:sp>
        <p:nvSpPr>
          <p:cNvPr id="42" name="Rounded Rectangle 41"/>
          <p:cNvSpPr/>
          <p:nvPr/>
        </p:nvSpPr>
        <p:spPr>
          <a:xfrm>
            <a:off x="2871215" y="388620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871215" y="3886200"/>
            <a:ext cx="82296" cy="175564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072383" y="40873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072383" y="40873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7</a:t>
            </a:r>
          </a:p>
        </p:txBody>
      </p:sp>
      <p:sp>
        <p:nvSpPr>
          <p:cNvPr id="46" name="TextBox 45"/>
          <p:cNvSpPr txBox="1"/>
          <p:nvPr/>
        </p:nvSpPr>
        <p:spPr>
          <a:xfrm>
            <a:off x="3639311" y="4032504"/>
            <a:ext cx="978408" cy="411480"/>
          </a:xfrm>
          <a:prstGeom prst="rect">
            <a:avLst/>
          </a:prstGeom>
          <a:noFill/>
        </p:spPr>
        <p:txBody>
          <a:bodyPr wrap="square" anchor="ctr" lIns="73152" rIns="73152" tIns="73152" bIns="73152">
            <a:spAutoFit/>
          </a:bodyPr>
          <a:lstStyle/>
          <a:p>
            <a:pPr algn="l"/>
            <a:r>
              <a:rPr sz="1200" b="1">
                <a:solidFill>
                  <a:srgbClr val="108A73"/>
                </a:solidFill>
                <a:latin typeface="Arial"/>
              </a:rPr>
              <a:t>Agent routing</a:t>
            </a:r>
          </a:p>
        </p:txBody>
      </p:sp>
      <p:sp>
        <p:nvSpPr>
          <p:cNvPr id="47" name="TextBox 46"/>
          <p:cNvSpPr txBox="1"/>
          <p:nvPr/>
        </p:nvSpPr>
        <p:spPr>
          <a:xfrm>
            <a:off x="3127247" y="452628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IT or HR reply</a:t>
            </a:r>
          </a:p>
        </p:txBody>
      </p:sp>
      <p:sp>
        <p:nvSpPr>
          <p:cNvPr id="48" name="Rounded Rectangle 47"/>
          <p:cNvSpPr/>
          <p:nvPr/>
        </p:nvSpPr>
        <p:spPr>
          <a:xfrm>
            <a:off x="5084064" y="388620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84064" y="3886200"/>
            <a:ext cx="82296" cy="175564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285232" y="40873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85232" y="40873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8</a:t>
            </a:r>
          </a:p>
        </p:txBody>
      </p:sp>
      <p:sp>
        <p:nvSpPr>
          <p:cNvPr id="52" name="TextBox 51"/>
          <p:cNvSpPr txBox="1"/>
          <p:nvPr/>
        </p:nvSpPr>
        <p:spPr>
          <a:xfrm>
            <a:off x="5852160" y="4032504"/>
            <a:ext cx="978408" cy="411480"/>
          </a:xfrm>
          <a:prstGeom prst="rect">
            <a:avLst/>
          </a:prstGeom>
          <a:noFill/>
        </p:spPr>
        <p:txBody>
          <a:bodyPr wrap="square" anchor="ctr" lIns="73152" rIns="73152" tIns="73152" bIns="73152">
            <a:spAutoFit/>
          </a:bodyPr>
          <a:lstStyle/>
          <a:p>
            <a:pPr algn="l"/>
            <a:r>
              <a:rPr sz="1200" b="1">
                <a:solidFill>
                  <a:srgbClr val="6D3FD2"/>
                </a:solidFill>
                <a:latin typeface="Arial"/>
              </a:rPr>
              <a:t>HTTP form</a:t>
            </a:r>
          </a:p>
        </p:txBody>
      </p:sp>
      <p:sp>
        <p:nvSpPr>
          <p:cNvPr id="53" name="TextBox 52"/>
          <p:cNvSpPr txBox="1"/>
          <p:nvPr/>
        </p:nvSpPr>
        <p:spPr>
          <a:xfrm>
            <a:off x="5340096" y="452628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Website webhook</a:t>
            </a:r>
          </a:p>
        </p:txBody>
      </p:sp>
      <p:sp>
        <p:nvSpPr>
          <p:cNvPr id="54" name="Rounded Rectangle 53"/>
          <p:cNvSpPr/>
          <p:nvPr/>
        </p:nvSpPr>
        <p:spPr>
          <a:xfrm>
            <a:off x="7296912" y="388620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296912" y="3886200"/>
            <a:ext cx="82296" cy="1755648"/>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498080" y="4087368"/>
            <a:ext cx="457200" cy="457200"/>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98080" y="40873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9</a:t>
            </a:r>
          </a:p>
        </p:txBody>
      </p:sp>
      <p:sp>
        <p:nvSpPr>
          <p:cNvPr id="58" name="TextBox 57"/>
          <p:cNvSpPr txBox="1"/>
          <p:nvPr/>
        </p:nvSpPr>
        <p:spPr>
          <a:xfrm>
            <a:off x="8065008" y="4032504"/>
            <a:ext cx="978408" cy="411480"/>
          </a:xfrm>
          <a:prstGeom prst="rect">
            <a:avLst/>
          </a:prstGeom>
          <a:noFill/>
        </p:spPr>
        <p:txBody>
          <a:bodyPr wrap="square" anchor="ctr" lIns="73152" rIns="73152" tIns="73152" bIns="73152">
            <a:spAutoFit/>
          </a:bodyPr>
          <a:lstStyle/>
          <a:p>
            <a:pPr algn="l"/>
            <a:r>
              <a:rPr sz="1200" b="1">
                <a:solidFill>
                  <a:srgbClr val="C77600"/>
                </a:solidFill>
                <a:latin typeface="Arial"/>
              </a:rPr>
              <a:t>Finance chat</a:t>
            </a:r>
          </a:p>
        </p:txBody>
      </p:sp>
      <p:sp>
        <p:nvSpPr>
          <p:cNvPr id="59" name="TextBox 58"/>
          <p:cNvSpPr txBox="1"/>
          <p:nvPr/>
        </p:nvSpPr>
        <p:spPr>
          <a:xfrm>
            <a:off x="7552944" y="452628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Grounded agent</a:t>
            </a:r>
          </a:p>
        </p:txBody>
      </p:sp>
      <p:sp>
        <p:nvSpPr>
          <p:cNvPr id="60" name="Rounded Rectangle 59"/>
          <p:cNvSpPr/>
          <p:nvPr/>
        </p:nvSpPr>
        <p:spPr>
          <a:xfrm>
            <a:off x="9509760" y="388620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09760" y="3886200"/>
            <a:ext cx="82296" cy="1755648"/>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710928" y="40873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10928" y="40873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10</a:t>
            </a:r>
          </a:p>
        </p:txBody>
      </p:sp>
      <p:sp>
        <p:nvSpPr>
          <p:cNvPr id="64" name="TextBox 63"/>
          <p:cNvSpPr txBox="1"/>
          <p:nvPr/>
        </p:nvSpPr>
        <p:spPr>
          <a:xfrm>
            <a:off x="10277856" y="4032504"/>
            <a:ext cx="978408" cy="411480"/>
          </a:xfrm>
          <a:prstGeom prst="rect">
            <a:avLst/>
          </a:prstGeom>
          <a:noFill/>
        </p:spPr>
        <p:txBody>
          <a:bodyPr wrap="square" anchor="ctr" lIns="73152" rIns="73152" tIns="73152" bIns="73152">
            <a:spAutoFit/>
          </a:bodyPr>
          <a:lstStyle/>
          <a:p>
            <a:pPr algn="l"/>
            <a:r>
              <a:rPr sz="1200" b="1">
                <a:solidFill>
                  <a:srgbClr val="16845B"/>
                </a:solidFill>
                <a:latin typeface="Arial"/>
              </a:rPr>
              <a:t>Trading advisor</a:t>
            </a:r>
          </a:p>
        </p:txBody>
      </p:sp>
      <p:sp>
        <p:nvSpPr>
          <p:cNvPr id="65" name="TextBox 64"/>
          <p:cNvSpPr txBox="1"/>
          <p:nvPr/>
        </p:nvSpPr>
        <p:spPr>
          <a:xfrm>
            <a:off x="9765792" y="452628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Candles + news</a:t>
            </a:r>
          </a:p>
        </p:txBody>
      </p:sp>
      <p:sp>
        <p:nvSpPr>
          <p:cNvPr id="66" name="TextBox 65"/>
          <p:cNvSpPr txBox="1"/>
          <p:nvPr/>
        </p:nvSpPr>
        <p:spPr>
          <a:xfrm>
            <a:off x="658368" y="5980176"/>
            <a:ext cx="10835640" cy="310896"/>
          </a:xfrm>
          <a:prstGeom prst="rect">
            <a:avLst/>
          </a:prstGeom>
          <a:noFill/>
        </p:spPr>
        <p:txBody>
          <a:bodyPr wrap="square" anchor="ctr" lIns="73152" rIns="73152" tIns="73152" bIns="73152">
            <a:spAutoFit/>
          </a:bodyPr>
          <a:lstStyle/>
          <a:p>
            <a:pPr algn="ctr"/>
            <a:r>
              <a:rPr sz="1400" b="1">
                <a:solidFill>
                  <a:srgbClr val="161B26"/>
                </a:solidFill>
                <a:latin typeface="Arial"/>
              </a:rPr>
              <a:t>Day 1 builds Forms, flows and support agents. Day 2 adds webhooks and the Finance Advisor capstone.</a:t>
            </a:r>
          </a:p>
        </p:txBody>
      </p:sp>
      <p:sp>
        <p:nvSpPr>
          <p:cNvPr id="67" name="TextBox 66"/>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8</a:t>
            </a:r>
          </a:p>
        </p:txBody>
      </p:sp>
    </p:spTree>
    <p:extLst>
      <p:ext uri="{BB962C8B-B14F-4D97-AF65-F5344CB8AC3E}">
        <p14:creationId xmlns:p14="http://schemas.microsoft.com/office/powerpoint/2010/main" val="1100239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13AA7-4DA7-CC16-826D-ADE731091BB5}"/>
              </a:ext>
            </a:extLst>
          </p:cNvPr>
          <p:cNvSpPr>
            <a:spLocks noGrp="1"/>
          </p:cNvSpPr>
          <p:nvPr>
            <p:ph type="title"/>
          </p:nvPr>
        </p:nvSpPr>
        <p:spPr/>
        <p:txBody>
          <a:bodyPr/>
          <a:lstStyle/>
          <a:p>
            <a:r>
              <a:rPr lang="en-US"/>
              <a:t>How This Course Works</a:t>
            </a:r>
          </a:p>
        </p:txBody>
      </p:sp>
      <p:sp>
        <p:nvSpPr>
          <p:cNvPr id="3" name="Content Placeholder 2">
            <a:extLst>
              <a:ext uri="{FF2B5EF4-FFF2-40B4-BE49-F238E27FC236}">
                <a16:creationId xmlns:a16="http://schemas.microsoft.com/office/drawing/2014/main" id="{7B3224E6-4588-00FC-0A91-30E022E8DF8B}"/>
              </a:ext>
            </a:extLst>
          </p:cNvPr>
          <p:cNvSpPr>
            <a:spLocks noGrp="1"/>
          </p:cNvSpPr>
          <p:nvPr>
            <p:ph idx="1"/>
          </p:nvPr>
        </p:nvSpPr>
        <p:spPr/>
        <p:txBody>
          <a:bodyPr>
            <a:normAutofit/>
          </a:bodyPr>
          <a:lstStyle/>
          <a:p>
            <a:r>
              <a:rPr lang="en-US" sz="1800"/>
              <a:t>Concept, then demo, then hands-on — for every topic
Built entirely in Microsoft 365 and the Power Platform
No coding required — low-code, drag-and-drop tools
Save your flows and agents to reuse in your own role
Daily recap and open Q&amp;A to lock in what you learned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extLst>
      <p:ext uri="{BB962C8B-B14F-4D97-AF65-F5344CB8AC3E}">
        <p14:creationId xmlns:p14="http://schemas.microsoft.com/office/powerpoint/2010/main" val="2259203294"/>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SCHEDULE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Lesson Plan — 2 Days, 9:00am–6:00pm</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737360"/>
            <a:ext cx="5074920" cy="429768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737360"/>
            <a:ext cx="82296" cy="429768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3852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D1</a:t>
            </a:r>
          </a:p>
        </p:txBody>
      </p:sp>
      <p:sp>
        <p:nvSpPr>
          <p:cNvPr id="10" name="TextBox 9"/>
          <p:cNvSpPr txBox="1"/>
          <p:nvPr/>
        </p:nvSpPr>
        <p:spPr>
          <a:xfrm>
            <a:off x="1591056" y="1883664"/>
            <a:ext cx="4114800" cy="411480"/>
          </a:xfrm>
          <a:prstGeom prst="rect">
            <a:avLst/>
          </a:prstGeom>
          <a:noFill/>
        </p:spPr>
        <p:txBody>
          <a:bodyPr wrap="square" anchor="ctr" lIns="73152" rIns="73152" tIns="73152" bIns="73152">
            <a:spAutoFit/>
          </a:bodyPr>
          <a:lstStyle/>
          <a:p>
            <a:pPr algn="l"/>
            <a:r>
              <a:rPr sz="1700" b="1">
                <a:solidFill>
                  <a:srgbClr val="1F6FEB"/>
                </a:solidFill>
                <a:latin typeface="Arial"/>
              </a:rPr>
              <a:t>Day 1 — Build and route</a:t>
            </a:r>
          </a:p>
        </p:txBody>
      </p:sp>
      <p:sp>
        <p:nvSpPr>
          <p:cNvPr id="11" name="TextBox 10"/>
          <p:cNvSpPr txBox="1"/>
          <p:nvPr/>
        </p:nvSpPr>
        <p:spPr>
          <a:xfrm>
            <a:off x="1078992" y="2377440"/>
            <a:ext cx="4599432" cy="3547872"/>
          </a:xfrm>
          <a:prstGeom prst="rect">
            <a:avLst/>
          </a:prstGeom>
          <a:noFill/>
        </p:spPr>
        <p:txBody>
          <a:bodyPr wrap="square" anchor="ctr" lIns="73152" rIns="73152" tIns="73152" bIns="73152">
            <a:spAutoFit/>
          </a:bodyPr>
          <a:lstStyle/>
          <a:p>
            <a:pPr algn="l"/>
            <a:r>
              <a:rPr sz="1500" b="0">
                <a:solidFill>
                  <a:srgbClr val="5B6372"/>
                </a:solidFill>
                <a:latin typeface="Arial"/>
              </a:rPr>
              <a:t>9:00–10:40  Concepts + flow types
10:55–3:15  Labs 1–4: Forms, Excel, event branch, approval
3:30–5:50  Agent concepts + Labs 5–7
5:50–6:00  Evidence check and recap</a:t>
            </a:r>
          </a:p>
        </p:txBody>
      </p:sp>
      <p:sp>
        <p:nvSpPr>
          <p:cNvPr id="12" name="Rounded Rectangle 11"/>
          <p:cNvSpPr/>
          <p:nvPr/>
        </p:nvSpPr>
        <p:spPr>
          <a:xfrm>
            <a:off x="6263640" y="1737360"/>
            <a:ext cx="5074920" cy="429768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737360"/>
            <a:ext cx="82296" cy="429768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4808" y="193852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8"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D2</a:t>
            </a:r>
          </a:p>
        </p:txBody>
      </p:sp>
      <p:sp>
        <p:nvSpPr>
          <p:cNvPr id="16" name="TextBox 15"/>
          <p:cNvSpPr txBox="1"/>
          <p:nvPr/>
        </p:nvSpPr>
        <p:spPr>
          <a:xfrm>
            <a:off x="7031736" y="1883664"/>
            <a:ext cx="4114800" cy="411480"/>
          </a:xfrm>
          <a:prstGeom prst="rect">
            <a:avLst/>
          </a:prstGeom>
          <a:noFill/>
        </p:spPr>
        <p:txBody>
          <a:bodyPr wrap="square" anchor="ctr" lIns="73152" rIns="73152" tIns="73152" bIns="73152">
            <a:spAutoFit/>
          </a:bodyPr>
          <a:lstStyle/>
          <a:p>
            <a:pPr algn="l"/>
            <a:r>
              <a:rPr sz="1700" b="1">
                <a:solidFill>
                  <a:srgbClr val="6D3FD2"/>
                </a:solidFill>
                <a:latin typeface="Arial"/>
              </a:rPr>
              <a:t>Day 2 — Connect and advise</a:t>
            </a:r>
          </a:p>
        </p:txBody>
      </p:sp>
      <p:sp>
        <p:nvSpPr>
          <p:cNvPr id="17" name="TextBox 16"/>
          <p:cNvSpPr txBox="1"/>
          <p:nvPr/>
        </p:nvSpPr>
        <p:spPr>
          <a:xfrm>
            <a:off x="6519672" y="2377440"/>
            <a:ext cx="4599432" cy="3547872"/>
          </a:xfrm>
          <a:prstGeom prst="rect">
            <a:avLst/>
          </a:prstGeom>
          <a:noFill/>
        </p:spPr>
        <p:txBody>
          <a:bodyPr wrap="square" anchor="ctr" lIns="73152" rIns="73152" tIns="73152" bIns="73152">
            <a:spAutoFit/>
          </a:bodyPr>
          <a:lstStyle/>
          <a:p>
            <a:pPr algn="l"/>
            <a:r>
              <a:rPr sz="1500" b="0">
                <a:solidFill>
                  <a:srgbClr val="5B6372"/>
                </a:solidFill>
                <a:latin typeface="Arial"/>
              </a:rPr>
              <a:t>9:00–10:05  HTTP requests and webhooks
10:05–12:15  Lab 8 + Finance Agent foundation
1:15–4:00  Labs 9–10: web chat and trading advisor
4:00–6:00  Written + practical assessment</a:t>
            </a:r>
          </a:p>
        </p:txBody>
      </p:sp>
      <p:sp>
        <p:nvSpPr>
          <p:cNvPr id="18" name="TextBox 17"/>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Place phones and other materials under the table or on the floor.</a:t>
            </a:r>
          </a:p>
          <a:p>
            <a:pPr>
              <a:spcAft>
                <a:spcPts val="1000"/>
              </a:spcAft>
            </a:pPr>
            <a:r>
              <a:rPr sz="1800">
                <a:solidFill>
                  <a:srgbClr val="161B26"/>
                </a:solidFill>
                <a:latin typeface="Arial"/>
              </a:rPr>
              <a:t>•  No photos or recording of assessment scripts.</a:t>
            </a:r>
          </a:p>
          <a:p>
            <a:pPr>
              <a:spcAft>
                <a:spcPts val="1000"/>
              </a:spcAft>
            </a:pPr>
            <a:r>
              <a:rPr sz="1800">
                <a:solidFill>
                  <a:srgbClr val="161B26"/>
                </a:solidFill>
                <a:latin typeface="Arial"/>
              </a:rPr>
              <a:t>•  No discussion during the assessment.</a:t>
            </a:r>
          </a:p>
          <a:p>
            <a:pPr>
              <a:spcAft>
                <a:spcPts val="1000"/>
              </a:spcAft>
            </a:pPr>
            <a:r>
              <a:rPr sz="1800">
                <a:solidFill>
                  <a:srgbClr val="161B26"/>
                </a:solidFill>
                <a:latin typeface="Arial"/>
              </a:rPr>
              <a:t>•  Use a black/blue pen for hard-copy assessments.</a:t>
            </a:r>
          </a:p>
          <a:p>
            <a:pPr>
              <a:spcAft>
                <a:spcPts val="1000"/>
              </a:spcAft>
            </a:pPr>
            <a:r>
              <a:rPr sz="1800">
                <a:solidFill>
                  <a:srgbClr val="161B26"/>
                </a:solidFill>
                <a:latin typeface="Arial"/>
              </a:rPr>
              <a:t>•  No liquid paper / correction tape.</a:t>
            </a:r>
          </a:p>
          <a:p>
            <a:pPr>
              <a:spcAft>
                <a:spcPts val="1000"/>
              </a:spcAft>
            </a:pPr>
            <a:r>
              <a:rPr sz="1800">
                <a:solidFill>
                  <a:srgbClr val="161B26"/>
                </a:solidFill>
                <a:latin typeface="Arial"/>
              </a:rPr>
              <a:t>•  Scripts are collected when time is up.</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FINAL ASSESSMENT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Assessment &amp; Funding</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Written</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1 hour · open book
Modules 1–4 and the lab concepts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Practical</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1 hour · open book
Build and verify a working flow and agent</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Evidence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Submit on the LMS
Competent result + attendance requirement</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7" name="TextBox 36"/>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COURSE REPOSITORY</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Access the Hands-On Labs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10 labs</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Lab 0 setup plus Labs 1–10 and four concept modules.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Ready assets</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Excel tables, searchable PDFs, HTML pages and JSON schemas.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Use the guide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Open each index.md or the compiled Learner Guide and work in order.</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COURSE JOURNEY</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Day 1 — Forms, Flows and Business Agents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640080"/>
          </a:xfrm>
          <a:prstGeom prst="rect">
            <a:avLst/>
          </a:prstGeom>
          <a:noFill/>
        </p:spPr>
        <p:txBody>
          <a:bodyPr wrap="square" anchor="ctr" lIns="73152" rIns="73152" tIns="73152" bIns="73152">
            <a:spAutoFit/>
          </a:bodyPr>
          <a:lstStyle/>
          <a:p>
            <a:pPr algn="ctr"/>
            <a:r>
              <a:rPr sz="3400" b="1">
                <a:solidFill>
                  <a:srgbClr val="1F6FEB"/>
                </a:solidFill>
                <a:latin typeface="Arial"/>
              </a:rPr>
              <a:t>DAY 1</a:t>
            </a:r>
          </a:p>
        </p:txBody>
      </p:sp>
      <p:sp>
        <p:nvSpPr>
          <p:cNvPr id="7" name="Rounded Rectangle 6"/>
          <p:cNvSpPr/>
          <p:nvPr/>
        </p:nvSpPr>
        <p:spPr>
          <a:xfrm>
            <a:off x="658368" y="2788920"/>
            <a:ext cx="1830628" cy="137160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Choose the trigger</a:t>
            </a:r>
          </a:p>
        </p:txBody>
      </p:sp>
      <p:sp>
        <p:nvSpPr>
          <p:cNvPr id="9" name="Chevron 8"/>
          <p:cNvSpPr/>
          <p:nvPr/>
        </p:nvSpPr>
        <p:spPr>
          <a:xfrm>
            <a:off x="2543860" y="331927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09620" y="2788920"/>
            <a:ext cx="1830628" cy="137160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82772"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Capture form data</a:t>
            </a:r>
          </a:p>
        </p:txBody>
      </p:sp>
      <p:sp>
        <p:nvSpPr>
          <p:cNvPr id="12" name="Chevron 11"/>
          <p:cNvSpPr/>
          <p:nvPr/>
        </p:nvSpPr>
        <p:spPr>
          <a:xfrm>
            <a:off x="4795112" y="331927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60873" y="2788920"/>
            <a:ext cx="1830628" cy="137160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4025"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Route and approve</a:t>
            </a:r>
          </a:p>
        </p:txBody>
      </p:sp>
      <p:sp>
        <p:nvSpPr>
          <p:cNvPr id="15" name="Chevron 14"/>
          <p:cNvSpPr/>
          <p:nvPr/>
        </p:nvSpPr>
        <p:spPr>
          <a:xfrm>
            <a:off x="7046365" y="331927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12126" y="2788920"/>
            <a:ext cx="1830628" cy="137160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85278"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Ground agents</a:t>
            </a:r>
          </a:p>
        </p:txBody>
      </p:sp>
      <p:sp>
        <p:nvSpPr>
          <p:cNvPr id="18" name="Chevron 17"/>
          <p:cNvSpPr/>
          <p:nvPr/>
        </p:nvSpPr>
        <p:spPr>
          <a:xfrm>
            <a:off x="9297618" y="331927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63379" y="2788920"/>
            <a:ext cx="1830628" cy="137160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6531"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Email the result</a:t>
            </a:r>
          </a:p>
        </p:txBody>
      </p:sp>
      <p:sp>
        <p:nvSpPr>
          <p:cNvPr id="21" name="TextBox 20"/>
          <p:cNvSpPr txBox="1"/>
          <p:nvPr/>
        </p:nvSpPr>
        <p:spPr>
          <a:xfrm>
            <a:off x="1005840" y="4800600"/>
            <a:ext cx="10149840" cy="731520"/>
          </a:xfrm>
          <a:prstGeom prst="rect">
            <a:avLst/>
          </a:prstGeom>
          <a:noFill/>
        </p:spPr>
        <p:txBody>
          <a:bodyPr wrap="square" anchor="ctr" lIns="73152" rIns="73152" tIns="73152" bIns="73152">
            <a:spAutoFit/>
          </a:bodyPr>
          <a:lstStyle/>
          <a:p>
            <a:pPr algn="ctr"/>
            <a:r>
              <a:rPr sz="1800" b="0">
                <a:solidFill>
                  <a:srgbClr val="5B6372"/>
                </a:solidFill>
                <a:latin typeface="Arial"/>
              </a:rPr>
              <a:t>Build one connected automation story, then add specialised agents.</a:t>
            </a:r>
          </a:p>
        </p:txBody>
      </p:sp>
      <p:sp>
        <p:nvSpPr>
          <p:cNvPr id="22" name="TextBox 21"/>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15</a:t>
            </a:r>
          </a:p>
        </p:txBody>
      </p:sp>
    </p:spTree>
    <p:extLst>
      <p:ext uri="{BB962C8B-B14F-4D97-AF65-F5344CB8AC3E}">
        <p14:creationId xmlns:p14="http://schemas.microsoft.com/office/powerpoint/2010/main" val="2029470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WORKFLOW FOUNDATIONS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A Business Workflow Has a Clear Start and Result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Business event</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Trigger</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Actions</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Output</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Evidence</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Name the start event, required work, expected result and proof before opening the designer.</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16</a:t>
            </a:r>
          </a:p>
        </p:txBody>
      </p:sp>
    </p:spTree>
    <p:extLst>
      <p:ext uri="{BB962C8B-B14F-4D97-AF65-F5344CB8AC3E}">
        <p14:creationId xmlns:p14="http://schemas.microsoft.com/office/powerpoint/2010/main" val="2293972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CORE PATTERN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Trigger → Actions → Output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Exactly one trigger</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Get or validate data</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Perform work</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Notify or return</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Every lab uses the same skeleton; only the trigger, actions and business rules change.</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17</a:t>
            </a:r>
          </a:p>
        </p:txBody>
      </p:sp>
    </p:spTree>
    <p:extLst>
      <p:ext uri="{BB962C8B-B14F-4D97-AF65-F5344CB8AC3E}">
        <p14:creationId xmlns:p14="http://schemas.microsoft.com/office/powerpoint/2010/main" val="2507022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HOW A CLOUD FLOW STARTS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Three Cloud Flow Types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Instant flow</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 person deliberately selects Run, presses a button or invokes the flow from an app.
Use when the user controls the exact start time.</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Scheduled flow</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 Recurrence trigger reaches a defined time.
Use for daily, weekly or other timetable-driven work.</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Automated flow</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 connected-service event occurs, such as a new form response.
Use when the process must react immediately.</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18</a:t>
            </a:r>
          </a:p>
        </p:txBody>
      </p:sp>
    </p:spTree>
    <p:extLst>
      <p:ext uri="{BB962C8B-B14F-4D97-AF65-F5344CB8AC3E}">
        <p14:creationId xmlns:p14="http://schemas.microsoft.com/office/powerpoint/2010/main" val="2083644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DECISION RULE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Choose the Flow Type by Asking One Question</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3331464"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3185159" cy="1179576"/>
          </a:xfrm>
          <a:prstGeom prst="rect">
            <a:avLst/>
          </a:prstGeom>
          <a:noFill/>
        </p:spPr>
        <p:txBody>
          <a:bodyPr wrap="square" anchor="ctr" lIns="73152" rIns="73152" tIns="73152" bIns="73152">
            <a:spAutoFit/>
          </a:bodyPr>
          <a:lstStyle/>
          <a:p>
            <a:pPr algn="ctr"/>
            <a:r>
              <a:rPr sz="1300" b="1">
                <a:solidFill>
                  <a:srgbClr val="161B26"/>
                </a:solidFill>
                <a:latin typeface="Arial"/>
              </a:rPr>
              <a:t>A person?</a:t>
            </a:r>
          </a:p>
        </p:txBody>
      </p:sp>
      <p:sp>
        <p:nvSpPr>
          <p:cNvPr id="8" name="Chevron 7"/>
          <p:cNvSpPr/>
          <p:nvPr/>
        </p:nvSpPr>
        <p:spPr>
          <a:xfrm>
            <a:off x="4044696"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0456" y="1874519"/>
            <a:ext cx="3331464"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3608" y="1947672"/>
            <a:ext cx="3185159" cy="1179576"/>
          </a:xfrm>
          <a:prstGeom prst="rect">
            <a:avLst/>
          </a:prstGeom>
          <a:noFill/>
        </p:spPr>
        <p:txBody>
          <a:bodyPr wrap="square" anchor="ctr" lIns="73152" rIns="73152" tIns="73152" bIns="73152">
            <a:spAutoFit/>
          </a:bodyPr>
          <a:lstStyle/>
          <a:p>
            <a:pPr algn="ctr"/>
            <a:r>
              <a:rPr sz="1300" b="1">
                <a:solidFill>
                  <a:srgbClr val="161B26"/>
                </a:solidFill>
                <a:latin typeface="Arial"/>
              </a:rPr>
              <a:t>A clock?</a:t>
            </a:r>
          </a:p>
        </p:txBody>
      </p:sp>
      <p:sp>
        <p:nvSpPr>
          <p:cNvPr id="11" name="Chevron 10"/>
          <p:cNvSpPr/>
          <p:nvPr/>
        </p:nvSpPr>
        <p:spPr>
          <a:xfrm>
            <a:off x="7796784"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62544" y="1874519"/>
            <a:ext cx="3331464"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35696" y="1947672"/>
            <a:ext cx="3185159" cy="1179576"/>
          </a:xfrm>
          <a:prstGeom prst="rect">
            <a:avLst/>
          </a:prstGeom>
          <a:noFill/>
        </p:spPr>
        <p:txBody>
          <a:bodyPr wrap="square" anchor="ctr" lIns="73152" rIns="73152" tIns="73152" bIns="73152">
            <a:spAutoFit/>
          </a:bodyPr>
          <a:lstStyle/>
          <a:p>
            <a:pPr algn="ctr"/>
            <a:r>
              <a:rPr sz="1300" b="1">
                <a:solidFill>
                  <a:srgbClr val="161B26"/>
                </a:solidFill>
                <a:latin typeface="Arial"/>
              </a:rPr>
              <a:t>A new event?</a:t>
            </a:r>
          </a:p>
        </p:txBody>
      </p:sp>
      <p:sp>
        <p:nvSpPr>
          <p:cNvPr id="14" name="Rounded Rectangle 13"/>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17" name="TextBox 16"/>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Person = instant. Clock = scheduled. New record, form, file or message = automated.</a:t>
            </a:r>
          </a:p>
        </p:txBody>
      </p:sp>
      <p:sp>
        <p:nvSpPr>
          <p:cNvPr id="18" name="TextBox 17"/>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19</a:t>
            </a:r>
          </a:p>
        </p:txBody>
      </p:sp>
    </p:spTree>
    <p:extLst>
      <p:ext uri="{BB962C8B-B14F-4D97-AF65-F5344CB8AC3E}">
        <p14:creationId xmlns:p14="http://schemas.microsoft.com/office/powerpoint/2010/main" val="2049180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FLOW COMPARISON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Same Actions, Different Triggers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Instant</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Manual trigger → send email → add Excel row</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Scheduled</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Recurrence → read pending items → send reminder</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Automated</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Form response → get details → email / log / approve</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20</a:t>
            </a:r>
          </a:p>
        </p:txBody>
      </p:sp>
    </p:spTree>
    <p:extLst>
      <p:ext uri="{BB962C8B-B14F-4D97-AF65-F5344CB8AC3E}">
        <p14:creationId xmlns:p14="http://schemas.microsoft.com/office/powerpoint/2010/main" val="3493130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AUTOMATED CLOUD FLOWS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The Microsoft Forms Trigger Pattern</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Form submitted</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Response Id</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Get response details</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Use answers</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trigger identifies the response; Get response details retrieves the actual answers.</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21</a:t>
            </a:r>
          </a:p>
        </p:txBody>
      </p:sp>
    </p:spTree>
    <p:extLst>
      <p:ext uri="{BB962C8B-B14F-4D97-AF65-F5344CB8AC3E}">
        <p14:creationId xmlns:p14="http://schemas.microsoft.com/office/powerpoint/2010/main" val="1182492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SHARED WORKFLOW VISUAL</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 — Form to Email Confirmation</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64208"/>
            <a:ext cx="10835640" cy="4297680"/>
          </a:xfrm>
          <a:prstGeom prst="roundRect">
            <a:avLst/>
          </a:prstGeom>
          <a:solidFill>
            <a:srgbClr val="FFFFFF"/>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chart.png"/>
          <p:cNvPicPr>
            <a:picLocks noChangeAspect="1"/>
          </p:cNvPicPr>
          <p:nvPr/>
        </p:nvPicPr>
        <p:blipFill>
          <a:blip r:embed="rId2"/>
          <a:stretch>
            <a:fillRect/>
          </a:stretch>
        </p:blipFill>
        <p:spPr>
          <a:xfrm>
            <a:off x="952347" y="3072504"/>
            <a:ext cx="10287000" cy="1087894"/>
          </a:xfrm>
          <a:prstGeom prst="rect">
            <a:avLst/>
          </a:prstGeom>
        </p:spPr>
      </p:pic>
      <p:sp>
        <p:nvSpPr>
          <p:cNvPr id="8" name="TextBox 7"/>
          <p:cNvSpPr txBox="1"/>
          <p:nvPr/>
        </p:nvSpPr>
        <p:spPr>
          <a:xfrm>
            <a:off x="914400" y="5669280"/>
            <a:ext cx="10332720" cy="256032"/>
          </a:xfrm>
          <a:prstGeom prst="rect">
            <a:avLst/>
          </a:prstGeom>
          <a:noFill/>
        </p:spPr>
        <p:txBody>
          <a:bodyPr wrap="square" anchor="ctr" lIns="73152" rIns="73152" tIns="73152" bIns="73152">
            <a:spAutoFit/>
          </a:bodyPr>
          <a:lstStyle/>
          <a:p>
            <a:pPr algn="ctr"/>
            <a:r>
              <a:rPr sz="1100" b="0">
                <a:solidFill>
                  <a:srgbClr val="5B6372"/>
                </a:solidFill>
                <a:latin typeface="Arial"/>
              </a:rPr>
              <a:t>Shared workflow visual — follow the arrows; decision branches are labelled.</a:t>
            </a:r>
          </a:p>
        </p:txBody>
      </p:sp>
      <p:sp>
        <p:nvSpPr>
          <p:cNvPr id="9" name="TextBox 8"/>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22</a:t>
            </a:r>
          </a:p>
        </p:txBody>
      </p:sp>
    </p:spTree>
    <p:extLst>
      <p:ext uri="{BB962C8B-B14F-4D97-AF65-F5344CB8AC3E}">
        <p14:creationId xmlns:p14="http://schemas.microsoft.com/office/powerpoint/2010/main" val="1953617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REQUIRED FIELDS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 — Design the Form</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Identity</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Name
Email</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Contact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Tel</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Enquiry</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Message (long answer)</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23</a:t>
            </a:r>
          </a:p>
        </p:txBody>
      </p:sp>
    </p:spTree>
    <p:extLst>
      <p:ext uri="{BB962C8B-B14F-4D97-AF65-F5344CB8AC3E}">
        <p14:creationId xmlns:p14="http://schemas.microsoft.com/office/powerpoint/2010/main" val="1395163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FORM ANSWERS BECOME TOKENS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 — Map Dynamic Content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Name token</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Email token</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Message token</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Personalised email</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Insert tokens from Get response details. Typed labels are not dynamic content.</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24</a:t>
            </a:r>
          </a:p>
        </p:txBody>
      </p:sp>
    </p:spTree>
    <p:extLst>
      <p:ext uri="{BB962C8B-B14F-4D97-AF65-F5344CB8AC3E}">
        <p14:creationId xmlns:p14="http://schemas.microsoft.com/office/powerpoint/2010/main" val="963911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EVIDENCE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 — Test the Real Outcome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Submit once</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Inspect run</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Check recipient</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Confirm one email</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One form submission should produce one successful run and exactly one message.</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25</a:t>
            </a:r>
          </a:p>
        </p:txBody>
      </p:sp>
    </p:spTree>
    <p:extLst>
      <p:ext uri="{BB962C8B-B14F-4D97-AF65-F5344CB8AC3E}">
        <p14:creationId xmlns:p14="http://schemas.microsoft.com/office/powerpoint/2010/main" val="3659566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SHARED WORKFLOW VISUAL</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2 — Log the Enquiry and Send Email</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64208"/>
            <a:ext cx="10835640" cy="4297680"/>
          </a:xfrm>
          <a:prstGeom prst="roundRect">
            <a:avLst/>
          </a:prstGeom>
          <a:solidFill>
            <a:srgbClr val="FFFFFF"/>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chart.png"/>
          <p:cNvPicPr>
            <a:picLocks noChangeAspect="1"/>
          </p:cNvPicPr>
          <p:nvPr/>
        </p:nvPicPr>
        <p:blipFill>
          <a:blip r:embed="rId2"/>
          <a:stretch>
            <a:fillRect/>
          </a:stretch>
        </p:blipFill>
        <p:spPr>
          <a:xfrm>
            <a:off x="952347" y="3157251"/>
            <a:ext cx="10287000" cy="918401"/>
          </a:xfrm>
          <a:prstGeom prst="rect">
            <a:avLst/>
          </a:prstGeom>
        </p:spPr>
      </p:pic>
      <p:sp>
        <p:nvSpPr>
          <p:cNvPr id="8" name="TextBox 7"/>
          <p:cNvSpPr txBox="1"/>
          <p:nvPr/>
        </p:nvSpPr>
        <p:spPr>
          <a:xfrm>
            <a:off x="914400" y="5669280"/>
            <a:ext cx="10332720" cy="256032"/>
          </a:xfrm>
          <a:prstGeom prst="rect">
            <a:avLst/>
          </a:prstGeom>
          <a:noFill/>
        </p:spPr>
        <p:txBody>
          <a:bodyPr wrap="square" anchor="ctr" lIns="73152" rIns="73152" tIns="73152" bIns="73152">
            <a:spAutoFit/>
          </a:bodyPr>
          <a:lstStyle/>
          <a:p>
            <a:pPr algn="ctr"/>
            <a:r>
              <a:rPr sz="1100" b="0">
                <a:solidFill>
                  <a:srgbClr val="5B6372"/>
                </a:solidFill>
                <a:latin typeface="Arial"/>
              </a:rPr>
              <a:t>Shared workflow visual — follow the arrows; decision branches are labelled.</a:t>
            </a:r>
          </a:p>
        </p:txBody>
      </p:sp>
      <p:sp>
        <p:nvSpPr>
          <p:cNvPr id="9" name="TextBox 8"/>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26</a:t>
            </a:r>
          </a:p>
        </p:txBody>
      </p:sp>
    </p:spTree>
    <p:extLst>
      <p:ext uri="{BB962C8B-B14F-4D97-AF65-F5344CB8AC3E}">
        <p14:creationId xmlns:p14="http://schemas.microsoft.com/office/powerpoint/2010/main" val="3892726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NAMED EXCEL TABLE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2 — Enquiry Log.xlsx</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Timestamp</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Name + contact</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Message</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Status + source</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Excel Online actions require a named table: EnquiryLog.</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27</a:t>
            </a:r>
          </a:p>
        </p:txBody>
      </p:sp>
    </p:spTree>
    <p:extLst>
      <p:ext uri="{BB962C8B-B14F-4D97-AF65-F5344CB8AC3E}">
        <p14:creationId xmlns:p14="http://schemas.microsoft.com/office/powerpoint/2010/main" val="161137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RELIABILITY</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2 — Action Order</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Get details</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Add row</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Send email</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Verify workbook</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Put logging before email when confirmation should be sent only after a successful record.</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28</a:t>
            </a:r>
          </a:p>
        </p:txBody>
      </p:sp>
    </p:spTree>
    <p:extLst>
      <p:ext uri="{BB962C8B-B14F-4D97-AF65-F5344CB8AC3E}">
        <p14:creationId xmlns:p14="http://schemas.microsoft.com/office/powerpoint/2010/main" val="3403971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COMMON CHECKS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2 — Troubleshooting</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Workbook</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Store in OneDrive for Business or SharePoint.</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Table</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Select EnquiryLog; loose cells are not a table.</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Lock</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Close desktop Excel if the connector reports a file lock.</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29</a:t>
            </a:r>
          </a:p>
        </p:txBody>
      </p:sp>
    </p:spTree>
    <p:extLst>
      <p:ext uri="{BB962C8B-B14F-4D97-AF65-F5344CB8AC3E}">
        <p14:creationId xmlns:p14="http://schemas.microsoft.com/office/powerpoint/2010/main" val="4119977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SHARED WORKFLOW VISUAL</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3 — Event Registration Branching</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64208"/>
            <a:ext cx="10835640" cy="4297680"/>
          </a:xfrm>
          <a:prstGeom prst="roundRect">
            <a:avLst/>
          </a:prstGeom>
          <a:solidFill>
            <a:srgbClr val="FFFFFF"/>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chart.png"/>
          <p:cNvPicPr>
            <a:picLocks noChangeAspect="1"/>
          </p:cNvPicPr>
          <p:nvPr/>
        </p:nvPicPr>
        <p:blipFill>
          <a:blip r:embed="rId2"/>
          <a:stretch>
            <a:fillRect/>
          </a:stretch>
        </p:blipFill>
        <p:spPr>
          <a:xfrm>
            <a:off x="952347" y="2789596"/>
            <a:ext cx="10287000" cy="1653711"/>
          </a:xfrm>
          <a:prstGeom prst="rect">
            <a:avLst/>
          </a:prstGeom>
        </p:spPr>
      </p:pic>
      <p:sp>
        <p:nvSpPr>
          <p:cNvPr id="8" name="TextBox 7"/>
          <p:cNvSpPr txBox="1"/>
          <p:nvPr/>
        </p:nvSpPr>
        <p:spPr>
          <a:xfrm>
            <a:off x="914400" y="5669280"/>
            <a:ext cx="10332720" cy="256032"/>
          </a:xfrm>
          <a:prstGeom prst="rect">
            <a:avLst/>
          </a:prstGeom>
          <a:noFill/>
        </p:spPr>
        <p:txBody>
          <a:bodyPr wrap="square" anchor="ctr" lIns="73152" rIns="73152" tIns="73152" bIns="73152">
            <a:spAutoFit/>
          </a:bodyPr>
          <a:lstStyle/>
          <a:p>
            <a:pPr algn="ctr"/>
            <a:r>
              <a:rPr sz="1100" b="0">
                <a:solidFill>
                  <a:srgbClr val="5B6372"/>
                </a:solidFill>
                <a:latin typeface="Arial"/>
              </a:rPr>
              <a:t>Shared workflow visual — follow the arrows; decision branches are labelled.</a:t>
            </a:r>
          </a:p>
        </p:txBody>
      </p:sp>
      <p:sp>
        <p:nvSpPr>
          <p:cNvPr id="9" name="TextBox 8"/>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30</a:t>
            </a:r>
          </a:p>
        </p:txBody>
      </p:sp>
    </p:spTree>
    <p:extLst>
      <p:ext uri="{BB962C8B-B14F-4D97-AF65-F5344CB8AC3E}">
        <p14:creationId xmlns:p14="http://schemas.microsoft.com/office/powerpoint/2010/main" val="3976227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PARTICIPANT JOINS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3 — Yes Branch</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Joining = Yes</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Add EventLog row</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Email admin</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Participant details</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administrator receives the person's name, email and telephone number.</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31</a:t>
            </a:r>
          </a:p>
        </p:txBody>
      </p:sp>
    </p:spTree>
    <p:extLst>
      <p:ext uri="{BB962C8B-B14F-4D97-AF65-F5344CB8AC3E}">
        <p14:creationId xmlns:p14="http://schemas.microsoft.com/office/powerpoint/2010/main" val="1332822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PARTICIPANT DECLINES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3 — No Branch</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Joining = No</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Add EventLog row</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Email user</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Invite next time</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user receives thanks and a respectful next-event message.</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32</a:t>
            </a:r>
          </a:p>
        </p:txBody>
      </p:sp>
    </p:spTree>
    <p:extLst>
      <p:ext uri="{BB962C8B-B14F-4D97-AF65-F5344CB8AC3E}">
        <p14:creationId xmlns:p14="http://schemas.microsoft.com/office/powerpoint/2010/main" val="2395582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TEST MATRIX</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3 — Branch Evidence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Yes test</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Correct row + administrator email</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No test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Correct row + user email</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Audit</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JoiningEvent and NotificationSent explain the outcome</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33</a:t>
            </a:r>
          </a:p>
        </p:txBody>
      </p:sp>
    </p:spTree>
    <p:extLst>
      <p:ext uri="{BB962C8B-B14F-4D97-AF65-F5344CB8AC3E}">
        <p14:creationId xmlns:p14="http://schemas.microsoft.com/office/powerpoint/2010/main" val="23045675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SHARED WORKFLOW VISUAL</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4 — Leave Application Approval</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64208"/>
            <a:ext cx="10835640" cy="4297680"/>
          </a:xfrm>
          <a:prstGeom prst="roundRect">
            <a:avLst/>
          </a:prstGeom>
          <a:solidFill>
            <a:srgbClr val="FFFFFF"/>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chart.png"/>
          <p:cNvPicPr>
            <a:picLocks noChangeAspect="1"/>
          </p:cNvPicPr>
          <p:nvPr/>
        </p:nvPicPr>
        <p:blipFill>
          <a:blip r:embed="rId2"/>
          <a:stretch>
            <a:fillRect/>
          </a:stretch>
        </p:blipFill>
        <p:spPr>
          <a:xfrm>
            <a:off x="952347" y="2762767"/>
            <a:ext cx="10287000" cy="1707368"/>
          </a:xfrm>
          <a:prstGeom prst="rect">
            <a:avLst/>
          </a:prstGeom>
        </p:spPr>
      </p:pic>
      <p:sp>
        <p:nvSpPr>
          <p:cNvPr id="8" name="TextBox 7"/>
          <p:cNvSpPr txBox="1"/>
          <p:nvPr/>
        </p:nvSpPr>
        <p:spPr>
          <a:xfrm>
            <a:off x="914400" y="5669280"/>
            <a:ext cx="10332720" cy="256032"/>
          </a:xfrm>
          <a:prstGeom prst="rect">
            <a:avLst/>
          </a:prstGeom>
          <a:noFill/>
        </p:spPr>
        <p:txBody>
          <a:bodyPr wrap="square" anchor="ctr" lIns="73152" rIns="73152" tIns="73152" bIns="73152">
            <a:spAutoFit/>
          </a:bodyPr>
          <a:lstStyle/>
          <a:p>
            <a:pPr algn="ctr"/>
            <a:r>
              <a:rPr sz="1100" b="0">
                <a:solidFill>
                  <a:srgbClr val="5B6372"/>
                </a:solidFill>
                <a:latin typeface="Arial"/>
              </a:rPr>
              <a:t>Shared workflow visual — follow the arrows; decision branches are labelled.</a:t>
            </a:r>
          </a:p>
        </p:txBody>
      </p:sp>
      <p:sp>
        <p:nvSpPr>
          <p:cNvPr id="9" name="TextBox 8"/>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34</a:t>
            </a:r>
          </a:p>
        </p:txBody>
      </p:sp>
    </p:spTree>
    <p:extLst>
      <p:ext uri="{BB962C8B-B14F-4D97-AF65-F5344CB8AC3E}">
        <p14:creationId xmlns:p14="http://schemas.microsoft.com/office/powerpoint/2010/main" val="21126171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REQUIRED INFORMATION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4 — Leave Form</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Employee</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Name
Email</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Dates</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Leave from date
Leave end date</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Request</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Leave type
Reason for leave</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35</a:t>
            </a:r>
          </a:p>
        </p:txBody>
      </p:sp>
    </p:spTree>
    <p:extLst>
      <p:ext uri="{BB962C8B-B14F-4D97-AF65-F5344CB8AC3E}">
        <p14:creationId xmlns:p14="http://schemas.microsoft.com/office/powerpoint/2010/main" val="2148000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APPROVE OR REJECT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4 — Approval Outcome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Start and wait</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Outcome</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Approve branch</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Reject branch</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Compare Outcome to Approve and include manager comments in the applicant email.</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36</a:t>
            </a:r>
          </a:p>
        </p:txBody>
      </p:sp>
    </p:spTree>
    <p:extLst>
      <p:ext uri="{BB962C8B-B14F-4D97-AF65-F5344CB8AC3E}">
        <p14:creationId xmlns:p14="http://schemas.microsoft.com/office/powerpoint/2010/main" val="1090452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HANDLE PEOPLE DATA CAREFULLY</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4 — Governance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Access</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Use only authorised approvers.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Privacy</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Limit medical and personal information.</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Evidence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Retain decision, comments and run history.</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37</a:t>
            </a:r>
          </a:p>
        </p:txBody>
      </p:sp>
    </p:spTree>
    <p:extLst>
      <p:ext uri="{BB962C8B-B14F-4D97-AF65-F5344CB8AC3E}">
        <p14:creationId xmlns:p14="http://schemas.microsoft.com/office/powerpoint/2010/main" val="12616571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PART 1</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Copilot Agent — Six Building Blocks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Knowledge base</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Approved files, websites or SharePoint sources used to ground answers.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Skills</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Capabilities realised through topics, tools and agent flows.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Tools</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Connected functions that read data or create authorised outcomes.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38</a:t>
            </a:r>
          </a:p>
        </p:txBody>
      </p:sp>
    </p:spTree>
    <p:extLst>
      <p:ext uri="{BB962C8B-B14F-4D97-AF65-F5344CB8AC3E}">
        <p14:creationId xmlns:p14="http://schemas.microsoft.com/office/powerpoint/2010/main" val="5895502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PART 2</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Copilot Agent — Six Building Blocks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Memory</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Conversation context and variables; persistence depends on enabled features and governance.</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Model</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The generative model interpreting requests and composing responses.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System message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Instructions defining role, scope, tone, safety and escalation.</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39</a:t>
            </a:r>
          </a:p>
        </p:txBody>
      </p:sp>
    </p:spTree>
    <p:extLst>
      <p:ext uri="{BB962C8B-B14F-4D97-AF65-F5344CB8AC3E}">
        <p14:creationId xmlns:p14="http://schemas.microsoft.com/office/powerpoint/2010/main" val="8624075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AGENT ARCHITECTURE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Knowledge Answers; Tools Act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User asks</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Instructions set scope</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Knowledge grounds</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Tool acts</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Agent replies</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Use static knowledge for approved explanations and tools for live, authorised actions.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40</a:t>
            </a:r>
          </a:p>
        </p:txBody>
      </p:sp>
    </p:spTree>
    <p:extLst>
      <p:ext uri="{BB962C8B-B14F-4D97-AF65-F5344CB8AC3E}">
        <p14:creationId xmlns:p14="http://schemas.microsoft.com/office/powerpoint/2010/main" val="13488177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BEFORE PUBLISHING</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Agent Safety Test Set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Expected</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Questions the agent should answer.</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C77600"/>
                </a:solidFill>
                <a:latin typeface="Arial"/>
              </a:rPr>
              <a:t>Unsupported</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Missing or out-of-scope information.</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Unsafe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Credentials, personal data or prohibited decisions.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41</a:t>
            </a:r>
          </a:p>
        </p:txBody>
      </p:sp>
    </p:spTree>
    <p:extLst>
      <p:ext uri="{BB962C8B-B14F-4D97-AF65-F5344CB8AC3E}">
        <p14:creationId xmlns:p14="http://schemas.microsoft.com/office/powerpoint/2010/main" val="28050155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SHARED WORKFLOW VISUAL</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5 — IT Support Agent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64208"/>
            <a:ext cx="10835640" cy="4297680"/>
          </a:xfrm>
          <a:prstGeom prst="roundRect">
            <a:avLst/>
          </a:prstGeom>
          <a:solidFill>
            <a:srgbClr val="FFFFFF"/>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chart.png"/>
          <p:cNvPicPr>
            <a:picLocks noChangeAspect="1"/>
          </p:cNvPicPr>
          <p:nvPr/>
        </p:nvPicPr>
        <p:blipFill>
          <a:blip r:embed="rId2"/>
          <a:stretch>
            <a:fillRect/>
          </a:stretch>
        </p:blipFill>
        <p:spPr>
          <a:xfrm>
            <a:off x="952347" y="2416941"/>
            <a:ext cx="10287000" cy="2399020"/>
          </a:xfrm>
          <a:prstGeom prst="rect">
            <a:avLst/>
          </a:prstGeom>
        </p:spPr>
      </p:pic>
      <p:sp>
        <p:nvSpPr>
          <p:cNvPr id="8" name="TextBox 7"/>
          <p:cNvSpPr txBox="1"/>
          <p:nvPr/>
        </p:nvSpPr>
        <p:spPr>
          <a:xfrm>
            <a:off x="914400" y="5669280"/>
            <a:ext cx="10332720" cy="256032"/>
          </a:xfrm>
          <a:prstGeom prst="rect">
            <a:avLst/>
          </a:prstGeom>
          <a:noFill/>
        </p:spPr>
        <p:txBody>
          <a:bodyPr wrap="square" anchor="ctr" lIns="73152" rIns="73152" tIns="73152" bIns="73152">
            <a:spAutoFit/>
          </a:bodyPr>
          <a:lstStyle/>
          <a:p>
            <a:pPr algn="ctr"/>
            <a:r>
              <a:rPr sz="1100" b="0">
                <a:solidFill>
                  <a:srgbClr val="5B6372"/>
                </a:solidFill>
                <a:latin typeface="Arial"/>
              </a:rPr>
              <a:t>Shared workflow visual — follow the arrows; decision branches are labelled.</a:t>
            </a:r>
          </a:p>
        </p:txBody>
      </p:sp>
      <p:sp>
        <p:nvSpPr>
          <p:cNvPr id="9" name="TextBox 8"/>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42</a:t>
            </a:r>
          </a:p>
        </p:txBody>
      </p:sp>
    </p:spTree>
    <p:extLst>
      <p:ext uri="{BB962C8B-B14F-4D97-AF65-F5344CB8AC3E}">
        <p14:creationId xmlns:p14="http://schemas.microsoft.com/office/powerpoint/2010/main" val="35402146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COPILOT STUDIO → TEAMS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5 — Test and Deploy</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Positive</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Password reset, MFA, VPN and device loss.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Negative</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Credential request and unrelated HR question.</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Channel</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Publish latest version and verify in Teams.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43</a:t>
            </a:r>
          </a:p>
        </p:txBody>
      </p:sp>
    </p:spTree>
    <p:extLst>
      <p:ext uri="{BB962C8B-B14F-4D97-AF65-F5344CB8AC3E}">
        <p14:creationId xmlns:p14="http://schemas.microsoft.com/office/powerpoint/2010/main" val="30421729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SHARED WORKFLOW VISUAL</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6 — HR Support Agent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64208"/>
            <a:ext cx="10835640" cy="4297680"/>
          </a:xfrm>
          <a:prstGeom prst="roundRect">
            <a:avLst/>
          </a:prstGeom>
          <a:solidFill>
            <a:srgbClr val="FFFFFF"/>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chart.png"/>
          <p:cNvPicPr>
            <a:picLocks noChangeAspect="1"/>
          </p:cNvPicPr>
          <p:nvPr/>
        </p:nvPicPr>
        <p:blipFill>
          <a:blip r:embed="rId2"/>
          <a:stretch>
            <a:fillRect/>
          </a:stretch>
        </p:blipFill>
        <p:spPr>
          <a:xfrm>
            <a:off x="952347" y="2574602"/>
            <a:ext cx="10287000" cy="2083699"/>
          </a:xfrm>
          <a:prstGeom prst="rect">
            <a:avLst/>
          </a:prstGeom>
        </p:spPr>
      </p:pic>
      <p:sp>
        <p:nvSpPr>
          <p:cNvPr id="8" name="TextBox 7"/>
          <p:cNvSpPr txBox="1"/>
          <p:nvPr/>
        </p:nvSpPr>
        <p:spPr>
          <a:xfrm>
            <a:off x="914400" y="5669280"/>
            <a:ext cx="10332720" cy="256032"/>
          </a:xfrm>
          <a:prstGeom prst="rect">
            <a:avLst/>
          </a:prstGeom>
          <a:noFill/>
        </p:spPr>
        <p:txBody>
          <a:bodyPr wrap="square" anchor="ctr" lIns="73152" rIns="73152" tIns="73152" bIns="73152">
            <a:spAutoFit/>
          </a:bodyPr>
          <a:lstStyle/>
          <a:p>
            <a:pPr algn="ctr"/>
            <a:r>
              <a:rPr sz="1100" b="0">
                <a:solidFill>
                  <a:srgbClr val="5B6372"/>
                </a:solidFill>
                <a:latin typeface="Arial"/>
              </a:rPr>
              <a:t>Shared workflow visual — follow the arrows; decision branches are labelled.</a:t>
            </a:r>
          </a:p>
        </p:txBody>
      </p:sp>
      <p:sp>
        <p:nvSpPr>
          <p:cNvPr id="9" name="TextBox 8"/>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44</a:t>
            </a:r>
          </a:p>
        </p:txBody>
      </p:sp>
    </p:spTree>
    <p:extLst>
      <p:ext uri="{BB962C8B-B14F-4D97-AF65-F5344CB8AC3E}">
        <p14:creationId xmlns:p14="http://schemas.microsoft.com/office/powerpoint/2010/main" val="586675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INFORMATION, NOT DECISIONS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6 — HR Boundaries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Explain</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Approved leave, expenses and workplace policy.</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Protect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Never expose another employee's records.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Escalate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HR and managers make final decisions.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45</a:t>
            </a:r>
          </a:p>
        </p:txBody>
      </p:sp>
    </p:spTree>
    <p:extLst>
      <p:ext uri="{BB962C8B-B14F-4D97-AF65-F5344CB8AC3E}">
        <p14:creationId xmlns:p14="http://schemas.microsoft.com/office/powerpoint/2010/main" val="5866754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SHARED WORKFLOW VISUAL</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7 — Route Requests to Specialised Agents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64208"/>
            <a:ext cx="10835640" cy="4297680"/>
          </a:xfrm>
          <a:prstGeom prst="roundRect">
            <a:avLst/>
          </a:prstGeom>
          <a:solidFill>
            <a:srgbClr val="FFFFFF"/>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chart.png"/>
          <p:cNvPicPr>
            <a:picLocks noChangeAspect="1"/>
          </p:cNvPicPr>
          <p:nvPr/>
        </p:nvPicPr>
        <p:blipFill>
          <a:blip r:embed="rId2"/>
          <a:stretch>
            <a:fillRect/>
          </a:stretch>
        </p:blipFill>
        <p:spPr>
          <a:xfrm>
            <a:off x="952347" y="2922723"/>
            <a:ext cx="10287000" cy="1387456"/>
          </a:xfrm>
          <a:prstGeom prst="rect">
            <a:avLst/>
          </a:prstGeom>
        </p:spPr>
      </p:pic>
      <p:sp>
        <p:nvSpPr>
          <p:cNvPr id="8" name="TextBox 7"/>
          <p:cNvSpPr txBox="1"/>
          <p:nvPr/>
        </p:nvSpPr>
        <p:spPr>
          <a:xfrm>
            <a:off x="914400" y="5669280"/>
            <a:ext cx="10332720" cy="256032"/>
          </a:xfrm>
          <a:prstGeom prst="rect">
            <a:avLst/>
          </a:prstGeom>
          <a:noFill/>
        </p:spPr>
        <p:txBody>
          <a:bodyPr wrap="square" anchor="ctr" lIns="73152" rIns="73152" tIns="73152" bIns="73152">
            <a:spAutoFit/>
          </a:bodyPr>
          <a:lstStyle/>
          <a:p>
            <a:pPr algn="ctr"/>
            <a:r>
              <a:rPr sz="1100" b="0">
                <a:solidFill>
                  <a:srgbClr val="5B6372"/>
                </a:solidFill>
                <a:latin typeface="Arial"/>
              </a:rPr>
              <a:t>Shared workflow visual — follow the arrows; decision branches are labelled.</a:t>
            </a:r>
          </a:p>
        </p:txBody>
      </p:sp>
      <p:sp>
        <p:nvSpPr>
          <p:cNvPr id="9" name="TextBox 8"/>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46</a:t>
            </a:r>
          </a:p>
        </p:txBody>
      </p:sp>
    </p:spTree>
    <p:extLst>
      <p:ext uri="{BB962C8B-B14F-4D97-AF65-F5344CB8AC3E}">
        <p14:creationId xmlns:p14="http://schemas.microsoft.com/office/powerpoint/2010/main" val="586675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ONE CONNECTED PROGRESSION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Day 1 Recap</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Flows</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Forms → email → Excel → condition → approval</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Agents</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IT FAQ and HR SharePoint knowledge</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Integration</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Form → specialised agent → user email</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47</a:t>
            </a:r>
          </a:p>
        </p:txBody>
      </p:sp>
    </p:spTree>
    <p:extLst>
      <p:ext uri="{BB962C8B-B14F-4D97-AF65-F5344CB8AC3E}">
        <p14:creationId xmlns:p14="http://schemas.microsoft.com/office/powerpoint/2010/main" val="1526476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COURSE JOURNEY</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Day 2 — HTTP, Webhooks and Agent Websites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640080"/>
          </a:xfrm>
          <a:prstGeom prst="rect">
            <a:avLst/>
          </a:prstGeom>
          <a:noFill/>
        </p:spPr>
        <p:txBody>
          <a:bodyPr wrap="square" anchor="ctr" lIns="73152" rIns="73152" tIns="73152" bIns="73152">
            <a:spAutoFit/>
          </a:bodyPr>
          <a:lstStyle/>
          <a:p>
            <a:pPr algn="ctr"/>
            <a:r>
              <a:rPr sz="3400" b="1">
                <a:solidFill>
                  <a:srgbClr val="1F6FEB"/>
                </a:solidFill>
                <a:latin typeface="Arial"/>
              </a:rPr>
              <a:t>DAY 2</a:t>
            </a:r>
          </a:p>
        </p:txBody>
      </p:sp>
      <p:sp>
        <p:nvSpPr>
          <p:cNvPr id="7" name="Rounded Rectangle 6"/>
          <p:cNvSpPr/>
          <p:nvPr/>
        </p:nvSpPr>
        <p:spPr>
          <a:xfrm>
            <a:off x="658368" y="2788920"/>
            <a:ext cx="1830628" cy="137160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HTTP request</a:t>
            </a:r>
          </a:p>
        </p:txBody>
      </p:sp>
      <p:sp>
        <p:nvSpPr>
          <p:cNvPr id="9" name="Chevron 8"/>
          <p:cNvSpPr/>
          <p:nvPr/>
        </p:nvSpPr>
        <p:spPr>
          <a:xfrm>
            <a:off x="2543860" y="331927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09620" y="2788920"/>
            <a:ext cx="1830628" cy="137160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82772"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Webhook URL</a:t>
            </a:r>
          </a:p>
        </p:txBody>
      </p:sp>
      <p:sp>
        <p:nvSpPr>
          <p:cNvPr id="12" name="Chevron 11"/>
          <p:cNvSpPr/>
          <p:nvPr/>
        </p:nvSpPr>
        <p:spPr>
          <a:xfrm>
            <a:off x="4795112" y="331927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60873" y="2788920"/>
            <a:ext cx="1830628" cy="137160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4025"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Finance chat</a:t>
            </a:r>
          </a:p>
        </p:txBody>
      </p:sp>
      <p:sp>
        <p:nvSpPr>
          <p:cNvPr id="15" name="Chevron 14"/>
          <p:cNvSpPr/>
          <p:nvPr/>
        </p:nvSpPr>
        <p:spPr>
          <a:xfrm>
            <a:off x="7046365" y="331927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12126" y="2788920"/>
            <a:ext cx="1830628" cy="137160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85278"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Market tools</a:t>
            </a:r>
          </a:p>
        </p:txBody>
      </p:sp>
      <p:sp>
        <p:nvSpPr>
          <p:cNvPr id="18" name="Chevron 17"/>
          <p:cNvSpPr/>
          <p:nvPr/>
        </p:nvSpPr>
        <p:spPr>
          <a:xfrm>
            <a:off x="9297618" y="331927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63379" y="2788920"/>
            <a:ext cx="1830628" cy="137160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6531"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Trading website</a:t>
            </a:r>
          </a:p>
        </p:txBody>
      </p:sp>
      <p:sp>
        <p:nvSpPr>
          <p:cNvPr id="21" name="TextBox 20"/>
          <p:cNvSpPr txBox="1"/>
          <p:nvPr/>
        </p:nvSpPr>
        <p:spPr>
          <a:xfrm>
            <a:off x="1005840" y="4800600"/>
            <a:ext cx="10149840" cy="731520"/>
          </a:xfrm>
          <a:prstGeom prst="rect">
            <a:avLst/>
          </a:prstGeom>
          <a:noFill/>
        </p:spPr>
        <p:txBody>
          <a:bodyPr wrap="square" anchor="ctr" lIns="73152" rIns="73152" tIns="73152" bIns="73152">
            <a:spAutoFit/>
          </a:bodyPr>
          <a:lstStyle/>
          <a:p>
            <a:pPr algn="ctr"/>
            <a:r>
              <a:rPr sz="1800" b="0">
                <a:solidFill>
                  <a:srgbClr val="5B6372"/>
                </a:solidFill>
                <a:latin typeface="Arial"/>
              </a:rPr>
              <a:t>Expose flows safely to websites and finish with a tool-using Finance Advisor Agent.</a:t>
            </a:r>
          </a:p>
        </p:txBody>
      </p:sp>
      <p:sp>
        <p:nvSpPr>
          <p:cNvPr id="22" name="TextBox 21"/>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48</a:t>
            </a:r>
          </a:p>
        </p:txBody>
      </p:sp>
    </p:spTree>
    <p:extLst>
      <p:ext uri="{BB962C8B-B14F-4D97-AF65-F5344CB8AC3E}">
        <p14:creationId xmlns:p14="http://schemas.microsoft.com/office/powerpoint/2010/main" val="20260207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WEB FOUNDATIONS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An HTTP Request Has Four Main Parts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Method</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URL</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Headers</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Body</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lab websites use POST to send a JSON body to the Power Automate endpoint.</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49</a:t>
            </a:r>
          </a:p>
        </p:txBody>
      </p:sp>
    </p:spTree>
    <p:extLst>
      <p:ext uri="{BB962C8B-B14F-4D97-AF65-F5344CB8AC3E}">
        <p14:creationId xmlns:p14="http://schemas.microsoft.com/office/powerpoint/2010/main" val="38157952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INTENT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Common HTTP Methods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GET</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Read data</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POST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Submit data or start work</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200" b="1">
                <a:solidFill>
                  <a:srgbClr val="6D3FD2"/>
                </a:solidFill>
                <a:latin typeface="Arial"/>
              </a:rPr>
              <a:t>PUT · PATCH · DELETE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Update or remove data</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50</a:t>
            </a:r>
          </a:p>
        </p:txBody>
      </p:sp>
    </p:spTree>
    <p:extLst>
      <p:ext uri="{BB962C8B-B14F-4D97-AF65-F5344CB8AC3E}">
        <p14:creationId xmlns:p14="http://schemas.microsoft.com/office/powerpoint/2010/main" val="40821782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REQUEST AND RESPONSE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A Webhook Is an Event Endpoint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Website</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POST JSON</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HTTP trigger</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Flow actions</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JSON Response</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Power Automate generates the URL after a valid trigger-and-action flow saves.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51</a:t>
            </a:r>
          </a:p>
        </p:txBody>
      </p:sp>
    </p:spTree>
    <p:extLst>
      <p:ext uri="{BB962C8B-B14F-4D97-AF65-F5344CB8AC3E}">
        <p14:creationId xmlns:p14="http://schemas.microsoft.com/office/powerpoint/2010/main" val="2076235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CLASSROOM VERSUS PRODUCTION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Webhook Safety</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URL</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Treat an anonymous webhook URL like a secret.</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Input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Validate, minimise and never include credentials.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Output</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Return only the data the website needs.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52</a:t>
            </a:r>
          </a:p>
        </p:txBody>
      </p:sp>
    </p:spTree>
    <p:extLst>
      <p:ext uri="{BB962C8B-B14F-4D97-AF65-F5344CB8AC3E}">
        <p14:creationId xmlns:p14="http://schemas.microsoft.com/office/powerpoint/2010/main" val="7041770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SHARED WORKFLOW VISUAL</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8 — Website HTTP Enquiry</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64208"/>
            <a:ext cx="10835640" cy="4297680"/>
          </a:xfrm>
          <a:prstGeom prst="roundRect">
            <a:avLst/>
          </a:prstGeom>
          <a:solidFill>
            <a:srgbClr val="FFFFFF"/>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chart.png"/>
          <p:cNvPicPr>
            <a:picLocks noChangeAspect="1"/>
          </p:cNvPicPr>
          <p:nvPr/>
        </p:nvPicPr>
        <p:blipFill>
          <a:blip r:embed="rId2"/>
          <a:stretch>
            <a:fillRect/>
          </a:stretch>
        </p:blipFill>
        <p:spPr>
          <a:xfrm>
            <a:off x="952347" y="2777293"/>
            <a:ext cx="10287000" cy="1678317"/>
          </a:xfrm>
          <a:prstGeom prst="rect">
            <a:avLst/>
          </a:prstGeom>
        </p:spPr>
      </p:pic>
      <p:sp>
        <p:nvSpPr>
          <p:cNvPr id="8" name="TextBox 7"/>
          <p:cNvSpPr txBox="1"/>
          <p:nvPr/>
        </p:nvSpPr>
        <p:spPr>
          <a:xfrm>
            <a:off x="914400" y="5669280"/>
            <a:ext cx="10332720" cy="256032"/>
          </a:xfrm>
          <a:prstGeom prst="rect">
            <a:avLst/>
          </a:prstGeom>
          <a:noFill/>
        </p:spPr>
        <p:txBody>
          <a:bodyPr wrap="square" anchor="ctr" lIns="73152" rIns="73152" tIns="73152" bIns="73152">
            <a:spAutoFit/>
          </a:bodyPr>
          <a:lstStyle/>
          <a:p>
            <a:pPr algn="ctr"/>
            <a:r>
              <a:rPr sz="1100" b="0">
                <a:solidFill>
                  <a:srgbClr val="5B6372"/>
                </a:solidFill>
                <a:latin typeface="Arial"/>
              </a:rPr>
              <a:t>Shared workflow visual — follow the arrows; decision branches are labelled.</a:t>
            </a:r>
          </a:p>
        </p:txBody>
      </p:sp>
      <p:sp>
        <p:nvSpPr>
          <p:cNvPr id="9" name="TextBox 8"/>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53</a:t>
            </a:r>
          </a:p>
        </p:txBody>
      </p:sp>
    </p:spTree>
    <p:extLst>
      <p:ext uri="{BB962C8B-B14F-4D97-AF65-F5344CB8AC3E}">
        <p14:creationId xmlns:p14="http://schemas.microsoft.com/office/powerpoint/2010/main" val="40718705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JSON SCHEMA</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8 — Request Contract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name</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email</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tel</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message</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Generate the trigger schema from a sample payload before mapping fields.</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54</a:t>
            </a:r>
          </a:p>
        </p:txBody>
      </p:sp>
    </p:spTree>
    <p:extLst>
      <p:ext uri="{BB962C8B-B14F-4D97-AF65-F5344CB8AC3E}">
        <p14:creationId xmlns:p14="http://schemas.microsoft.com/office/powerpoint/2010/main" val="7599357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URL GENERATION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8 — Complete the Flow Before Saving</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HTTP trigger</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Send email action</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Response action</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Save</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Copy URL</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A trigger alone is incomplete; add at least one action and resolve validation errors.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55</a:t>
            </a:r>
          </a:p>
        </p:txBody>
      </p:sp>
    </p:spTree>
    <p:extLst>
      <p:ext uri="{BB962C8B-B14F-4D97-AF65-F5344CB8AC3E}">
        <p14:creationId xmlns:p14="http://schemas.microsoft.com/office/powerpoint/2010/main" val="1751461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END-TO-END EVIDENCE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8 — Browser Test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Connect</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Paste and save the current webhook URL.</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Submit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Enter realistic classroom data once.</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Verify</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Page status, run history and administrator email.</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56</a:t>
            </a:r>
          </a:p>
        </p:txBody>
      </p:sp>
    </p:spTree>
    <p:extLst>
      <p:ext uri="{BB962C8B-B14F-4D97-AF65-F5344CB8AC3E}">
        <p14:creationId xmlns:p14="http://schemas.microsoft.com/office/powerpoint/2010/main" val="23614961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SHARED WORKFLOW VISUAL</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9 — Finance Agent Web Chat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64208"/>
            <a:ext cx="10835640" cy="4297680"/>
          </a:xfrm>
          <a:prstGeom prst="roundRect">
            <a:avLst/>
          </a:prstGeom>
          <a:solidFill>
            <a:srgbClr val="FFFFFF"/>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chart.png"/>
          <p:cNvPicPr>
            <a:picLocks noChangeAspect="1"/>
          </p:cNvPicPr>
          <p:nvPr/>
        </p:nvPicPr>
        <p:blipFill>
          <a:blip r:embed="rId2"/>
          <a:stretch>
            <a:fillRect/>
          </a:stretch>
        </p:blipFill>
        <p:spPr>
          <a:xfrm>
            <a:off x="952347" y="2481738"/>
            <a:ext cx="10287000" cy="2269426"/>
          </a:xfrm>
          <a:prstGeom prst="rect">
            <a:avLst/>
          </a:prstGeom>
        </p:spPr>
      </p:pic>
      <p:sp>
        <p:nvSpPr>
          <p:cNvPr id="8" name="TextBox 7"/>
          <p:cNvSpPr txBox="1"/>
          <p:nvPr/>
        </p:nvSpPr>
        <p:spPr>
          <a:xfrm>
            <a:off x="914400" y="5669280"/>
            <a:ext cx="10332720" cy="256032"/>
          </a:xfrm>
          <a:prstGeom prst="rect">
            <a:avLst/>
          </a:prstGeom>
          <a:noFill/>
        </p:spPr>
        <p:txBody>
          <a:bodyPr wrap="square" anchor="ctr" lIns="73152" rIns="73152" tIns="73152" bIns="73152">
            <a:spAutoFit/>
          </a:bodyPr>
          <a:lstStyle/>
          <a:p>
            <a:pPr algn="ctr"/>
            <a:r>
              <a:rPr sz="1100" b="0">
                <a:solidFill>
                  <a:srgbClr val="5B6372"/>
                </a:solidFill>
                <a:latin typeface="Arial"/>
              </a:rPr>
              <a:t>Shared workflow visual — follow the arrows; decision branches are labelled.</a:t>
            </a:r>
          </a:p>
        </p:txBody>
      </p:sp>
      <p:sp>
        <p:nvSpPr>
          <p:cNvPr id="9" name="TextBox 8"/>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57</a:t>
            </a:r>
          </a:p>
        </p:txBody>
      </p:sp>
    </p:spTree>
    <p:extLst>
      <p:ext uri="{BB962C8B-B14F-4D97-AF65-F5344CB8AC3E}">
        <p14:creationId xmlns:p14="http://schemas.microsoft.com/office/powerpoint/2010/main" val="10299759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EDUCATIONAL USE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9 — Finance Knowledge Boundary</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Explain</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Orders, candles, timeframes, volatility and news.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Qualify</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Separate facts from interpretation and uncertainty.</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Refuse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No guarantees or personalised buy/sell instructions.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58</a:t>
            </a:r>
          </a:p>
        </p:txBody>
      </p:sp>
    </p:spTree>
    <p:extLst>
      <p:ext uri="{BB962C8B-B14F-4D97-AF65-F5344CB8AC3E}">
        <p14:creationId xmlns:p14="http://schemas.microsoft.com/office/powerpoint/2010/main" val="30082586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RUN A PUBLISHED AGENT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9 — HTTP-to-Agent Flow</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prompt</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Run Finance Agent</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agent response</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Response JSON</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Insert the actual agent-response output token into the JSON reply.</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59</a:t>
            </a:r>
          </a:p>
        </p:txBody>
      </p:sp>
    </p:spTree>
    <p:extLst>
      <p:ext uri="{BB962C8B-B14F-4D97-AF65-F5344CB8AC3E}">
        <p14:creationId xmlns:p14="http://schemas.microsoft.com/office/powerpoint/2010/main" val="39475096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GROUNDING AND SAFETY</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9 — Test Set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Concept</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Market versus limit order.</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C77600"/>
                </a:solidFill>
                <a:latin typeface="Arial"/>
              </a:rPr>
              <a:t>Uncertainty</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Question not covered by knowledge.</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Boundary</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Request for guaranteed returns.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60</a:t>
            </a:r>
          </a:p>
        </p:txBody>
      </p:sp>
    </p:spTree>
    <p:extLst>
      <p:ext uri="{BB962C8B-B14F-4D97-AF65-F5344CB8AC3E}">
        <p14:creationId xmlns:p14="http://schemas.microsoft.com/office/powerpoint/2010/main" val="25366111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LEARNER-ENTERED WEBHOOK</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9 — Connect the Chat Page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Save URL locally</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Send prompt</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Display reply</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Show disclaimer</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One message should create one flow run; do not embed tenant URLs in source.</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61</a:t>
            </a:r>
          </a:p>
        </p:txBody>
      </p:sp>
    </p:spTree>
    <p:extLst>
      <p:ext uri="{BB962C8B-B14F-4D97-AF65-F5344CB8AC3E}">
        <p14:creationId xmlns:p14="http://schemas.microsoft.com/office/powerpoint/2010/main" val="1397997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SHARED WORKFLOW VISUAL</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AI Trading Advisor Website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64208"/>
            <a:ext cx="10835640" cy="4297680"/>
          </a:xfrm>
          <a:prstGeom prst="roundRect">
            <a:avLst/>
          </a:prstGeom>
          <a:solidFill>
            <a:srgbClr val="FFFFFF"/>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chart.png"/>
          <p:cNvPicPr>
            <a:picLocks noChangeAspect="1"/>
          </p:cNvPicPr>
          <p:nvPr/>
        </p:nvPicPr>
        <p:blipFill>
          <a:blip r:embed="rId2"/>
          <a:stretch>
            <a:fillRect/>
          </a:stretch>
        </p:blipFill>
        <p:spPr>
          <a:xfrm>
            <a:off x="952347" y="2383838"/>
            <a:ext cx="10287000" cy="2465227"/>
          </a:xfrm>
          <a:prstGeom prst="rect">
            <a:avLst/>
          </a:prstGeom>
        </p:spPr>
      </p:pic>
      <p:sp>
        <p:nvSpPr>
          <p:cNvPr id="8" name="TextBox 7"/>
          <p:cNvSpPr txBox="1"/>
          <p:nvPr/>
        </p:nvSpPr>
        <p:spPr>
          <a:xfrm>
            <a:off x="914400" y="5669280"/>
            <a:ext cx="10332720" cy="256032"/>
          </a:xfrm>
          <a:prstGeom prst="rect">
            <a:avLst/>
          </a:prstGeom>
          <a:noFill/>
        </p:spPr>
        <p:txBody>
          <a:bodyPr wrap="square" anchor="ctr" lIns="73152" rIns="73152" tIns="73152" bIns="73152">
            <a:spAutoFit/>
          </a:bodyPr>
          <a:lstStyle/>
          <a:p>
            <a:pPr algn="ctr"/>
            <a:r>
              <a:rPr sz="1100" b="0">
                <a:solidFill>
                  <a:srgbClr val="5B6372"/>
                </a:solidFill>
                <a:latin typeface="Arial"/>
              </a:rPr>
              <a:t>Shared workflow visual — follow the arrows; decision branches are labelled.</a:t>
            </a:r>
          </a:p>
        </p:txBody>
      </p:sp>
      <p:sp>
        <p:nvSpPr>
          <p:cNvPr id="9" name="TextBox 8"/>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62</a:t>
            </a:r>
          </a:p>
        </p:txBody>
      </p:sp>
    </p:spTree>
    <p:extLst>
      <p:ext uri="{BB962C8B-B14F-4D97-AF65-F5344CB8AC3E}">
        <p14:creationId xmlns:p14="http://schemas.microsoft.com/office/powerpoint/2010/main" val="27075783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LIVE MARKET CONTEXT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Four Authorised Tools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Twelve Data</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1-minute candles
15-minute candles
1-hour candles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NewsAPI</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Recent relevant company or symbol news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Guardrails</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Validate symbols, limits, errors and credentials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63</a:t>
            </a:r>
          </a:p>
        </p:txBody>
      </p:sp>
    </p:spTree>
    <p:extLst>
      <p:ext uri="{BB962C8B-B14F-4D97-AF65-F5344CB8AC3E}">
        <p14:creationId xmlns:p14="http://schemas.microsoft.com/office/powerpoint/2010/main" val="27127987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DO NOT FORCE AGREEMENT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Multi-Timeframe Reasoning</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1-minute</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15-minute</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1-hour</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Compare direction</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Explain conflict</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Short intervals contain more noise; a sound response preserves conflicting evidence.</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64</a:t>
            </a:r>
          </a:p>
        </p:txBody>
      </p:sp>
    </p:spTree>
    <p:extLst>
      <p:ext uri="{BB962C8B-B14F-4D97-AF65-F5344CB8AC3E}">
        <p14:creationId xmlns:p14="http://schemas.microsoft.com/office/powerpoint/2010/main" val="22438431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RECENT INFORMATION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Add News Context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Query news</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Check time + source</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Relate cautiously</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State gaps</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A headline can be delayed, incomplete or already reflected in price.</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65</a:t>
            </a:r>
          </a:p>
        </p:txBody>
      </p:sp>
    </p:spTree>
    <p:extLst>
      <p:ext uri="{BB962C8B-B14F-4D97-AF65-F5344CB8AC3E}">
        <p14:creationId xmlns:p14="http://schemas.microsoft.com/office/powerpoint/2010/main" val="27341898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NO KEYS IN THE BROWSER</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Secure API Design</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Store</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Protected connections, environment variables or custom connector.</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Limit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Small result sets and provider rate limits.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Hide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Never expose keys in HTML, prompts, logs or screenshots.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66</a:t>
            </a:r>
          </a:p>
        </p:txBody>
      </p:sp>
    </p:spTree>
    <p:extLst>
      <p:ext uri="{BB962C8B-B14F-4D97-AF65-F5344CB8AC3E}">
        <p14:creationId xmlns:p14="http://schemas.microsoft.com/office/powerpoint/2010/main" val="17508540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MODEL BOUNDARIES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Finance Advisor Instructions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Use all tools</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Separate data and inference</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Describe uncertainty</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End with risk note</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agent provides education; it never promises returns or tells a person what to buy.</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67</a:t>
            </a:r>
          </a:p>
        </p:txBody>
      </p:sp>
    </p:spTree>
    <p:extLst>
      <p:ext uri="{BB962C8B-B14F-4D97-AF65-F5344CB8AC3E}">
        <p14:creationId xmlns:p14="http://schemas.microsoft.com/office/powerpoint/2010/main" val="17508540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WEBSITE TO FLOW</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HTTP Request Contract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symbol</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prompt</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Validate + normalise</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Run agent</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Return JSON</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Reject invalid symbols and return a clear error instead of fabricated analysis.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68</a:t>
            </a:r>
          </a:p>
        </p:txBody>
      </p:sp>
    </p:spTree>
    <p:extLst>
      <p:ext uri="{BB962C8B-B14F-4D97-AF65-F5344CB8AC3E}">
        <p14:creationId xmlns:p14="http://schemas.microsoft.com/office/powerpoint/2010/main" val="17508540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INTERACTIVE FRONT END</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TradingView Website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Enter symbol</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Update chart</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Paste webhook</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Ask agent</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Render response</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TradingView visualisation and agent analysis are related but independent components.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69</a:t>
            </a:r>
          </a:p>
        </p:txBody>
      </p:sp>
    </p:spTree>
    <p:extLst>
      <p:ext uri="{BB962C8B-B14F-4D97-AF65-F5344CB8AC3E}">
        <p14:creationId xmlns:p14="http://schemas.microsoft.com/office/powerpoint/2010/main" val="17508540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EXPECTED FAILURES MATTER</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Test Matrix</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Valid</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All data tools succeed and output is qualified.</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C77600"/>
                </a:solidFill>
                <a:latin typeface="Arial"/>
              </a:rPr>
              <a:t>Partial</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Missing news or conflicting timeframes are disclosed.</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Invalid</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Bad symbol or advice request gets a safe response.</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70</a:t>
            </a:r>
          </a:p>
        </p:txBody>
      </p:sp>
    </p:spTree>
    <p:extLst>
      <p:ext uri="{BB962C8B-B14F-4D97-AF65-F5344CB8AC3E}">
        <p14:creationId xmlns:p14="http://schemas.microsoft.com/office/powerpoint/2010/main" val="11136791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OBSERVE → REASON → ACT → RESPOND</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End-to-End Agentic Architecture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Website user</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Power Automate</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Copilot agent</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Data tools</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Browser response</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Each boundary has a distinct responsibility and an auditable input/output.</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71</a:t>
            </a:r>
          </a:p>
        </p:txBody>
      </p:sp>
    </p:spTree>
    <p:extLst>
      <p:ext uri="{BB962C8B-B14F-4D97-AF65-F5344CB8AC3E}">
        <p14:creationId xmlns:p14="http://schemas.microsoft.com/office/powerpoint/2010/main" val="33684372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BEFORE PRODUCTION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Operational Readiness Review</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Security</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Authentication, secrets and least privilege.</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Reliability</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Timeouts, retries, rate limits and fallbacks.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Governance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Approved sources, disclaimers, logs and owners.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72</a:t>
            </a:r>
          </a:p>
        </p:txBody>
      </p:sp>
    </p:spTree>
    <p:extLst>
      <p:ext uri="{BB962C8B-B14F-4D97-AF65-F5344CB8AC3E}">
        <p14:creationId xmlns:p14="http://schemas.microsoft.com/office/powerpoint/2010/main" val="14157661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FROM WEBHOOK TO TOOL-USING AGENT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Day 2 Recap</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Connect</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HTTP request + learner-entered webhook URL</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Ground</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Finance knowledge + live authorised tools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Respond</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Structured JSON + uncertainty + risk reminder</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73</a:t>
            </a:r>
          </a:p>
        </p:txBody>
      </p:sp>
    </p:spTree>
    <p:extLst>
      <p:ext uri="{BB962C8B-B14F-4D97-AF65-F5344CB8AC3E}">
        <p14:creationId xmlns:p14="http://schemas.microsoft.com/office/powerpoint/2010/main" val="40757400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DF2F9-984B-A755-BAA7-933929938195}"/>
              </a:ext>
            </a:extLst>
          </p:cNvPr>
          <p:cNvSpPr>
            <a:spLocks noGrp="1"/>
          </p:cNvSpPr>
          <p:nvPr>
            <p:ph type="title"/>
          </p:nvPr>
        </p:nvSpPr>
        <p:spPr/>
        <p:txBody>
          <a:bodyPr/>
          <a:lstStyle/>
          <a:p>
            <a:r>
              <a:rPr lang="en-US"/>
              <a:t>What You Can Automate Next</a:t>
            </a:r>
          </a:p>
        </p:txBody>
      </p:sp>
      <p:sp>
        <p:nvSpPr>
          <p:cNvPr id="3" name="Content Placeholder 2">
            <a:extLst>
              <a:ext uri="{FF2B5EF4-FFF2-40B4-BE49-F238E27FC236}">
                <a16:creationId xmlns:a16="http://schemas.microsoft.com/office/drawing/2014/main" id="{5CCF4860-8303-9DF0-5924-44910D4B4C5F}"/>
              </a:ext>
            </a:extLst>
          </p:cNvPr>
          <p:cNvSpPr>
            <a:spLocks noGrp="1"/>
          </p:cNvSpPr>
          <p:nvPr>
            <p:ph idx="1"/>
          </p:nvPr>
        </p:nvSpPr>
        <p:spPr/>
        <p:txBody>
          <a:bodyPr>
            <a:normAutofit/>
          </a:bodyPr>
          <a:lstStyle/>
          <a:p>
            <a:r>
              <a:rPr lang="en-US" sz="1800"/>
              <a:t>Onboarding: new-hire checklists and welcome emails
Reporting: scheduled data pulls and summaries
Helpdesk: triage and route incoming requests
Document handling: filing, approvals and reminders
Anywhere people copy data or chase approvals by hand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extLst>
      <p:ext uri="{BB962C8B-B14F-4D97-AF65-F5344CB8AC3E}">
        <p14:creationId xmlns:p14="http://schemas.microsoft.com/office/powerpoint/2010/main" val="40573558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9BD2-2DB5-77C8-285D-9067CB1F67DF}"/>
              </a:ext>
            </a:extLst>
          </p:cNvPr>
          <p:cNvSpPr>
            <a:spLocks noGrp="1"/>
          </p:cNvSpPr>
          <p:nvPr>
            <p:ph type="title"/>
          </p:nvPr>
        </p:nvSpPr>
        <p:spPr/>
        <p:txBody>
          <a:bodyPr/>
          <a:lstStyle/>
          <a:p>
            <a:r>
              <a:rPr lang="en-US"/>
              <a:t>Common Pitfalls to Avoid</a:t>
            </a:r>
          </a:p>
        </p:txBody>
      </p:sp>
      <p:sp>
        <p:nvSpPr>
          <p:cNvPr id="3" name="Content Placeholder 2">
            <a:extLst>
              <a:ext uri="{FF2B5EF4-FFF2-40B4-BE49-F238E27FC236}">
                <a16:creationId xmlns:a16="http://schemas.microsoft.com/office/drawing/2014/main" id="{C26A95F9-E88D-D0F4-A860-1BA06E232A45}"/>
              </a:ext>
            </a:extLst>
          </p:cNvPr>
          <p:cNvSpPr>
            <a:spLocks noGrp="1"/>
          </p:cNvSpPr>
          <p:nvPr>
            <p:ph idx="1"/>
          </p:nvPr>
        </p:nvSpPr>
        <p:spPr/>
        <p:txBody>
          <a:bodyPr>
            <a:normAutofit/>
          </a:bodyPr>
          <a:lstStyle/>
          <a:p>
            <a:r>
              <a:rPr lang="en-US" sz="1800"/>
              <a:t>Automating a broken process — fix the process first
Trying to build everything in one giant flow
Skipping tests, then surprises in production
No error handling — failures go unnoticed
Vague agent prompts that return inconsistent data</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extLst>
      <p:ext uri="{BB962C8B-B14F-4D97-AF65-F5344CB8AC3E}">
        <p14:creationId xmlns:p14="http://schemas.microsoft.com/office/powerpoint/2010/main" val="17879579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970F-766C-166A-5620-4126F34ABFF3}"/>
              </a:ext>
            </a:extLst>
          </p:cNvPr>
          <p:cNvSpPr>
            <a:spLocks noGrp="1"/>
          </p:cNvSpPr>
          <p:nvPr>
            <p:ph type="title"/>
          </p:nvPr>
        </p:nvSpPr>
        <p:spPr/>
        <p:txBody>
          <a:bodyPr/>
          <a:lstStyle/>
          <a:p>
            <a:r>
              <a:rPr lang="en-US"/>
              <a:t>Common Errors &amp; Quick Fixes</a:t>
            </a:r>
          </a:p>
        </p:txBody>
      </p:sp>
      <p:sp>
        <p:nvSpPr>
          <p:cNvPr id="3" name="Content Placeholder 2">
            <a:extLst>
              <a:ext uri="{FF2B5EF4-FFF2-40B4-BE49-F238E27FC236}">
                <a16:creationId xmlns:a16="http://schemas.microsoft.com/office/drawing/2014/main" id="{98BCE675-06D6-7CA1-31B0-216798C26704}"/>
              </a:ext>
            </a:extLst>
          </p:cNvPr>
          <p:cNvSpPr>
            <a:spLocks noGrp="1"/>
          </p:cNvSpPr>
          <p:nvPr>
            <p:ph idx="1"/>
          </p:nvPr>
        </p:nvSpPr>
        <p:spPr/>
        <p:txBody>
          <a:bodyPr>
            <a:normAutofit/>
          </a:bodyPr>
          <a:lstStyle/>
          <a:p>
            <a:r>
              <a:rPr lang="en-US" sz="1800"/>
              <a:t>“Unauthorized” sending email — reconnect Outlook with a mailbox-enabled account
Approval ‘valid users’ error — pick the approver from the dropdown (a real user in your tenant)
Date shows literal utcNow() — enter it via the fx / Expression editor so it becomes a token
Excel cell shows ######## — the column is just too narrow; auto-fit it
Unwanted ‘For each’, or agent can’t see its flow — use single-value fields; same environment in both tools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extLst>
      <p:ext uri="{BB962C8B-B14F-4D97-AF65-F5344CB8AC3E}">
        <p14:creationId xmlns:p14="http://schemas.microsoft.com/office/powerpoint/2010/main" val="20836445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2B063-FE71-8DB0-46FB-13E6AB1CEA40}"/>
              </a:ext>
            </a:extLst>
          </p:cNvPr>
          <p:cNvSpPr>
            <a:spLocks noGrp="1"/>
          </p:cNvSpPr>
          <p:nvPr>
            <p:ph type="title"/>
          </p:nvPr>
        </p:nvSpPr>
        <p:spPr/>
        <p:txBody>
          <a:bodyPr/>
          <a:lstStyle/>
          <a:p>
            <a:r>
              <a:rPr lang="en-US"/>
              <a:t>Governance &amp; Security Basics</a:t>
            </a:r>
          </a:p>
        </p:txBody>
      </p:sp>
      <p:sp>
        <p:nvSpPr>
          <p:cNvPr id="3" name="Content Placeholder 2">
            <a:extLst>
              <a:ext uri="{FF2B5EF4-FFF2-40B4-BE49-F238E27FC236}">
                <a16:creationId xmlns:a16="http://schemas.microsoft.com/office/drawing/2014/main" id="{45B09298-679E-BC7E-0C15-59E0B78D509B}"/>
              </a:ext>
            </a:extLst>
          </p:cNvPr>
          <p:cNvSpPr>
            <a:spLocks noGrp="1"/>
          </p:cNvSpPr>
          <p:nvPr>
            <p:ph idx="1"/>
          </p:nvPr>
        </p:nvSpPr>
        <p:spPr/>
        <p:txBody>
          <a:bodyPr>
            <a:normAutofit/>
          </a:bodyPr>
          <a:lstStyle/>
          <a:p>
            <a:r>
              <a:rPr lang="en-US" sz="1800"/>
              <a:t>Use connections and permissions you're authorised to use
Keep sensitive data out of emails and logs where possible
Follow your organisation's data and approval policies
Document what each flow does and who owns it
Review and retire flows that are no longer needed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extLst>
      <p:ext uri="{BB962C8B-B14F-4D97-AF65-F5344CB8AC3E}">
        <p14:creationId xmlns:p14="http://schemas.microsoft.com/office/powerpoint/2010/main" val="22623357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9F0DE-8506-42F9-AD61-C1755B9C6456}"/>
              </a:ext>
            </a:extLst>
          </p:cNvPr>
          <p:cNvSpPr>
            <a:spLocks noGrp="1"/>
          </p:cNvSpPr>
          <p:nvPr>
            <p:ph type="title"/>
          </p:nvPr>
        </p:nvSpPr>
        <p:spPr/>
        <p:txBody>
          <a:bodyPr/>
          <a:lstStyle/>
          <a:p>
            <a:r>
              <a:rPr lang="en-US"/>
              <a:t>Rolling This Out at Work</a:t>
            </a:r>
          </a:p>
        </p:txBody>
      </p:sp>
      <p:sp>
        <p:nvSpPr>
          <p:cNvPr id="3" name="Content Placeholder 2">
            <a:extLst>
              <a:ext uri="{FF2B5EF4-FFF2-40B4-BE49-F238E27FC236}">
                <a16:creationId xmlns:a16="http://schemas.microsoft.com/office/drawing/2014/main" id="{A5D77EA5-6EF6-BB98-A2E2-5494A12ADFAD}"/>
              </a:ext>
            </a:extLst>
          </p:cNvPr>
          <p:cNvSpPr>
            <a:spLocks noGrp="1"/>
          </p:cNvSpPr>
          <p:nvPr>
            <p:ph idx="1"/>
          </p:nvPr>
        </p:nvSpPr>
        <p:spPr/>
        <p:txBody>
          <a:bodyPr>
            <a:normAutofit/>
          </a:bodyPr>
          <a:lstStyle/>
          <a:p>
            <a:r>
              <a:rPr lang="en-US" sz="1800"/>
              <a:t>Pick one painful, repetitive task to automate first
Prove the value, then share the win with your team
Build a small library of reusable flows and agents
Involve the people who do the work in the design
Iterate — improve flows as needs change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extLst>
      <p:ext uri="{BB962C8B-B14F-4D97-AF65-F5344CB8AC3E}">
        <p14:creationId xmlns:p14="http://schemas.microsoft.com/office/powerpoint/2010/main" val="19179625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FROM FLOW MAKER TO AGENT BUILDER</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Course Recap — The Big Picture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91640"/>
            <a:ext cx="3246120" cy="429768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91640"/>
            <a:ext cx="82296" cy="429768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9280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9280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837944"/>
            <a:ext cx="2286000" cy="411480"/>
          </a:xfrm>
          <a:prstGeom prst="rect">
            <a:avLst/>
          </a:prstGeom>
          <a:noFill/>
        </p:spPr>
        <p:txBody>
          <a:bodyPr wrap="square" anchor="ctr" lIns="73152" rIns="73152" tIns="73152" bIns="73152">
            <a:spAutoFit/>
          </a:bodyPr>
          <a:lstStyle/>
          <a:p>
            <a:pPr algn="l"/>
            <a:r>
              <a:rPr sz="1700" b="1">
                <a:solidFill>
                  <a:srgbClr val="1F6FEB"/>
                </a:solidFill>
                <a:latin typeface="Arial"/>
              </a:rPr>
              <a:t>1 — Automate</a:t>
            </a:r>
          </a:p>
        </p:txBody>
      </p:sp>
      <p:sp>
        <p:nvSpPr>
          <p:cNvPr id="11" name="TextBox 10"/>
          <p:cNvSpPr txBox="1"/>
          <p:nvPr/>
        </p:nvSpPr>
        <p:spPr>
          <a:xfrm>
            <a:off x="914400" y="2331720"/>
            <a:ext cx="2770632" cy="3547872"/>
          </a:xfrm>
          <a:prstGeom prst="rect">
            <a:avLst/>
          </a:prstGeom>
          <a:noFill/>
        </p:spPr>
        <p:txBody>
          <a:bodyPr wrap="square" anchor="ctr" lIns="73152" rIns="73152" tIns="73152" bIns="73152">
            <a:spAutoFit/>
          </a:bodyPr>
          <a:lstStyle/>
          <a:p>
            <a:pPr algn="l"/>
            <a:r>
              <a:rPr sz="1700" b="0">
                <a:solidFill>
                  <a:srgbClr val="5B6372"/>
                </a:solidFill>
                <a:latin typeface="Arial"/>
              </a:rPr>
              <a:t>Instant
Scheduled
Automated
Approval
HTTP</a:t>
            </a:r>
          </a:p>
        </p:txBody>
      </p:sp>
      <p:sp>
        <p:nvSpPr>
          <p:cNvPr id="12" name="Chevron 11"/>
          <p:cNvSpPr/>
          <p:nvPr/>
        </p:nvSpPr>
        <p:spPr>
          <a:xfrm>
            <a:off x="4087368" y="3429000"/>
            <a:ext cx="530352" cy="457200"/>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09160" y="1691640"/>
            <a:ext cx="3246120" cy="429768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09160" y="1691640"/>
            <a:ext cx="82296" cy="429768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910328" y="189280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10328" y="189280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7" name="TextBox 16"/>
          <p:cNvSpPr txBox="1"/>
          <p:nvPr/>
        </p:nvSpPr>
        <p:spPr>
          <a:xfrm>
            <a:off x="5477256" y="1837944"/>
            <a:ext cx="2286000" cy="411480"/>
          </a:xfrm>
          <a:prstGeom prst="rect">
            <a:avLst/>
          </a:prstGeom>
          <a:noFill/>
        </p:spPr>
        <p:txBody>
          <a:bodyPr wrap="square" anchor="ctr" lIns="73152" rIns="73152" tIns="73152" bIns="73152">
            <a:spAutoFit/>
          </a:bodyPr>
          <a:lstStyle/>
          <a:p>
            <a:pPr algn="l"/>
            <a:r>
              <a:rPr sz="1700" b="1">
                <a:solidFill>
                  <a:srgbClr val="6D3FD2"/>
                </a:solidFill>
                <a:latin typeface="Arial"/>
              </a:rPr>
              <a:t>2 — Add the agent</a:t>
            </a:r>
          </a:p>
        </p:txBody>
      </p:sp>
      <p:sp>
        <p:nvSpPr>
          <p:cNvPr id="18" name="TextBox 17"/>
          <p:cNvSpPr txBox="1"/>
          <p:nvPr/>
        </p:nvSpPr>
        <p:spPr>
          <a:xfrm>
            <a:off x="4965192" y="2331720"/>
            <a:ext cx="2770632" cy="3547872"/>
          </a:xfrm>
          <a:prstGeom prst="rect">
            <a:avLst/>
          </a:prstGeom>
          <a:noFill/>
        </p:spPr>
        <p:txBody>
          <a:bodyPr wrap="square" anchor="ctr" lIns="73152" rIns="73152" tIns="73152" bIns="73152">
            <a:spAutoFit/>
          </a:bodyPr>
          <a:lstStyle/>
          <a:p>
            <a:pPr algn="l"/>
            <a:r>
              <a:rPr sz="1700" b="0">
                <a:solidFill>
                  <a:srgbClr val="5B6372"/>
                </a:solidFill>
                <a:latin typeface="Arial"/>
              </a:rPr>
              <a:t>Instructions
RAG knowledge
Teams + website
Confirmed inputs</a:t>
            </a:r>
          </a:p>
        </p:txBody>
      </p:sp>
      <p:sp>
        <p:nvSpPr>
          <p:cNvPr id="19" name="Chevron 18"/>
          <p:cNvSpPr/>
          <p:nvPr/>
        </p:nvSpPr>
        <p:spPr>
          <a:xfrm>
            <a:off x="8138160" y="3429000"/>
            <a:ext cx="530352" cy="457200"/>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759952" y="1691640"/>
            <a:ext cx="2743200" cy="429768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759952" y="1691640"/>
            <a:ext cx="82296" cy="4297680"/>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961120" y="189280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0" y="189280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4" name="TextBox 23"/>
          <p:cNvSpPr txBox="1"/>
          <p:nvPr/>
        </p:nvSpPr>
        <p:spPr>
          <a:xfrm>
            <a:off x="9528048" y="1837944"/>
            <a:ext cx="1783080" cy="411480"/>
          </a:xfrm>
          <a:prstGeom prst="rect">
            <a:avLst/>
          </a:prstGeom>
          <a:noFill/>
        </p:spPr>
        <p:txBody>
          <a:bodyPr wrap="square" anchor="ctr" lIns="73152" rIns="73152" tIns="73152" bIns="73152">
            <a:spAutoFit/>
          </a:bodyPr>
          <a:lstStyle/>
          <a:p>
            <a:pPr algn="l"/>
            <a:r>
              <a:rPr sz="1700" b="1">
                <a:solidFill>
                  <a:srgbClr val="16845B"/>
                </a:solidFill>
                <a:latin typeface="Arial"/>
              </a:rPr>
              <a:t>3 — Let it act</a:t>
            </a:r>
          </a:p>
        </p:txBody>
      </p:sp>
      <p:sp>
        <p:nvSpPr>
          <p:cNvPr id="25" name="TextBox 24"/>
          <p:cNvSpPr txBox="1"/>
          <p:nvPr/>
        </p:nvSpPr>
        <p:spPr>
          <a:xfrm>
            <a:off x="9015984" y="2331720"/>
            <a:ext cx="2267712" cy="3547872"/>
          </a:xfrm>
          <a:prstGeom prst="rect">
            <a:avLst/>
          </a:prstGeom>
          <a:noFill/>
        </p:spPr>
        <p:txBody>
          <a:bodyPr wrap="square" anchor="ctr" lIns="73152" rIns="73152" tIns="73152" bIns="73152">
            <a:spAutoFit/>
          </a:bodyPr>
          <a:lstStyle/>
          <a:p>
            <a:pPr algn="l"/>
            <a:r>
              <a:rPr sz="1700" b="0">
                <a:solidFill>
                  <a:srgbClr val="5B6372"/>
                </a:solidFill>
                <a:latin typeface="Arial"/>
              </a:rPr>
              <a:t>Agent flow
Prompt flow
Guardrails
Returned result</a:t>
            </a:r>
          </a:p>
        </p:txBody>
      </p:sp>
      <p:sp>
        <p:nvSpPr>
          <p:cNvPr id="26" name="TextBox 25"/>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79</a:t>
            </a:r>
          </a:p>
        </p:txBody>
      </p:sp>
    </p:spTree>
    <p:extLst>
      <p:ext uri="{BB962C8B-B14F-4D97-AF65-F5344CB8AC3E}">
        <p14:creationId xmlns:p14="http://schemas.microsoft.com/office/powerpoint/2010/main" val="27666484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056BF-B5B7-F33E-DEEB-DC95C630F1F1}"/>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1C9D97EE-B4BF-F57E-5A6F-E19E27A9B88B}"/>
              </a:ext>
            </a:extLst>
          </p:cNvPr>
          <p:cNvSpPr>
            <a:spLocks noGrp="1"/>
          </p:cNvSpPr>
          <p:nvPr>
            <p:ph idx="1"/>
          </p:nvPr>
        </p:nvSpPr>
        <p:spPr/>
        <p:txBody>
          <a:bodyPr>
            <a:normAutofit/>
          </a:bodyPr>
          <a:lstStyle/>
          <a:p>
            <a:r>
              <a:rPr lang="en-US" sz="1800"/>
              <a:t>Every workflow is Trigger → Actions → Output
Power Automate does the work; Copilot Studio adds the intelligence
Structured agent outputs make flows reliable
Orchestration turns steps into complete processes
Start small, test, and improve — then scale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extLst>
      <p:ext uri="{BB962C8B-B14F-4D97-AF65-F5344CB8AC3E}">
        <p14:creationId xmlns:p14="http://schemas.microsoft.com/office/powerpoint/2010/main" val="23431137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49F80-0CCC-1E84-EF12-A7286325895B}"/>
              </a:ext>
            </a:extLst>
          </p:cNvPr>
          <p:cNvSpPr>
            <a:spLocks noGrp="1"/>
          </p:cNvSpPr>
          <p:nvPr>
            <p:ph type="title"/>
          </p:nvPr>
        </p:nvSpPr>
        <p:spPr/>
        <p:txBody>
          <a:bodyPr/>
          <a:lstStyle/>
          <a:p>
            <a:r>
              <a:rPr lang="en-US"/>
              <a:t>Resources &amp; Where to Go Next</a:t>
            </a:r>
          </a:p>
        </p:txBody>
      </p:sp>
      <p:sp>
        <p:nvSpPr>
          <p:cNvPr id="3" name="Content Placeholder 2">
            <a:extLst>
              <a:ext uri="{FF2B5EF4-FFF2-40B4-BE49-F238E27FC236}">
                <a16:creationId xmlns:a16="http://schemas.microsoft.com/office/drawing/2014/main" id="{60EAC2A6-1F1A-FD31-7E7A-A792B9661E72}"/>
              </a:ext>
            </a:extLst>
          </p:cNvPr>
          <p:cNvSpPr>
            <a:spLocks noGrp="1"/>
          </p:cNvSpPr>
          <p:nvPr>
            <p:ph idx="1"/>
          </p:nvPr>
        </p:nvSpPr>
        <p:spPr/>
        <p:txBody>
          <a:bodyPr>
            <a:normAutofit/>
          </a:bodyPr>
          <a:lstStyle/>
          <a:p>
            <a:r>
              <a:rPr lang="en-US" sz="1800"/>
              <a:t>make.powerautomate.com — build and manage your flows
copilotstudio.microsoft.com — create and publish agents
Microsoft Learn — free guided learning paths
Templates gallery — start from pre-built flows
Your community — share flows and patterns with colleagues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extLst>
      <p:ext uri="{BB962C8B-B14F-4D97-AF65-F5344CB8AC3E}">
        <p14:creationId xmlns:p14="http://schemas.microsoft.com/office/powerpoint/2010/main" val="2032098328"/>
      </p:ext>
    </p:extLst>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Download the slides and the Learner Guide from the LMS for the open-book assessment.</a:t>
            </a:r>
          </a:p>
          <a:p>
            <a:pPr>
              <a:spcAft>
                <a:spcPts val="1000"/>
              </a:spcAft>
            </a:pPr>
            <a:r>
              <a:rPr sz="1800">
                <a:solidFill>
                  <a:srgbClr val="161B26"/>
                </a:solidFill>
                <a:latin typeface="Arial"/>
              </a:rPr>
              <a:t>•  Portal: https://lms-tms.tertiaryinfotech.com/</a:t>
            </a:r>
          </a:p>
          <a:p>
            <a:pPr>
              <a:spcAft>
                <a:spcPts val="1000"/>
              </a:spcAft>
            </a:pPr>
            <a:r>
              <a:rPr sz="1800">
                <a:solidFill>
                  <a:srgbClr val="161B26"/>
                </a:solidFill>
                <a:latin typeface="Arial"/>
              </a:rPr>
              <a:t>•  Submit your Written Assessment and Practical Performance answers on the LMS.</a:t>
            </a:r>
          </a:p>
          <a:p>
            <a:pPr>
              <a:spcAft>
                <a:spcPts val="1000"/>
              </a:spcAft>
            </a:pPr>
            <a:r>
              <a:rPr sz="1800">
                <a:solidFill>
                  <a:srgbClr val="161B26"/>
                </a:solidFill>
                <a:latin typeface="Arial"/>
              </a:rPr>
              <a:t>•  Complete the TRAQOM survey via the QR code on the LMS.</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Written Assessment (SAQ) — 1 hour. Practical Performance (PP) — 1 hour.</a:t>
            </a:r>
          </a:p>
          <a:p>
            <a:pPr>
              <a:spcAft>
                <a:spcPts val="1000"/>
              </a:spcAft>
            </a:pPr>
            <a:r>
              <a:rPr sz="1800">
                <a:solidFill>
                  <a:srgbClr val="161B26"/>
                </a:solidFill>
                <a:latin typeface="Arial"/>
              </a:rPr>
              <a:t>•  Open book: slides, Learner Guide and approved materials only.</a:t>
            </a:r>
          </a:p>
          <a:p>
            <a:pPr>
              <a:spcAft>
                <a:spcPts val="1000"/>
              </a:spcAft>
            </a:pPr>
            <a:r>
              <a:rPr sz="1800">
                <a:solidFill>
                  <a:srgbClr val="161B26"/>
                </a:solidFill>
                <a:latin typeface="Arial"/>
              </a:rPr>
              <a:t>•  Remember to take the Assessment digital attendance (TRAQOM).</a:t>
            </a:r>
          </a:p>
          <a:p>
            <a:pPr>
              <a:spcAft>
                <a:spcPts val="1000"/>
              </a:spcAft>
            </a:pPr>
            <a:r>
              <a:rPr sz="1800">
                <a:solidFill>
                  <a:srgbClr val="161B26"/>
                </a:solidFill>
                <a:latin typeface="Arial"/>
              </a:rPr>
              <a:t>•  Submit your completed answers on the LMS at https://lms-tms.tertiaryinfotech.com/.</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7" name="TextBox 36"/>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It is mandatory to take the AM, PM and Assessment digital attendance for WSQ-funded courses.</a:t>
            </a:r>
          </a:p>
          <a:p>
            <a:pPr>
              <a:spcAft>
                <a:spcPts val="1000"/>
              </a:spcAft>
            </a:pPr>
            <a:r>
              <a:rPr sz="1800">
                <a:solidFill>
                  <a:srgbClr val="161B26"/>
                </a:solidFill>
                <a:latin typeface="Arial"/>
              </a:rPr>
              <a:t>•  The trainer/administrator displays the digital attendance QR code from the SSG portal.</a:t>
            </a:r>
          </a:p>
          <a:p>
            <a:pPr>
              <a:spcAft>
                <a:spcPts val="1000"/>
              </a:spcAft>
            </a:pPr>
            <a:r>
              <a:rPr sz="1800">
                <a:solidFill>
                  <a:srgbClr val="161B26"/>
                </a:solidFill>
                <a:latin typeface="Arial"/>
              </a:rPr>
              <a:t>•  Scan the QR code with your mobile phone camera and submit your attendance.</a:t>
            </a:r>
          </a:p>
          <a:p>
            <a:pPr>
              <a:spcAft>
                <a:spcPts val="1000"/>
              </a:spcAft>
            </a:pPr>
            <a:r>
              <a:rPr sz="1800">
                <a:solidFill>
                  <a:srgbClr val="161B26"/>
                </a:solidFill>
                <a:latin typeface="Arial"/>
              </a:rPr>
              <a:t>•  A minimum of 75% attendance is required to be eligible for assessment and funding.</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FF29D-2E00-A7A1-232C-5186174A1FA9}"/>
              </a:ext>
            </a:extLst>
          </p:cNvPr>
          <p:cNvSpPr>
            <a:spLocks noGrp="1"/>
          </p:cNvSpPr>
          <p:nvPr>
            <p:ph type="title"/>
          </p:nvPr>
        </p:nvSpPr>
        <p:spPr/>
        <p:txBody>
          <a:bodyPr/>
          <a:lstStyle/>
          <a:p>
            <a:r>
              <a:rPr lang="en-US"/>
              <a:t>Thank You</a:t>
            </a:r>
          </a:p>
        </p:txBody>
      </p:sp>
      <p:sp>
        <p:nvSpPr>
          <p:cNvPr id="3" name="Text Placeholder 2">
            <a:extLst>
              <a:ext uri="{FF2B5EF4-FFF2-40B4-BE49-F238E27FC236}">
                <a16:creationId xmlns:a16="http://schemas.microsoft.com/office/drawing/2014/main" id="{0E5E0239-BFD9-3216-03B0-6B956507258A}"/>
              </a:ext>
            </a:extLst>
          </p:cNvPr>
          <p:cNvSpPr>
            <a:spLocks noGrp="1"/>
          </p:cNvSpPr>
          <p:nvPr>
            <p:ph type="body" idx="1"/>
          </p:nvPr>
        </p:nvSpPr>
        <p:spPr/>
        <p:txBody>
          <a:bodyPr>
            <a:normAutofit/>
          </a:bodyPr>
          <a:lstStyle/>
          <a:p>
            <a:r>
              <a:rPr lang="en-US" sz="1800" b="1">
                <a:solidFill>
                  <a:srgbClr val="7C3AED"/>
                </a:solidFill>
              </a:rPr>
              <a:t>Now go automate something — questions welcome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extLst>
      <p:ext uri="{BB962C8B-B14F-4D97-AF65-F5344CB8AC3E}">
        <p14:creationId xmlns:p14="http://schemas.microsoft.com/office/powerpoint/2010/main" val="3938712014"/>
      </p:ext>
    </p:extLst>
  </p:cSld>
  <p:clrMapOvr>
    <a:masterClrMapping/>
  </p:clrMapOvr>
</p:sld>
</file>

<file path=ppt/theme/theme1.xml><?xml version="1.0" encoding="utf-8"?>
<a:theme xmlns:a="http://schemas.openxmlformats.org/drawingml/2006/main" name="Office Theme [1782148472114]">
  <a:themeElements>
    <a:clrScheme name="Office">
      <a:dk1>
        <a:srgbClr val="1B1B2F"/>
      </a:dk1>
      <a:lt1>
        <a:srgbClr val="FFFFFF"/>
      </a:lt1>
      <a:dk2>
        <a:srgbClr val="2B2B40"/>
      </a:dk2>
      <a:lt2>
        <a:srgbClr val="F3F5FB"/>
      </a:lt2>
      <a:accent1>
        <a:srgbClr val="2563EB"/>
      </a:accent1>
      <a:accent2>
        <a:srgbClr val="7C3AED"/>
      </a:accent2>
      <a:accent3>
        <a:srgbClr val="06B6D4"/>
      </a:accent3>
      <a:accent4>
        <a:srgbClr val="DB2777"/>
      </a:accent4>
      <a:accent5>
        <a:srgbClr val="10B981"/>
      </a:accent5>
      <a:accent6>
        <a:srgbClr val="F59E0B"/>
      </a:accent6>
      <a:hlink>
        <a:srgbClr val="467886"/>
      </a:hlink>
      <a:folHlink>
        <a:srgbClr val="96607D"/>
      </a:folHlink>
    </a:clrScheme>
    <a:fontScheme name="Office">
      <a:majorFont>
        <a:latin typeface="Segoe UI Semibold"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DDBB792-EE95-D44E-9920-6DFB61B67727}">
  <we:reference id="WA200010001" version="1.0.0.1" store="Omex" storeType="OMEX"/>
  <we:alternateReferences>
    <we:reference id="WA200010001" version="1.0.0.1" store="WA200010001" storeType="OMEX"/>
  </we:alternateReferences>
  <we:properties>
    <we:property name="claude.fileId" value="&quot;e129c31c-d639-492d-b1a1-2a7d8dffa55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1529</TotalTime>
  <Words>4806</Words>
  <Application>Microsoft Macintosh PowerPoint</Application>
  <PresentationFormat>Widescreen</PresentationFormat>
  <Paragraphs>225</Paragraphs>
  <Slides>87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87</vt:i4>
      </vt:variant>
    </vt:vector>
  </HeadingPairs>
  <TitlesOfParts>
    <vt:vector size="91" baseType="lpstr">
      <vt:lpstr>Arial</vt:lpstr>
      <vt:lpstr>Segoe UI</vt:lpstr>
      <vt:lpstr>Segoe UI Semibold</vt:lpstr>
      <vt:lpstr>Office Theme [1782148472114]</vt:lpstr>
      <vt:lpstr>Microsoft Copilot Studio &amp; Power Automate</vt:lpstr>
      <vt:lpstr>What You'll Learn</vt:lpstr>
      <vt:lpstr>Your 3-Day Journey</vt:lpstr>
      <vt:lpstr>How This Course Works</vt:lpstr>
      <vt:lpstr>Day 1 — Foundations &amp; Power Automate</vt:lpstr>
      <vt:lpstr>Module 1 · Introduction to Workflow Automation</vt:lpstr>
      <vt:lpstr>What Is Business Workflow Automation?</vt:lpstr>
      <vt:lpstr>Why Automate?</vt:lpstr>
      <vt:lpstr>Manual Process vs. Automated Workflow</vt:lpstr>
      <vt:lpstr>Standalone Agents vs. Integrated Workflows</vt:lpstr>
      <vt:lpstr>Introduction to Workflow Logic</vt:lpstr>
      <vt:lpstr>Triggers — What Starts a Workflow</vt:lpstr>
      <vt:lpstr>Actions — What the Workflow Does</vt:lpstr>
      <vt:lpstr>Outputs — The Result</vt:lpstr>
      <vt:lpstr>Workflow Steps — Putting It Together</vt:lpstr>
      <vt:lpstr>Anatomy of a Workflow</vt:lpstr>
      <vt:lpstr>Module 1 Recap</vt:lpstr>
      <vt:lpstr>Module 2 · Introduction to Power Automate</vt:lpstr>
      <vt:lpstr>Overview of Power Automate</vt:lpstr>
      <vt:lpstr>Types of Flow</vt:lpstr>
      <vt:lpstr>The Maker Experience</vt:lpstr>
      <vt:lpstr>Common Triggers</vt:lpstr>
      <vt:lpstr>Trigger: Email Received</vt:lpstr>
      <vt:lpstr>Trigger: File Upload</vt:lpstr>
      <vt:lpstr>Trigger: Form Submission</vt:lpstr>
      <vt:lpstr>Creating Workflow Actions</vt:lpstr>
      <vt:lpstr>Action: Send Emails</vt:lpstr>
      <vt:lpstr>Action: Create Excel Entries</vt:lpstr>
      <vt:lpstr>Action: Notifications &amp; Approvals</vt:lpstr>
      <vt:lpstr>Connectors — Linking It All Together</vt:lpstr>
      <vt:lpstr>Hands-On Labs · Power Automate</vt:lpstr>
      <vt:lpstr>Lab 1 — Automated Email Workflow</vt:lpstr>
      <vt:lpstr>Lab 2 — Excel Data Logging Workflow</vt:lpstr>
      <vt:lpstr>Lab 3 — Simple Approval Workflow</vt:lpstr>
      <vt:lpstr>Day 1 Recap</vt:lpstr>
      <vt:lpstr>Day 2 — Building Business Agents with Copilot Studio</vt:lpstr>
      <vt:lpstr>Day 2 Roadmap</vt:lpstr>
      <vt:lpstr>Module 3 · Building Business Agents with Copilot Studio</vt:lpstr>
      <vt:lpstr>What Is Copilot Studio?</vt:lpstr>
      <vt:lpstr>The Copilot Studio Maker</vt:lpstr>
      <vt:lpstr>How an Agent Works</vt:lpstr>
      <vt:lpstr>What Makes a Good Business Agent</vt:lpstr>
      <vt:lpstr>Creating Practical Business Agents</vt:lpstr>
      <vt:lpstr>Prompt Design Fundamentals</vt:lpstr>
      <vt:lpstr>Prompt Design for Structured Outputs</vt:lpstr>
      <vt:lpstr>Structured Output Formats</vt:lpstr>
      <vt:lpstr>Example: A Structured Prompt</vt:lpstr>
      <vt:lpstr>Connecting Agents to Power Automate Flows</vt:lpstr>
      <vt:lpstr>Passing Outputs into Workflows</vt:lpstr>
      <vt:lpstr>Input and Output Mapping</vt:lpstr>
      <vt:lpstr>Best Practices for Agent + Flow</vt:lpstr>
      <vt:lpstr>How Agents and Power Automate Work Together</vt:lpstr>
      <vt:lpstr>Hands-On Labs · Copilot Studio</vt:lpstr>
      <vt:lpstr>Lab 4 — Sales Enquiry Assistant</vt:lpstr>
      <vt:lpstr>Lab 5 — Procurement Request Workflow</vt:lpstr>
      <vt:lpstr>Lab 6 — Automated Response Generation</vt:lpstr>
      <vt:lpstr>Testing &amp; Debugging Agents</vt:lpstr>
      <vt:lpstr>Day 2 Recap</vt:lpstr>
      <vt:lpstr>Day 3 — End-to-End Automation &amp; Workshop</vt:lpstr>
      <vt:lpstr>Module 4 · End-to-End Workflow Automation</vt:lpstr>
      <vt:lpstr>Agents + Power Automate, End to End</vt:lpstr>
      <vt:lpstr>Workflow Orchestration</vt:lpstr>
      <vt:lpstr>Orchestration Patterns</vt:lpstr>
      <vt:lpstr>Managing Outputs &amp; Next Steps</vt:lpstr>
      <vt:lpstr>Error Handling &amp; Monitoring</vt:lpstr>
      <vt:lpstr>Business Workflow Examples</vt:lpstr>
      <vt:lpstr>Example 1 — Email Enquiry → Excel → Notification</vt:lpstr>
      <vt:lpstr>Example 2 — Invoice Upload → Approval</vt:lpstr>
      <vt:lpstr>Example 3 — Purchase Request → Approval → Notification</vt:lpstr>
      <vt:lpstr>Module 4 Recap</vt:lpstr>
      <vt:lpstr>Module 5 · Business Workflow Workshop</vt:lpstr>
      <vt:lpstr>Workshop Overview</vt:lpstr>
      <vt:lpstr>How the Workshop Works</vt:lpstr>
      <vt:lpstr>Track A — Sales</vt:lpstr>
      <vt:lpstr>Track B — Finance</vt:lpstr>
      <vt:lpstr>Track C — Procurement</vt:lpstr>
      <vt:lpstr>Track D — Order Processing</vt:lpstr>
      <vt:lpstr>Build Guidelines &amp; Success Criteria</vt:lpstr>
      <vt:lpstr>Present &amp; Get Feedback</vt:lpstr>
      <vt:lpstr>What You Can Automate Next</vt:lpstr>
      <vt:lpstr>Common Pitfalls to Avoid</vt:lpstr>
      <vt:lpstr>Governance &amp; Security Basics</vt:lpstr>
      <vt:lpstr>Rolling This Out at Work</vt:lpstr>
      <vt:lpstr>Course Recap — The Big Picture</vt:lpstr>
      <vt:lpstr>Key Takeaways</vt:lpstr>
      <vt:lpstr>Resources &amp; Where to Go Next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Tertiary Infotech Admin</dc:creator>
  <cp:lastModifiedBy>Tertiary Infotech Admin</cp:lastModifiedBy>
  <cp:revision>2</cp:revision>
  <dcterms:created xsi:type="dcterms:W3CDTF">2026-06-22T17:06:55Z</dcterms:created>
  <dcterms:modified xsi:type="dcterms:W3CDTF">2026-06-23T18:36:15Z</dcterms:modified>
</cp:coreProperties>
</file>