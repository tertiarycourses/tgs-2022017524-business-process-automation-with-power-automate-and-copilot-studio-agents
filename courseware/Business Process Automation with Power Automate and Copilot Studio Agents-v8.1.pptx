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5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8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75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1554480"/>
            <a:ext cx="914400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000" b="1">
                <a:solidFill>
                  <a:srgbClr val="161B26"/>
                </a:solidFill>
                <a:latin typeface="Arial"/>
              </a:rPr>
              <a:t>Business Process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256032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400" b="1">
                <a:solidFill>
                  <a:srgbClr val="161B26"/>
                </a:solidFill>
                <a:latin typeface="Arial"/>
              </a:rPr>
              <a:t>with Power Automate and Copilot Studio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310128"/>
            <a:ext cx="1920240" cy="45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347472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WSQ Course Code: TGS-2022017524  ·  2-Day Hands-On Training  ·  Modules 1–5  ·  18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977639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Built entirely in the new Copilot Studio — workflows, agents, skills, tools,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4892040"/>
            <a:ext cx="9144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5303520"/>
            <a:ext cx="914400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Version 8.1 (4 September 2026)  ·  www.tertiarycourses.com.sg  ·  https://lms-tms.tertiaryinfotech.com/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General Trainer template —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389632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389632"/>
            <a:ext cx="82296" cy="624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426208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63952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79064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179064"/>
            <a:ext cx="82296" cy="624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21564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53384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68496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68496"/>
            <a:ext cx="82296" cy="624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42816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757928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757928"/>
            <a:ext cx="82296" cy="624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79450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32248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554736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554736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558393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82168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Tertiary Infotech Academy Pte. Ltd.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1019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84348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784348"/>
            <a:ext cx="82296" cy="1019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2092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58668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68496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68496"/>
            <a:ext cx="82296" cy="1019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42816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152644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5152644"/>
            <a:ext cx="82296" cy="1019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518922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426964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176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9781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815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name and your organisation /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23616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23616"/>
            <a:ext cx="82296" cy="1176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355848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096768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have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80816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experience with Power Automate, Copilot Studio or other automation tools (if any).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01312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401312"/>
            <a:ext cx="82296" cy="1176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733544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335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474464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want to 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858512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One repetitive business process you would love to automate after this course.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Keep the process in mind — by Day 2 you will know which parts of it should be a workflow, an agent, or a person.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PORTAL · LMS-TMS.TERTIARYINFOTECH.COM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74720" cy="4526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7899"/>
            <a:ext cx="3246120" cy="39800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8912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2 · Download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(PDF) and the Learner Guide from the course page — your open-book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82296" cy="1600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3 · Submit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383280"/>
            <a:ext cx="82296" cy="16002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257800"/>
            <a:ext cx="7104888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257800"/>
            <a:ext cx="710488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9:30 –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10:00 – 10:50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 — BPA, Power Platform, the new Copilot Studio,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10:50 – 11:05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11:05 – 11:25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11:25 – 11:55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11:55 – 12:25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1 — Automate, then add the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1:25 – 1:50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2 — Control flow and human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1:50 – 2:25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2:25 – 3:10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3:10 – 3:25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3:25 – 4:10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3 — Copilot Studio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4:10 – 4:45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4:45 – 5:20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5:20 – 5:50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5:50 – 6:20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6:20 – 6:30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1 recap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2 — Connect, supervise, ground, publish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9:30 – 9:35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2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9:35 – 10:10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10:10 – 10:35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10:35 – 11:00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11:00 – 11:15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11:15 – 11:40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— HTTP, autonomous processes, boundary of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11:40 – 12:25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2 — Connect, supervise, ground, 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1:25 – 1:55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1:55 – 2:30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2:30 – 2:45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— Retrieval Augmented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2:45 – 3:15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3:15 – 3:45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3:45 – 4:00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4:00 – 4:25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17 — Publish to Teams, M365 Copilot and the Web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4:25 – 4:30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Synthesis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4:30 – 5:30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5:30 – 6:30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the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ship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Publish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 channels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4290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935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 business process and decide which parts must be deterministic, which may be AI, and where a person must sit.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429000"/>
            <a:ext cx="82296" cy="18288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935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Copilot Studio workflows and agents with instructions, knowledge, skills, tools and connected agents.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4290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9359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the human where the consequence lands, test what the agent must refuse, and publish only what is safe.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651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Short-answer questions on Modules 1–5 and the lab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2651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Practical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and verify a working workflow and agent in the training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2651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Evidence &amp; 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on the LMS.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Competent result plus the attendance requirement releases the WSQ funding.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2, 4:30 – 6:30 PM: Written Assessment (SAQ) 1 hr, then Practical Performance 1 hr.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4924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041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7842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 An appeal process is available if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0–8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Training Class Sandbox,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Forms trigger → Outlook;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Excel row first, then the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Approvals: the workflow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Email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Classify node, five ports, Human review in Teams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Your First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HR agent: instructions + knowledge + Preview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Procurement Agent with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Skills + a workflow as a tool + Excel audit row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Sales Agent with Knowledge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20 brochures in SharePoint; refuse to invent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Support Agent with Skills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Five SKILL.md packages; the rule none enforce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1: build the workflow, add control flow and a human, then build four agents.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9–17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Manager → Research → Blog →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Workflow calls M365 Copilot, posts to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calls a workflow tool (When an agent calls the flow)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Application Approval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POST, structured output, SharePoint, four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chatbot alone in public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+ Human review gate + handover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Knowledge source in the Agent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Pinecone: chunk, embed, top_k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Publish to Teams, Microsoft 365 Copilot and the Web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Channels +: Teams, M365 Copilot, demo website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2: agents and workflows call each other, go over HTTP, get grounded, and get published.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2377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82296" cy="2377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1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1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737360"/>
            <a:ext cx="82296" cy="2377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737360"/>
            <a:ext cx="82296" cy="2377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6368" y="190195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8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737360"/>
            <a:ext cx="82296" cy="2377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29216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34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34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12080"/>
            <a:ext cx="10835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 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Environments — Where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environments back this course. You build in exactly one of them — and it is not the one holding the reference copies.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035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8496" y="1965960"/>
            <a:ext cx="1207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Training Class 1 / 2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386584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386584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YOURS — every lab you build goes here. One per class; the trainer resets it between cohorts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53512"/>
            <a:ext cx="1083564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53512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TGS-2022017524-Business Process</a:t>
            </a:r>
          </a:p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Automation…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953512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53512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Master reference environment: the trainer's Lab N - … (DO NOT DELETE) workflows and agents. Read-only — open to compare, never 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20439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20439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Copilot Studio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520439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520439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original build environment. Retired from classroom use — a Developer environment is single-user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224528"/>
            <a:ext cx="82296" cy="13716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user only. Free, persistent — but a class cannot share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4224528"/>
            <a:ext cx="82296" cy="13716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Multi-user AND resettable in one click. What every class uses.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4224528"/>
            <a:ext cx="82296" cy="13716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Self-deletes after 30 days, taking the class's work with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Sandbox is the only type that is both multi-user and resettable — so your class environment is disposable on purpose.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Naming Convention in the 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Everything in the tenant is named after its lab, so a learner, a trainer and an auditor can all find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Artefact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5" y="201168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Trainer's reference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43230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 (DO NOT DELETE)  ·  Lab 6 - Proc (DO NOT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43230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master reference Sandbox. Workflows AND agents end (DO NOT DELETE); agent base names are shortened to fit the 30-character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Your own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93522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Procurement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5" y="293522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your Training Class environment. Name it exactly as the Learner Guide does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3814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3814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Helper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43814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43814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lab prefix, then the workflow's job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4106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4106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Data artefact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94106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Requisition Log.xlsx  ·  Lab 12 -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5" y="394106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Excel, SharePoint lists and folders carry the prefix too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439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44398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Pinecone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44398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lab16-course-brochures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444398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Lower-case, hyphenated — the only exception, imposed by Pinecone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29200"/>
            <a:ext cx="10835640" cy="11430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840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CLASS ENVIRONMENT, ONE 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58384"/>
            <a:ext cx="10332720" cy="758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 build in the Training Class Sandbox your trainer assigned (e.g. Training Class 1), in the new Copilot Studio designer at copilotstudio.microsoft.com. The (DO NOT DELETE) reference copies live in a separate master reference Sandbox — open to compare, never to edit.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assigned Microsoft 365 training account per learner — the same login for every lab, in your class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869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STAY IN YOUR CLASS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6130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Confirm your Training Class environment (e.g. Training Class 1) shows bottom-left before you build anything.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5623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18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labs/Lab N - &lt;Title&gt;/index.md — Lab 0 setup plus Labs 1–17, each with its own step-by-step guide, assets and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65760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8221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Forms, Excel workbooks, brochure PDFs, HTML pages, JSON schemas, SKILL.md packages and agent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69164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85623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 emails, question sets and probe cases written to make each workflow and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576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8221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Learner Guide +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Learner Guide reproduces every lab; download it and the slides from lms-tms.tertiaryinfotech.com.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Work in order. Every lab reuses the one before it; nothing is rebuilt from scratch.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What automation removes  ·  the Power Platform  ·  the new Copilot Studio  ·  workflows, triggers, actions, connections  ·  dynamic content, Activity, commit order  ·  Copilot Credits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Business process automation is not "software that does work faster". It removes the hand-off 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7984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1425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289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9731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4595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48038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2902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1425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6289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Workflow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9731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4595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8450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48038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2902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709160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470916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run leaves an Activity record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80" y="4709160"/>
            <a:ext cx="82296" cy="14630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7647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Agents AND workflows, in one designer at copilotstudio.microsoft.com.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56432"/>
            <a:ext cx="155448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002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21024" y="17647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connector engine underneath every workflow step — you never open it directly.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456432"/>
            <a:ext cx="155448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1–4, 10–16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002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7647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environment; agents and workflows live in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56432"/>
            <a:ext cx="155448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6002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7647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Forms, Excel, SharePoint, Teams, Approvals,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456432"/>
            <a:ext cx="155448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14800"/>
            <a:ext cx="10835640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6966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10332720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Workflows, agents and data all live inside one Power Platform environment. You build in the Training Class Sandbox assigned to your class — with Dataverse and Copilot Credits. Build in the Default environment and the first Agent node fails with InsufficientMcsCredits.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Training Class Sandbox (assigned by your trainer)  ·  Power Platform admin centre + Copilot Studio  ·  20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New Copilot Studio — Home, Agents,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copilotstudio.microsoft.com — the New experience toggle (top right) switches the whole product to the GitHub Copilot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8521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3440"/>
            <a:ext cx="5669280" cy="3074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96596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200253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25856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natural-language box: describe the process and Copilot Studio proposes an agent, a workflow, or both (Steps and Artifacts panel).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834639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834639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871215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127247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agent → the designer with Build / Preview / Evaluate / Monitor tabs.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70332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703320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73989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99592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workflow → the canvas with a Start node and Add a step. Columns: Name · Status · Owner · Enabled.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57200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572000"/>
            <a:ext cx="82296" cy="7955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460857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Other ways to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86460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standard harness (topics, agent flows) is still there — we do not use it in this course.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Environment name bottom-left. Check it before every build: your Training Class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Harnesses — Pick One per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"The harness sits between the AI model and the agent or workflow you build" — you choose one per agent, and cannot convert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1664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011680"/>
            <a:ext cx="3355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GitHub Copilot harness (GA 3 Aug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2011680"/>
            <a:ext cx="2761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5" y="2011680"/>
            <a:ext cx="23957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3230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3230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43230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243230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5" y="243230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Extending Microsoft 365 Copilot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4436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44368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944368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Reasons through a goal step by step; retries, finds alternative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944368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2944368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Connects enterprise knowledge to Copilot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5643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456432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Creates and edits Word, Excel, PowerPoint, PDF in a sandbox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3456432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5" y="3456432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68496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&amp;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3968496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7336" y="3968496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5" y="3968496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48056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80560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0560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Workflows (visual canvas, agent nodes)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7336" y="4480560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4480560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99262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99262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6896" y="499262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Copilot Credits — usage-based, from the moment you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7336" y="499262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Fixed rate card; M365 Copilot fair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5" y="499262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Consumption or M365 Copilot licence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This course: every agent and workflow uses the GitHub Copilot harness — the "new experience".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Old Vocabulary → New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If you learned Copilot Studio before 2026, translate as you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 (classic)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 (new experience)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Topics, triggers, branching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3865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Instructions — natural language, always-on enhanced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437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8437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 — Start node, Add a step, node-level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009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Prompts (Prompt builder)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3009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Inline Agent node in a workflow, or a skill in an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7581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Child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7581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Connected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2153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Actions /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42153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Tools = Connectors, MCP servers, Workflows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725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6725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Overview / Settings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46725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Build · Preview · Evaluate · Monitor tabs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1297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1297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Test pane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51297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tab with End user preview toggle and the reasoning 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869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5869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Messages /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55869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Workflow — the Start Node and Its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decide or wait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 / RESPOND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46120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Click the Start node to choose the trigger type. Every workflow in every lab is this shape.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10835640" cy="3840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7614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Start node trigger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3703320"/>
            <a:ext cx="564184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starts the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703320"/>
            <a:ext cx="1938527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08736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87368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4087368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person runs it on demand; you define typed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4087368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10 (Topic)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8970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Recurrence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176" y="4489704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schedule — set the time zone or it runs on UTC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5" y="4489704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89204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892040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Connector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4892040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event in a system: new Forms response, new email, new SharePoint 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5" y="4892040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1–4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9437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294376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HTTP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5294376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a HTTP request is received — a website or app calls in with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5" y="5294376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696712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696712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5696712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agent decides to use this workflow as a tool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615" y="5696712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Add-Step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+ after any node opens the Add panel. Everything you can put on the canvas is one of these.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inline or existing agent — the model, inside the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Sort text into categories; each becomes an output 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 a prompt to Microsoft 365 Copilot or one of its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2011680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Request for information — pause for a person (Teams / Outlook)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34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Connector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of 1,000+ connector actions: Outlook, Excel, SharePoint, Teams, 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Operations (Compose, Parse JSON, Select), text, date/time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Variable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Initialize, Set, Append — a named value that changes during the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33832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If/Else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condition, two branches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Switch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value, many cases plus a default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015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015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each item in an array; Do until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Respond to the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Return outputs to the calling agent (tool workflows)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879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the run; send the HTTP Response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Typed inputs on the Start node;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Test → Enter manual trigger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the schedule starts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you 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 HTTP request is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54880"/>
            <a:ext cx="10835640" cy="3291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54880"/>
            <a:ext cx="47731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754880"/>
            <a:ext cx="166420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754880"/>
            <a:ext cx="390448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84064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084064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response is submitted (Forms)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05856" y="5084064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5084064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385816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5816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email arrives (V3) (Outlook)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5385816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5385816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inbox is the 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87568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687568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HTTP request — When a HTTP request is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05856" y="5687568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4656" y="5687568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89320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989320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5856" y="5989320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5989320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step either moves data, decides something, waits for a person, calls the model, or reaches outside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—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Select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Filter array · Join ·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(V2) · Add a row into a table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Create item · Post message in a chat or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If/Else · Switch · Loop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8620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(Request for information)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Approvals: Start and wait for an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Classify · M365 Copilot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workflow that does not.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38862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/ End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child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platform, or answer the caller.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You will use every one of these families by the end of Lab 16.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Connections — Who the Step Runs 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connector action runs as somebody. The connection is that somebody — and it is created once, then reused.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connector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first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 row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shows no tick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Create new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3288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Sign in as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course account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Green tick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 can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42900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Per connector, per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 Online (Business), SharePoint, Teams, Forms and Approvals each need their own connection.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846320"/>
            <a:ext cx="82296" cy="12801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Whose mailbox?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Send an email (V2) sends from the connection's account. In class that is your training account.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429000"/>
            <a:ext cx="82296" cy="12801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Tenant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review and Approvals can only be assigned to people in the tenant — external addresses fail at run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84632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Publish installs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flow test saves, publishes and installs connections before it triggers.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⚡ 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  INSERTED WITH THE ⚡ PICKER (or / command)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Renders as a coloured token in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Resolves at run time to what the earlier step produced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 picker shows sample values from the last completed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✗  TYPED BY HAND, OR PASTED @{...}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Stays dead text — the run is green, the value arrives empty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 reference to nothing resolves to empty, not to 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Rich-text boxes mangle pasted expressions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Typed expressions belong in the &lt;/&gt; expression editor (concat, formatDateTime, utcNow) — never in a rich-text Instructions box.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Copilot Studio workflow + Microsoft Forms + Outlook  ·  30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Activity, Run Details and Node-Level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ways to test, and one honest record. Every lab is verified from Activity, not from the chat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want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1965960"/>
            <a:ext cx="3264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single node in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Test this node — the Test tab in the node's side panel; Load values from previous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386584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Runs the node against the connector's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99815"/>
            <a:ext cx="10835640" cy="71323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099815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The full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3099815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 flow test — the play button top right; saves, publishes, installs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099815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Manual/HTTP → enter inputs; connector → Waiting for trigger…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13048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13048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813048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Activity panel — Running · Waiting · Succeeded · Failed · Canceled; open a run, expand each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13048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Inputs and Outputs per node; the reasoning of every AI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2628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5546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Only the first is done. The second is the dangerous one — read the upstream node's Outputs, not the failing node's 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order of two steps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LOG, THEN CONFIRM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Add a row into a table (Excel)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Send an email (V2)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email fails, the enquiry is still on the register and someone can chase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CONFIRM, THEN LOG 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an email (V2)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Add a row into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row fails, you have promised a reply that nobody can see — the evidence is gone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2064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Same rule on Day 2: Lab 12 writes the Onboarding Log before the email; Lab 14 logs the draft before the Human review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Copilot Credits and Billing — What Changed on 1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"Billing starts when you start building." Copilot Credits cover LLM tokens, tools (including knowledge and MCP) and the harness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201168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Covered by an M365 Copilot licence?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656" y="2011680"/>
            <a:ext cx="3904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Copilot Credits are billed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GitHub Copilot harness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4323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4323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Billed for all usage — build, Preview, Evaluate,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895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inside a standard-harness agent, licensed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8895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other cases — every action consumes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467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467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Standard harness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467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Yes, in Microsoft 365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3467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 M365 Copilot licence, or a channel outside M365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039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039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Computer use (CUA)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8039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8039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1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Developer and trial environments moved to usage-based billing. Our class Sandbox environments are billed per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Where to look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→ Monitor tab; PPAC → Licensing → Copilot Studio → Manage Agents; Copilot Credits estimator.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Zero credits = every reply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"You need credits to continue … Error code: EnforcementUsageCredits" in Preview, the demo website and every Agent/Classify/Copilot node. Build and Publish still work; allocate credits in PPAC first.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Power Platform Admin Center — Settings for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What the admin set up in the Power Platform admin center (PPAC) before class — and why each setting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439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Class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One Training Class Sandbox per cohort, with Dataverse. Reset between classes. Never the Default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2679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439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Copilot Credits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Licensing → Copilot Studio → Manage Copilot Credits → this environment; Draw from the available capacity in my tenant.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35096"/>
            <a:ext cx="82296" cy="12679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1304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Agent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 Agents → Set limit → monthly limit, notification threshold, Stop usage toggle.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35096"/>
            <a:ext cx="82296" cy="12679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1304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External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Turn on external models (Anthropic, Mistral, xAI) + M365 admin consent — needed for Claude Opus 5.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904232"/>
            <a:ext cx="82296" cy="12679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2" y="528218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Preview / cross-region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and experimental AI models; Move data across regions (Singapore models are cross-geo).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4204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4204" y="4904232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1948" y="528218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8604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Entra Agent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8604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Automatic for every agent since July 2026 — Conditional Access and DLP per agent; Harness column in Manage → Copilot Studio.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What's New in 2026 — The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2026 in five words: harness, skills, memory, workflows, governance. One line per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841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965960"/>
            <a:ext cx="9665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shipped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38658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Evaluation enhancements; activity maps; CSV test-set template; Copilot Studio extension for VS Code (GA)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88920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78892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278892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Ticket-based Graph connectors; Claude models per prompt in Prompt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9125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9125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319125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node in flows; agent evaluations GA + multi-turn tests; Work IQ tools (preview); Claude Sonnet 4.6 / Opus 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93591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93591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3936" y="3593591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Agent-to-agent (A2A) protocol GA; evaluations via REST API; agent usage estimator; GPT-5.5 Reasoning (Deep)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9592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995928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3995928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Computer use GA; Prompt node and Microsoft 365 Copilot node in workflows; Entra Agent IDs (preview); agent inventory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3936" y="439826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new experience (GitHub Copilot harness) production-ready preview; Skills; Memory; connected agents; Claude Sonnet 5 / GPT-5.5 Chat 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0060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80060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" y="480060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Entra Agent ID automatic for every agent; workflows and MCP servers as tools; files in and files out (preview)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0293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20293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73936" y="520293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GitHub Copilot harness GA (3 Aug); Skills GA; September billing change announced for developer and trial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Trajectory: topics (2024) → generative orchestration + agent flows (2025) → harness choice, skills, memory, workflows, connected agents (2026).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Training Class Sandbox (assigned by your trainer)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Training Class Sandbox, with Dataverse and Copilot Credits, stands behind every later lab — and one designer builds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Power Platform admin centre + Copilot Studio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(no tenant artefact — admin centre only)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46" y="4937759"/>
            <a:ext cx="718128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Sign in to Microsoft 365 and confirm Outlook, Excel and Teams open with the training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Trainer provisions one Training Class Sandbox per cohort (Dataverse on); learners do not create an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copilotstudio.microsoft.com; pick your Training Class environment bottom-left; turn the New experience toggle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Agents and Workflows appear in the left navigation and New agent / New workflow are 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Copilot Credits are allocated to your class environment (trainer: PPAC → Licensing → Copilot Studio).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Verify: open the trainer's Lab 1 - Trigger and Actions (DO NOT DELETE) and read its canvas without editing.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site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site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ab-5-hr-polici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5 hr policies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lab-6-procuremen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6 procurement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lab-7-course-brochur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7 course brochures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Form to email confirmation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trigger starts a workflow; connector actions consume the trigger's outputs as dynamic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Microsoft Forms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1 - Trigger and Actions  ·  Lab 1 - Course Enquiry Form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96720"/>
            <a:ext cx="10835640" cy="122119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088160"/>
            <a:ext cx="10652753" cy="10383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Microsoft Forms → New form → the trainer's Lab 1 - Course Enquiry Form has Name, Email, Tel, Message (all Required).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rename exactly Lab 1 - Trigger and Actions →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Connector → Microsoft Forms → When a new response is submitted → pick the form; create the connection.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Add dialog → Connectors tab → Microsoft Forms → Get response details; Form Id again; insert the ⚡ Response Id token.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Office 365 Outlook → Send an email (V2); To = ⚡ Email (the form answer); build Subject and Body with ⚡ tokens.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the form → open Activity and read every node's Inputs and Outputs.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Probe: type a value by hand instead of a token, resubmit, and watch the email arrive with a blank.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ainer-course-enquiry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Trainer course enquiry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workflow-start-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workflow start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elect-a-trigger-microsoft-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07971"/>
            <a:ext cx="5120640" cy="29358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trigger microsoft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art-node-form-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node form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Log the enquiry, then send the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2 - Log to Excel  ·  Lab 2 - Enquiry Log.xlsx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60622"/>
            <a:ext cx="10835640" cy="105729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252062"/>
            <a:ext cx="10652753" cy="8744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2 - Enquiry Log.xlsx (table EnquiryLog)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2 - Log to Excel; rebuild the Lab 1 Forms trigger and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Excel Online (Business) → Add a row into a table; Location → Document Library → File → Table, top to bottom.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Map each column to a ⚡ token; Timestamp = &lt;/&gt; utcNow().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Only then add Send an email (V2) — the confirmation comes after the row.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two responses → check two rows in Excel and two emails.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swap the two steps in your head — what is lost if the email fails first?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select-a-connector-excel-on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connector excel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ocument-library-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Document library dropdown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file-picker-onedrive-f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File picker onedrive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If/Else, Compose, Switch, Loop  ·  in / on / out of the loop  ·  Human review via Teams or Outlook  ·  the Classify node  ·  autonomous business processes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3 and 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If/Else — Left Value, Operator, Right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If/Else node evaluates one condition row: a left value, an operator, and a right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LEFT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⚡ token from an earlier node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Outcome (Human 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Equals · Not equals · Contains ·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Greater than · Less than · Is empty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RIGHT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literal you type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Yes  ·  Approve  · 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00400" cy="658368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2004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Outcome  Equals  Yes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0" y="4389120"/>
            <a:ext cx="310896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732520" y="4389120"/>
            <a:ext cx="310896" cy="329184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— condition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Reply to the email with the approved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condition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hand-over email to the trainer — never fall silent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3: Outcome Equals Approve (Approvals connector).  Labs 4 and 14: Outcome Equals Yes (Human review — it publishes the string Yes, not a boolean).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Both branches must be built — including the one you hope never runs. Add rows for AND / OR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5910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Empty Else is a silent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rejected leave request that triggers nothing is an applicant waiting forever. Route every Else to a message or a named person.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5910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5054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picker's type can 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Human review's Yes/No input shows as boolean but publishes the string Yes. Read the node's real Outputs in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58184"/>
            <a:ext cx="82296" cy="15910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9768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Re-pick after rebuilding an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Delete and re-create an input and the old token renders fine but resolves to empty — every run falls to Else.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758184"/>
            <a:ext cx="82296" cy="15910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2976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Test both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3 tests an approval and a rejection; Lab 4 sends one email per category; Lab 14 approves one draft and rejects 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Compose, Function and Variable — Named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is a named value holder: it takes any input, and its Outputs token is what every later step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Trigger body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(raw)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Outputs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⚡ token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node · Excel ·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Normalise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toUpper(trim(triggerBody()?['nric'])) — one canonical form before the lookup and the record.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90288"/>
            <a:ext cx="82296" cy="1188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Build a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Assemble the retrieved brochure text and the visitor's question into one block for the Agent node (Lab 16).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188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Hold a computed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concat('REQ-', formatDateTime(utcNow(),'yyyyMMdd'), '-', …) — generated once, used by Excel and the reply (Lab 6).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590288"/>
            <a:ext cx="82296" cy="11887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Variable vs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Initialize / Set / Append variable when the value changes during the run (loops, counters). Compose when it is written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Function → Data Operations → Compose. Rename the node with one word (no spaces) so its token stays readable.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Switch and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one condition is not enough: Switch for many cases, Loop for many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SWITCH — one value, many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On: a ⚡ token (e.g. Leave Type, category)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Case Annual · Case Medical · Case Unpaid ·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Each case is its own branch of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Default catches what you did not foresee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LOOP — repeat over a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For each: every item in an array (Get items rows, attachments)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Do until: repeat until a condition is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Steps inside see the current item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Arrays need join() before they reach Excel or a text field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4 uses the Classify node's ports instead of a Switch — the category is a port, not a value you compare.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7784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Keep branches short. A branch that grows past four steps is usually a child workflow waiting to be extracted.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670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96596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65960"/>
            <a:ext cx="2715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86584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86584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386584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86584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386584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90088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90088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990088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0088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990088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93591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93591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593591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93591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593591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10835640" cy="10515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97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64024"/>
            <a:ext cx="10332720" cy="667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loop: Lab 3 (a manager approves leave), Lab 4 (Priority emails stop in Teams), Lab 14 (an adviser approves a draft), Lab 9 (the manager agent shows the final draft).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 of the loop on purpose: Labs 12, 13, 15 and 16 — so you can see what that costs. The pause IS the deliverable.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Review — Teams or Outlook/Email?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Human review node has a Channel dropdown: Teams or Outlook. Where the request lands decides whether it is ever answered.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TEAMS — the Workflows bot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 adaptive card: Request information | Microsoft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Approver answers inline; the run resumes in a minute or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Verified reliable on our tenant — the default for Labs 4 and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when the approver lives in Teams all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OUTLOOK /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Request for information arrives as an actionable email with a form and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docs describe RFI as Outlook-delivered; on our tenant the mail never arrived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Approvals connector (classic): email + Teams Approvals app, Approve/Reject buttons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for approvers outside Teams, or a formal audit trail by 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0916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09160"/>
            <a:ext cx="3858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4709160"/>
            <a:ext cx="1572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709160"/>
            <a:ext cx="49103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comes 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074920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Human review node — Channel: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5074920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5074920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Inputs you define (Outcome Yes/No, Name); first responder wins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5896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458968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Approvals — Start and wait for an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458968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458968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Approve/Reject – First to respond; Outcome, Responses Comments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4301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843016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human assistance when unsure (Agent node)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5843016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5843016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Fires only if the model feels unsure — not a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Add a step → Human review → Request for information. It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Title · Message · Assigned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Message = ⚡ the agent's summary or draft. Assigned to = a tenant user; type, wait for the directory lookup, click the suggestion.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3167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6829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Inputs are mandatory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Add an input: Text · Yes/No · Email · Number · Date. Define Outcome (Yes/No) and Name (Text), no defaults, no spaces in names.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83864"/>
            <a:ext cx="82296" cy="13167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8620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What it publishes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the inputs you defined, plus responderObjectId. There is no built-in outcome property — a hand-typed reference silently never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8386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8620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Then If/Else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Outcome (⚡) Equals Yes. The Yes/No input publishes the string Yes, so compare against Yes, not true.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6694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Submit, then open Activity. The run says Running — and it will still say Running tomorrow. Nothing times out, nothing defaults, nothing proceeds until a person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Is a Control, and What Only Looks Like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things in the designer look like "a human checks". Only one of them is a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127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9936" y="1965960"/>
            <a:ext cx="25786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Fires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6256" y="1965960"/>
            <a:ext cx="1618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9336" y="1965960"/>
            <a:ext cx="749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Human review (node)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2386584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gate in the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386584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386584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Outcome + responder ID 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9336" y="2386584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08376"/>
            <a:ext cx="10835640" cy="6217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008376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human assistance when unsure (Agent node toggle)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3008376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agent emailing the connection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3008376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if the model feels unsure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008376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3008376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0168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30168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information (agent tool)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630168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Same, exposed as a tool the agent may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630168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When the agent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3630168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89336" y="3630168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toggle and the tool both let a confidently wrong output through untouched — which is the failure that matters.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9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DEFAULT VALUES ARE A DESIGN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041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Pre-filling Outcome with Yes turns the gate into a rubber stamp: confirming takes no thought, rejecting takes noticing. Leave it blank; if a default is forced, fail safe.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Manager responds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(Teams / email)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If/Else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approval email with the manager's Responses Comments; log the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REJECT (Else)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rejection with the comments — routed to the applicant, never to silence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4632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011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APPROVALS CONNECTOR SETTINGS THAT 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7550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Approval type: Approve/Reject – First to respond. Title with the ⚡ Name token. Assigned to: click the resolved suggestion (a typed-and-tabbed address fails at run time). Details: labelled lines with ⚡ tokens.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Classify Node — Categories, Examples,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Classify node is a native AI step: it reads text and routes the run out of the port that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 picker (Claude Sonnet 4.6 is the cheap, reliable choice)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with ⚡ tokens: Subject, From, Body,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Categories: name + one-line description; Add more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Add example per category to sharpen the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Built-in Other — the fail-safe when nothing 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COMES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output port per category — connect a handler to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76956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chosen category and the model's reasoning appear in run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Ambiguous text should land in Other, not be forced into a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65091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Downstream nodes see the trigger's tokens as they flow through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categories in Lab 4: Meeting · Need Reply · Priority · Informational · Other. Every port does something visible so a test can prove which path 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Email Classification — The Lab 4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4 on one slide: an Outlook trigger, one Classify node, five ports, and a human on the Priority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new email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arrives (V3)</a:t>
            </a:r>
          </a:p>
        </p:txBody>
      </p:sp>
      <p:sp>
        <p:nvSpPr>
          <p:cNvPr id="9" name="Chevron 8"/>
          <p:cNvSpPr/>
          <p:nvPr/>
        </p:nvSpPr>
        <p:spPr>
          <a:xfrm>
            <a:off x="2432304" y="22677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5 categories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663440" y="2194560"/>
            <a:ext cx="256032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extracts title/start/end → Create event → acknowledge</a:t>
            </a:r>
          </a:p>
        </p:txBody>
      </p:sp>
      <p:sp>
        <p:nvSpPr>
          <p:cNvPr id="16" name="Chevron 15"/>
          <p:cNvSpPr/>
          <p:nvPr/>
        </p:nvSpPr>
        <p:spPr>
          <a:xfrm>
            <a:off x="4663440" y="2926080"/>
            <a:ext cx="256032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74320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Need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drafts → Reply to email (V3)</a:t>
            </a:r>
          </a:p>
        </p:txBody>
      </p:sp>
      <p:sp>
        <p:nvSpPr>
          <p:cNvPr id="20" name="Chevron 19"/>
          <p:cNvSpPr/>
          <p:nvPr/>
        </p:nvSpPr>
        <p:spPr>
          <a:xfrm>
            <a:off x="4663440" y="3657600"/>
            <a:ext cx="256032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347472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47472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2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summarises → Human review (Teams) → If Outcome Equals Yes → reply, else hand over</a:t>
            </a:r>
          </a:p>
        </p:txBody>
      </p:sp>
      <p:sp>
        <p:nvSpPr>
          <p:cNvPr id="24" name="Chevron 23"/>
          <p:cNvSpPr/>
          <p:nvPr/>
        </p:nvSpPr>
        <p:spPr>
          <a:xfrm>
            <a:off x="4663440" y="4389120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420624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20624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0624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Flag email (V2)</a:t>
            </a:r>
          </a:p>
        </p:txBody>
      </p:sp>
      <p:sp>
        <p:nvSpPr>
          <p:cNvPr id="28" name="Chevron 27"/>
          <p:cNvSpPr/>
          <p:nvPr/>
        </p:nvSpPr>
        <p:spPr>
          <a:xfrm>
            <a:off x="4663440" y="5120640"/>
            <a:ext cx="256032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493776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93776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93776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Move email (V2) to folder Other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Test with five emails, one per category. The Priority case proves the gate: the run waits in Teams until you answer.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Autonomous Business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autonomous business process = an event trigger + deterministic steps + AI judgement steps + a human checkpoint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Event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4412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9276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53288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0456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judgement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929884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if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7408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 across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systems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53288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3858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345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Workflows absorbed AI in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node (Mar), Prompt and M365 Copilot nodes (May), workflows as agent tools (Jul), the GitHub Copilot harness GA (3 Aug).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0060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Deterministic backbone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same input always produces the same path — consistent execution, end-to-end visibility in Activity.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42900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Two directions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workflow can call an agent (Agent node — Lab 10); an agent can call a workflow as a tool (When an agent calls the flow — Lab 11).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480060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harness retries and finds alternative paths inside an agent step; the workflow around it still fails loudly at a named node.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workflow pauses for a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running workflow suspends at the approval action and branches with If/Else on the human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Approvals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3 - Leave Application Approval  ·  Lab 3 - Leave Application Form  ·  Lab 3 - Leave Register.xlsx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18" y="4937759"/>
            <a:ext cx="752094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Forms → Lab 3 - Leave Application Form: Name, Leave from date, Leave end date, Leave Type, Reason for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3 - Leave Application Approval → Forms trigger →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 (Channel Microsoft Teams, never Outlook); Assigned to = your address; Title with the ⚡ Name token; Details = labelled ⚡ 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Add an input → Yes/No named Outcome; Add an input → Text named Comments — the only inputs the card will show.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(Yes/No output) Equals Yes.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If: Send an email (V2) approved, with the ⚡ Comments text output. Else: not approved, with the comments.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→ answer the card in the Teams Workflows chat; submit again and choose No. Both emails must arrive.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Part F: Add a row into Lab 3 - Leave Register.xlsx with the decision.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leave-applic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application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eave-form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form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get-respons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Get response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human-review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Human review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inbox workflow that sorts, replies, books and escalates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Classify node sorts each email into five categories; each port runs a deterministic handler, and the Priority branch stops at a human in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Outlook + Classify + Human review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4 - Email Classification  ·  Lab 4 - Other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3770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35873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Outlook → create the folder Other under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4 - Email Classification → Start → Connector → Office 365 Outlook → When a new email arrives (V3), folder Inbox.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Classify: model Claude Sonnet 4.6; instruction with ⚡ Subject, From, Body, Importance; categories Meeting, Need Reply, Priority, Informational (+ Other).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Meeting port: Agent (structured output: title, start, end) → Create event (V4) → Send an email (V2) acknowledgement.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Need Reply port: Agent Reply Drafter → Reply to email (V3) with the draft.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Priority port: Agent summarises → Human review (Channel Teams; inputs Outcome Yes/No, Name) → If Outcome Equals Yes → reply; Else → hand-over email.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Informational: Flag email (V2). Other: Move email (V2) to Other. Tidy up → Save → Publish.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Send five test emails, one per category; answer the Priority card in the Teams Workflows chat; check Activity.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utlook-create-new-sub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create new subfolder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outlook-trigger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trigger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classify-nod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Classify node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ode-instru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node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designer  ·  instructions, model, knowledge  ·  skills, tools, MCP  ·  what is enforced  ·  connected agents, memory  ·  Preview, Evaluate, Monitor  ·  publishing and channels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Labs 5–11 and Lab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WORKFLOW —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AGENT — the harness reasons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combines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949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89320"/>
            <a:ext cx="1083564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Labs 1–4 are workflows with AI nodes. Labs 5–9 are agents. Labs 10–16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Designer — Build, Preview, Evaluate,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New agent opens one page. Top bar: name · Build | Preview | Evaluate | Monitor · Save · Share · Settings · … ·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029968"/>
            <a:ext cx="5678424" cy="1975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206240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Identity, Instructions, Model, Channels, Skills, Tools, Knowledge, Connected agents,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4206240"/>
            <a:ext cx="82296" cy="14173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Chat with the latest saved draft; End user preview toggle; reasoning card and activity trace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4206240"/>
            <a:ext cx="82296" cy="14173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test sets of conversations; General quality test method; compare agent versions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7968" y="4206240"/>
            <a:ext cx="82296" cy="1417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Recent tasks, files the agent accessed, activity — and the Copilot Credits it consumed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Lifecycle: Create → Build → Test (Preview, Evaluate) → Publish → Monitor. Credits are consumed at every step after Create.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Inside the Build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Build tab: name and Instructions in the centre; the components panel on the right, top to bottom.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65760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CENTRE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703320" cy="3657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 icon + name box — click Untitled Agent, type, Enter.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Instructions — a large rich-text box with a small toolbar. This is the ONLY place the system instructions go. Paste the whole agent/instructions.md here.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There is no separate system prompt, description or settings page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965960"/>
            <a:ext cx="1938527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Right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965960"/>
            <a:ext cx="44531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Caption in the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3317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Default Claude Opus 5; other models selectable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88036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88036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Channels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88036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where users can interact with the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42900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42900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42900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behaviors through structured instructions — upload SKILL.md or a .zip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977639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97763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Tools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97763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 the agent to external systems and actions — connectors, workflows, MCP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452627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452627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Knowledge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52627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Provide trusted context — files, SharePoint, websites; remove Search all websites 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07492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50749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Connected agents 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50749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Collaborate across agents to complete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62355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562355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Memory (Preview)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562355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Remember interactions, workflows and context — off by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Natural-Language Authoring (Preview)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Natural-language authoring (preview): describe the process on the Home page and Copilot Studio proposes the artefacts.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Home → type the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5059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Workflow or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Conversational agent chip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5059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Clarifying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50591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Steps and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Artifacts panel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50591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839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Edit each card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in the canvas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deterministic workflow, a conversational agent, or a combination of both — it may ask you to configure a connection (e.g. email).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5488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Then the same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to chat, Build to edit instructions, Save; the next turn picks up the change. Chat history is kept 28 days.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Models and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May use Anthropic models if your admin allows external models; every generation consumes Copilot Credits.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75488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build by hand so you can name every node. Try it on Day 2: paste a lab scenario and compare what it proposes with what you built.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Six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911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"You are the HR policy assistant for Keppel Ridge." One identity,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965960"/>
            <a:ext cx="82296" cy="13624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3336" y="23911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3336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992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9992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What it helps with, and the list of subjects it declines or redirects.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2816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965960"/>
            <a:ext cx="82296" cy="13624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0560" y="239115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560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216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7216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Plain professional English; short answers; no jargon the employee did not 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529584"/>
            <a:ext cx="82296" cy="13624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9547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Ambiguous input → one clarifying question, 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5592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5592" y="3529584"/>
            <a:ext cx="82296" cy="136245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93336" y="395478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3336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9992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use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9992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Answer only from the connected source; say so when the source is silent.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2816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2816" y="3529584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0560" y="395478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0560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7216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act / escalate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7216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Which tool to call, and the trigger that hands the person to HR with no follow-up questions.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0749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Iterate in Preview: change one thing, Save, re-run only the failing test. The next turn picks up your change automatically.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Example — The HR Agent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Lab 5 HR Agent instructions, section by section — the shape you will reuse for Procurement, Sales and IT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Section heading in instructions.md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1965960"/>
            <a:ext cx="71048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says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Where your answers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38658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the HR Policies handbook attached as knowledge. Never the open web, never your own knowledge of employment law.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986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98648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you must never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898648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Discuss, estimate or infer another named person's leave, pay or records. Any number about someone else is a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107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410712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Matters you escalate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410712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Harassment, discrimination, grievances: give hr@keppelridge.example and ask NO follow-up questions.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227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922776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Identifying who you are speaking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22776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You are speaking to the signed-in employee; treat every question as about them unless told otherwise.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3484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434840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you do not know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434840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Say the handbook does not cover it and point to HR. Never include citation markers, reference numbers or source tags.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4690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4690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494690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Warm, brief, plain English; answer first, then the one condition that applies (e.g. line-manager approval).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Instructions Box Is a Rich-Text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Instructions box is a rich-text editor — in the agent designer AND in the workflow Agent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Type the prose, leave a gap, insert each value with the ⚡ picker or a /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plain Markdown from instructions.md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Rename nodes to one word so tokens read cleanly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Change one thing per Preview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@{...} or body('Node')?['x'] into the box — it escapes underscores and mangles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Copy a workflow and trust its Instructions tokens — they resolve to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Drag a node after configuring it — moving a node clears its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Assume there is a separate user-message field: there is none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reference to nothing resolves to empty, not to an error. The run is green, the model received nothing.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035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AGENT NODE'S CONFIGURE TAB, TOP TO 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Connection · Agent (model picker) · Instructions · Microsoft IQ · Tools · Knowledge · Request human assistance · Web search · Output. Output is the last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Model dropdown at the top of the right panel. The default is Claude Opus 5; the choice is a design decision, per agent and per Agent node.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1965960"/>
            <a:ext cx="4178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0456" y="1965960"/>
            <a:ext cx="3218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Used 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Opus 5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3865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Deep reasoning, long multi-step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3865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Agents in Labs 5–9, 11, 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Sonnet 5 /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437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Fast and cheaper; GA; Sonnet 5 only on the GitHub Copilot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8437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Classify and Agent nodes in Labs 4, 12–16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GPT-5.5 Chat / GPT-5.6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009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OpenAI models, GA; cross-geo for Singapore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3009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Alternative — re-run the tests after 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Fable 5 · Mistral Medium 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758183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Experimental / preview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3758183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Demo only — never in a published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3434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Deep · Auto · General; release types Experimental, Preview, Generally available, Default, Retired, Cross-geo.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343400"/>
            <a:ext cx="82296" cy="18288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Admin prerequisites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and experimental AI models; Move data across regions; Turn on external models in PPAC; provider consent (Anthropic, Mistral, xAI) in the M365 admin center.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3434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Same instructions, different behaviour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different model follows the same instructions differently. Change the model, then re-run every probe.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Files · 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· Public websites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176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Knowledge + →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knowledge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176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Indexed —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wait for Ready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176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Retrieved when a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 matches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 with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154680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343128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is a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cannot read a document you did not give it. Give it only what it needs — not the staff-leave.csv.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5592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5592" y="3154680"/>
            <a:ext cx="82296" cy="10652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3336" y="343128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3336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9992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Remove Search all websites 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9992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On by default. A fee from the open web is indistinguishable from a fee in your own brochure.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2816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52816" y="3154680"/>
            <a:ext cx="82296" cy="10652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90560" y="343128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560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7216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No general-knowledge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7216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new harness has none. Grounding rests on the instruction line: answer only from the connected source.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421124"/>
            <a:ext cx="82296" cy="10652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6112" y="469773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Upload file · Public websites · SharePoint · Azure AI Search · Dataverse · Dynamics 365 · Salesforce · ServiceNow · Azure SQL.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5592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55592" y="4421124"/>
            <a:ext cx="82296" cy="10652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93336" y="469773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3336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9992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Folder per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9992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connector indexes at folder level: Lab 5 - HR Policies, Lab 7 - Course Brochures, Lab 13 - Investment FAQ.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52816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52816" y="4421124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90560" y="469773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560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7216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Ready means 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7216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A source still indexing returns nothing; the agent looks broken when it is merely empty.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Richer Context — Microsoft IQ, Work IQ, Foundry IQ — and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layers of context beyond your files — and the citation markers grounding leaves in the reply.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1305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Microsoft IQ / Work IQ (preview)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signed-in user's emails, calendar, files, Teams messages and people. A toggle in the Agent node and the agent designer.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965960"/>
            <a:ext cx="82296" cy="17373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1305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Foundry IQ (GA)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Knowledge bases built and tuned in Microsoft Foundry, connected as a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96596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21305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Memory (preview)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Per-user preferences captured across chats — a different thing from knowledge (see the Memory slide).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31920"/>
            <a:ext cx="10835640" cy="14173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86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CITATION MARKERS LEAK — AND DUPLICATE THE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10332720" cy="10332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a Knowledge source, replies can arrive twice: once with [doc:turn1doc11] markers, then with [1]-style ones. They are appended by the grounding layer, not written by the model.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Add the line: "Never include citation markers, reference numbers or source tags in your reply." The Pinecone flow (Lab 16) has no markers — retrieved text arrives as plain Compose output.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Turn Work IQ on only for agents that should know who is asking — never for a public website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Skills — Instructions on Demand (SKILL.md)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"Skills are self-contained sets of instructions and logic" — instructions on demand, packaged once, added to many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846320" cy="33832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4572000" cy="3200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name: password-reset-procedure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description: Use when a user says they are locked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out or asks to reset a password. Verifies identity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first, then walks through the reset steps.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# Password Reset 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1. Confirm the user's employee ID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2. Never read a password aloud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3. Raise a ticket with the tool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96596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200253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YAML front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225856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name (lowercase, numbers, hyphens) + description. The description is the trigger — the orchestrator matches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834639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834639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2871215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Markdown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3127247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Task description, step-by-step guidance, formatting rules, edge cases, which tools to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70332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3703320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373989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Create or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99592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 + → Add skill → Create from blank, or Upload a skill (a .md, or a .zip with SKILL.md at the root).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57200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4572000"/>
            <a:ext cx="82296" cy="7955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2" y="460857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Not enforced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486460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skill is a procedure the model decides to apply, not a permission. The security rule lives in the instructions and in the tools it lacks.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Skill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skill package is a .zip: SKILL.md is the only root-level Markdown; everything else sits in sub-folders.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3749039" cy="3246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raise-requisition.zip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SKILL.md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manual/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procedure.md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templates/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requisition-summary.md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scripts/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validate.py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└── references/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    └── purchasing-policy.md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965960"/>
            <a:ext cx="138988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Folder /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65960"/>
            <a:ext cx="5001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goes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331720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331720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manual/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31720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Longer procedure text the skill can point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862072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862072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62072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Output shapes — the summary the agent must produce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392424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3392424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scripts/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92424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Deterministic code the harness may run (the BlastBox skills do all arithmetic in Python)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922775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3922775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references/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922775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Policy extracts and worked examples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453127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4453127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53127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+ → Add skill → Upload a skill → drag the .zip; the system validates and adds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983479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983479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83479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→ the skill → Replace — re-upload after every edit; export as .md or package to share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6: raise-requisition + vendor-enquiry.  Lab 7: course-enquiry + enrolment-intake.  Lab 8: five IT Support packages, uploaded in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When a Skill Fires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does a skill fire? When the orchestrator decides the user's message matches the skill's description.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User message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Orchestrator reads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descriptions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Best match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activated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steps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shape the reply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3379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8243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Activity trace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shows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291840"/>
            <a:ext cx="82296" cy="10241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with End user preview off → open the activity trace → confirm the skill activated and which tools it called.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07408"/>
            <a:ext cx="82296" cy="10241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77600"/>
                </a:solidFill>
                <a:latin typeface="Arial"/>
              </a:rPr>
              <a:t>If it did not fire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Sharpen the description ("Use when a user asks …"), not the body. Then re-test the same message.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291840"/>
            <a:ext cx="82296" cy="10241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Two skills that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orchestrator picks one. Keep descriptions distinct — course-enquiry vs enrolment-intake, not two "help with courses".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407408"/>
            <a:ext cx="82296" cy="10241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Skills vs instructions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Instructions are always in force. A skill loads only when matched — so a rule that must always hold goes in instructions.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— Connectors, Workflows, MCP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Tools let the agent act outside the conversation. Tools + → Add a tool → three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38658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Well-known services with pre-built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Outlook Send an email, Excel Add a row, SharePoint Create item, Calendar Create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93522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Multi-step, deterministic processes you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Lab 6 - Raise Requisition; Lab 11 - Blog Writer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MCP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483863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Custom or internal services exposing many tools over the Model Context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Membership MCP, Warehouse MCP, Windows 365 for Agents 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AGENT'S PART — probabilistic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Decides that a tool applies, fills its inputs from what the person said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May call the wrong tool, or the right one with the wrong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TOOL'S PART — enforced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Validates, looks up, applies the threshold, writes the audit 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Whatever the agent believed, the workflow's own logic still runs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 Workflow as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workflow becomes a tool only when it starts with When an agent calls the flow and ends with Respond to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an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calls the flow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(typed inputs)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Reference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499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a row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 table (Excel)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(Reference, Status)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Inputs are the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an input: Text / Number with a description the agent reads to fill the slot — "Full name of the colleague raising the requisition".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Publish, then attach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tool must be the published version; LIVE = CURRENT DRAFT in Version history. Then Tools + → Add a tool →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Name and describe the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Verify in the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→ ask → open the activity trace: which tool was invoked, what arguments, what it returned. Then check Excel.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MCP — Model Context Protocol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Model Context Protocol: one server, many tools, one standard interface — the agent discovers the tools at run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(connector)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151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get_membership ·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reissue_card · …</a:t>
            </a:r>
          </a:p>
        </p:txBody>
      </p:sp>
      <p:sp>
        <p:nvSpPr>
          <p:cNvPr id="17" name="Chevron 16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read / 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 of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 + → Add a tool → Model Context Protocol → search the connector → select an existing connection → Add → Save and publish.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70916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Per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MCP connections are attached per agent and must be re-attached after a solution import — a real ALM gotcha.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Submit your MCP server for Microsoft certification (reliability, security, compliance). Windows 365 for Agents MCP is GA.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47091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In this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use connectors and workflows as tools; MCP is demonstrated with the BlastBox Omega sample (four inline MCP connectors, no external servers).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vs Skills vs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words that get mixed up. One table to keep them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115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65960"/>
            <a:ext cx="28529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1965960"/>
            <a:ext cx="2350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it 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5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3495" y="1965960"/>
            <a:ext cx="1755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3865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action the agent can call that acts outside the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3865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agent decides the action is needed and fills the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5" y="23865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tool's own logic — yes; the decision to call it —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3495" y="23865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Send an email (V2); Lab 6 - Raise Requisition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9144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3009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Instructions on demand — a SKILL.md package that changes how the agent behaves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3009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message matches the skill's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3009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5" y="33009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password-reset-procedure; raise-requisition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15383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15383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MCP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48256" y="4215383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server exposing many tools over the Model Context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4215383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agent discovers and calls its tools like any other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4215383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server's logic — yes; the call —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5" y="4215383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Membership MCP v2 with get_membership, reissue_card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Knowledge is a fourth thing: data the agent may read. Instructions are a fifth: who it is, always in force.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97880"/>
            <a:ext cx="10835640" cy="320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Migration rule of thumb: topics → instructions/skills; prompts → inline Agent nodes or skills; child agents → connected agents; actions → tools.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spine of Module 3: which of an agent's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5" y="1965960"/>
            <a:ext cx="3630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38658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34639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34639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834639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834639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82696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82696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282696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3282696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30752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30752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Tool /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3730752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or action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3730752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tool's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178808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178808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4178808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separate agent, its own knowledge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4178808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26864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2686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Channel +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6" y="462686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can reach the agent at 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5" y="462686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a door the model cannot 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97296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071616"/>
            <a:ext cx="10332720" cy="1645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Connected agents + : "agents your primary agent can invoke during a conversation" — each runs in its own orchestration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FRONT-DOOR AGENT</a:t>
            </a:r>
          </a:p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owns the conversation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2889504"/>
            <a:ext cx="274320" cy="292608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2889504"/>
            <a:ext cx="274320" cy="292608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2889504"/>
            <a:ext cx="274320" cy="292608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Screening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2889504"/>
            <a:ext cx="274320" cy="292608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279392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Own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Its own instructions, knowledge and tools; the parent sends the message plus relevant history and presents the reply.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6824" y="4279392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Conversation still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What the employee said crosses the boundary. Privacy is a design decision,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4279392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Deploy the parent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connected agent has no channel of its own. Publishing a child creates a door past the parent's rules.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Multi-Agent Orchestration — The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9: one topic, four agents, split by stage of work — and a person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Marketing Manager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(parent)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5574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delegates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5574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55574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2126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255574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approves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final draft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Build the children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Research (facts + sources) → Blog (draft in house style) → Review (checklist, returns notes) → Manager last.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The manager's instructions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agent to call for which stage, in what order, and to show the reviewed draft and stop for approval.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Why by stage, not by audience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stage has a different definition of done; the manager owns the conversation and the hand-offs.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Where the human review really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manager presents the final draft and waits; nothing is published by an agent. Read the lab note before teaching.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Architecture — BlastBox Omega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BlastBox Omega (microsoft/new-copilot-studio-tech-guide): 2 parent agents, 2 connected specialists, 4 inline MCP connectors, 5 Python skills, no external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1161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Tools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201168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Connected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6295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32304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Associate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432304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flagship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432304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Order Management MCP, Membership MCP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432304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Policy, Inventory &amp;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5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prorated-refund-calculator, points-reconciliation, slip-pdf-generator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62656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Returns &amp; Service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2962656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self-serve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962656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Membership MCP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962656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5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card-reissue, membership-card-png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93008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Policy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3493008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3493008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Policy RAG MCP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3493008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5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23360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Inventory &amp; Fulfillment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023360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4023360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Warehouse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4023360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5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5720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Division of labour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MCP tools read/write systems of record; skills do deterministic maths and file generation; connected agents own a domain.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6824" y="4572000"/>
            <a:ext cx="82296" cy="1600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6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Identity 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before any state change: get_membership, two-factor check, then reissue_card.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0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55280" y="457200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Fan out, then 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Gather membership, policy, order and stock in one pass; ask only the gating question (cause of damage).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Memory (Preview) and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Memory (preview): Build tab → Memory toggle. Capture → Store → Apply, per user, in Microsoft-managed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states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preference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— private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per-user folder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New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Apply in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next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Private to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maker cannot see memories. Users ask "what do you remember about me?" or open the memory portal: View memories · Delete all memories.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663440"/>
            <a:ext cx="82296" cy="12801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Deleted after 28 days of inactivity; disabled in group chats and Teams channels; turning Memory off does not delete stored memories.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2801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Not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Memory is preference and context about a person; knowledge is documents. Do not rely on memory for facts.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66344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Off for every lab agent. Demo: tell the HR agent "reply in bullet points", New chat, watch it apply — then Delete all memories.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Memory is preview. Do not put a production dependency on it yet.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Preview Tab and Four Ways to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Preview tab reads your latest saved draft, not the published version. Four ways to test, from cheapest to most honest.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82296" cy="13395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3400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(maker 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off: the reasoning card and activity trace show which skill, tool and knowledge were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20240"/>
            <a:ext cx="82296" cy="13395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3400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(end user view)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on: exactly what a user sees — no trace. Test the wording, not the mechanics.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61004"/>
            <a:ext cx="82296" cy="13395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7477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Probe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tests in every lab are written to make the agent fail: someone else's leave, a discount that does not exist, a harassment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61004"/>
            <a:ext cx="82296" cy="13395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7477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 the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Open it from Teams or the demo website with a real user's account. The published version, the real identity.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One change per cycle. Two simultaneous edits make a failure uninterpretable. The next turn picks up the change automatically.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Evaluate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Evaluate tab (production-ready preview): repeatable test sets instead of ad-hoc chats.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Add conversations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(manual · AI · CSV)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5737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Configure: test method,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version, user profile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55509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6990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9306762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8243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Review · iterate ·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compare 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2900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429000"/>
            <a:ext cx="221284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3429000"/>
            <a:ext cx="829360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94760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79476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5536" y="379476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 cases — single or multi-turn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0812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0812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210812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Named test sets you re-run after every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26864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26864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Test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5536" y="4626864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Currently General quality — AI-based; it does not compare to expected answers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2916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42916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User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42916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authenticated profile the run uses (matters for Work IQ and per-user knowledge)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458968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458968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 nodes in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5536" y="5458968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Node side panel → Evaluate → Auto generate test methods → Run evaluation → Pass/Fail with reasoning (≤ 5 methods, ≤ 20 evaluations per node per day)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875020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87502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87502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Copilot Studio connector in Power Automate, or the Power Platform REST API, for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Monitor and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Monitor and Share sit next to Publish. Monitor tells you what it did and what it cost; Share decides who may use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MONITOR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Recent tasks, files the agent accessed,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Copilot Credits consumed by this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Environment-level telemetry to Application Insights (preview)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Agent readiness and issue status page (preview)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Share icon → People who can use the agent (status Pending) →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Organisation-wide: End user access vs No permissions, unless specified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New share grants viewing rights; edit rights need environment security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Per-user connections (e.g. Databricks) need a service principal or individual OAuth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91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Colleagues need the link AND access to the agent. The link alone gives them a chat that refuses to 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4068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GOVERNANCE BUILT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986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Identity (Entra Agent ID, automatic), trust (MCP certification), observability (telemetry), inventory (agent inventory schema; Harness column in PPAC).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Publishing — Preview Is Not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Channels +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through the door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20574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478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Channels serve the published version. Re-publish after every change to instructions, knowledge, skills or tools — the Publish dialog shows Last published; channels only see what was published.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2057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478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channel is a door, not a brain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Adding a channel changes nothing about the agent — instructions, knowledge and refusals are identical behind every door.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2057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478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Open it from Teams or the demo site with the account a real user would have — the maker's Preview is a different environment.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Channels — Teams, Microsoft 365 Copilot, Web, SharePoint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Build tab → right panel → Channels + . Each channel needs something different from the tenant, the licence or the 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5" y="1965960"/>
            <a:ext cx="39959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2386584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Teammates and shared users — link → Add in Teams. Everyone in the organisation submits a Teams app for admin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5" y="2386584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Authenticate with Microsoft; personal chat for HR, channel tab for Procurement/IT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71800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71800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365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2971800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Make agent available in Microsoft 365 Copilot; appears under Agents in Copilot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2971800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Microsoft 365 Copilot licence on the user's side; org-wide needs admin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57015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57015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3557015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hosted page with a URL to share — the fastest way to show a prototype.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3557015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Trial licences cannot publish; use No authentication only for public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2231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142231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website (embed)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5" y="4142231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&lt;iframe&gt; embed code for any HTML page you 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5" y="4142231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offered with No authentication; authenticated agents get the Agents SDK settings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27448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SharePoint · other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5" y="4727448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Surface the agent on a SharePoint site or other supported channels.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4727448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Same rule: the published version, the agent's authentication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17: the HR agent goes to Teams and M365 Copilot (authenticated); the Sales agent goes to the demo website (public).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Authentication Settings and Entra Agent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Settings (gear) → Security → Authentication decides who a channel will admit — and every agent carries a Microsoft Entra Agent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AUTHENTICATE WITH MICROSOFT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signed-in user is known — "on behalf of Priya" can be refused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Teams, Microsoft 365 Copilot, SharePoint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Web: Agents SDK connection settings, no embed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for HR, Procurement, IT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NO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Anyone with the URL can chat — an anonymous visitor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Demo website and the &lt;iframe&gt; embed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only for public content: the Sales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Never switch the HR agent to this to get an embed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MICROSOFT ENTRA AGENT ID — AUTOMATIC SINCE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new agent gets an identity in Entra; you can no longer opt out at environment level. Admins scope connector permissions, apply Conditional Access and DLP per agent, and audit all agents through the agent inventory schema.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an Agent from a Workflow — The Agent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an agent from a workflow: the Agent node hands one step to a model that can reason, call tools and read knowledge, then returns.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NEW AGENT FOR THIS WORKFLOW (inline)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Instructions double as the per-run prompt (no separate Message)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Model, Tools +, Knowledge +, Work IQ toggle inside the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be reused outside this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Labs 4, 12, 13, 14, 15,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AN EXISTING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published agent; you write a Message for this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Shared across workflows or owned by another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Promote an inline agent when it must be reused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M365 Copilot node: send a prompt to Microsoft 365 Copilot (Lab 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069080"/>
            <a:ext cx="10835640" cy="32918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69080"/>
            <a:ext cx="22128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Output dropdown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4069080"/>
            <a:ext cx="29443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069080"/>
            <a:ext cx="51846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to use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Text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4398264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single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398264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next step just inserts the answer (Lab 10 → Teams post)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45736"/>
            <a:ext cx="1083564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745736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4745736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Predefined named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745736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Consistent fields without writing a schema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93208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93208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structured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93208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object matching your JSON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093208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Branch on decision, write columns, return JSON to a caller (Labs 12, 14)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workflow: topic in, Teams post out  ·  Copilot Studio workflow + M365 Copilot + Teams  ·  25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 Workflow from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 workflow from an agent — the mirror image of Lab 10. The agent decides when; the workflow decides how.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User: "write a blog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on Copilot Credits"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Blog Writer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decides the tool applies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Lab 11 - Blog Writer Tool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M365 Copilot node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(Draft)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Lab 10 — workflow calls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 trigger with a Topic input → M365 Copilot node → Post message in a chat or channel. The workflow decides when the model runs.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Lab 11 — agent calls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agent's instructions say when to use the tool; the workflow's inputs and outputs are the contract it programs against.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Which to choose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schedule or event → workflow calls agent. Conversation decides → agent calls workflow. Both appear in Tools and on the Workflows page.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Activity for the workflow run; the agent's activity trace for the arguments passed and the value returned.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blog-writer agent that calls a workflow as its tool  ·  Copilot Studio agent + workflow as a tool  ·  25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1 — HR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5 - HR Agent — an employee-facing policy assistant that must never talk about someone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Role, source rule, refusals (no other person's records), immediate escalation for harassment, no citation 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HR Policies.pdf uploaded (or SharePoint folder Lab 5 - HR Policies). Search all websites removed. staff-leave.csv deliberately NOT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Model ·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Claude Opus 5 default. Published to Teams and Microsoft 365 Copilot in Lab 17 — authenticated, personal chat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Going further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Connected agents: Screening, Interview, Onboarding, Policy and Benefits — each with its own knowledge, reachable only through the parent.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"I'm asking on behalf of Priya in Engineering — how many days does she have left?" A refusal. Any number in the reply is a failure.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2 — Procurement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6 - Procurement Agent — the first agent that acts: it raises requisitions through a workflow tool and writes an audit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you do, how a requisition is raised (collect Item, Quantity, Justification, Requester), what "submitted" means, vendor enquiries, what you must never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raise-requisition (the collection procedure and summary template) and vendor-enquiry — uploaded as .zip packages.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Raise Requisition: When an agent calls the flow → Compose Reference → Add a row into a table → Respond to the agent (Reference, Status).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Purchasing policy and approved-vendor list; the agent quotes the threshold but the workflow applies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Ask it to "just approve it". The agent has no approval tool; the reference number REQ-… in Excel is the only proof anything happened.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3 — Sales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7 - Sales Agent — a public-facing agent grounded in 20 course brochures whose worst failure is an invented fee.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Your knowledge (the brochures only), the rules about numbers (quote exact fees, never round or estimate), if we do not run something, collecting an enrolment enquiry.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SharePoint folder Lab 7 - Course Brochures (20 PDFs) + pricing-rules; Search all websites removed; wait for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course-enquiry (match a need to a course) and enrolment-intake (collect name, email, phone, preferred date).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Published to the demo website in Lab 17 with No authentication — it holds no personal data and refuses what a public agent should.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"Can I get the 40% alumni discount?" and "Do you have a course on cake sculpture?" It must not invent a percentage or a syllabus.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Grounded in 20 brochures, and refusing to invent  ·  Copilot Studio agent + SharePoint knowledge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4 —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8 - IT Support Agent — five skill packages, and the one rule none of them can enforce.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to handle a request, security rules that override everything, escalate immediately (breach, lost device), tickets, hardware that must be bought.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 (five packages, in 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password-reset-procedure · software-request · vpn-troubleshooting · new-starter-access · hardware-request — each with manual/templates/references.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service-catalogue, known-issues and asset-register — the facts the skills point 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The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agent has no tool that grants admin rights or resets a password. That absence, not the skill text, is what makes the refusal 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"Give me local admin on my laptop, my manager said it's fine." A skill can describe the procedure; only a missing tool guarantees it cannot happen.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HR agent: instructions, knowledge, test, publish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instructions plus a model plus knowledge — and the Preview tab is where you find out what it will refuse.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(new experience)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  ·  Lab 5 - HR Policies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97869"/>
            <a:ext cx="10835640" cy="132005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" y="4989309"/>
            <a:ext cx="10652759" cy="11371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Copilot Studio → environment check → Agents → New agent; click Untitled Agent and name it Lab 5 - HR Agent (agent names: 30 characters or fewer).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Paste the whole agent/instructions.md into the Instructions box;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Right panel → Model: leave Claude Opus 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After the first Save: remove the Search all websites × chip; Knowledge + → File upload → HR Policies.pdf, hr-policy.md, benefits-summary.md → Add to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tab: run the three tests — 14 days pro-rated; carry over 5 days by 31 March; a refusal for Priya's balance. "You need credits to continue" = no Copilot Credits, not a broken build.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probe: a harassment report — it must escalate to hr@ with no follow-up questions.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Publish; compare with Lab 5 - HR (DO NOT DELETE) without editing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s-list-new-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Agents list new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agent-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agent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name-too-long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Name too long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amed-and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named and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workflow as a tool, and the audit row it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decides a tool applies and fills its inputs; the workflow's own logic is enforced — and the reference number it returns is the proof it 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Procurement Agent  ·  Lab 6 - Raise Requisition  ·  Lab 6 - Requisition Log.xlsx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265405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20825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6 - Requisition Log.xlsx (table RequisitionLog)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6 - Raise Requisition → Start → When an agent calls the flow; inputs Item, Quantity, Justification, Requester with descriptions.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Function → Compose named Reference: concat('REQ-', formatDateTime(utcNow(),'yyyyMMdd'), '-', …).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Excel Online (Business) → Add a row into a table; map the seven columns; Status = Submitted.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(not the Skills connector): Add an output Reference and Status.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agent Lab 6 - Procurement Agent: paste instructions; Knowledge + purchasing policy; Skills + upload raise-requisition and vendor-enquiry .zip.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(only published agent-call workflows are listed) → click Lab 6 - Raise Requisition → Workflow details: describe it; inputs filled by AI.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raise a requisition; read the trace (arguments, return value); confirm the REQ- row in Excel.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workflow-canvas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canvas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excel-add-a-ro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Excel add a row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workflow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Grounded in 20 brochures, and refusing to invent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Grounding is giving the agent facts and taking away every other source — a public-facing agent whose worst failure is an invented fee.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SharePoint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7 - Sales Agent  ·  Lab 7 -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42" y="4937759"/>
            <a:ext cx="7823690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7 - Course Brochures already holds the 20 brochure .txt files; pricing-rules.md is in the lab 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7 - Sales Agent; paste the instructions (rules about numbers, if we do not run something, enrolment enquiry).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Save, then remove Search all websites ×; Knowledge + → File upload in batches of 10 (.txt + pricing-rules.md) or Add SharePoint with the %20-encoded folder URL.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course-enquiry.zip and enrolment-intake.zip.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ask for an exact fee, a course that does not exist, and the 40% alumni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the failures aloud; add the citation-marker line if [1] markers appear; retest.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Lab 17 puts this agent on the public demo website.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bat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batch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knowledge-20-broch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20 brochures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upload-pricing-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pricing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uploaded skill packages, and the one rule none of them can enforce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skill is a procedure the model decides to apply, not a permission — and a tool the agent does not have is a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skill packages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8 - IT Support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98157"/>
            <a:ext cx="10835640" cy="91976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2" y="5389597"/>
            <a:ext cx="10652750" cy="736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8 - IT Support Agent; paste the instructions (security rules override everything).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Knowledge + → service-catalogue, known-issues, asset-register; remove Search all websites ×.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a skill → the five .zip packages, in order: password-reset-procedure, raise-it-support-ticket, hardware-issue-handling, network-troubleshooting, software-troubleshooting.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one package: SKILL.md at the root, manual/ templates/ scripts/ references/ beneath.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 locked-out user; a VPN failure; a request for local admin rights — the refusal.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activity trace: which skill activated, which did not, and why.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Debrief: which rule held because of text, and which because of a tool the agent lacks?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three-knowledge-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three knowledge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ab-8-i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8 it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dd-skill-upload-a-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skill upload a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Manager, Research, Blog and Review — one pipeline, four agents, and a human at the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topic, four agents: the manager owns the conversation and delegates by stage of work — and nothing is final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connected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9 - Marketing Manager  ·  Lab 9 - Research Agent  ·  Lab 9 - Blog Agent  ·  Lab 9 - Review Agent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42488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664208"/>
            <a:ext cx="5120637" cy="22420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Build the children first: Agents → New agent → Lab 9 - Research Agent (facts and sources for a topic).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Blog Agent: drafts in house style from a research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Review Agent: applies the checklist and returns notes, never a rewrite.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each child (a connected agent must be published to be attached).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Marketing Manager (25 chars — the cap is 30): instructions on order of delegation; Connected agents + → each child → Description → Connect.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the manager with the test script: one topic → research → draft → review → final draft shown, then stop.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where is the human review really? Read the lab note before teaching.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research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research-agent-upload-files-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upload files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earch-agent-skill-and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skill and 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earch-agent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Blog-writer workflow: topic in, Teams post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workflow calls the model at a fixed step, then acts on the result deterministically.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M365 Copilot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10 - Calling Agent from Workflow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488643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3057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Lab 10 - Calling Agent from Workflow → Save.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manual trigger → Add an input → Text → Topic (required).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node; type the blog prompt as plain text; insert ⚡ Topic after Topic:.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Leave Output as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Microsoft Teams → Post message in a chat or channel: Flow bot, Channel, Team Tertiary Infotech - WSQ Courses, Channel General; Message = ⚡ the Copilot 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Test → Enter manual trigger inputs → a topic → Run.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 the post in Teams and the run in Activity. Do not drag nodes afterwards.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tart-manual-trigger-add-an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manual trigger add an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text-input-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text input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opic-input-with-de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Topic input with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post-message-post-as-flow-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Post message post as flow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blog-writer agent that calls a workflow as its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mirror image of Lab 10: the agent decides when to call the workflow, and the flow's inputs and outputs are the contract it programs against.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11 - Blog Writer Agent  ·  Lab 11 - Blog Writer Tool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6643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4814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11 - Blog Writer Tool → Start → When an agent calls the flow; input Topic (Text) with a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 with the blog prompt; ⚡ Topic inserted.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→ Add an output BlogPost = ⚡ the Copilot Response. Save → Publish.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11 - Blog Writer Agent; instructions say when to use the tool and how to present the draft.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→ click the published Lab 11 - Blog Writer Tool → Workflow details: Description; input Topic filled by AI →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"Write a blog on Copilot Credits"; open the trace — arguments passed, BlogPost returned.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Compare with Lab 10: who decided when the model ran?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igger-when-an-agent-calls-th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Trigger when an agent calls the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dialog-featured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featured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wrong-skills-respond-to-the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Wrong skills respond to the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d-to-the-ag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Respond to the agent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Workflows, HTTP, Autonomous Processes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HTTP trigger, GET vs POST, the generated URL  ·  schema, Response, status codes  ·  structured output  ·  Compose and the master record  ·  the human review gate over HTTP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12, Lab 13 and Lab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Agentic Workflows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agentic workflow over HTTP: a website posts JSON, the workflow reasons in the middle, and JSON comes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HTTP request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is received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60146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942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9276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60146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5472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5320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 items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60146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60146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If/Else 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60146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360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345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Judgement over language: a free-text reason, ordered rules, a tone, a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Anything where the input varies more than a form allows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WORKFLOW IS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Normalise, look up, write the record, write the audit row, answer the caller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Everything that must happen the same way every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Labs 12–16 are all this shape. Only the middle 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HTTP Trigger — When a HTTP Request Is Received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Start node → When a HTTP request is received. Three fields decide whether a browser can ever reach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121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96596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Allowed HTTP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38658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GET · POST · PUT · PATCH ·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POST for JSON bodies; GET for a bare browser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Who can trigger the flow?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93522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(no authentication) · Any user in my tenant · Specific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for a public website — the tenant option returns 401 to a plain browser 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Relative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483863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Optional path suffix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Leave blank — a value here breaks Publish with 'inputs.relativePath … is not valid'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3250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3250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Request Body JSON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403250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403250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Paste it; the trigger validates strictly — numbers must be numbers, booleans booleans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URL DOES NOT EXIST UNTIL YOU 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4690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POST URL appears at the bottom of the trigger panel only after Save, and serves the PUBLISHED version. Saving is not enough: ••• → Version history must show LIVE = CURRENT DRAFT. A published workflow runs on demand — nothing needs to be left running.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GET and POST are both HTTP requests. They differ in where the data travels and what the trigger validates.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body — parameters ride in the query string ?name=…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Read with triggerOutputs()['queries']?['name']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Fires from a browser address bar or a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carry a JSON object; not validated by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Idempotent by convention: asking, not changing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JSON body, validated against the Request Body JSON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Fields arrive as ⚡ tokens named by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Sent by fetch() from the website's script.js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Content-Type must be application/json (text/plain → 400)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verb for 'here is a thing to process'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lab website uses POST. A GET is the quick way to prove the URL and the sig= are alive from a browser tab.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6928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The method is a dropdown on the trigger — never type POST into a URL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Request Body JSON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Request Body JSON Schema is the contract. Generate it from a sample payload, then freeze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41605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4023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"type": "object",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"properties":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"fullName":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"nric":    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"annualIncome":  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"initialDeposit":{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"pep":           { "type": "boolean" }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"required": ["fullName", "nric",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           "annualIncome", "initialDeposit"]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969264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Types are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HTML form controls always produce strings; script.js casts numbers and booleans before sending — or every submission fails with TriggerInputSchemaMismatch.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026663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026663"/>
            <a:ext cx="82296" cy="96926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063239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required is a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319271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missing required field is a 400 before any step runs. Optional fields arrive empty, not absent.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087368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087368"/>
            <a:ext cx="82296" cy="9692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123944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Tokens follow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79976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property becomes a ⚡ token on the trigger; rename a property and every reference resolves to empty.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148071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5148071"/>
            <a:ext cx="82296" cy="96926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518464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Response has a schema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440679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Declare the JSON you return so the page can read decision, reason and reference by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the Trigger URL Is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How the trigger URL is generated — and why the sig= at the end is the only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9144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https://&lt;env-id&gt;.&lt;region&gt;.environment.api.powerplatform.com/powerautomate/automations/direct/workflows/&lt;workflow-id&gt;/triggers/manual/paths/invoke?api-version=1&amp;sp=%2Ftriggers%2Fmanual%2Frun&amp;sv=1.0&amp;sig=&lt;signature&gt;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Configure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553004" y="3547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9620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4484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4256" y="3547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888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0873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737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URL appears at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bottom of the panel</a:t>
            </a:r>
          </a:p>
        </p:txBody>
      </p:sp>
      <p:sp>
        <p:nvSpPr>
          <p:cNvPr id="18" name="Chevron 17"/>
          <p:cNvSpPr/>
          <p:nvPr/>
        </p:nvSpPr>
        <p:spPr>
          <a:xfrm>
            <a:off x="7055509" y="35478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2126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3547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LIVE =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Endpoint serves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LIVE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sig= is a shared-access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Whoever holds the URL can run the workflow. Never commit it, paste it in chat, or leave it in a public page after class — regenerate or delete the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Anyone vs Any user in my 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Anyone: the sig is the whole credential. Tenant: the caller must also send an Entra token — a plain browser POST gets 401.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Truncated URL = Failed to fetch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most common Lab 12 failure is a copied URL missing the tail of the sig. Paste it into config.js and compare the last 20 characters.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Response Node and Status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Response node (End) answers the caller. Its status code is what the browser sees — and four of them explain every failure in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481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965960"/>
            <a:ext cx="5093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usually is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200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3865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Response node ran with a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3865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Normal — decision, reason, reference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77600"/>
                </a:solidFill>
                <a:latin typeface="Arial"/>
              </a:rPr>
              <a:t>202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8437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run started but no Response node has answered (yet)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437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workflow with no Response node; or the Response sits after a Human review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400 Bad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3009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trigger rejected the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009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Schema mismatch (a string where a number was promised), missing required field, wrong Content-Type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401 Unauthorized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7581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Caller not authenticated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7581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Who can trigger = Any user in my tenant, called from a browser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502 Bad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42153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step failed before the Response node 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42153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 Activity: the failing node is red; read the UPSTREAM node's 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554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BOOLEANS IN A RESPONSE BODY MUST BE UNQUOTED — AND PUT THE RESPONSE BEFORE SIDE EFFECTS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2978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"approved": true, not "approved": "true". In Lab 14 the Response (the receipt) runs BEFORE the Human review gate — otherwise the browser waits for a person who may answer tomorrow.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It from a Browser — fetch and CORS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the workflow from a browser: fetch() in script.js, and the CORS facts measured on this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3429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3291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r = await fetch(CONFIG.flowUrl,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method: 'POST',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headers: { 'Content-Type': 'application/json'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body: JSON.stringify(payload)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data = await r.json();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render(data.decision, data.reason);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typical latency with an Agent node + retrieval: 13-20 s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show a spinner; set expectations in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10789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CORS is open on this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OPTIONS returns access-control-allow-origin: * — even for Origin: null (file://). Double-click index.html and it works; no local server, no SharePoint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136391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136391"/>
            <a:ext cx="82296" cy="107899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17296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So Failed to fetch means…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428999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truncated URL (missing sig=), an unpublished workflow, or a network block — not CORS. Check the host: *.logic.azure.com (classic) may behave the old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306824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306824"/>
            <a:ext cx="82296" cy="107899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343400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text/plain does not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599432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trigger validates Content-Type against the schema and returns 400. Irrelevant anyway — preflight already passes.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Structured Output vs Parse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workflow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TEXT RESPONSE + PARSE JSON — fragile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ask for JSON and hope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Eventually it wraps in ```json fences or opens with "Here is the JSON"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Parse JSON fails: 'Error parsing NaN value … position 1'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CUSTOM STRUCTURED OUTPUT — branchable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Output dropdown → paste your JSON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⚡ token per field: decision, reason, riskFlags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Reference: body('Agent')?['structuredOutput/decision'] — slash, not nested brackets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4340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982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THE TRAP AFTER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7258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structured output, the text output becomes a narration ("Classified, flagged, and drafted…"). A Parse JSON node left in place now fails on prose. Delete it and reference the fields directly.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492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4772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4772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3675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6967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—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onboarding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 (REVIEW)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WORKFLOW DOES —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 (Get items)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 from 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2628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RECORD IS WRITTEN FROM THE COMPOSE NODE,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5546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 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 Normalises — Master Data Comes from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normalises the input once; everything downstream — the lookup, the record, the prompt — reads the same clean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triggerBody()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?['nric']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277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Compose Normalise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toUpper(trim(…))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Get items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item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(Customers)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277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reads the same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3756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One canonical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"s1234567a " and "S1234567A" are the same person; only one of them matches the register unless you normalise first.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Master data from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item maps fullName, nric, accountType from the Compose/trigger tokens — never from structuredOutput fields.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37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Assemble the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Compose builds the labelled block the Agent node reads: one place to see exactly what the model was given.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3484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Name your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Normalise, Application, Get_customer_by_NRIC — one word each, so the tokens and the run history read like a sentence.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Duplicate Lookup — SharePoint Get Items with a Filter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duplicate check: SharePoint → Get items with a Filter Query, then a length() test — deterministic, before the model sees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10515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Filter Query:   NRIC eq '@{outputs('Normalise')}'          Top Count: 1</a:t>
            </a:r>
          </a:p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Duplicate?      length(outputs('Get_customer_by_NRIC')?['body/value'])  is greater than 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200400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Filter on the internal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column's internal name (NRIC), not its display name; string values in single quotes; eq for an exact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343400"/>
            <a:ext cx="82296" cy="10515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Empty is a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match returns an empty value array, not an error. length() = 0 means new customer; &gt; 0 means DUPLICATE — the decision the model never gets to make.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00400"/>
            <a:ext cx="82296" cy="10515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Two 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12 - Customers (the master) and Lab 12 - Onboarding Log (the audit row, written for every decision including REJECTED).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4343400"/>
            <a:ext cx="82296" cy="10515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Why not ask the agent?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model told "this NRIC already exists" will usually agree. Usually is not a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13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660904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66090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66090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65376"/>
            <a:ext cx="1609344" cy="402336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66090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Collect name, phone and email before answering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NON-ADVISORY RULE: never recommend a product, predict a return or allocate savings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Fees, timelines and services come from the Investment FAQ PDF in SharePoint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the PDF and the answers change — without touching the instruction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test cases in Lab 13 are written to make it fail. Read the failures aloud — that is the debrief.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Gate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14 adds the person back — over HTTP. The receipt goes to the browser first; the gate holds everything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1909789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66405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1269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3517826" y="257860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74443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9307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Rapport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 + flags</a:t>
            </a:r>
          </a:p>
        </p:txBody>
      </p:sp>
      <p:sp>
        <p:nvSpPr>
          <p:cNvPr id="15" name="Chevron 14"/>
          <p:cNvSpPr/>
          <p:nvPr/>
        </p:nvSpPr>
        <p:spPr>
          <a:xfrm>
            <a:off x="5125864" y="257860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749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2481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7345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(receipt, 200)</a:t>
            </a:r>
          </a:p>
        </p:txBody>
      </p:sp>
      <p:sp>
        <p:nvSpPr>
          <p:cNvPr id="19" name="Chevron 18"/>
          <p:cNvSpPr/>
          <p:nvPr/>
        </p:nvSpPr>
        <p:spPr>
          <a:xfrm>
            <a:off x="6733902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553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051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538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Log_Draft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(Excel)</a:t>
            </a:r>
          </a:p>
        </p:txBody>
      </p:sp>
      <p:sp>
        <p:nvSpPr>
          <p:cNvPr id="23" name="Chevron 22"/>
          <p:cNvSpPr/>
          <p:nvPr/>
        </p:nvSpPr>
        <p:spPr>
          <a:xfrm>
            <a:off x="8341939" y="257860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8556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3420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Teams</a:t>
            </a:r>
          </a:p>
        </p:txBody>
      </p:sp>
      <p:sp>
        <p:nvSpPr>
          <p:cNvPr id="26" name="Chevron 25"/>
          <p:cNvSpPr/>
          <p:nvPr/>
        </p:nvSpPr>
        <p:spPr>
          <a:xfrm>
            <a:off x="9949977" y="257860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1609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594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1458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If Outcome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Equals 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YES — 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Send an email (V2) with the approved draft; update the Handover Queue row to 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hand over to a named 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Write the HandoverQueue row and email the named adviser, who must phone the client — never silence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919472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919472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Submit, then open Activity: Running — and still Running tomorrow. Nothing times out, nothing defaults. That pause is the deliverable.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workflow + Human review + Excel Online + Teams  ·  35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Four Decisions, Not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decisions, not two. An agent given only APPROVED and REJECTED forces every ambiguous case into one of them — and you never see the ones it got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3167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14016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All rules pass; the Customers row is written from Compose; the welcome email goes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2011680"/>
            <a:ext cx="82296" cy="131673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14016"/>
            <a:ext cx="512064" cy="51206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hard rule fails (age, residency, source of funds). The Onboarding Log row is still written; the applicant is told why.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9319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Decided by the workflow before the model runs: Get items found the NRIC. The agent never sees the case.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52958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9319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politically exposed person, a mismatch, an income out of range — a case for a human, not a rejection. Routed to a named officer.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5604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5604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That answer sizes the agent's authority and decides which outcome needs a person.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Test Probes for Labs 12–14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 HTTP lab ships a probe table. Run all of them; a green run is not a correct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932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965960"/>
            <a:ext cx="5001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must happen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38658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 NRIC submitted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8658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Second returns DUPLICATE; no second Customers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88950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pep = true, everything else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88950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REVIEW, not REJECTED — and an officer is named in the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9242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39242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annualIncome sent as a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39242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400 TriggerInputSchemaMismatch — the schema held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9534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389534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"Should I buy the tech fund?"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89534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refusal that offers to book an adviser — the NON-ADVISORY 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39826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5376" y="439826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question with no contact details given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39826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It asks for name, phone and email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901183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" y="4901183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Approve one draft, reject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901183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Sent email vs HandoverQueue row + adviser email; both logged before the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confident wrong answer raises no error. The probes are how you find it before a customer does.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Marina Trust Bank customer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12 - HTTP and Application Approval Agent  ·  Lab 12 - Customers  ·  Lab 12 - Onboarding Log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44995"/>
            <a:ext cx="10835640" cy="97292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3" y="5336435"/>
            <a:ext cx="10652747" cy="7900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site → lists Lab 12 - Customers and Lab 12 - Onboarding Log with the columns in the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12 - HTTP and Application Approval Agent → Start → When a HTTP request is received: POST, Anyone, Relative path blank, paste the JSON schema; Save → copy the URL.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Normalise: toUpper(trim(nric)). + → SharePoint → Get items Get_customer_by_NRIC with Filter Query NRIC eq '…', Top Count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Application: the labelled block the agent reads.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paste the onboarding rules; Output = Custom structured output {decision, reason, riskFlags, applicationId}.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(Body under Show all): the agent's structured output as JSON. + → SharePoint Create item in Lab 12 - Onboarding Log (Title, NRIC, Decision, Reason, SubmittedAt); Send an email (V2) to the trainer.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paste the URL into website/config.js → open index.html → submit APPROVED, DUPLICATE, REVIEW, REJECTED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Activity for each run: the decision came from the agent, the record from Compose.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websi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website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38" y="1664208"/>
            <a:ext cx="12886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website-lab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lab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result-ap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75688"/>
            <a:ext cx="512064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Result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Investment advisor chatbot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knowledge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13 - HTTP and Chatbot  ·  Lab 13 - Investment FAQ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89682"/>
            <a:ext cx="10835640" cy="132823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1" y="4981122"/>
            <a:ext cx="10652751" cy="11453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13 - Investment FAQ → upload the FAQ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13 - HTTP and Chatbot → HTTP trigger (POST, Anyone, schema with message and history).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Session: the visitor's message and the conversation so far.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with your knowledge, collect contact details first, THE NON-ADVISORY RULE; Knowledge + → the SharePoint folder; Output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Response: reply text. Save → Publish → URL into the website config.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chat page; run the FAQ questions, then the probes that ask for advice.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rules in the instruction, facts in the knowledge — which failed, and why?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folder-investment-f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folder investment 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knowledge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knowledge dialog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ink-encoded-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link encoded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knowledge-source-add-to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source add to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Client rapport assistant with a Teams approval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Human review + Excel Online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14 - HTTP and Human Review  ·  Lab 14 - Handover Queue.xlsx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69" y="4937759"/>
            <a:ext cx="5557837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14 - Handover Queue.xlsx (tables Drafts, HandoverQueue)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14 - HTTP and Human Review → HTTP trigger (POST, Anyone) with the enquiry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Normalise_Enquiry. + → Agent Rapport_Agent: Custom structured output {draftReply, tone, flags}.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(the receipt, 200) BEFORE the gate; + → Excel Add a row into table Drafts.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review: Channel Teams; Message = ⚡ draftReply; Assigned to = you; inputs Outcome (Yes/No), Name (Text).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Equals Yes. If: Send an email (V2) with the draft. Else: Add a row into table HandoverQueue.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website → submit → Activity shows Running; answer the Teams Workflows card; run one approval and one rejection.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inputs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ponse-show-all-headers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show all headers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se-body-pars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body parse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retrieval  ·  ingest, chunk, embed, index, retrieve, generate  ·  Knowledge source vs Pinecone  ·  embeddings, dimension, top_k  ·  citation markers  ·  probing for invention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15 and Lab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EVERYTHING IN THE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instruction exceeds what the model can attend to; it ignores the 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Every question costs the price of 60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fee change means editing the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RETRIEVE, THEN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Find the two or three brochures that resemble the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Give the model only those; it never sees the other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a brochure, re-index,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2553004" y="4668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4636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9620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4484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4804256" y="4668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5888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0873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5737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9" name="Chevron 28"/>
          <p:cNvSpPr/>
          <p:nvPr/>
        </p:nvSpPr>
        <p:spPr>
          <a:xfrm>
            <a:off x="7055509" y="4668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7141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2126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6990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33" name="Chevron 32"/>
          <p:cNvSpPr/>
          <p:nvPr/>
        </p:nvSpPr>
        <p:spPr>
          <a:xfrm>
            <a:off x="9306762" y="4668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8394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3379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8243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21031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7449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297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1514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3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459736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5580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5429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 (store vectors)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274320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07822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4636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4484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07822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5888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07822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7141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6990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078224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63379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8243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015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44768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4800600"/>
            <a:ext cx="82296" cy="13716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many records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Source or Your Own Vector Store — The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Knowledge in the Agent node (Lab 15) versus Pinecone (Lab 16): the same chatbot, with the levers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1965960"/>
            <a:ext cx="3813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1965960"/>
            <a:ext cx="4315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38658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trigger, Agent (Knowledge +),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238658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5 — trigger, HTTP (Pinecone query), Compose, Agent,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977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77977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Upload to SharePoint, wait for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77977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Python script, run once (integrated embedding)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72968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72968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172968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172968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llama-text-embed-v2, 1024 dimensions — your choice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66160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66160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566160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3566160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59352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59352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959352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959352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52544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5254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35254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435254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 — plain Compose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745736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74573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5536" y="474573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74573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38927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138927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138927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5138927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Embeddings, Dimension and top_k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numbers you set in Lab 16 — and what each one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453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368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llama-text-embed-v2 via Pinecone integrated embedding: the index embeds on upsert and on query, so the same model is guaranteed on both sides.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4538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368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= 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length of every vector. Fixed by the model, fixed for the index — change the model and you rebuild the index.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21024"/>
            <a:ext cx="82296" cy="14538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09194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top_k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How many nearest records the query returns. Too few: the right brochure is missed. Too many: the prompt fills with near-misses.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621024"/>
            <a:ext cx="82296" cy="14538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09194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Similarity 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cosine — the angle between vectors. "Related" means near, not identical; a question about macarons finds the pastry brochure.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9601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POST https://&lt;index-host&gt;/records/namespaces/brochures/search     header: Api-Key  ·  X-Pinecone-Api-Version</a:t>
            </a:r>
          </a:p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{ "query": { "inputs": { "text": "@{outputs('Question')}" }, "top_k": 3 }, "fields": ["text", "course"]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Citation markers: what grounding appends, and how each lab handles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Replies can arrive twice: [doc:turn1doc11] then [1]-style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Appended by the grounding layer, not written by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line: never include citation markers, reference numbers or source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Retrieved text arrives as plain Compose output — no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markers, no 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decide whether to cite: add the course name from the record's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Budget for the markers when converting a lab from a vector store to a Knowledge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669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HEADERS THAT BITE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4126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node truncates header names visually — X-Pinecone-Api-Version can silently lose its leading X. Never paste an env-var NAME as a header value; Power Automate cannot read .env.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974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run is green. The reply is fluent. Nothing in Activity is red. In every lab here the wrong answer looks exactly 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Choosing between the two — the question to ask is about the maintainer, not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856" y="1965960"/>
            <a:ext cx="4041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5" y="1965960"/>
            <a:ext cx="1527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Documents live in SharePoint and change often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5856" y="23865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5" y="23865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public agent, reply wording must be exact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28437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no citation 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5" y="28437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Retrieval quality must be tuneable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33009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chunking, top_k,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5" y="33009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Nobody will ever touch it after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37581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5" y="37581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Answers must be traceable to a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2153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Either — but write the source name into the reply yourself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5" y="42153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Both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463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Both start from the same brochures and the same instruction. Only the retrieval changes — and so does everything you can inspect.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workflow + Pinecone  ·  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Cook &amp; Bake Academy, built-in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Knowledge + SharePoint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15 - RAG with Knowledge Base  ·  Lab 15 -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1" y="4937759"/>
            <a:ext cx="608933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15 - Course Brochures → upload the Cook &amp; Bake brochures.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15 - RAG with Knowledge Base → HTTP trigger (POST, Anyone)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Knowledge + → SharePoint → the folder; instructions with the citation-marker line; Output Text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 with the answer. Save → Publish → URL into the chat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Ask three real questions with exact fees; then the probes — cake sculpture, parking, student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Activity: nothing about chunking, embedding or top_k is visible. That is the point.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what would you change if a fee were wrong tomorrow?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lab-15-course-brochures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15 course brochures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trigger-panel-post-anyone-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trigger panel post anyone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add-knowledg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add knowledge dialog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harepoint-knowledge-link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knowledge link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same chatbot, with the levers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Pinecone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16 - RAG with Pinecone  ·  lab16-course-brochures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9" y="4937759"/>
            <a:ext cx="7397496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Run the ingestion script once: creates the Pinecone index lab16-course-brochures (llama-text-embed-v2, 1024, cosine) and upserts one record per brochure.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16 - RAG with Pinecone → HTTP trigger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HTTP node: POST to the index's records search; Show all → headers Api-Key (your key), Content-Type, X-Pinecone-Api-Version 2025-04; body with the ⚡ question and top_k 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Prompt: join the returned text fields with the question into one block.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reference the ⚡ Prompt; no Knowledge source; Output Text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Response. Save → Publish → the same chat page as Lab 15.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Change top_k to 1 and to 5; re-ask the same question; read what changed in Activity.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four levers — chunking, embedding model, dimension, top_k — and which one you would touch first.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dialog-search-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search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node-method-uri-show-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method uri show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http-node-api-key-header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api key header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node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Channels + — where a published agent meets its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Publish is what channels serve; each channel needs something different, and none of them changes the agent — a channel is a door, not a brain.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Channels + Microsoft Teams + Microsoft 365 Copilot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00" y="4937759"/>
            <a:ext cx="5901574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5 - HR Agent → Publish (the dialog shows Last published and the channel list) → Publish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Channels + → Teams + Microsoft 365 → Availability → Add channel → chip appears → Use and share → View in Teams → run the Lab 5 tests as a colleague.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 → add a classmate; they need the link AND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Same channel → Use and share → View in Copilot (needs a Copilot licence on the user's side); Submit to org catalog is the admin-approval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7 - Sales Agent → ••• → Settings → Safety &amp; access → Authentication → No authentication (Done stays disabled; close ✕) → Save → Publish → the Demo website channel appears → View details → Open demo website.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Optional: paste the embed &lt;iframe&gt; into an HTML page.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 the HR agent, Channels + shows the Demo website tile greyed: Requires "No authentication" — do NOT switch it off.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Deploy parents only; connected agents get no channel. Test as the user, in each door.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a-channel-dialog-hr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a channel dialog hr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teams-m365-availability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availability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eams-m365-use-and-shar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use and share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teams-m365-channel-chip-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channel chip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Controls versus conventions  ·  the eighteen-lab recap  ·  the pre-production checklist  ·  further reading  · 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Controls versus Conventions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work: which of the things you built are controls, and which are conventions you asked a model to follow?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5321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Which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5" y="1965960"/>
            <a:ext cx="3172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tool the agent does not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38658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38658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 — no admin-rights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0632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063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The workflow writes master data from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77063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77063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54679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54679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Get items duplicate check before the Agent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154679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154679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3872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38728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Human review node with Outcome Equals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38728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3538728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2277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Authentication + channel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922776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922776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06824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0682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"Never discuss another person's leave" in instructions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30682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430682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5 — probe it every 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90872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69087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skill's procedure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469087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69087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074920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Request human assistance when unsure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5074920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5074920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Put a control where the answer is expensive; a convention is fine where it is cheap.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Labs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Eighteen labs, five modules, two days — each lab reusing the one before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M1 —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0–2: environment, trigger and actions, log to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715768"/>
            <a:ext cx="82296" cy="6583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M2 — Control flow, 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15768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3–4: Approvals, If/Else, Classify, Human review in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65576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465576"/>
            <a:ext cx="82296" cy="6583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 —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65576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5–9: HR, Procurement, Sales, IT Support, the content team · Labs 10–11: agent ↔ workflow · Lab 17: channels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15383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15383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15383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M4 — HTTP and the boundary of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215383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12–14: approval agent, chatbot alone, the human review gate over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65192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965192"/>
            <a:ext cx="82296" cy="6583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65192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M5 —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965192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15–16: Knowledge source, then Pinecone with the levers 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artefact is named Lab N - &lt;Title&gt;; trainer workflows and agents both end (DO NOT DELETE) — agent names max 30 characters, so agent bases are shortened.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environment; Copilot Credits allocated; agent limit set with Stop usage.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model output writes to a system of record without a deterministic step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prohibition has a probe that tries to break it, and the probe is in an Evaluate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73075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Consequential paths end at a Human review node assigned to a named person — not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7307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7307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Search all websites removed; knowledge Ready; citation-marker line present; authentication matches the channel.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Further Reading — The Six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six sources this deck was built from — read them in this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1965960"/>
            <a:ext cx="67391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Agents powered by the GitHub Copilot harness —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38658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8950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What's new in Copilot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8950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learn.microsoft.com/en-us/microsoft-copilot-studio/whats-new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9242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and improved: GitHub Copilot harness, agent skills, richer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39242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microsoft.com/en-us/microsoft-copilot/blog/copilot-studio/new-and-improved-github-copilot-harness-agent-skills-and-richer-context/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9534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Start building (authoring-first-bot) + natural-language quickstart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89534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learn.microsoft.com/en-us/microsoft-copilot-studio/agents-experience/authoring-first-bot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9826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Copilot Studio tech guide — BlastBox Omega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39826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github.com/microsoft/new-copilot-studio-tech-guide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01183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Introducing a new harness for Copilot Studio (Tech Community)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901183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techcommunity.microsoft.com/blog/copilot-studio-blog/more-powerful-agents-and-workflows-for-autonomous-business-processes-introducing/4542969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Also: the course repository (labs/), the Learner Guide, and .claude/skills/copilot-studio-flows — every entry tenant-verified.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728216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2821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59152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44144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9152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3154680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154680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72384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85615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867911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85615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steps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98848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458114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581144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98848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1208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294376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29437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21208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162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47116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Two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Written Assessment (SAQ) — 1 hour. Practical Performance (PP) — 1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2162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47116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09644"/>
            <a:ext cx="82296" cy="2162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83489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09644"/>
            <a:ext cx="82296" cy="2162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83489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Sharpen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Attempt the Tertiary Infotech practice exam for this course under timed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https://exams.tertiaryinfotech.com — search for the course title or TGS-2022017524.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Read every explanation; revisit the lab whose concept you missed.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Re-take the practice exam until the concepts, not the answers, are automatic.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1083564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https://exams.tertiaryinfotech.com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SEE YOU IN THE 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4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Now go automate something — and put the human where the consequence lands.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