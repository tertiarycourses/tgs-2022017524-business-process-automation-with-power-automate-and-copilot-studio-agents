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352" r:id="rId100"/>
    <p:sldId id="353" r:id="rId101"/>
    <p:sldId id="354" r:id="rId102"/>
    <p:sldId id="355" r:id="rId103"/>
    <p:sldId id="356" r:id="rId104"/>
    <p:sldId id="259" r:id="rId3"/>
    <p:sldId id="260" r:id="rId4"/>
    <p:sldId id="261" r:id="rId5"/>
    <p:sldId id="357" r:id="rId105"/>
    <p:sldId id="358" r:id="rId106"/>
    <p:sldId id="359" r:id="rId107"/>
    <p:sldId id="360" r:id="rId108"/>
    <p:sldId id="361" r:id="rId109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345" r:id="rId93"/>
    <p:sldId id="346" r:id="rId94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47" r:id="rId95"/>
    <p:sldId id="348" r:id="rId96"/>
    <p:sldId id="349" r:id="rId97"/>
    <p:sldId id="311" r:id="rId55"/>
    <p:sldId id="312" r:id="rId56"/>
    <p:sldId id="313" r:id="rId57"/>
    <p:sldId id="314" r:id="rId58"/>
    <p:sldId id="315" r:id="rId59"/>
    <p:sldId id="337" r:id="rId81"/>
    <p:sldId id="338" r:id="rId82"/>
    <p:sldId id="351" r:id="rId99"/>
    <p:sldId id="339" r:id="rId83"/>
    <p:sldId id="340" r:id="rId84"/>
    <p:sldId id="341" r:id="rId85"/>
    <p:sldId id="342" r:id="rId86"/>
    <p:sldId id="343" r:id="rId87"/>
    <p:sldId id="366" r:id="rId80"/>
    <p:sldId id="367" r:id="rId79"/>
    <p:sldId id="368" r:id="rId78"/>
    <p:sldId id="369" r:id="rId77"/>
    <p:sldId id="370" r:id="rId76"/>
    <p:sldId id="371" r:id="rId75"/>
    <p:sldId id="372" r:id="rId98"/>
    <p:sldId id="373" r:id="rId74"/>
    <p:sldId id="374" r:id="rId73"/>
    <p:sldId id="375" r:id="rId72"/>
    <p:sldId id="376" r:id="rId71"/>
    <p:sldId id="377" r:id="rId70"/>
    <p:sldId id="378" r:id="rId69"/>
    <p:sldId id="379" r:id="rId68"/>
    <p:sldId id="380" r:id="rId67"/>
    <p:sldId id="381" r:id="rId66"/>
    <p:sldId id="382" r:id="rId65"/>
    <p:sldId id="383" r:id="rId64"/>
    <p:sldId id="384" r:id="rId63"/>
    <p:sldId id="385" r:id="rId62"/>
    <p:sldId id="386" r:id="rId61"/>
    <p:sldId id="387" r:id="rId60"/>
    <p:sldId id="388" r:id="rId114"/>
    <p:sldId id="389" r:id="rId115"/>
    <p:sldId id="390" r:id="rId116"/>
    <p:sldId id="391" r:id="rId117"/>
    <p:sldId id="392" r:id="rId118"/>
    <p:sldId id="362" r:id="rId110"/>
    <p:sldId id="363" r:id="rId111"/>
    <p:sldId id="364" r:id="rId112"/>
    <p:sldId id="365" r:id="rId113"/>
    <p:sldId id="344" r:id="rId8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1"/>
  </p:normalViewPr>
  <p:slideViewPr>
    <p:cSldViewPr snapToGrid="0">
      <p:cViewPr varScale="1">
        <p:scale>
          <a:sx n="90" d="100"/>
          <a:sy n="90" d="100"/>
        </p:scale>
        <p:origin x="216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7.xml"/><Relationship Id="rId4" Type="http://schemas.openxmlformats.org/officeDocument/2006/relationships/slide" Target="slides/slide8.xml"/><Relationship Id="rId5" Type="http://schemas.openxmlformats.org/officeDocument/2006/relationships/slide" Target="slides/slide9.xml"/><Relationship Id="rId6" Type="http://schemas.openxmlformats.org/officeDocument/2006/relationships/slide" Target="slides/slide15.xml"/><Relationship Id="rId7" Type="http://schemas.openxmlformats.org/officeDocument/2006/relationships/slide" Target="slides/slide16.xml"/><Relationship Id="rId8" Type="http://schemas.openxmlformats.org/officeDocument/2006/relationships/slide" Target="slides/slide17.xml"/><Relationship Id="rId9" Type="http://schemas.openxmlformats.org/officeDocument/2006/relationships/slide" Target="slides/slide18.xml"/><Relationship Id="rId10" Type="http://schemas.openxmlformats.org/officeDocument/2006/relationships/slide" Target="slides/slide19.xml"/><Relationship Id="rId11" Type="http://schemas.openxmlformats.org/officeDocument/2006/relationships/slide" Target="slides/slide20.xml"/><Relationship Id="rId12" Type="http://schemas.openxmlformats.org/officeDocument/2006/relationships/slide" Target="slides/slide21.xml"/><Relationship Id="rId13" Type="http://schemas.openxmlformats.org/officeDocument/2006/relationships/slide" Target="slides/slide22.xml"/><Relationship Id="rId14" Type="http://schemas.openxmlformats.org/officeDocument/2006/relationships/slide" Target="slides/slide23.xml"/><Relationship Id="rId15" Type="http://schemas.openxmlformats.org/officeDocument/2006/relationships/slide" Target="slides/slide24.xml"/><Relationship Id="rId16" Type="http://schemas.openxmlformats.org/officeDocument/2006/relationships/slide" Target="slides/slide25.xml"/><Relationship Id="rId17" Type="http://schemas.openxmlformats.org/officeDocument/2006/relationships/slide" Target="slides/slide26.xml"/><Relationship Id="rId18" Type="http://schemas.openxmlformats.org/officeDocument/2006/relationships/slide" Target="slides/slide27.xml"/><Relationship Id="rId19" Type="http://schemas.openxmlformats.org/officeDocument/2006/relationships/slide" Target="slides/slide28.xml"/><Relationship Id="rId20" Type="http://schemas.openxmlformats.org/officeDocument/2006/relationships/slide" Target="slides/slide29.xml"/><Relationship Id="rId21" Type="http://schemas.openxmlformats.org/officeDocument/2006/relationships/slide" Target="slides/slide30.xml"/><Relationship Id="rId22" Type="http://schemas.openxmlformats.org/officeDocument/2006/relationships/slide" Target="slides/slide31.xml"/><Relationship Id="rId23" Type="http://schemas.openxmlformats.org/officeDocument/2006/relationships/slide" Target="slides/slide32.xml"/><Relationship Id="rId24" Type="http://schemas.openxmlformats.org/officeDocument/2006/relationships/slide" Target="slides/slide33.xml"/><Relationship Id="rId25" Type="http://schemas.openxmlformats.org/officeDocument/2006/relationships/slide" Target="slides/slide34.xml"/><Relationship Id="rId26" Type="http://schemas.openxmlformats.org/officeDocument/2006/relationships/slide" Target="slides/slide35.xml"/><Relationship Id="rId27" Type="http://schemas.openxmlformats.org/officeDocument/2006/relationships/slide" Target="slides/slide36.xml"/><Relationship Id="rId28" Type="http://schemas.openxmlformats.org/officeDocument/2006/relationships/slide" Target="slides/slide37.xml"/><Relationship Id="rId29" Type="http://schemas.openxmlformats.org/officeDocument/2006/relationships/slide" Target="slides/slide38.xml"/><Relationship Id="rId30" Type="http://schemas.openxmlformats.org/officeDocument/2006/relationships/slide" Target="slides/slide39.xml"/><Relationship Id="rId31" Type="http://schemas.openxmlformats.org/officeDocument/2006/relationships/slide" Target="slides/slide40.xml"/><Relationship Id="rId32" Type="http://schemas.openxmlformats.org/officeDocument/2006/relationships/slide" Target="slides/slide41.xml"/><Relationship Id="rId33" Type="http://schemas.openxmlformats.org/officeDocument/2006/relationships/slide" Target="slides/slide42.xml"/><Relationship Id="rId34" Type="http://schemas.openxmlformats.org/officeDocument/2006/relationships/slide" Target="slides/slide43.xml"/><Relationship Id="rId35" Type="http://schemas.openxmlformats.org/officeDocument/2006/relationships/slide" Target="slides/slide44.xml"/><Relationship Id="rId36" Type="http://schemas.openxmlformats.org/officeDocument/2006/relationships/slide" Target="slides/slide47.xml"/><Relationship Id="rId37" Type="http://schemas.openxmlformats.org/officeDocument/2006/relationships/slide" Target="slides/slide48.xml"/><Relationship Id="rId38" Type="http://schemas.openxmlformats.org/officeDocument/2006/relationships/slide" Target="slides/slide49.xml"/><Relationship Id="rId39" Type="http://schemas.openxmlformats.org/officeDocument/2006/relationships/slide" Target="slides/slide50.xml"/><Relationship Id="rId40" Type="http://schemas.openxmlformats.org/officeDocument/2006/relationships/slide" Target="slides/slide51.xml"/><Relationship Id="rId41" Type="http://schemas.openxmlformats.org/officeDocument/2006/relationships/slide" Target="slides/slide52.xml"/><Relationship Id="rId42" Type="http://schemas.openxmlformats.org/officeDocument/2006/relationships/slide" Target="slides/slide53.xml"/><Relationship Id="rId43" Type="http://schemas.openxmlformats.org/officeDocument/2006/relationships/slide" Target="slides/slide54.xml"/><Relationship Id="rId44" Type="http://schemas.openxmlformats.org/officeDocument/2006/relationships/slide" Target="slides/slide55.xml"/><Relationship Id="rId45" Type="http://schemas.openxmlformats.org/officeDocument/2006/relationships/slide" Target="slides/slide56.xml"/><Relationship Id="rId46" Type="http://schemas.openxmlformats.org/officeDocument/2006/relationships/slide" Target="slides/slide57.xml"/><Relationship Id="rId47" Type="http://schemas.openxmlformats.org/officeDocument/2006/relationships/slide" Target="slides/slide58.xml"/><Relationship Id="rId48" Type="http://schemas.openxmlformats.org/officeDocument/2006/relationships/slide" Target="slides/slide59.xml"/><Relationship Id="rId49" Type="http://schemas.openxmlformats.org/officeDocument/2006/relationships/slide" Target="slides/slide60.xml"/><Relationship Id="rId50" Type="http://schemas.openxmlformats.org/officeDocument/2006/relationships/slide" Target="slides/slide61.xml"/><Relationship Id="rId51" Type="http://schemas.openxmlformats.org/officeDocument/2006/relationships/slide" Target="slides/slide62.xml"/><Relationship Id="rId52" Type="http://schemas.openxmlformats.org/officeDocument/2006/relationships/slide" Target="slides/slide63.xml"/><Relationship Id="rId53" Type="http://schemas.openxmlformats.org/officeDocument/2006/relationships/slide" Target="slides/slide64.xml"/><Relationship Id="rId54" Type="http://schemas.openxmlformats.org/officeDocument/2006/relationships/slide" Target="slides/slide65.xml"/><Relationship Id="rId55" Type="http://schemas.openxmlformats.org/officeDocument/2006/relationships/slide" Target="slides/slide69.xml"/><Relationship Id="rId56" Type="http://schemas.openxmlformats.org/officeDocument/2006/relationships/slide" Target="slides/slide70.xml"/><Relationship Id="rId57" Type="http://schemas.openxmlformats.org/officeDocument/2006/relationships/slide" Target="slides/slide71.xml"/><Relationship Id="rId58" Type="http://schemas.openxmlformats.org/officeDocument/2006/relationships/slide" Target="slides/slide72.xml"/><Relationship Id="rId59" Type="http://schemas.openxmlformats.org/officeDocument/2006/relationships/slide" Target="slides/slide73.xml"/><Relationship Id="rId60" Type="http://schemas.openxmlformats.org/officeDocument/2006/relationships/slide" Target="slides/slide108.xml"/><Relationship Id="rId61" Type="http://schemas.openxmlformats.org/officeDocument/2006/relationships/slide" Target="slides/slide107.xml"/><Relationship Id="rId62" Type="http://schemas.openxmlformats.org/officeDocument/2006/relationships/slide" Target="slides/slide106.xml"/><Relationship Id="rId63" Type="http://schemas.openxmlformats.org/officeDocument/2006/relationships/slide" Target="slides/slide105.xml"/><Relationship Id="rId64" Type="http://schemas.openxmlformats.org/officeDocument/2006/relationships/slide" Target="slides/slide104.xml"/><Relationship Id="rId65" Type="http://schemas.openxmlformats.org/officeDocument/2006/relationships/slide" Target="slides/slide103.xml"/><Relationship Id="rId66" Type="http://schemas.openxmlformats.org/officeDocument/2006/relationships/slide" Target="slides/slide102.xml"/><Relationship Id="rId67" Type="http://schemas.openxmlformats.org/officeDocument/2006/relationships/slide" Target="slides/slide101.xml"/><Relationship Id="rId68" Type="http://schemas.openxmlformats.org/officeDocument/2006/relationships/slide" Target="slides/slide100.xml"/><Relationship Id="rId69" Type="http://schemas.openxmlformats.org/officeDocument/2006/relationships/slide" Target="slides/slide99.xml"/><Relationship Id="rId70" Type="http://schemas.openxmlformats.org/officeDocument/2006/relationships/slide" Target="slides/slide98.xml"/><Relationship Id="rId71" Type="http://schemas.openxmlformats.org/officeDocument/2006/relationships/slide" Target="slides/slide97.xml"/><Relationship Id="rId72" Type="http://schemas.openxmlformats.org/officeDocument/2006/relationships/slide" Target="slides/slide96.xml"/><Relationship Id="rId73" Type="http://schemas.openxmlformats.org/officeDocument/2006/relationships/slide" Target="slides/slide95.xml"/><Relationship Id="rId74" Type="http://schemas.openxmlformats.org/officeDocument/2006/relationships/slide" Target="slides/slide94.xml"/><Relationship Id="rId75" Type="http://schemas.openxmlformats.org/officeDocument/2006/relationships/slide" Target="slides/slide92.xml"/><Relationship Id="rId76" Type="http://schemas.openxmlformats.org/officeDocument/2006/relationships/slide" Target="slides/slide91.xml"/><Relationship Id="rId77" Type="http://schemas.openxmlformats.org/officeDocument/2006/relationships/slide" Target="slides/slide90.xml"/><Relationship Id="rId78" Type="http://schemas.openxmlformats.org/officeDocument/2006/relationships/slide" Target="slides/slide89.xml"/><Relationship Id="rId79" Type="http://schemas.openxmlformats.org/officeDocument/2006/relationships/slide" Target="slides/slide88.xml"/><Relationship Id="rId80" Type="http://schemas.openxmlformats.org/officeDocument/2006/relationships/slide" Target="slides/slide87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6.xml"/><Relationship Id="rId89" Type="http://schemas.openxmlformats.org/officeDocument/2006/relationships/presProps" Target="presProps.xml"/><Relationship Id="rId90" Type="http://schemas.openxmlformats.org/officeDocument/2006/relationships/viewProps" Target="viewProps.xml"/><Relationship Id="rId91" Type="http://schemas.openxmlformats.org/officeDocument/2006/relationships/theme" Target="theme/theme1.xml"/><Relationship Id="rId92" Type="http://schemas.openxmlformats.org/officeDocument/2006/relationships/tableStyles" Target="tableStyles.xml"/><Relationship Id="rId93" Type="http://schemas.openxmlformats.org/officeDocument/2006/relationships/slide" Target="slides/slide45.xml"/><Relationship Id="rId94" Type="http://schemas.openxmlformats.org/officeDocument/2006/relationships/slide" Target="slides/slide46.xml"/><Relationship Id="rId95" Type="http://schemas.openxmlformats.org/officeDocument/2006/relationships/slide" Target="slides/slide66.xml"/><Relationship Id="rId96" Type="http://schemas.openxmlformats.org/officeDocument/2006/relationships/slide" Target="slides/slide67.xml"/><Relationship Id="rId97" Type="http://schemas.openxmlformats.org/officeDocument/2006/relationships/slide" Target="slides/slide68.xml"/><Relationship Id="rId98" Type="http://schemas.openxmlformats.org/officeDocument/2006/relationships/slide" Target="slides/slide93.xml"/><Relationship Id="rId99" Type="http://schemas.openxmlformats.org/officeDocument/2006/relationships/slide" Target="slides/slide76.xml"/><Relationship Id="rId100" Type="http://schemas.openxmlformats.org/officeDocument/2006/relationships/slide" Target="slides/slide2.xml"/><Relationship Id="rId101" Type="http://schemas.openxmlformats.org/officeDocument/2006/relationships/slide" Target="slides/slide3.xml"/><Relationship Id="rId102" Type="http://schemas.openxmlformats.org/officeDocument/2006/relationships/slide" Target="slides/slide4.xml"/><Relationship Id="rId103" Type="http://schemas.openxmlformats.org/officeDocument/2006/relationships/slide" Target="slides/slide5.xml"/><Relationship Id="rId104" Type="http://schemas.openxmlformats.org/officeDocument/2006/relationships/slide" Target="slides/slide6.xml"/><Relationship Id="rId105" Type="http://schemas.openxmlformats.org/officeDocument/2006/relationships/slide" Target="slides/slide10.xml"/><Relationship Id="rId106" Type="http://schemas.openxmlformats.org/officeDocument/2006/relationships/slide" Target="slides/slide11.xml"/><Relationship Id="rId107" Type="http://schemas.openxmlformats.org/officeDocument/2006/relationships/slide" Target="slides/slide12.xml"/><Relationship Id="rId108" Type="http://schemas.openxmlformats.org/officeDocument/2006/relationships/slide" Target="slides/slide13.xml"/><Relationship Id="rId109" Type="http://schemas.openxmlformats.org/officeDocument/2006/relationships/slide" Target="slides/slide14.xml"/><Relationship Id="rId110" Type="http://schemas.openxmlformats.org/officeDocument/2006/relationships/slide" Target="slides/slide82.xml"/><Relationship Id="rId111" Type="http://schemas.openxmlformats.org/officeDocument/2006/relationships/slide" Target="slides/slide83.xml"/><Relationship Id="rId112" Type="http://schemas.openxmlformats.org/officeDocument/2006/relationships/slide" Target="slides/slide84.xml"/><Relationship Id="rId113" Type="http://schemas.openxmlformats.org/officeDocument/2006/relationships/slide" Target="slides/slide85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6D94-6626-3BFF-0A17-61948D6E3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82959-52E1-24EA-654D-899B4BD85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EC601-C670-DE5C-B4B0-7A9A0C1D1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A4546-02A5-E0E4-1B88-DDD5C232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49858-4AC1-6BEE-F28D-B259566E4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63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708F2-2494-FD25-40BA-7A458F90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68CF-139A-1485-F8C3-1135EBA75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95C4C-F738-AC92-997B-00880EDFF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B43F1-EC25-F65B-2464-2BB178DD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E87FA-9C49-DA04-2AEC-CE02D084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2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621AD-FA2B-E962-1895-0B829208A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FC836-5AF6-11F1-ABDC-F6A1CD438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FEB5A-83F2-D22F-1013-D078D5F9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6E6E4-9057-95F7-57F5-42B4228D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C075-54A9-7B26-2083-EAEF01DE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5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EEAB-96C8-B417-18FB-A71942AA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D5E33-F4BD-5B41-65F4-A233430D4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30329-B6CA-2C59-7CE7-8211A3897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AF930-D68C-D4BB-D655-76183CA60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D846B-938E-E072-48D2-C7D94D959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CB0EE-912C-A444-3339-E1B54EF3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2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2965-DF3B-ED3E-7532-71CC7BC90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DB5A2-A181-E7B2-6ED3-6A3E56EE4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B1024-7DAF-4B66-9FB5-FC3C33D73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D5716D-854D-ACD7-D87B-1AF011AED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5961B-F921-8CBD-BC63-8FE4505D57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E2C8CF-7AD9-FDC8-5CD5-04645E92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47C7EC-D94D-F23D-3AD7-F978DC38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0BC93F-DE87-5D34-711A-0A7C96BC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49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5314-FF69-9488-55AA-609B6D6C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D0D748-7526-E5B4-882B-CD1974BE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BB65D-3C7C-330F-F2E4-68BE6A78C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3AB25-A9B3-E208-BB21-C2850A87C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7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CC9D19-4C72-6EBE-BEBB-990F367C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E9465-1D86-3400-70F7-6C14221D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DA129-7B6B-7A0C-6CD8-225A88BC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6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3D7A-3E00-B6C8-FC83-37E63C7A3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F536C-DEC8-9406-DD9A-A15988808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1E554-74F9-4F2B-DACA-7437D1FAD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B9C74-1F4A-2756-20E0-3A30ED8FD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6718F-0AFB-B05B-56DD-676CA42E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6564F-EB95-772B-629C-CA39D04B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01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3D48-84A0-3F37-1AE1-A5DA0976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64D8CE-7D33-3A1C-0B10-C0B372A0E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18348-DD38-2ED9-AC93-F0E0BC5AF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F0CDE-79A3-51A3-3B3F-A9FD15F51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91F49-8EAB-7B01-7B0F-F3373424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271A9-A83C-0006-00BD-C17BB3DE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9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BBB60-560A-1F72-035E-D28F19A92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B78FD-69CC-9F5B-3C11-CA323EC93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6BB40-F65B-5299-E32D-CB9858A5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87E16-F02D-E203-D4E9-10D833FCA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82DCF-D6B7-31C6-D936-E12073FA2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6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F187E-5DCA-9F88-B1CD-F03AB7AF3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12709-B093-275F-2926-9D91A5824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667EC-5ABA-1D42-42D4-EC9393BB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A2F67-6755-C1B8-DF06-6E0417CD3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0EB6B-719C-9679-CCF7-F153C3A2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704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80EE1-0B02-5C56-7378-94DD6DA05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E5EFC-134F-BED3-F8A7-9FE56534C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02C69-0810-50C4-85CE-437D064ED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AED32-ED41-42FF-749B-D7F0BB634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D752B-E364-D67C-7654-6A11A46BA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140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1B2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B4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2017524---Business-Process-Automation-with-Power-Automate-and-Copilot-Studio-Agents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2EDD3-BAC6-2E59-FAA8-908301B11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b="1" dirty="0"/>
              <a:t>Business Process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574B3-66A5-8402-1E67-380A6A832E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with Power Automate and Copilot Studio Agents</a:t>
            </a:r>
          </a:p>
          <a:p>
            <a:pPr algn="ctr"/>
            <a:r>
              <a:rPr lang="en-US" sz="1600" dirty="0">
                <a:solidFill>
                  <a:schemeClr val="dk2"/>
                </a:solidFill>
              </a:rPr>
              <a:t>WSQ Course Code: TGS-2022017524  ·  2-Day Hands-On Training  ·  Modules 1–4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5623560"/>
            <a:ext cx="9144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6.0 (25 Jul 2026)  ·  www.tertiarycourses.com.sg  ·  https://lms-tms.tertiaryinfotech.com/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802864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Microsoft Power Platform, AI and data analytics — 20+ years of training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AI, business automation, data science and software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Your experience with Power Automate, Copilot Studio or other automation tools (if any).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One repetitive business process you would love to automate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You’ll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0881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Power Automate
flows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3629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2081" y="1618487"/>
            <a:ext cx="640080" cy="2286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add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874519"/>
            <a:ext cx="2393441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5585" y="1947672"/>
            <a:ext cx="2247137" cy="10881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Copilot Studio
agent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0739" y="2336291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56146" y="1618487"/>
            <a:ext cx="640080" cy="2286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publish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874519"/>
            <a:ext cx="2393441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1" y="1947672"/>
            <a:ext cx="2247137" cy="10881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Teams + website
channels</a:t>
            </a:r>
          </a:p>
        </p:txBody>
      </p:sp>
      <p:sp>
        <p:nvSpPr>
          <p:cNvPr id="16" name="Chevron 15"/>
          <p:cNvSpPr/>
          <p:nvPr/>
        </p:nvSpPr>
        <p:spPr>
          <a:xfrm>
            <a:off x="8734805" y="2336291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0212" y="1618487"/>
            <a:ext cx="640080" cy="2286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take 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874519"/>
            <a:ext cx="2393441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3717" y="1947672"/>
            <a:ext cx="2247137" cy="10881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Agent tools
and prompts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703320"/>
            <a:ext cx="3337560" cy="16459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703320"/>
            <a:ext cx="82296" cy="1645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849624"/>
            <a:ext cx="286207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Day 1 — automate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43400"/>
            <a:ext cx="2862072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Build reliable trigger → action flows without an AI agent.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703320"/>
            <a:ext cx="3337560" cy="16459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3703320"/>
            <a:ext cx="82296" cy="16459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3849624"/>
            <a:ext cx="286207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Day 2 — converse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4343400"/>
            <a:ext cx="2862072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Create a grounded agent that understands and confirms user intent.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5552" y="3703320"/>
            <a:ext cx="3648456" cy="16459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45552" y="3703320"/>
            <a:ext cx="82296" cy="16459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1584" y="3849624"/>
            <a:ext cx="317296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Integrate — 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1584" y="4343400"/>
            <a:ext cx="3172968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Let the agent call deterministic or prompt-based Power Automate tools.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</a:t>
            </a:r>
          </a:p>
        </p:txBody>
      </p:sp>
    </p:spTree>
    <p:extLst>
      <p:ext uri="{BB962C8B-B14F-4D97-AF65-F5344CB8AC3E}">
        <p14:creationId xmlns:p14="http://schemas.microsoft.com/office/powerpoint/2010/main" val="1350916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TEN CONNECTED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Your 2-Day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938528" cy="1755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82296" cy="175564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93852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93852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883664"/>
            <a:ext cx="97840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Form to Email Confirmation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14630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Confirm the submitted user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5" y="1737360"/>
            <a:ext cx="1938528" cy="1755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71215" y="1737360"/>
            <a:ext cx="82296" cy="175564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72383" y="193852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72383" y="193852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1" y="1883664"/>
            <a:ext cx="97840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08A73"/>
                </a:solidFill>
                <a:latin typeface="Arial"/>
              </a:rPr>
              <a:t>Log Enquiry + Send 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7" y="2377440"/>
            <a:ext cx="14630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Add an audit row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737360"/>
            <a:ext cx="1938528" cy="1755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4064" y="1737360"/>
            <a:ext cx="82296" cy="175564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85232" y="193852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193852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1883664"/>
            <a:ext cx="97840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Event Registration Branching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377440"/>
            <a:ext cx="14630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Route Yes and 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1737360"/>
            <a:ext cx="1938528" cy="1755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737360"/>
            <a:ext cx="82296" cy="175564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8080" y="1938528"/>
            <a:ext cx="457200" cy="45720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0" y="193852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1883664"/>
            <a:ext cx="97840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Leave Application Approval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2377440"/>
            <a:ext cx="14630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Manager decides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1737360"/>
            <a:ext cx="1938528" cy="1755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60" y="1737360"/>
            <a:ext cx="82296" cy="175564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10928" y="193852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10928" y="193852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77856" y="1883664"/>
            <a:ext cx="97840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IT Support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2377440"/>
            <a:ext cx="14630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FAQ + Teams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3886200"/>
            <a:ext cx="1938528" cy="1755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3886200"/>
            <a:ext cx="82296" cy="175564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9536" y="40873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40873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6464" y="4032504"/>
            <a:ext cx="97840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HR Support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4630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SharePoint + Teams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71215" y="3886200"/>
            <a:ext cx="1938528" cy="1755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71215" y="3886200"/>
            <a:ext cx="82296" cy="175564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72383" y="40873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72383" y="40873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39311" y="4032504"/>
            <a:ext cx="97840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08A73"/>
                </a:solidFill>
                <a:latin typeface="Arial"/>
              </a:rPr>
              <a:t>Support Request Routing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27247" y="4526280"/>
            <a:ext cx="14630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or HR reply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84064" y="3886200"/>
            <a:ext cx="1938528" cy="1755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84064" y="3886200"/>
            <a:ext cx="82296" cy="175564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285232" y="40873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85232" y="40873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52160" y="4032504"/>
            <a:ext cx="97840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Website HTTP Enquiry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40096" y="4526280"/>
            <a:ext cx="14630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Website webhook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96912" y="3886200"/>
            <a:ext cx="1938528" cy="1755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296912" y="3886200"/>
            <a:ext cx="82296" cy="175564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98080" y="4087368"/>
            <a:ext cx="457200" cy="45720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0" y="40873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65008" y="4032504"/>
            <a:ext cx="97840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Finance Agent Web Chat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52944" y="4526280"/>
            <a:ext cx="14630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Grounded agent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509760" y="3886200"/>
            <a:ext cx="1938528" cy="1755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509760" y="3886200"/>
            <a:ext cx="82296" cy="175564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710928" y="40873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0928" y="40873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77856" y="4032504"/>
            <a:ext cx="97840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AI Trading Advisor Website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65792" y="4526280"/>
            <a:ext cx="14630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Candles + news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" y="5980176"/>
            <a:ext cx="108356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Day 1 builds Forms, flows and support agents. Day 2 adds webhooks and the Finance Advisor capstone.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8</a:t>
            </a:r>
          </a:p>
        </p:txBody>
      </p:sp>
    </p:spTree>
    <p:extLst>
      <p:ext uri="{BB962C8B-B14F-4D97-AF65-F5344CB8AC3E}">
        <p14:creationId xmlns:p14="http://schemas.microsoft.com/office/powerpoint/2010/main" val="1100239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How This Course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664208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77393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664208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Learn the concept and decision rule before opening the product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505456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261518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61518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505456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See the concept as a visual business pattern and worked example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46704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345643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4564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3346704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Apply the pattern in the next numbered hands-on 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87952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2976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2976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4187952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Capture run history, email, workbook, agent or browser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5029200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389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3892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5029200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Reuse each working capability in the next lab instead of starting 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9</a:t>
            </a:r>
          </a:p>
        </p:txBody>
      </p:sp>
    </p:spTree>
    <p:extLst>
      <p:ext uri="{BB962C8B-B14F-4D97-AF65-F5344CB8AC3E}">
        <p14:creationId xmlns:p14="http://schemas.microsoft.com/office/powerpoint/2010/main" val="2259203294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Lesson Plan — 2 Days, 9:00am–6:00pm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074920" cy="42976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82296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3852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93852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D1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883664"/>
            <a:ext cx="411480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Day 1 — Build and 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377440"/>
            <a:ext cx="4599432" cy="35478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9:00–10:40  Concepts + flow types
10:55–3:15  Labs 1–4: Forms, Excel, event branch, approval
3:30–5:50  Agent concepts + Labs 5–7
5:50–6:00  Evidence check and recap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074920" cy="42976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37360"/>
            <a:ext cx="82296" cy="42976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193852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93852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D2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1883664"/>
            <a:ext cx="411480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Day 2 — Connect and advise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377440"/>
            <a:ext cx="4599432" cy="35478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9:00–10:05  HTTP requests and webhooks
10:05–12:15  Lab 8 + Finance Agent foundation
1:15–4:00  Labs 9–10: web chat and trading advisor
4:00–6:00  Written + practical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Written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 hour · open book
Modules 1–4 and the lab concepts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Practical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 hour · open book
Build and verify a working flow and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Submit on the LMS
Competent result + attendance requirement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10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Lab 0 setup plus Labs 1–10 and four concept modules.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Ready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Excel tables, searchable PDFs, HTML pages and JSON schemas.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Use the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Open each index.md or the compiled Learner Guide and work in order.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Day 1 — Automate, Decide and Add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34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Flow types</a:t>
            </a:r>
          </a:p>
        </p:txBody>
      </p:sp>
      <p:sp>
        <p:nvSpPr>
          <p:cNvPr id="9" name="Chevron 8"/>
          <p:cNvSpPr/>
          <p:nvPr/>
        </p:nvSpPr>
        <p:spPr>
          <a:xfrm>
            <a:off x="2543860" y="33192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9620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2772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Forms + data</a:t>
            </a:r>
          </a:p>
        </p:txBody>
      </p:sp>
      <p:sp>
        <p:nvSpPr>
          <p:cNvPr id="12" name="Chevron 11"/>
          <p:cNvSpPr/>
          <p:nvPr/>
        </p:nvSpPr>
        <p:spPr>
          <a:xfrm>
            <a:off x="4795112" y="33192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0873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4025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Conditions</a:t>
            </a:r>
          </a:p>
        </p:txBody>
      </p:sp>
      <p:sp>
        <p:nvSpPr>
          <p:cNvPr id="15" name="Chevron 14"/>
          <p:cNvSpPr/>
          <p:nvPr/>
        </p:nvSpPr>
        <p:spPr>
          <a:xfrm>
            <a:off x="7046365" y="3319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12126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85278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Approvals</a:t>
            </a:r>
          </a:p>
        </p:txBody>
      </p:sp>
      <p:sp>
        <p:nvSpPr>
          <p:cNvPr id="18" name="Chevron 17"/>
          <p:cNvSpPr/>
          <p:nvPr/>
        </p:nvSpPr>
        <p:spPr>
          <a:xfrm>
            <a:off x="9297618" y="331927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63379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6531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Copilot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00600"/>
            <a:ext cx="10149840" cy="7315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800" b="0">
                <a:solidFill>
                  <a:srgbClr val="5B6372"/>
                </a:solidFill>
                <a:latin typeface="Arial"/>
              </a:rPr>
              <a:t>Learn each automation concept, apply it in sequence, then connect specialised agents.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15</a:t>
            </a:r>
          </a:p>
        </p:txBody>
      </p:sp>
    </p:spTree>
    <p:extLst>
      <p:ext uri="{BB962C8B-B14F-4D97-AF65-F5344CB8AC3E}">
        <p14:creationId xmlns:p14="http://schemas.microsoft.com/office/powerpoint/2010/main" val="2029470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WORKFLOW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Business Process Automation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Manual hand-off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Repeatable rule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Automated action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Recorded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Automate stable, repetitive work; keep judgement, exceptions and accountability visible.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16</a:t>
            </a:r>
          </a:p>
        </p:txBody>
      </p:sp>
    </p:spTree>
    <p:extLst>
      <p:ext uri="{BB962C8B-B14F-4D97-AF65-F5344CB8AC3E}">
        <p14:creationId xmlns:p14="http://schemas.microsoft.com/office/powerpoint/2010/main" val="2293972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Choose Work Worth Automating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Repetitive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The same steps occur frequently and consume attention.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Rule-based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Inputs and outcomes can be expressed as clear business rules.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Traceable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The process benefits from timestamps, status and run history.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17</a:t>
            </a:r>
          </a:p>
        </p:txBody>
      </p:sp>
    </p:spTree>
    <p:extLst>
      <p:ext uri="{BB962C8B-B14F-4D97-AF65-F5344CB8AC3E}">
        <p14:creationId xmlns:p14="http://schemas.microsoft.com/office/powerpoint/2010/main" val="2507022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CORE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Every Flow Uses Trigger → Actions →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Trigger starts once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Actions run in order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Data moves as outputs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Evidence proves result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A flow must have exactly one trigger and at least one action before it can save successfully.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18</a:t>
            </a:r>
          </a:p>
        </p:txBody>
      </p:sp>
    </p:spTree>
    <p:extLst>
      <p:ext uri="{BB962C8B-B14F-4D97-AF65-F5344CB8AC3E}">
        <p14:creationId xmlns:p14="http://schemas.microsoft.com/office/powerpoint/2010/main" val="2083644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TRIGGER DETERMINES THE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Three Cloud Flow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Instant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 person deliberately starts it from a button, app or manual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Scheduled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 Recurrence trigger starts it at a defined time or interval.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Automated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 connected-service event starts it when new information arrives.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19</a:t>
            </a:r>
          </a:p>
        </p:txBody>
      </p:sp>
    </p:spTree>
    <p:extLst>
      <p:ext uri="{BB962C8B-B14F-4D97-AF65-F5344CB8AC3E}">
        <p14:creationId xmlns:p14="http://schemas.microsoft.com/office/powerpoint/2010/main" val="2049180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PERSON-CONTROLLED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Instant Cloud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 user selects Run, presses a button or invokes the flow from an app.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Use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The exact start time depends on a person's decision.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 staff member submits a one-off request or launches a controlled test.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20</a:t>
            </a:r>
          </a:p>
        </p:txBody>
      </p:sp>
    </p:spTree>
    <p:extLst>
      <p:ext uri="{BB962C8B-B14F-4D97-AF65-F5344CB8AC3E}">
        <p14:creationId xmlns:p14="http://schemas.microsoft.com/office/powerpoint/2010/main" val="3493130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CLOCK-CONTROLLED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Scheduled Cloud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 Recurrence trigger reaches a date, time or interval.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Use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Work must happen even when no new business event arrives.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Send a weekday reminder at 9:00 AM Singapore 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21</a:t>
            </a:r>
          </a:p>
        </p:txBody>
      </p:sp>
    </p:spTree>
    <p:extLst>
      <p:ext uri="{BB962C8B-B14F-4D97-AF65-F5344CB8AC3E}">
        <p14:creationId xmlns:p14="http://schemas.microsoft.com/office/powerpoint/2010/main" val="1182492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EVENT-CONTROLLED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Automated Cloud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 form, email, file, record or message event occurs.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Use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The process must react immediately to new 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 Microsoft Forms response starts Labs 1–4 and 7.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22</a:t>
            </a:r>
          </a:p>
        </p:txBody>
      </p:sp>
    </p:spTree>
    <p:extLst>
      <p:ext uri="{BB962C8B-B14F-4D97-AF65-F5344CB8AC3E}">
        <p14:creationId xmlns:p14="http://schemas.microsoft.com/office/powerpoint/2010/main" val="1953617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TRIGGER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 Trigger Is a Contract with the Starting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Event occurs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Connector detects it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Trigger outputs metadata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Actions consume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Choose the trigger by asking who or what owns the start event: person, clock or system.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23</a:t>
            </a:r>
          </a:p>
        </p:txBody>
      </p:sp>
    </p:spTree>
    <p:extLst>
      <p:ext uri="{BB962C8B-B14F-4D97-AF65-F5344CB8AC3E}">
        <p14:creationId xmlns:p14="http://schemas.microsoft.com/office/powerpoint/2010/main" val="1395163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AUTOMATED FLOW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Microsoft Forms Trigger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Form submitted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Response Id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Get response details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Use answer tokens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The trigger identifies a response; Get response details retrieves the actual answers.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24</a:t>
            </a:r>
          </a:p>
        </p:txBody>
      </p:sp>
    </p:spTree>
    <p:extLst>
      <p:ext uri="{BB962C8B-B14F-4D97-AF65-F5344CB8AC3E}">
        <p14:creationId xmlns:p14="http://schemas.microsoft.com/office/powerpoint/2010/main" val="963911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SHARED WORKFLOW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 — Form to Email Confirmation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72768"/>
            <a:ext cx="115488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" y="3116120"/>
            <a:ext cx="11018520" cy="11652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160"/>
            <a:ext cx="103327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Shared workflow visual — follow the arrows from the trigger through actions to the expected outcome.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25</a:t>
            </a:r>
          </a:p>
        </p:txBody>
      </p:sp>
    </p:spTree>
    <p:extLst>
      <p:ext uri="{BB962C8B-B14F-4D97-AF65-F5344CB8AC3E}">
        <p14:creationId xmlns:p14="http://schemas.microsoft.com/office/powerpoint/2010/main" val="3659566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REQUIRED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 — Design the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Name and Email identify the requester and recipient.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Contact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Tel provides an alternative contact channel.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Enquiry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Message uses a required long-answer field.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26</a:t>
            </a:r>
          </a:p>
        </p:txBody>
      </p:sp>
    </p:spTree>
    <p:extLst>
      <p:ext uri="{BB962C8B-B14F-4D97-AF65-F5344CB8AC3E}">
        <p14:creationId xmlns:p14="http://schemas.microsoft.com/office/powerpoint/2010/main" val="38927265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FORM ANSWERS BECOME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 — Map Dynamic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Name token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Email token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Message token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Personalised email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Use the submitted Email answer as the recipient; do not type the flow owner's address.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27</a:t>
            </a:r>
          </a:p>
        </p:txBody>
      </p:sp>
    </p:spTree>
    <p:extLst>
      <p:ext uri="{BB962C8B-B14F-4D97-AF65-F5344CB8AC3E}">
        <p14:creationId xmlns:p14="http://schemas.microsoft.com/office/powerpoint/2010/main" val="1611371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 — Test the Real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Submit once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Inspect one run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Check recipient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Confirm one message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One form submission must create one successful run and exactly one confirmation email.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28</a:t>
            </a:r>
          </a:p>
        </p:txBody>
      </p:sp>
    </p:spTree>
    <p:extLst>
      <p:ext uri="{BB962C8B-B14F-4D97-AF65-F5344CB8AC3E}">
        <p14:creationId xmlns:p14="http://schemas.microsoft.com/office/powerpoint/2010/main" val="3403971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Dynamic Content Carries Data Between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Trigger output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Response details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Named token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Action input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Typed labels are static text; dynamic-content tokens contain values from the current run.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29</a:t>
            </a:r>
          </a:p>
        </p:txBody>
      </p:sp>
    </p:spTree>
    <p:extLst>
      <p:ext uri="{BB962C8B-B14F-4D97-AF65-F5344CB8AC3E}">
        <p14:creationId xmlns:p14="http://schemas.microsoft.com/office/powerpoint/2010/main" val="41199773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NAMED-TABLE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Excel Online Requires Structured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Workbook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Store the file in OneDrive for Business or SharePoint.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Use a named table with stable column headers.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Audit 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Record timestamp, source, status and the submitted answers.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30</a:t>
            </a:r>
          </a:p>
        </p:txBody>
      </p:sp>
    </p:spTree>
    <p:extLst>
      <p:ext uri="{BB962C8B-B14F-4D97-AF65-F5344CB8AC3E}">
        <p14:creationId xmlns:p14="http://schemas.microsoft.com/office/powerpoint/2010/main" val="39762276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SHARED WORKFLOW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2 — Log the Enquiry and Send Email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72768"/>
            <a:ext cx="115488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" y="3206892"/>
            <a:ext cx="11018520" cy="9837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160"/>
            <a:ext cx="103327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Shared workflow visual — follow the arrows from the trigger through actions to the expected outcome.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31</a:t>
            </a:r>
          </a:p>
        </p:txBody>
      </p:sp>
    </p:spTree>
    <p:extLst>
      <p:ext uri="{BB962C8B-B14F-4D97-AF65-F5344CB8AC3E}">
        <p14:creationId xmlns:p14="http://schemas.microsoft.com/office/powerpoint/2010/main" val="13328222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CONNECTED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2 — Extend the Working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Reuse Lab 1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Insert Excel row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Keep email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Test again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Preserve the working trigger and email, then insert the durable audit record.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32</a:t>
            </a:r>
          </a:p>
        </p:txBody>
      </p:sp>
    </p:spTree>
    <p:extLst>
      <p:ext uri="{BB962C8B-B14F-4D97-AF65-F5344CB8AC3E}">
        <p14:creationId xmlns:p14="http://schemas.microsoft.com/office/powerpoint/2010/main" val="2395582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COMMIT BEFORE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2 — Order Actions for Reliability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Get details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Add row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Send email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Verify workbook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Send confirmation only after the workbook row succeeds, so the message matches reality.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33</a:t>
            </a:r>
          </a:p>
        </p:txBody>
      </p:sp>
    </p:spTree>
    <p:extLst>
      <p:ext uri="{BB962C8B-B14F-4D97-AF65-F5344CB8AC3E}">
        <p14:creationId xmlns:p14="http://schemas.microsoft.com/office/powerpoint/2010/main" val="23045675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COMMON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2 — Troubleshooting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Use OneDrive for Business or SharePoint, not a local 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Select EnquiryLog; ordinary worksheet cells are not enough.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Close desktop Excel if the connector reports a file lock.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34</a:t>
            </a:r>
          </a:p>
        </p:txBody>
      </p:sp>
    </p:spTree>
    <p:extLst>
      <p:ext uri="{BB962C8B-B14F-4D97-AF65-F5344CB8AC3E}">
        <p14:creationId xmlns:p14="http://schemas.microsoft.com/office/powerpoint/2010/main" val="21126171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IF / ELSE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Conditions Turn Data into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Read a value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Apply an operator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True branch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False branch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A condition should express one business decision clearly and route mutually exclusive outcomes.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35</a:t>
            </a:r>
          </a:p>
        </p:txBody>
      </p:sp>
    </p:spTree>
    <p:extLst>
      <p:ext uri="{BB962C8B-B14F-4D97-AF65-F5344CB8AC3E}">
        <p14:creationId xmlns:p14="http://schemas.microsoft.com/office/powerpoint/2010/main" val="21480003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DECISION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Design and Test Both Branches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Use a controlled choice such as Yes/No to reduce ambiguity.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Branches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Give each path a complete action sequence and expected result.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Run one test per branch and compare the actual outputs.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36</a:t>
            </a:r>
          </a:p>
        </p:txBody>
      </p:sp>
    </p:spTree>
    <p:extLst>
      <p:ext uri="{BB962C8B-B14F-4D97-AF65-F5344CB8AC3E}">
        <p14:creationId xmlns:p14="http://schemas.microsoft.com/office/powerpoint/2010/main" val="10904523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SHARED WORKFLOW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3 — Event Registration Branching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72768"/>
            <a:ext cx="115488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" y="2813093"/>
            <a:ext cx="11018520" cy="1771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160"/>
            <a:ext cx="103327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Shared workflow visual — follow the arrows from the trigger through actions to the expected outcome.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37</a:t>
            </a:r>
          </a:p>
        </p:txBody>
      </p:sp>
    </p:spTree>
    <p:extLst>
      <p:ext uri="{BB962C8B-B14F-4D97-AF65-F5344CB8AC3E}">
        <p14:creationId xmlns:p14="http://schemas.microsoft.com/office/powerpoint/2010/main" val="12616571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PARTICIPANT JOINS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3 — Yes Branch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Joining = Yes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Add EventLog row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Email administrator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Include contact details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The administrator receives the participant's name, email and telephone number.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38</a:t>
            </a:r>
          </a:p>
        </p:txBody>
      </p:sp>
    </p:spTree>
    <p:extLst>
      <p:ext uri="{BB962C8B-B14F-4D97-AF65-F5344CB8AC3E}">
        <p14:creationId xmlns:p14="http://schemas.microsoft.com/office/powerpoint/2010/main" val="5895502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PARTICIPANT DECLINES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3 — No Branch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Joining = No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Add EventLog row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Email user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Invite next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The user receives thanks and a respectful invitation to a future event.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39</a:t>
            </a:r>
          </a:p>
        </p:txBody>
      </p:sp>
    </p:spTree>
    <p:extLst>
      <p:ext uri="{BB962C8B-B14F-4D97-AF65-F5344CB8AC3E}">
        <p14:creationId xmlns:p14="http://schemas.microsoft.com/office/powerpoint/2010/main" val="8624075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TEST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3 — Branch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Yes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Correct EventLog row and administrator email.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No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Correct EventLog row and user email.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JoiningEvent and NotificationSent explain the outcome.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40</a:t>
            </a:r>
          </a:p>
        </p:txBody>
      </p:sp>
    </p:spTree>
    <p:extLst>
      <p:ext uri="{BB962C8B-B14F-4D97-AF65-F5344CB8AC3E}">
        <p14:creationId xmlns:p14="http://schemas.microsoft.com/office/powerpoint/2010/main" val="13488177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HUMAN IN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Approvals Add Human Judgement to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Submit request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Notify approver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Flow waits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Decision resumes 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Use an approval when a named authorised person—not an AI model—must own the decision.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41</a:t>
            </a:r>
          </a:p>
        </p:txBody>
      </p:sp>
    </p:spTree>
    <p:extLst>
      <p:ext uri="{BB962C8B-B14F-4D97-AF65-F5344CB8AC3E}">
        <p14:creationId xmlns:p14="http://schemas.microsoft.com/office/powerpoint/2010/main" val="28050155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DECISION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An Approval Produces Structured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Approve or Reject controls the next branch.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Responder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The approver identity supports accountability.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Comments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Decision comments explain the result to the applicant.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42</a:t>
            </a:r>
          </a:p>
        </p:txBody>
      </p:sp>
    </p:spTree>
    <p:extLst>
      <p:ext uri="{BB962C8B-B14F-4D97-AF65-F5344CB8AC3E}">
        <p14:creationId xmlns:p14="http://schemas.microsoft.com/office/powerpoint/2010/main" val="35402146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SHARED WORKFLOW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4 — Leave Application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72768"/>
            <a:ext cx="115488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" y="2784357"/>
            <a:ext cx="11018520" cy="18287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160"/>
            <a:ext cx="103327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Shared workflow visual — follow the arrows from the trigger through actions to the expected outcome.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43</a:t>
            </a:r>
          </a:p>
        </p:txBody>
      </p:sp>
    </p:spTree>
    <p:extLst>
      <p:ext uri="{BB962C8B-B14F-4D97-AF65-F5344CB8AC3E}">
        <p14:creationId xmlns:p14="http://schemas.microsoft.com/office/powerpoint/2010/main" val="30421729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REQUIRED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4 — Leave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Employee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Name; Forms captures the responder identity.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Leave start and end date.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Leave Type and Reason for Leave.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44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APPROVE OR REJECT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4 — Handle the Approval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Start and wait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Read Outcome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Approve branch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Reject branch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Compare Outcome to Approve and include the manager's comments in the applicant email.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45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PROTECT PEOPLE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4 —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Use only authorised approvers and accounts.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Privacy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Limit medical or unnecessary personal 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Retain the decision, comments and flow run history.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46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Copilot Studio Agents — Understand, Ground and 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3400" b="1">
                <a:solidFill>
                  <a:srgbClr val="1F6FEB"/>
                </a:solidFill>
                <a:latin typeface="Arial"/>
              </a:rPr>
              <a:t>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Instructions</a:t>
            </a:r>
          </a:p>
        </p:txBody>
      </p:sp>
      <p:sp>
        <p:nvSpPr>
          <p:cNvPr id="9" name="Chevron 8"/>
          <p:cNvSpPr/>
          <p:nvPr/>
        </p:nvSpPr>
        <p:spPr>
          <a:xfrm>
            <a:off x="2543860" y="33192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9620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2772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sp>
        <p:nvSpPr>
          <p:cNvPr id="12" name="Chevron 11"/>
          <p:cNvSpPr/>
          <p:nvPr/>
        </p:nvSpPr>
        <p:spPr>
          <a:xfrm>
            <a:off x="4795112" y="33192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0873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4025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Skills</a:t>
            </a:r>
          </a:p>
        </p:txBody>
      </p:sp>
      <p:sp>
        <p:nvSpPr>
          <p:cNvPr id="15" name="Chevron 14"/>
          <p:cNvSpPr/>
          <p:nvPr/>
        </p:nvSpPr>
        <p:spPr>
          <a:xfrm>
            <a:off x="7046365" y="3319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12126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85278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Tools</a:t>
            </a:r>
          </a:p>
        </p:txBody>
      </p:sp>
      <p:sp>
        <p:nvSpPr>
          <p:cNvPr id="18" name="Chevron 17"/>
          <p:cNvSpPr/>
          <p:nvPr/>
        </p:nvSpPr>
        <p:spPr>
          <a:xfrm>
            <a:off x="9297618" y="331927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63379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6531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Model +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00600"/>
            <a:ext cx="10149840" cy="7315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800" b="0">
                <a:solidFill>
                  <a:srgbClr val="5B6372"/>
                </a:solidFill>
                <a:latin typeface="Arial"/>
              </a:rPr>
              <a:t>Learn the six building blocks before creating the IT and HR support agents.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47</a:t>
            </a:r>
          </a:p>
        </p:txBody>
      </p:sp>
    </p:spTree>
    <p:extLst>
      <p:ext uri="{BB962C8B-B14F-4D97-AF65-F5344CB8AC3E}">
        <p14:creationId xmlns:p14="http://schemas.microsoft.com/office/powerpoint/2010/main" val="15264767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CONVERSATIONAL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Is a Copilot Agent?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User intent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Agent instructions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Knowledge + context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Tool decision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An agent interprets language and coordinates approved knowledge and actions inside defined boundaries.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48</a:t>
            </a:r>
          </a:p>
        </p:txBody>
      </p:sp>
    </p:spTree>
    <p:extLst>
      <p:ext uri="{BB962C8B-B14F-4D97-AF65-F5344CB8AC3E}">
        <p14:creationId xmlns:p14="http://schemas.microsoft.com/office/powerpoint/2010/main" val="20260207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CONCEPT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Six Building Blocks of a Copilot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3383280" cy="1938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19385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865376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65376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810512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2907792" cy="11887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Approved sources used to ground answers.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664208"/>
            <a:ext cx="3383280" cy="1938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664208"/>
            <a:ext cx="82296" cy="193852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1865376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865376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810512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04288"/>
            <a:ext cx="2907792" cy="11887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Capabilities the agent can perform.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664208"/>
            <a:ext cx="3383280" cy="1938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664208"/>
            <a:ext cx="82296" cy="193852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1865376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1865376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810512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304288"/>
            <a:ext cx="2907792" cy="11887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Connected actions that read or change systems.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904488"/>
            <a:ext cx="3383280" cy="1938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904488"/>
            <a:ext cx="82296" cy="193852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9536" y="4105656"/>
            <a:ext cx="457200" cy="45720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4105656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6464" y="4050792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44568"/>
            <a:ext cx="2907792" cy="11887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Conversation context and governed persistence.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3904488"/>
            <a:ext cx="3383280" cy="1938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5968" y="3904488"/>
            <a:ext cx="82296" cy="193852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105656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17136" y="4105656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4064" y="4050792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544568"/>
            <a:ext cx="2907792" cy="11887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Generative reasoning and response capability.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73568" y="3904488"/>
            <a:ext cx="3383280" cy="1938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3568" y="3904488"/>
            <a:ext cx="82296" cy="19385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74736" y="4105656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6" y="4105656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41664" y="4050792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2413A"/>
                </a:solidFill>
                <a:latin typeface="Arial"/>
              </a:rPr>
              <a:t>System message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544568"/>
            <a:ext cx="2907792" cy="11887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Highest-priority role, scope and safety rules.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49</a:t>
            </a:r>
          </a:p>
        </p:txBody>
      </p:sp>
    </p:spTree>
    <p:extLst>
      <p:ext uri="{BB962C8B-B14F-4D97-AF65-F5344CB8AC3E}">
        <p14:creationId xmlns:p14="http://schemas.microsoft.com/office/powerpoint/2010/main" val="38157952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APPROVED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Knowledge Grounds the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Approved source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Retrieve evidence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Cite or reference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Grounded response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Knowledge answers what the agent should know; source quality and permissions determine trust.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50</a:t>
            </a:r>
          </a:p>
        </p:txBody>
      </p:sp>
    </p:spTree>
    <p:extLst>
      <p:ext uri="{BB962C8B-B14F-4D97-AF65-F5344CB8AC3E}">
        <p14:creationId xmlns:p14="http://schemas.microsoft.com/office/powerpoint/2010/main" val="40821782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Skills Describe What the Agent Can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Conversation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Ask, clarify, classify, summarise and explain.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Apply instructions and knowledge to the current request.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Use topics, tools and agent flows to complete work.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51</a:t>
            </a:r>
          </a:p>
        </p:txBody>
      </p:sp>
    </p:spTree>
    <p:extLst>
      <p:ext uri="{BB962C8B-B14F-4D97-AF65-F5344CB8AC3E}">
        <p14:creationId xmlns:p14="http://schemas.microsoft.com/office/powerpoint/2010/main" val="20762356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AUTHORISED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Tools Let the Agent 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Need an action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Select a tool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Authenticate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Execute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Return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A tool reads live data or creates an outcome; grant only the minimum authorised capability.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52</a:t>
            </a:r>
          </a:p>
        </p:txBody>
      </p:sp>
    </p:spTree>
    <p:extLst>
      <p:ext uri="{BB962C8B-B14F-4D97-AF65-F5344CB8AC3E}">
        <p14:creationId xmlns:p14="http://schemas.microsoft.com/office/powerpoint/2010/main" val="7041770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WHAT IS REMEMBERED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Memory Is Governed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Session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Recent messages help the agent understand follow-up questions.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Variables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Named values preserve structured facts during the conversation.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Longer-term memory depends on enabled features, consent and policy.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53</a:t>
            </a:r>
          </a:p>
        </p:txBody>
      </p:sp>
    </p:spTree>
    <p:extLst>
      <p:ext uri="{BB962C8B-B14F-4D97-AF65-F5344CB8AC3E}">
        <p14:creationId xmlns:p14="http://schemas.microsoft.com/office/powerpoint/2010/main" val="40718705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MODEL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Model Provides Generative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Can it interpret the request and produce the required format?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Can it respond within the experience and workflow limits?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Does its use satisfy organisational and data requirements?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54</a:t>
            </a:r>
          </a:p>
        </p:txBody>
      </p:sp>
    </p:spTree>
    <p:extLst>
      <p:ext uri="{BB962C8B-B14F-4D97-AF65-F5344CB8AC3E}">
        <p14:creationId xmlns:p14="http://schemas.microsoft.com/office/powerpoint/2010/main" val="7599357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System Message Defines Non-Negotiable 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Source rules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Safety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Escalation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Copilot Studio may label this control Instructions; treat it as policy, not decoration.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55</a:t>
            </a:r>
          </a:p>
        </p:txBody>
      </p:sp>
    </p:spTree>
    <p:extLst>
      <p:ext uri="{BB962C8B-B14F-4D97-AF65-F5344CB8AC3E}">
        <p14:creationId xmlns:p14="http://schemas.microsoft.com/office/powerpoint/2010/main" val="17514619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SAFETY TEST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Test Before Publishing an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Expected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Questions the agent should answer from approved 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77600"/>
                </a:solidFill>
                <a:latin typeface="Arial"/>
              </a:rPr>
              <a:t>Unsupported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Missing or out-of-scope information that requires a limitation.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Unsafe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Credentials, private data or prohibited decisions that must be refused.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56</a:t>
            </a:r>
          </a:p>
        </p:txBody>
      </p:sp>
    </p:spTree>
    <p:extLst>
      <p:ext uri="{BB962C8B-B14F-4D97-AF65-F5344CB8AC3E}">
        <p14:creationId xmlns:p14="http://schemas.microsoft.com/office/powerpoint/2010/main" val="23614961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SHARED WORKFLOW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5 — IT Support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72768"/>
            <a:ext cx="115488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87" y="2413939"/>
            <a:ext cx="11018520" cy="25696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160"/>
            <a:ext cx="103327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Shared workflow visual — follow the arrows from the trigger through actions to the expected outcome.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57</a:t>
            </a:r>
          </a:p>
        </p:txBody>
      </p:sp>
    </p:spTree>
    <p:extLst>
      <p:ext uri="{BB962C8B-B14F-4D97-AF65-F5344CB8AC3E}">
        <p14:creationId xmlns:p14="http://schemas.microsoft.com/office/powerpoint/2010/main" val="10299759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KNOWLEDGE + INSTRUCTIONS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5 — Ground the IT Support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First-line support for password, MFA, VPN, Wi-Fi and device loss.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Upload only the approved IT Support FAQ.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Never request passwords, MFA codes or recovery keys.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58</a:t>
            </a:r>
          </a:p>
        </p:txBody>
      </p:sp>
    </p:spTree>
    <p:extLst>
      <p:ext uri="{BB962C8B-B14F-4D97-AF65-F5344CB8AC3E}">
        <p14:creationId xmlns:p14="http://schemas.microsoft.com/office/powerpoint/2010/main" val="30082586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CHANNEL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5 — Test and Deploy to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Positive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Verify grounded answers for approved IT questions.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Negative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Refuse credentials and unrelated HR requests.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Publish the latest version and verify the installed agent.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59</a:t>
            </a:r>
          </a:p>
        </p:txBody>
      </p:sp>
    </p:spTree>
    <p:extLst>
      <p:ext uri="{BB962C8B-B14F-4D97-AF65-F5344CB8AC3E}">
        <p14:creationId xmlns:p14="http://schemas.microsoft.com/office/powerpoint/2010/main" val="39475096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ENTERPRISE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SharePoint Knowledge Adds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Managed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Policy owners update one controlled document library.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Permissions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The agent can use only content its connection may access.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Freshness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Re-test the agent whenever source policies change.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60</a:t>
            </a:r>
          </a:p>
        </p:txBody>
      </p:sp>
    </p:spTree>
    <p:extLst>
      <p:ext uri="{BB962C8B-B14F-4D97-AF65-F5344CB8AC3E}">
        <p14:creationId xmlns:p14="http://schemas.microsoft.com/office/powerpoint/2010/main" val="25366111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SHARED WORKFLOW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6 — HR Support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72768"/>
            <a:ext cx="115488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" y="2582811"/>
            <a:ext cx="11018520" cy="2231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160"/>
            <a:ext cx="103327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Shared workflow visual — follow the arrows from the trigger through actions to the expected outcome.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61</a:t>
            </a:r>
          </a:p>
        </p:txBody>
      </p:sp>
    </p:spTree>
    <p:extLst>
      <p:ext uri="{BB962C8B-B14F-4D97-AF65-F5344CB8AC3E}">
        <p14:creationId xmlns:p14="http://schemas.microsoft.com/office/powerpoint/2010/main" val="1397997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SHAREPOINT POLICY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6 — Ground the HR Support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Use approved leave, expenses and workplace-policy content.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Protect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Never expose another employee's records or infer private facts.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Escalate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HR and managers retain final authority for personal decisions.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62</a:t>
            </a:r>
          </a:p>
        </p:txBody>
      </p:sp>
    </p:spTree>
    <p:extLst>
      <p:ext uri="{BB962C8B-B14F-4D97-AF65-F5344CB8AC3E}">
        <p14:creationId xmlns:p14="http://schemas.microsoft.com/office/powerpoint/2010/main" val="27075783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CONTROLLED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6 — Publish and Verify in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Source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Confirm the response is traceable to the SharePoint policy.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Boundary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Ask for another employee's record and verify refusal.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Channel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Publish the current version and verify Teams behaviour.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63</a:t>
            </a:r>
          </a:p>
        </p:txBody>
      </p:sp>
    </p:spTree>
    <p:extLst>
      <p:ext uri="{BB962C8B-B14F-4D97-AF65-F5344CB8AC3E}">
        <p14:creationId xmlns:p14="http://schemas.microsoft.com/office/powerpoint/2010/main" val="27127987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EXECUTE AGENT AND WAIT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Power Automate Can Execute a Published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Flow receives input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Select published agent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Send message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Wait for reply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Use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The flow remains the process controller while the specialised agent handles grounded interpretation.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64</a:t>
            </a:r>
          </a:p>
        </p:txBody>
      </p:sp>
    </p:spTree>
    <p:extLst>
      <p:ext uri="{BB962C8B-B14F-4D97-AF65-F5344CB8AC3E}">
        <p14:creationId xmlns:p14="http://schemas.microsoft.com/office/powerpoint/2010/main" val="224384319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DECISION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Route to the Specialist with the Right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Classify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Use the submitted Support Type choice.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Invoke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Call only the IT or HR agent selected by the condition.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Return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Email only the reply produced by the chosen branch.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65</a:t>
            </a:r>
          </a:p>
        </p:txBody>
      </p:sp>
    </p:spTree>
    <p:extLst>
      <p:ext uri="{BB962C8B-B14F-4D97-AF65-F5344CB8AC3E}">
        <p14:creationId xmlns:p14="http://schemas.microsoft.com/office/powerpoint/2010/main" val="27341898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SHARED WORKFLOW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7 — Support Request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72768"/>
            <a:ext cx="115488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" y="2955687"/>
            <a:ext cx="11018520" cy="148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160"/>
            <a:ext cx="103327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Shared workflow visual — follow the arrows from the trigger through actions to the expected outcome.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66</a:t>
            </a:r>
          </a:p>
        </p:txBody>
      </p:sp>
    </p:spTree>
    <p:extLst>
      <p:ext uri="{BB962C8B-B14F-4D97-AF65-F5344CB8AC3E}">
        <p14:creationId xmlns:p14="http://schemas.microsoft.com/office/powerpoint/2010/main" val="17508540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ONE FRONT DOOR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7 — Build the Support Request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Name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Email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Support Type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Message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A controlled IT Support / HR Support choice makes the routing rule deterministic.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67</a:t>
            </a:r>
          </a:p>
        </p:txBody>
      </p:sp>
    </p:spTree>
    <p:extLst>
      <p:ext uri="{BB962C8B-B14F-4D97-AF65-F5344CB8AC3E}">
        <p14:creationId xmlns:p14="http://schemas.microsoft.com/office/powerpoint/2010/main" val="17508540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BRANCH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7 — Execute Only the Selected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Read Support Type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Run one agent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Capture its reply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Skip other branch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One submission should create one agent execution and one user email—not two.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68</a:t>
            </a:r>
          </a:p>
        </p:txBody>
      </p:sp>
    </p:spTree>
    <p:extLst>
      <p:ext uri="{BB962C8B-B14F-4D97-AF65-F5344CB8AC3E}">
        <p14:creationId xmlns:p14="http://schemas.microsoft.com/office/powerpoint/2010/main" val="17508540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7 — Test the Complete Routing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IT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IT question → IT agent → IT-grounded email.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HR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HR question → HR agent → HR-grounded email.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Invalid or unsafe requests receive a bounded response.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69</a:t>
            </a:r>
          </a:p>
        </p:txBody>
      </p:sp>
    </p:spTree>
    <p:extLst>
      <p:ext uri="{BB962C8B-B14F-4D97-AF65-F5344CB8AC3E}">
        <p14:creationId xmlns:p14="http://schemas.microsoft.com/office/powerpoint/2010/main" val="17508540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Day 2 — HTTP, Webhooks and Agent Websites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340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HTTP request</a:t>
            </a:r>
          </a:p>
        </p:txBody>
      </p:sp>
      <p:sp>
        <p:nvSpPr>
          <p:cNvPr id="9" name="Chevron 8"/>
          <p:cNvSpPr/>
          <p:nvPr/>
        </p:nvSpPr>
        <p:spPr>
          <a:xfrm>
            <a:off x="2543860" y="33192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9620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2772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Webhook</a:t>
            </a:r>
          </a:p>
        </p:txBody>
      </p:sp>
      <p:sp>
        <p:nvSpPr>
          <p:cNvPr id="12" name="Chevron 11"/>
          <p:cNvSpPr/>
          <p:nvPr/>
        </p:nvSpPr>
        <p:spPr>
          <a:xfrm>
            <a:off x="4795112" y="33192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0873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4025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JSON</a:t>
            </a:r>
          </a:p>
        </p:txBody>
      </p:sp>
      <p:sp>
        <p:nvSpPr>
          <p:cNvPr id="15" name="Chevron 14"/>
          <p:cNvSpPr/>
          <p:nvPr/>
        </p:nvSpPr>
        <p:spPr>
          <a:xfrm>
            <a:off x="7046365" y="3319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12126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85278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Agent execution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9297618" y="331927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63379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6531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Market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00600"/>
            <a:ext cx="10149840" cy="7315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800" b="0">
                <a:solidFill>
                  <a:srgbClr val="5B6372"/>
                </a:solidFill>
                <a:latin typeface="Arial"/>
              </a:rPr>
              <a:t>Learn the web integration contract before connecting websites and finance agents.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70</a:t>
            </a:r>
          </a:p>
        </p:txBody>
      </p:sp>
    </p:spTree>
    <p:extLst>
      <p:ext uri="{BB962C8B-B14F-4D97-AF65-F5344CB8AC3E}">
        <p14:creationId xmlns:p14="http://schemas.microsoft.com/office/powerpoint/2010/main" val="11136791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WEB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An HTTP Request Is a Message Between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Client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Method + URL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Headers + body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Server action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The course websites act as clients; Power Automate receives the request and returns a bounded response.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71</a:t>
            </a:r>
          </a:p>
        </p:txBody>
      </p:sp>
    </p:spTree>
    <p:extLst>
      <p:ext uri="{BB962C8B-B14F-4D97-AF65-F5344CB8AC3E}">
        <p14:creationId xmlns:p14="http://schemas.microsoft.com/office/powerpoint/2010/main" val="336843723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PUSH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 Webhook Is an Event-Receiving HTTP Endpoint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Event occurs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Client POSTs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Webhook receives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Flow runs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Status returns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Power Automate generates the webhook URL only after a valid trigger-and-action flow saves.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72</a:t>
            </a:r>
          </a:p>
        </p:txBody>
      </p:sp>
    </p:spTree>
    <p:extLst>
      <p:ext uri="{BB962C8B-B14F-4D97-AF65-F5344CB8AC3E}">
        <p14:creationId xmlns:p14="http://schemas.microsoft.com/office/powerpoint/2010/main" val="141576618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REQUEST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Common HTTP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20040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24028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72491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Read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828800"/>
            <a:ext cx="320040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873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885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5464" y="1975104"/>
            <a:ext cx="224028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468880"/>
            <a:ext cx="272491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Submit data or start 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16368" y="1828800"/>
            <a:ext cx="3977639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163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175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7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1975104"/>
            <a:ext cx="3017519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PUT · PATCH · 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468880"/>
            <a:ext cx="3502151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Update or remove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73</a:t>
            </a:r>
          </a:p>
        </p:txBody>
      </p:sp>
    </p:spTree>
    <p:extLst>
      <p:ext uri="{BB962C8B-B14F-4D97-AF65-F5344CB8AC3E}">
        <p14:creationId xmlns:p14="http://schemas.microsoft.com/office/powerpoint/2010/main" val="407574008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REQUEST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An HTTP Request Has Four Main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URL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Headers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Body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The lab websites use POST to send JSON data to the learner's Power Automate endpoint.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74</a:t>
            </a:r>
          </a:p>
        </p:txBody>
      </p:sp>
    </p:spTree>
    <p:extLst>
      <p:ext uri="{BB962C8B-B14F-4D97-AF65-F5344CB8AC3E}">
        <p14:creationId xmlns:p14="http://schemas.microsoft.com/office/powerpoint/2010/main" val="40573558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REQUEST AND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JSON Defines a Machine-Readable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Field names, data types and required values define valid input.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Payload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The browser serialises the current form or prompt values.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The flow returns limited JSON the page can display.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75</a:t>
            </a:r>
          </a:p>
        </p:txBody>
      </p:sp>
    </p:spTree>
    <p:extLst>
      <p:ext uri="{BB962C8B-B14F-4D97-AF65-F5344CB8AC3E}">
        <p14:creationId xmlns:p14="http://schemas.microsoft.com/office/powerpoint/2010/main" val="17879579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CLASSROOM VERSUS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Webhook Security and Browser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Endpoint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Treat an anonymous webhook URL like a secret.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Validate, minimise and never include credentials.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CORS +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Return only what the browser needs; authenticate production callers.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76</a:t>
            </a:r>
          </a:p>
        </p:txBody>
      </p:sp>
    </p:spTree>
    <p:extLst>
      <p:ext uri="{BB962C8B-B14F-4D97-AF65-F5344CB8AC3E}">
        <p14:creationId xmlns:p14="http://schemas.microsoft.com/office/powerpoint/2010/main" val="208364452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SHARED WORKFLOW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8 — Website HTTP Enquiry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72768"/>
            <a:ext cx="115488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" y="2799915"/>
            <a:ext cx="11018520" cy="17976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160"/>
            <a:ext cx="103327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Shared workflow visual — follow the arrows from the trigger through actions to the expected outcome.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77</a:t>
            </a:r>
          </a:p>
        </p:txBody>
      </p:sp>
    </p:spTree>
    <p:extLst>
      <p:ext uri="{BB962C8B-B14F-4D97-AF65-F5344CB8AC3E}">
        <p14:creationId xmlns:p14="http://schemas.microsoft.com/office/powerpoint/2010/main" val="22623357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JSON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8 — Define the Request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name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email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tel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message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Generate the trigger schema from a representative sample before mapping fields.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78</a:t>
            </a:r>
          </a:p>
        </p:txBody>
      </p:sp>
    </p:spTree>
    <p:extLst>
      <p:ext uri="{BB962C8B-B14F-4D97-AF65-F5344CB8AC3E}">
        <p14:creationId xmlns:p14="http://schemas.microsoft.com/office/powerpoint/2010/main" val="191796255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URL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8 — Complete the Flow Before Saving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Email administrator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Response action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Copy URL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A trigger alone is incomplete; add actions and resolve validation errors before expecting a URL.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79</a:t>
            </a:r>
          </a:p>
        </p:txBody>
      </p:sp>
    </p:spTree>
    <p:extLst>
      <p:ext uri="{BB962C8B-B14F-4D97-AF65-F5344CB8AC3E}">
        <p14:creationId xmlns:p14="http://schemas.microsoft.com/office/powerpoint/2010/main" val="27666484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LEARNER-ENTERED WEBHOOK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8 — Connect the Supplied Website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Open HTML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Paste URL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Save locally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Submit once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Display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The supplied source contains no tenant endpoint; each learner connects their own saved flow.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80</a:t>
            </a:r>
          </a:p>
        </p:txBody>
      </p:sp>
    </p:spTree>
    <p:extLst>
      <p:ext uri="{BB962C8B-B14F-4D97-AF65-F5344CB8AC3E}">
        <p14:creationId xmlns:p14="http://schemas.microsoft.com/office/powerpoint/2010/main" val="234311379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BROWSER → FLOW → EMAIL →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8 — End-to-End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The page reports one successful response.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Run history shows the expected request fields.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Mailbox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The administrator receives exactly one enquiry email.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81</a:t>
            </a:r>
          </a:p>
        </p:txBody>
      </p:sp>
    </p:spTree>
    <p:extLst>
      <p:ext uri="{BB962C8B-B14F-4D97-AF65-F5344CB8AC3E}">
        <p14:creationId xmlns:p14="http://schemas.microsoft.com/office/powerpoint/2010/main" val="2032098328"/>
      </p:ext>
    </p:extLst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Download the slides and the Learner Guide from the LMS for the open-book assessment.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Portal: https://lms-tms.tertiaryinfotech.com/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Submit your Written Assessment and Practical Performance answers on the LMS.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Complete the TRAQOM survey via the QR code on the LMS.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Written Assessment (SAQ) — 1 hour. Practical Performance (PP) — 1 hour.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F29D-2E00-A7A1-232C-5186174A1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E0239-BFD9-3216-03B0-6B9565072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b="1">
                <a:solidFill>
                  <a:srgbClr val="7C3AED"/>
                </a:solidFill>
              </a:rPr>
              <a:t>Now go automate something — questions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  <p:extLst>
      <p:ext uri="{BB962C8B-B14F-4D97-AF65-F5344CB8AC3E}">
        <p14:creationId xmlns:p14="http://schemas.microsoft.com/office/powerpoint/2010/main" val="3938712014"/>
      </p:ext>
    </p:extLst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RAG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Grounded Finance Answers Need Retrieval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Retrieve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Search the approved Finance Knowledge Base for relevant passages.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Compose an explanation constrained by the retrieved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Qualify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State uncertainty and refuse guarantees or personalised advice.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82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SYNCHRONOUS AGENT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Execute Agent and Wait Bridges Flow and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Receive prompt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Select Finance Agent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Wait for response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Extract output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Return 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Use the actual agent-response token; do not copy a test answer into the flow.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83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SEPARATION OF CONCERNS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Web Chat Is a Channel, Not the Knowledge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Browser UI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HTTP flow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Published agent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Knowledge base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JSON reply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The page captures and displays; the flow orchestrates; the agent interprets approved knowledge.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84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SHARED WORKFLOW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9 — Finance Agent Web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72768"/>
            <a:ext cx="115488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" y="2483344"/>
            <a:ext cx="11018520" cy="24308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160"/>
            <a:ext cx="103327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Shared workflow visual — follow the arrows from the trigger through actions to the expected outcome.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85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EDUCATIONAL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9 — Finance Knowledge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Orders, candles, timeframes, volatility and news concepts.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Qualify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Separate facts from interpretation and disclose uncertainty.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Refuse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No guaranteed returns or personalised buy/sell instructions.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86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PUBLISHED-AGENT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9 — Build the HTTP-to-Agent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HTTP prompt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Run Finance Agent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Capture response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Add disclaimer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Return 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One browser message should create one flow run and one bounded agent response.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87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LEARNER-ENTERED WEBHOOK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9 — Connect the Finance Chat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Paste URL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Send prompt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Render reply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Show disclaimer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Store the URL only in the learner's browser and never commit it to the repository.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88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EVIDENCE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9 — Grounding and Safety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Known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Ask about a market versus limit order.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77600"/>
                </a:solidFill>
                <a:latin typeface="Arial"/>
              </a:rPr>
              <a:t>Uncertainty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Ask something absent from the knowledge source.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Request a guaranteed return and verify refusal.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89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ACTION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Tools and APIs Supply Live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 governed function the agent or flow is authorised to call.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 structured contract for requesting data from an external service.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Validated tool data becomes evidence—not an automatic conclusion.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90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MARKET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Multi-Timeframe Analysis Compares Different Horizons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1-minute candles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15-minute candles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1-hour candles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Compare direction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Explain conflict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Short intervals contain more noise; a responsible answer preserves conflicting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91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RECENT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News Adds Context, Not 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Check when the event and article were published.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Prefer relevant, credible reporting and identify gaps.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Relate news cautiously; price may already reflect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92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SECRET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Keep Credentials on the Server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Use protected connections, environment variables or a custom connector.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Protect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Enable secure inputs and outputs where credentials appear.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Never expose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No API keys in HTML, prompts, source control or screenshots.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93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Guardrails Constrain the Finance Advisor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Validate symbol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Limit data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Separate facts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State uncertainty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End with risk note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The agent provides educational analysis and never promises returns or gives personalised instructions.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94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SHARED WORKFLOW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AI Trading Advisor Website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72768"/>
            <a:ext cx="115488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" y="2378481"/>
            <a:ext cx="11018520" cy="26405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160"/>
            <a:ext cx="103327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Shared workflow visual — follow the arrows from the trigger through actions to the expected outcome.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95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TOOL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Authorised Data and Agent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Twelve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Retrieve 1-minute, 15-minute and 1-hour candles.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NewsAPI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Retrieve recent symbol or company news.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Finance Advisor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Compare evidence and return bounded analysis.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96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CONSISTENT DATA GRAIN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Build the Three Candle Requests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Validate symbol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Call 1-minute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Call 15-minute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Call 1-hour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Check provider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Use the same symbol and comparable result limits so the agent can contrast the intervals.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97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NEWS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Retrieve Recent News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Query symbol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Limit articles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Check time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Check source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Return compact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Keep the news payload small and preserve provider errors instead of hiding them.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98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CREDENTIAL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Secure the External Calls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Keep provider credentials in protected server-side configuration.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Observability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Log status and latency without recording secrets.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77600"/>
                </a:solidFill>
                <a:latin typeface="Arial"/>
              </a:rPr>
              <a:t>Failure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Return a safe partial-result message when a provider is unavailable.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99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EVIDENCE BUNDLE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Compose the Agent 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User question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Three candle sets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Recent news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Instructions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Finance Advisor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Tell the agent which observations are data, which are user context, and which rules are mandatory.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100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WEBSITE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Return Structured 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symbol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analysis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uncertainty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risk note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A stable response contract lets the website render success and errors predictably.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101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INTERACTIVE FRONT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Embed TradingView Separately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Enter symbol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Update chart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Paste webhook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Ask agent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Render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TradingView visualisation and agent analysis are related but independently testable components.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102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EXPECTED FAILURES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Test the Complete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Valid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All tools succeed and the response is qualified.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77600"/>
                </a:solidFill>
                <a:latin typeface="Arial"/>
              </a:rPr>
              <a:t>Partial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Missing news or conflicting timeframes are disclosed.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Invalid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Bad symbol or advice request receives a safe response.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103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OBSERVE → REASON → ACT → RESPOND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Review the End-to-End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Website request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Power Automate run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Tool outputs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Agent response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Browser result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Each boundary must have a clear owner, observable input/output and safe failure behaviour.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104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FROM FLOW MAKER TO AGENT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Course Recap — The Big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246120" cy="42976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89280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9280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837944"/>
            <a:ext cx="228600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1 — Automate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2770632" cy="35478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0">
                <a:solidFill>
                  <a:srgbClr val="5B6372"/>
                </a:solidFill>
                <a:latin typeface="Arial"/>
              </a:rPr>
              <a:t>Instant
Scheduled
Automated
Approval
HTTP</a:t>
            </a:r>
          </a:p>
        </p:txBody>
      </p:sp>
      <p:sp>
        <p:nvSpPr>
          <p:cNvPr id="12" name="Chevron 11"/>
          <p:cNvSpPr/>
          <p:nvPr/>
        </p:nvSpPr>
        <p:spPr>
          <a:xfrm>
            <a:off x="4087368" y="3429000"/>
            <a:ext cx="530352" cy="457200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9160" y="1691640"/>
            <a:ext cx="3246120" cy="42976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1691640"/>
            <a:ext cx="82296" cy="42976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10328" y="189280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0328" y="189280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7256" y="1837944"/>
            <a:ext cx="228600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2 — Add the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192" y="2331720"/>
            <a:ext cx="2770632" cy="35478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0">
                <a:solidFill>
                  <a:srgbClr val="5B6372"/>
                </a:solidFill>
                <a:latin typeface="Arial"/>
              </a:rPr>
              <a:t>Instructions
RAG knowledge
Teams + website
Confirmed inputs</a:t>
            </a:r>
          </a:p>
        </p:txBody>
      </p:sp>
      <p:sp>
        <p:nvSpPr>
          <p:cNvPr id="19" name="Chevron 18"/>
          <p:cNvSpPr/>
          <p:nvPr/>
        </p:nvSpPr>
        <p:spPr>
          <a:xfrm>
            <a:off x="8138160" y="3429000"/>
            <a:ext cx="530352" cy="457200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59952" y="1691640"/>
            <a:ext cx="2743200" cy="42976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59952" y="1691640"/>
            <a:ext cx="82296" cy="42976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0" y="189280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189280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1837944"/>
            <a:ext cx="178308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3 — Let it 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5984" y="2331720"/>
            <a:ext cx="2267712" cy="35478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0">
                <a:solidFill>
                  <a:srgbClr val="5B6372"/>
                </a:solidFill>
                <a:latin typeface="Arial"/>
              </a:rPr>
              <a:t>Agent flow
Prompt flow
Guardrails
Returned 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105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WORKPLACE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You Can Automate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664208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77393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664208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Onboarding: new-hire checklists and welcome emails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505456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261518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61518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505456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Reporting: scheduled data pulls and summaries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46704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345643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4564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3346704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Helpdesk: route requests to the right specialist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87952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2976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2976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4187952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Document handling: filing, approvals and reminders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5029200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389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3892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5029200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Agent-assisted workflows: interpret language, then perform governed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106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BEFORE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Governance and Operational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664208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77393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664208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Use authenticated endpoints, least privilege and protected credentials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505456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261518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61518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505456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Validate inputs and return only the minimum necessary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46704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345643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4564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3346704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Keep approvals and high-impact decisions with authorised people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87952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2976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2976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4187952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Monitor failures, latency, connector health and source freshness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5029200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389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3892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5029200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Document ownership, evidence, escalation and retirement procedures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107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664208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77393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664208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Trigger choice determines instant, scheduled or automated flow behaviour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505456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261518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61518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505456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Actions consume dynamic data and produce observable business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46704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345643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4564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3346704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Conditions and approvals encode rules while preserving human authority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87952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2976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2976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4187952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Copilot agents combine instructions, knowledge, skills, tools, memory and a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5029200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389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3892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5029200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HTTP and webhooks connect external experiences to governed flows and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82148472114]">
  <a:themeElements>
    <a:clrScheme name="Office">
      <a:dk1>
        <a:srgbClr val="1B1B2F"/>
      </a:dk1>
      <a:lt1>
        <a:srgbClr val="FFFFFF"/>
      </a:lt1>
      <a:dk2>
        <a:srgbClr val="2B2B40"/>
      </a:dk2>
      <a:lt2>
        <a:srgbClr val="F3F5FB"/>
      </a:lt2>
      <a:accent1>
        <a:srgbClr val="2563EB"/>
      </a:accent1>
      <a:accent2>
        <a:srgbClr val="7C3AED"/>
      </a:accent2>
      <a:accent3>
        <a:srgbClr val="06B6D4"/>
      </a:accent3>
      <a:accent4>
        <a:srgbClr val="DB2777"/>
      </a:accent4>
      <a:accent5>
        <a:srgbClr val="10B981"/>
      </a:accent5>
      <a:accent6>
        <a:srgbClr val="F59E0B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DBB792-EE95-D44E-9920-6DFB61B6772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129c31c-d639-492d-b1a1-2a7d8dffa55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1529</TotalTime>
  <Words>4806</Words>
  <Application>Microsoft Macintosh PowerPoint</Application>
  <PresentationFormat>Widescreen</PresentationFormat>
  <Paragraphs>225</Paragraphs>
  <Slides>87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1" baseType="lpstr">
      <vt:lpstr>Arial</vt:lpstr>
      <vt:lpstr>Segoe UI</vt:lpstr>
      <vt:lpstr>Segoe UI Semibold</vt:lpstr>
      <vt:lpstr>Office Theme [1782148472114]</vt:lpstr>
      <vt:lpstr>Microsoft Copilot Studio &amp; Power Automate</vt:lpstr>
      <vt:lpstr>What You'll Learn</vt:lpstr>
      <vt:lpstr>Your 3-Day Journey</vt:lpstr>
      <vt:lpstr>How This Course Works</vt:lpstr>
      <vt:lpstr>Day 1 — Foundations &amp; Power Automate</vt:lpstr>
      <vt:lpstr>Module 1 · Introduction to Workflow Automation</vt:lpstr>
      <vt:lpstr>What Is Business Workflow Automation?</vt:lpstr>
      <vt:lpstr>Why Automate?</vt:lpstr>
      <vt:lpstr>Manual Process vs. Automated Workflow</vt:lpstr>
      <vt:lpstr>Standalone Agents vs. Integrated Workflows</vt:lpstr>
      <vt:lpstr>Introduction to Workflow Logic</vt:lpstr>
      <vt:lpstr>Triggers — What Starts a Workflow</vt:lpstr>
      <vt:lpstr>Actions — What the Workflow Does</vt:lpstr>
      <vt:lpstr>Outputs — The Result</vt:lpstr>
      <vt:lpstr>Workflow Steps — Putting It Together</vt:lpstr>
      <vt:lpstr>Anatomy of a Workflow</vt:lpstr>
      <vt:lpstr>Module 1 Recap</vt:lpstr>
      <vt:lpstr>Module 2 · Introduction to Power Automate</vt:lpstr>
      <vt:lpstr>Overview of Power Automate</vt:lpstr>
      <vt:lpstr>Types of Flow</vt:lpstr>
      <vt:lpstr>The Maker Experience</vt:lpstr>
      <vt:lpstr>Common Triggers</vt:lpstr>
      <vt:lpstr>Trigger: Email Received</vt:lpstr>
      <vt:lpstr>Trigger: File Upload</vt:lpstr>
      <vt:lpstr>Trigger: Form Submission</vt:lpstr>
      <vt:lpstr>Creating Workflow Actions</vt:lpstr>
      <vt:lpstr>Action: Send Emails</vt:lpstr>
      <vt:lpstr>Action: Create Excel Entries</vt:lpstr>
      <vt:lpstr>Action: Notifications &amp; Approvals</vt:lpstr>
      <vt:lpstr>Connectors — Linking It All Together</vt:lpstr>
      <vt:lpstr>Hands-On Labs · Power Automate</vt:lpstr>
      <vt:lpstr>Lab 1 — Automated Email Workflow</vt:lpstr>
      <vt:lpstr>Lab 2 — Excel Data Logging Workflow</vt:lpstr>
      <vt:lpstr>Lab 3 — Simple Approval Workflow</vt:lpstr>
      <vt:lpstr>Day 1 Recap</vt:lpstr>
      <vt:lpstr>Day 2 — Building Business Agents with Copilot Studio</vt:lpstr>
      <vt:lpstr>Day 2 Roadmap</vt:lpstr>
      <vt:lpstr>Module 3 · Building Business Agents with Copilot Studio</vt:lpstr>
      <vt:lpstr>What Is Copilot Studio?</vt:lpstr>
      <vt:lpstr>The Copilot Studio Maker</vt:lpstr>
      <vt:lpstr>How an Agent Works</vt:lpstr>
      <vt:lpstr>What Makes a Good Business Agent</vt:lpstr>
      <vt:lpstr>Creating Practical Business Agents</vt:lpstr>
      <vt:lpstr>Prompt Design Fundamentals</vt:lpstr>
      <vt:lpstr>Prompt Design for Structured Outputs</vt:lpstr>
      <vt:lpstr>Structured Output Formats</vt:lpstr>
      <vt:lpstr>Example: A Structured Prompt</vt:lpstr>
      <vt:lpstr>Connecting Agents to Power Automate Flows</vt:lpstr>
      <vt:lpstr>Passing Outputs into Workflows</vt:lpstr>
      <vt:lpstr>Input and Output Mapping</vt:lpstr>
      <vt:lpstr>Best Practices for Agent + Flow</vt:lpstr>
      <vt:lpstr>How Agents and Power Automate Work Together</vt:lpstr>
      <vt:lpstr>Hands-On Labs · Copilot Studio</vt:lpstr>
      <vt:lpstr>Lab 4 — Sales Enquiry Assistant</vt:lpstr>
      <vt:lpstr>Lab 5 — Procurement Request Workflow</vt:lpstr>
      <vt:lpstr>Lab 6 — Automated Response Generation</vt:lpstr>
      <vt:lpstr>Testing &amp; Debugging Agents</vt:lpstr>
      <vt:lpstr>Day 2 Recap</vt:lpstr>
      <vt:lpstr>Day 3 — End-to-End Automation &amp; Workshop</vt:lpstr>
      <vt:lpstr>Module 4 · End-to-End Workflow Automation</vt:lpstr>
      <vt:lpstr>Agents + Power Automate, End to End</vt:lpstr>
      <vt:lpstr>Workflow Orchestration</vt:lpstr>
      <vt:lpstr>Orchestration Patterns</vt:lpstr>
      <vt:lpstr>Managing Outputs &amp; Next Steps</vt:lpstr>
      <vt:lpstr>Error Handling &amp; Monitoring</vt:lpstr>
      <vt:lpstr>Business Workflow Examples</vt:lpstr>
      <vt:lpstr>Example 1 — Email Enquiry → Excel → Notification</vt:lpstr>
      <vt:lpstr>Example 2 — Invoice Upload → Approval</vt:lpstr>
      <vt:lpstr>Example 3 — Purchase Request → Approval → Notification</vt:lpstr>
      <vt:lpstr>Module 4 Recap</vt:lpstr>
      <vt:lpstr>Module 5 · Business Workflow Workshop</vt:lpstr>
      <vt:lpstr>Workshop Overview</vt:lpstr>
      <vt:lpstr>How the Workshop Works</vt:lpstr>
      <vt:lpstr>Track A — Sales</vt:lpstr>
      <vt:lpstr>Track B — Finance</vt:lpstr>
      <vt:lpstr>Track C — Procurement</vt:lpstr>
      <vt:lpstr>Track D — Order Processing</vt:lpstr>
      <vt:lpstr>Build Guidelines &amp; Success Criteria</vt:lpstr>
      <vt:lpstr>Present &amp; Get Feedback</vt:lpstr>
      <vt:lpstr>What You Can Automate Next</vt:lpstr>
      <vt:lpstr>Common Pitfalls to Avoid</vt:lpstr>
      <vt:lpstr>Governance &amp; Security Basics</vt:lpstr>
      <vt:lpstr>Rolling This Out at Work</vt:lpstr>
      <vt:lpstr>Course Recap — The Big Picture</vt:lpstr>
      <vt:lpstr>Key Takeaways</vt:lpstr>
      <vt:lpstr>Resources &amp; Where to Go Next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Tertiary Infotech Admin</dc:creator>
  <cp:lastModifiedBy>Tertiary Infotech Admin</cp:lastModifiedBy>
  <cp:revision>2</cp:revision>
  <dcterms:created xsi:type="dcterms:W3CDTF">2026-06-22T17:06:55Z</dcterms:created>
  <dcterms:modified xsi:type="dcterms:W3CDTF">2026-06-23T18:36:15Z</dcterms:modified>
</cp:coreProperties>
</file>