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8" r:id="rId2"/>
    <p:sldId id="352" r:id="rId18"/>
    <p:sldId id="353" r:id="rId19"/>
    <p:sldId id="354" r:id="rId20"/>
    <p:sldId id="355" r:id="rId21"/>
    <p:sldId id="356" r:id="rId22"/>
    <p:sldId id="259" r:id="rId23"/>
    <p:sldId id="260" r:id="rId24"/>
    <p:sldId id="261" r:id="rId25"/>
    <p:sldId id="357" r:id="rId26"/>
    <p:sldId id="361" r:id="rId27"/>
    <p:sldId id="393" r:id="rId17"/>
    <p:sldId id="400" r:id="rId10"/>
    <p:sldId id="262" r:id="rId28"/>
    <p:sldId id="263" r:id="rId29"/>
    <p:sldId id="264" r:id="rId30"/>
    <p:sldId id="265" r:id="rId31"/>
    <p:sldId id="266" r:id="rId32"/>
    <p:sldId id="267" r:id="rId33"/>
    <p:sldId id="268" r:id="rId34"/>
    <p:sldId id="269" r:id="rId35"/>
    <p:sldId id="270" r:id="rId36"/>
    <p:sldId id="271" r:id="rId37"/>
    <p:sldId id="272" r:id="rId38"/>
    <p:sldId id="273" r:id="rId39"/>
    <p:sldId id="274" r:id="rId40"/>
    <p:sldId id="275" r:id="rId41"/>
    <p:sldId id="276" r:id="rId42"/>
    <p:sldId id="277" r:id="rId43"/>
    <p:sldId id="278" r:id="rId44"/>
    <p:sldId id="279" r:id="rId45"/>
    <p:sldId id="280" r:id="rId46"/>
    <p:sldId id="394" r:id="rId16"/>
    <p:sldId id="395" r:id="rId15"/>
    <p:sldId id="396" r:id="rId14"/>
    <p:sldId id="397" r:id="rId13"/>
    <p:sldId id="281" r:id="rId47"/>
    <p:sldId id="282" r:id="rId48"/>
    <p:sldId id="283" r:id="rId49"/>
    <p:sldId id="398" r:id="rId12"/>
    <p:sldId id="284" r:id="rId50"/>
    <p:sldId id="285" r:id="rId51"/>
    <p:sldId id="286" r:id="rId52"/>
    <p:sldId id="401" r:id="rId9"/>
    <p:sldId id="287" r:id="rId53"/>
    <p:sldId id="402" r:id="rId8"/>
    <p:sldId id="288" r:id="rId54"/>
    <p:sldId id="403" r:id="rId7"/>
    <p:sldId id="289" r:id="rId55"/>
    <p:sldId id="404" r:id="rId6"/>
    <p:sldId id="290" r:id="rId56"/>
    <p:sldId id="291" r:id="rId57"/>
    <p:sldId id="399" r:id="rId11"/>
    <p:sldId id="345" r:id="rId58"/>
    <p:sldId id="346" r:id="rId59"/>
    <p:sldId id="292" r:id="rId60"/>
    <p:sldId id="293" r:id="rId61"/>
    <p:sldId id="294" r:id="rId62"/>
    <p:sldId id="295" r:id="rId63"/>
    <p:sldId id="296" r:id="rId64"/>
    <p:sldId id="297" r:id="rId65"/>
    <p:sldId id="298" r:id="rId66"/>
    <p:sldId id="299" r:id="rId67"/>
    <p:sldId id="300" r:id="rId68"/>
    <p:sldId id="301" r:id="rId69"/>
    <p:sldId id="302" r:id="rId70"/>
    <p:sldId id="303" r:id="rId71"/>
    <p:sldId id="304" r:id="rId72"/>
    <p:sldId id="305" r:id="rId73"/>
    <p:sldId id="306" r:id="rId74"/>
    <p:sldId id="307" r:id="rId75"/>
    <p:sldId id="392" r:id="rId76"/>
    <p:sldId id="358" r:id="rId77"/>
    <p:sldId id="359" r:id="rId78"/>
    <p:sldId id="360" r:id="rId79"/>
    <p:sldId id="362" r:id="rId80"/>
    <p:sldId id="363" r:id="rId81"/>
    <p:sldId id="364" r:id="rId82"/>
    <p:sldId id="365" r:id="rId83"/>
    <p:sldId id="344" r:id="rId8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97"/>
    <p:restoredTop sz="94681"/>
  </p:normalViewPr>
  <p:slideViewPr>
    <p:cSldViewPr snapToGrid="0">
      <p:cViewPr varScale="1">
        <p:scale>
          <a:sx n="93" d="100"/>
          <a:sy n="93" d="100"/>
        </p:scale>
        <p:origin x="248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50.xml"/><Relationship Id="rId7" Type="http://schemas.openxmlformats.org/officeDocument/2006/relationships/slide" Target="slides/slide48.xml"/><Relationship Id="rId8" Type="http://schemas.openxmlformats.org/officeDocument/2006/relationships/slide" Target="slides/slide46.xml"/><Relationship Id="rId9" Type="http://schemas.openxmlformats.org/officeDocument/2006/relationships/slide" Target="slides/slide44.xml"/><Relationship Id="rId10" Type="http://schemas.openxmlformats.org/officeDocument/2006/relationships/slide" Target="slides/slide13.xml"/><Relationship Id="rId11" Type="http://schemas.openxmlformats.org/officeDocument/2006/relationships/slide" Target="slides/slide53.xml"/><Relationship Id="rId12" Type="http://schemas.openxmlformats.org/officeDocument/2006/relationships/slide" Target="slides/slide40.xml"/><Relationship Id="rId13" Type="http://schemas.openxmlformats.org/officeDocument/2006/relationships/slide" Target="slides/slide36.xml"/><Relationship Id="rId14" Type="http://schemas.openxmlformats.org/officeDocument/2006/relationships/slide" Target="slides/slide35.xml"/><Relationship Id="rId15" Type="http://schemas.openxmlformats.org/officeDocument/2006/relationships/slide" Target="slides/slide34.xml"/><Relationship Id="rId16" Type="http://schemas.openxmlformats.org/officeDocument/2006/relationships/slide" Target="slides/slide33.xml"/><Relationship Id="rId17" Type="http://schemas.openxmlformats.org/officeDocument/2006/relationships/slide" Target="slides/slide12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Relationship Id="rId35" Type="http://schemas.openxmlformats.org/officeDocument/2006/relationships/slide" Target="slides/slide21.xml"/><Relationship Id="rId36" Type="http://schemas.openxmlformats.org/officeDocument/2006/relationships/slide" Target="slides/slide22.xml"/><Relationship Id="rId37" Type="http://schemas.openxmlformats.org/officeDocument/2006/relationships/slide" Target="slides/slide23.xml"/><Relationship Id="rId38" Type="http://schemas.openxmlformats.org/officeDocument/2006/relationships/slide" Target="slides/slide24.xml"/><Relationship Id="rId39" Type="http://schemas.openxmlformats.org/officeDocument/2006/relationships/slide" Target="slides/slide25.xml"/><Relationship Id="rId40" Type="http://schemas.openxmlformats.org/officeDocument/2006/relationships/slide" Target="slides/slide26.xml"/><Relationship Id="rId41" Type="http://schemas.openxmlformats.org/officeDocument/2006/relationships/slide" Target="slides/slide27.xml"/><Relationship Id="rId42" Type="http://schemas.openxmlformats.org/officeDocument/2006/relationships/slide" Target="slides/slide28.xml"/><Relationship Id="rId43" Type="http://schemas.openxmlformats.org/officeDocument/2006/relationships/slide" Target="slides/slide29.xml"/><Relationship Id="rId44" Type="http://schemas.openxmlformats.org/officeDocument/2006/relationships/slide" Target="slides/slide30.xml"/><Relationship Id="rId45" Type="http://schemas.openxmlformats.org/officeDocument/2006/relationships/slide" Target="slides/slide31.xml"/><Relationship Id="rId46" Type="http://schemas.openxmlformats.org/officeDocument/2006/relationships/slide" Target="slides/slide32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5.xml"/><Relationship Id="rId54" Type="http://schemas.openxmlformats.org/officeDocument/2006/relationships/slide" Target="slides/slide47.xml"/><Relationship Id="rId55" Type="http://schemas.openxmlformats.org/officeDocument/2006/relationships/slide" Target="slides/slide49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presProps" Target="presProps.xml"/><Relationship Id="rId86" Type="http://schemas.openxmlformats.org/officeDocument/2006/relationships/viewProps" Target="viewProps.xml"/><Relationship Id="rId87" Type="http://schemas.openxmlformats.org/officeDocument/2006/relationships/theme" Target="theme/theme1.xml"/><Relationship Id="rId8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46D94-6626-3BFF-0A17-61948D6E3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B82959-52E1-24EA-654D-899B4BD852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CEC601-C670-DE5C-B4B0-7A9A0C1D1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8A4546-02A5-E0E4-1B88-DDD5C2328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49858-4AC1-6BEE-F28D-B259566E4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6063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708F2-2494-FD25-40BA-7A458F90F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D68CF-139A-1485-F8C3-1135EBA75D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95C4C-F738-AC92-997B-00880EDFFF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B43F1-EC25-F65B-2464-2BB178DDE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E87FA-9C49-DA04-2AEC-CE02D0844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325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621AD-FA2B-E962-1895-0B829208A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0FC836-5AF6-11F1-ABDC-F6A1CD4388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FEB5A-83F2-D22F-1013-D078D5F98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D6E6E4-9057-95F7-57F5-42B4228D0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35C075-54A9-7B26-2083-EAEF01DE4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151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CEEAB-96C8-B417-18FB-A71942AA2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D5E33-F4BD-5B41-65F4-A233430D45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030329-B6CA-2C59-7CE7-8211A38970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9AF930-D68C-D4BB-D655-76183CA60C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ED846B-938E-E072-48D2-C7D94D959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ACB0EE-912C-A444-3339-E1B54EF3B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1528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72965-DF3B-ED3E-7532-71CC7BC90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0DB5A2-A181-E7B2-6ED3-6A3E56EE4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7B1024-7DAF-4B66-9FB5-FC3C33D731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D5716D-854D-ACD7-D87B-1AF011AEDF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D5961B-F921-8CBD-BC63-8FE4505D57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8E2C8CF-7AD9-FDC8-5CD5-04645E926A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C47C7EC-D94D-F23D-3AD7-F978DC38F0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C0BC93F-DE87-5D34-711A-0A7C96BC8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349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85314-FF69-9488-55AA-609B6D6C4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0D0D748-7526-E5B4-882B-CD1974BE7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1BB65D-3C7C-330F-F2E4-68BE6A78C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33AB25-A9B3-E208-BB21-C2850A87C7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2178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CC9D19-4C72-6EBE-BEBB-990F367C8E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7E9465-1D86-3400-70F7-6C14221D6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4DA129-7B6B-7A0C-6CD8-225A88BC4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6638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83D7A-3E00-B6C8-FC83-37E63C7A3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F536C-DEC8-9406-DD9A-A159888086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01E554-74F9-4F2B-DACA-7437D1FAD9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5B9C74-1F4A-2756-20E0-3A30ED8FD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B6718F-0AFB-B05B-56DD-676CA42EC6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C6564F-EB95-772B-629C-CA39D04B3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9601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F3D48-84A0-3F37-1AE1-A5DA0976C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64D8CE-7D33-3A1C-0B10-C0B372A0E3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818348-DD38-2ED9-AC93-F0E0BC5AFE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CF0CDE-79A3-51A3-3B3F-A9FD15F51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91F49-8EAB-7B01-7B0F-F33734242F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3271A9-A83C-0006-00BD-C17BB3DE7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8946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9BBB60-560A-1F72-035E-D28F19A92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3B78FD-69CC-9F5B-3C11-CA323EC93B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36BB40-F65B-5299-E32D-CB9858A594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87E16-F02D-E203-D4E9-10D833FCA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882DCF-D6B7-31C6-D936-E12073FA2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63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FF187E-5DCA-9F88-B1CD-F03AB7AF3A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412709-B093-275F-2926-9D91A5824F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667EC-5ABA-1D42-42D4-EC9393BBC3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A2F67-6755-C1B8-DF06-6E0417CD32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0EB6B-719C-9679-CCF7-F153C3A2B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6704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E80EE1-0B02-5C56-7378-94DD6DA05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AE5EFC-134F-BED3-F8A7-9FE56534CD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202C69-0810-50C4-85CE-437D064ED2E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07F4EC-F5FE-2D4B-BE07-2A0946F33E8D}" type="datetimeFigureOut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0AED32-ED41-42FF-749B-D7F0BB6346E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D752B-E364-D67C-7654-6A11A46BA2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B6755A7-B2F0-374C-BC3B-9231083D8773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AccentBar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gradFill>
            <a:gsLst>
              <a:gs pos="0">
                <a:srgbClr val="2563EB"/>
              </a:gs>
              <a:gs pos="50000">
                <a:srgbClr val="7C3AED"/>
              </a:gs>
              <a:gs pos="100000">
                <a:srgbClr val="06B6D4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221405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B1B2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B2B4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1.pn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4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5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D2EDD3-BAC6-2E59-FAA8-908301B1194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4000" b="1" dirty="0"/>
              <a:t>Business Process Automation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0574B3-66A5-8402-1E67-380A6A832E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sz="2400" b="1" dirty="0">
                <a:solidFill>
                  <a:schemeClr val="accent2"/>
                </a:solidFill>
              </a:rPr>
              <a:t>with Power Automate and Copilot Studio Agents</a:t>
            </a:r>
          </a:p>
          <a:p>
            <a:pPr algn="ctr"/>
            <a:r>
              <a:rPr lang="en-US" sz="1600" dirty="0">
                <a:solidFill>
                  <a:schemeClr val="dk2"/>
                </a:solidFill>
              </a:rPr>
              <a:t>WSQ Course Code: TGS-2022017524  ·  2-Day Hands-On Training  ·  Modules 1–5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7048" y="5623560"/>
            <a:ext cx="91440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  <a:p>
            <a:pPr algn="ctr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Version 7.3 (6 Aug 2026)  ·  www.tertiarycourses.com.sg  ·  https://lms-tms.tertiaryinfotech.com/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  <p:pic>
        <p:nvPicPr>
          <p:cNvPr id="7" name="Picture 6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59436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286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60520"/>
            <a:ext cx="3063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3063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Trainer, Tertiary Infotech Academy Pte. Ltd.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Microsoft Power Platform, AI and data analytics — 20+ years of training experience.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AI, business automation, data science and software engineering.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FOUNDER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Your name and organisation / role.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Your experience with Power Automate, Copilot Studio or other automation tools (if any).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One repetitive business process you would love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033272" y="2157984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33272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4792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87668" y="2157984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87668" y="2157984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19188" y="1874520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77240" y="3319272"/>
            <a:ext cx="91440" cy="129844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33272" y="3694176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33272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4792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19272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31636" y="3319272"/>
            <a:ext cx="91440" cy="129844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487668" y="3694176"/>
            <a:ext cx="548640" cy="54864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7668" y="3694176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19188" y="3410712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77240" y="4855464"/>
            <a:ext cx="91440" cy="129844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33272" y="5230368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33272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64792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55464"/>
            <a:ext cx="5180076" cy="129844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6231636" y="4855464"/>
            <a:ext cx="91440" cy="129844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6487668" y="5230368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487668" y="5230368"/>
            <a:ext cx="5486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9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19188" y="4946904"/>
            <a:ext cx="3973068" cy="11521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You'll Learn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Automate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the workflow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2219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add 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Build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the agent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2219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expose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Connect it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over HTTP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22199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make it true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Ground it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with RAG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3611880"/>
            <a:ext cx="82296" cy="1691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77824" y="379476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37947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37398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Design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21538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Read a business process and decide which parts must be deterministic and which may be AI.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06824" y="3611880"/>
            <a:ext cx="82296" cy="16916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526280" y="379476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26280" y="37947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56632" y="37398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Build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2856" y="421538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Create Power Automate flows and Copilot Studio agents with tools, skills and knowledge.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61188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955280" y="3611880"/>
            <a:ext cx="82296" cy="169164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174736" y="379476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74736" y="37947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37398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C2413A"/>
                </a:solidFill>
                <a:latin typeface="Arial"/>
              </a:rPr>
              <a:t>Govern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421538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Place a human where the consequence lands, and test what the agent must refuse.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By the end you can build the automation, add the agent, and defend where you put the human.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509161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Thirteen Connected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481328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49808" y="1545336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545336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61872" y="1485900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Environment 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61872" y="1741931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Developer environment, Dataverse, credits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057400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9808" y="2121408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121408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061972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Trigger and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1872" y="2318003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Form → email; dynamic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633472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2697480"/>
            <a:ext cx="402336" cy="40233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697480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61872" y="2638044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Log to 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61872" y="2894075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Commit the audit row before confirming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209544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49808" y="3273552"/>
            <a:ext cx="402336" cy="402336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273552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61872" y="3214116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Leave Application Approval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61872" y="3470147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The flow pauses for a manager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785616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49808" y="3849624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3849624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61872" y="3790188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Agents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61872" y="4046219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Instructions · skills · knowledge ·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61688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9808" y="4425696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25696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4b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61872" y="4366260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Multi-Agent Content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61872" y="4622291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Research → draft → review → human approval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937760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49808" y="5001768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001768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61872" y="4942332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Calling Agent from Workflow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61872" y="5198363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Topic in, M365 Copilot blog, posted to Teams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44768" y="1481328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236208" y="1545336"/>
            <a:ext cx="402336" cy="40233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36208" y="1545336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5b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48272" y="1485900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Calling Workflow from 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48272" y="1741931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The agent runs the flow as its tool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44768" y="2057400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236208" y="2121408"/>
            <a:ext cx="402336" cy="402336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2121408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48272" y="2061972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HTTP + Approval Agent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48272" y="2318003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Structured output; the AI never writes the record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144768" y="2633472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236208" y="2697480"/>
            <a:ext cx="402336" cy="402336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36208" y="2697480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48272" y="2638044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HTTP + Chatbot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48272" y="2894075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The agent alone, in public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44768" y="3209544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236208" y="3273552"/>
            <a:ext cx="402336" cy="402336"/>
          </a:xfrm>
          <a:prstGeom prst="round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6208" y="3273552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48272" y="3214116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HTTP + Human Review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48272" y="3470147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The run that will not proceed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144768" y="3785616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236208" y="3849624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36208" y="3849624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48272" y="3790188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RAG with Knowledge Base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48272" y="4046219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Three nodes, no ingestion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44768" y="4361688"/>
            <a:ext cx="5349240" cy="521207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6236208" y="4425696"/>
            <a:ext cx="402336" cy="402336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6208" y="4425696"/>
            <a:ext cx="402336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748272" y="4366260"/>
            <a:ext cx="464515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50" b="1">
                <a:solidFill>
                  <a:srgbClr val="161B26"/>
                </a:solidFill>
                <a:latin typeface="Arial"/>
              </a:rPr>
              <a:t>RAG with Pinecone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48272" y="4622291"/>
            <a:ext cx="4645152" cy="2468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Chunking, embeddings, top_k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58368" y="5614416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5614416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Thirteen labs, each reusing the one before it. Nothing is rebuilt from scratch.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100239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LEARNING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How This Course 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2286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20116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idea and the decision rule, before the product is opened.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71215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871215" y="1828800"/>
            <a:ext cx="82296" cy="2286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3090671" y="201168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090671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3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Pattern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27247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idea drawn as a business workflow you could hand to a colleague.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84064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084064" y="1828800"/>
            <a:ext cx="82296" cy="228600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5303520" y="201168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03520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33872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6845B"/>
                </a:solidFill>
                <a:latin typeface="Arial"/>
              </a:rPr>
              <a:t>Lab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0096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You build it, in the numbered lab named on the concept slide.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96912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96912" y="1828800"/>
            <a:ext cx="82296" cy="228600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7516368" y="201168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516368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C2413A"/>
                </a:solidFill>
                <a:latin typeface="Arial"/>
              </a:rPr>
              <a:t>Probe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52944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You try to break it — the refusals and wrong answers are the lesson.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60" y="1828800"/>
            <a:ext cx="2011680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509760" y="1828800"/>
            <a:ext cx="82296" cy="2286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729216" y="201168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29216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59568" y="1956816"/>
            <a:ext cx="106070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Reuse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65792" y="2432304"/>
            <a:ext cx="1517904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working artefact becomes the starting point of the next lab.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57200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457200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Concepts first. Every lab in this course is an application of a concept you have already seen.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349240"/>
            <a:ext cx="1083564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probes matter as much as the builds. An agent that answers ten questions correctly and the eleventh</a:t>
            </a:r>
          </a:p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confidently wrong has not been tested — it has been demonstrated.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259203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Lesson Plan — 2 Days, 9:00am–6:00pm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572768"/>
            <a:ext cx="5303520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572768"/>
            <a:ext cx="5303520" cy="5120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9536" y="1572768"/>
            <a:ext cx="49377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Day 1 — Automate, then add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21284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9:00 – 9:45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31136" y="221284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Welcome, admin, course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788920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9:45 – 10:40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1136" y="2788920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1: BPA, Power Platform, flows, triggers,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3364991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10:55 – 12:15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31136" y="3364991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0 · Lab 1 — environment, trigger and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941064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12:15 – 12:45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1136" y="3941064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1: dynamic content, run history, commit order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4517136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1:45 – 3:15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1136" y="4517136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2 · Module 2 — Excel logging, conditions, human in the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509320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1F6FEB"/>
                </a:solidFill>
                <a:latin typeface="Arial"/>
              </a:rPr>
              <a:t>3:30 – 6:00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1136" y="509320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3 · Module 3 · Lab 4 · 4b — approval, agents, multi-agent team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1572768"/>
            <a:ext cx="5303520" cy="42062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0488" y="1572768"/>
            <a:ext cx="5303520" cy="512064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91656" y="1572768"/>
            <a:ext cx="4937760" cy="51206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Day 2 — Connect, supervise, ground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221284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9:00 – 10:05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63256" y="221284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Recap · Lab 5 · 5b — agent and workflow, each calling the other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2788920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10:05 – 11:30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63256" y="2788920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4 · Lab 6 — HTTP, structured output, boundary of agency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9944" y="3364991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11:30 – 12:10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3256" y="3364991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7 — the agent alone in public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9944" y="3941064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1:10 – 2:10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63256" y="3941064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 8 — the human review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9944" y="4517136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2:10 – 3:55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63256" y="4517136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Module 5 · Lab 9 · Lab 10 — RAG, built-in then Pinecone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9944" y="5093208"/>
            <a:ext cx="132588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950" b="1">
                <a:solidFill>
                  <a:srgbClr val="6D3FD2"/>
                </a:solidFill>
                <a:latin typeface="Arial"/>
              </a:rPr>
              <a:t>4:00 – 6:00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3256" y="5093208"/>
            <a:ext cx="3566160" cy="5303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Written Assessment (SAQ) 1 hr + Practical Performance 1 hr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Each day runs 9:00am–6:00pm — 8 scheduled hours after a 1-hour lunch, with the two 15-minute tea breaks counted within.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REPOSITORY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Access the Hands-On Labs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1783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20116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568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11 labs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3230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Lab 0 setup plus Labs 1–10, each with its own step-by-step guide.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84048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58368" y="3840480"/>
            <a:ext cx="82296" cy="178308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77824" y="402336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" y="40233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08176" y="396849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Ready assets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44398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Excel workbooks, brochure PDFs, HTML pages, JSON schemas and flow packages.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82880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90488" y="1828800"/>
            <a:ext cx="82296" cy="178308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409944" y="201168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9944" y="20116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0296" y="19568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C77600"/>
                </a:solidFill>
                <a:latin typeface="Arial"/>
              </a:rPr>
              <a:t>Test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43230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Sample question sets and probe cases written to make each agent fail.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90488" y="3840480"/>
            <a:ext cx="5303520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90488" y="3840480"/>
            <a:ext cx="82296" cy="178308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09944" y="402336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9944" y="40233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396849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6845B"/>
                </a:solidFill>
                <a:latin typeface="Arial"/>
              </a:rPr>
              <a:t>Work in 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4443984"/>
            <a:ext cx="4809744" cy="10515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Open labs/README.md and follow the Next link at the foot of each lab.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68756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568756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Everything is in the course repository; the Learner Guide reproduces every lab in full.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Your Training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One assigned Microsoft 365 training account per learner — the same login for every lab.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38528"/>
            <a:ext cx="5303520" cy="493776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56816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training1@tertiaryinfotech.onmicrosoft.com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5968" y="1956816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6D3FD2"/>
                </a:solidFill>
                <a:latin typeface="Arial"/>
              </a:rPr>
              <a:t>Reserved for the trainer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938528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36792" y="1956816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training2@tertiaryinfotech.onmicrosoft.com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8088" y="1956816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2542032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training3@tertiaryinfotech.onmicrosoft.com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2560320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542032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2560320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training4@tertiaryinfotech.onmicrosoft.com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8088" y="2560320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145536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3163824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training5@tertiaryinfotech.onmicrosoft.com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5968" y="3163824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90488" y="3145536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6792" y="3163824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training6@tertiaryinfotech.onmicrosoft.com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48088" y="3163824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749039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3767327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training7@tertiaryinfotech.onmicrosoft.com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3767327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3749039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3767327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training8@tertiaryinfotech.onmicrosoft.com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48088" y="3767327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52544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4370832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training9@tertiaryinfotech.onmicrosoft.com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15968" y="4370832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90488" y="4352544"/>
            <a:ext cx="5303520" cy="493776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36792" y="4370832"/>
            <a:ext cx="35661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training10@tertiaryinfotech.onmicrosoft.com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48088" y="4370832"/>
            <a:ext cx="160020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000" b="0">
                <a:solidFill>
                  <a:srgbClr val="5B6372"/>
                </a:solidFill>
                <a:latin typeface="Arial"/>
              </a:rPr>
              <a:t>Learner account 9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13892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138928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Password for training2 – training10:  Tertiary@0808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5797296"/>
            <a:ext cx="1083564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Sign in at copilotstudio.microsoft.com and make.powerautomate.com with the account the trainer assigns you — stay in the shared training environment and do not change the password.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COURSE ENVIRONMENT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Microsoft 365 Personal Accounts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Two shared Microsoft 365 personal accounts — use these when a lab step asks for a personal (outlook.com) sign-in.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530352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103120"/>
            <a:ext cx="3566160" cy="8229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training1-tertiary@outlook.com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24528" y="2103120"/>
            <a:ext cx="1600200" cy="8229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100" b="0">
                <a:solidFill>
                  <a:srgbClr val="5B6372"/>
                </a:solidFill>
                <a:latin typeface="Arial"/>
              </a:rPr>
              <a:t>Personal account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103120"/>
            <a:ext cx="5303520" cy="822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2103120"/>
            <a:ext cx="3566160" cy="8229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500" b="1">
                <a:solidFill>
                  <a:srgbClr val="161B26"/>
                </a:solidFill>
                <a:latin typeface="Arial"/>
              </a:rPr>
              <a:t>training2-tertiary@outlook.com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6648" y="2103120"/>
            <a:ext cx="1600200" cy="8229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1100" b="0">
                <a:solidFill>
                  <a:srgbClr val="5B6372"/>
                </a:solidFill>
                <a:latin typeface="Arial"/>
              </a:rPr>
              <a:t>Personal account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38328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Password for both accounts:  Tertiary@888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1083564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These are shared personal accounts, separate from your assigned training account on the tertiaryinfotech tenant — sign in with them only where a lab calls for a personal Microsoft account, and do not change the password.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F6FEB"/>
                </a:solidFill>
                <a:latin typeface="Arial"/>
              </a:rPr>
              <a:t>MODULE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Business Process Automation and Power Automate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What automation actually removes  ·  the Power Platform  ·  flows, triggers and actions  ·  dynamic content and run history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0, Lab 1 and Lab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294707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What Business Process Automation Removes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600200"/>
            <a:ext cx="10835640" cy="4572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Business process automation is not “software that does work faster”. It is the removal of the hand-off</a:t>
            </a:r>
          </a:p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where a person re-types what another system already knows.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514600"/>
            <a:ext cx="13716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MANUAL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57984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Form filled in</a:t>
            </a:r>
          </a:p>
        </p:txBody>
      </p:sp>
      <p:sp>
        <p:nvSpPr>
          <p:cNvPr id="10" name="Chevron 9"/>
          <p:cNvSpPr/>
          <p:nvPr/>
        </p:nvSpPr>
        <p:spPr>
          <a:xfrm>
            <a:off x="4194809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51425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06289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Someone reads it</a:t>
            </a:r>
          </a:p>
        </p:txBody>
      </p:sp>
      <p:sp>
        <p:nvSpPr>
          <p:cNvPr id="13" name="Chevron 12"/>
          <p:cNvSpPr/>
          <p:nvPr/>
        </p:nvSpPr>
        <p:spPr>
          <a:xfrm>
            <a:off x="6643114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6999731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54595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Re-typed into Excel</a:t>
            </a:r>
          </a:p>
        </p:txBody>
      </p:sp>
      <p:sp>
        <p:nvSpPr>
          <p:cNvPr id="16" name="Chevron 15"/>
          <p:cNvSpPr/>
          <p:nvPr/>
        </p:nvSpPr>
        <p:spPr>
          <a:xfrm>
            <a:off x="9091420" y="2766060"/>
            <a:ext cx="274320" cy="310896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448038" y="2487168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5B6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2902" y="2542032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Someone remembers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to reply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749039"/>
            <a:ext cx="13716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AUTOMATED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03120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157984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Form submitted</a:t>
            </a:r>
          </a:p>
        </p:txBody>
      </p:sp>
      <p:sp>
        <p:nvSpPr>
          <p:cNvPr id="22" name="Chevron 21"/>
          <p:cNvSpPr/>
          <p:nvPr/>
        </p:nvSpPr>
        <p:spPr>
          <a:xfrm>
            <a:off x="4194809" y="3982211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551425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06289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Flow triggered</a:t>
            </a:r>
          </a:p>
        </p:txBody>
      </p:sp>
      <p:sp>
        <p:nvSpPr>
          <p:cNvPr id="25" name="Chevron 24"/>
          <p:cNvSpPr/>
          <p:nvPr/>
        </p:nvSpPr>
        <p:spPr>
          <a:xfrm>
            <a:off x="6643114" y="3982211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6999731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054595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Row written</a:t>
            </a:r>
          </a:p>
        </p:txBody>
      </p:sp>
      <p:sp>
        <p:nvSpPr>
          <p:cNvPr id="28" name="Chevron 27"/>
          <p:cNvSpPr/>
          <p:nvPr/>
        </p:nvSpPr>
        <p:spPr>
          <a:xfrm>
            <a:off x="9091420" y="3982211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9448038" y="3703320"/>
            <a:ext cx="2027681" cy="8686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502902" y="3758183"/>
            <a:ext cx="1917953" cy="7589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Reply sent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58368" y="4800600"/>
            <a:ext cx="82296" cy="13716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4400" y="4928616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Consistency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" y="5404104"/>
            <a:ext cx="2898648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same input produces the same output, every time, at 3am.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306824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306824" y="4800600"/>
            <a:ext cx="82296" cy="13716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62856" y="4928616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Traceability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62856" y="5404104"/>
            <a:ext cx="2898648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run leaves a history someone can read a year later.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55280" y="4800600"/>
            <a:ext cx="3392424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7955280" y="4800600"/>
            <a:ext cx="82296" cy="13716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11312" y="4928616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Capacity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11312" y="5404104"/>
            <a:ext cx="2898648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People are moved to the judgement calls the machine cannot make.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2939729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Power Platform, and the Environment That Holds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82296" cy="2286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Power Automate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Workflows. Triggers and actions that run without a person.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529584"/>
            <a:ext cx="1371600" cy="310896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Labs 1–3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01568" y="1691640"/>
            <a:ext cx="82296" cy="2286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621024" y="187452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210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513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Copilot Studio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Conversational agents with instructions, knowledge and tools.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0" y="3529584"/>
            <a:ext cx="1371600" cy="310896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Labs 4–10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447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144768" y="1691640"/>
            <a:ext cx="82296" cy="2286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364224" y="187452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642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945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Dataverse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managed data store behind the environment.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3529584"/>
            <a:ext cx="1371600" cy="310896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87968" y="1691640"/>
            <a:ext cx="2487168" cy="2286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887968" y="1691640"/>
            <a:ext cx="82296" cy="228600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9107424" y="187452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074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37776" y="181965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Connectors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295144"/>
            <a:ext cx="1993392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Outlook, Excel, SharePoint, Teams, Forms, HTTP — 1,000+.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3529584"/>
            <a:ext cx="1371600" cy="310896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144000" y="3529584"/>
            <a:ext cx="13716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Every lab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224528"/>
            <a:ext cx="10835640" cy="13716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4343400"/>
            <a:ext cx="103327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THE ENVIRONMENT IS THE CONTAINER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4681728"/>
            <a:ext cx="103327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Flows, agents and data all live inside one environment. Power Automate and Copilot Studio must be pointed at the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same one, or your agent cannot see your flow. This is the single most common "where did it go?" in the course.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0 — Environment Setup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Copilot Studio Training (Developer) environment  ·  Power Platform admin centre  ·  40 min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507022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Every Flow Is the Same Four Parts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TRIGGER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what starts it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3134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 the work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ACTION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do more work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outputs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828800"/>
            <a:ext cx="2393441" cy="12801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83664"/>
            <a:ext cx="2283713" cy="11704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OUTPUT</a:t>
            </a:r>
          </a:p>
          <a:p>
            <a:pPr algn="ctr"/>
            <a:r>
              <a:rPr sz="1400" b="1">
                <a:solidFill>
                  <a:srgbClr val="161B26"/>
                </a:solidFill>
                <a:latin typeface="Arial"/>
              </a:rPr>
              <a:t>notify or return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383280"/>
            <a:ext cx="1083564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161B26"/>
                </a:solidFill>
                <a:latin typeface="Arial"/>
              </a:rPr>
              <a:t>Every flow, in every lab, is this shape. Only the trigger and the actions change.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58368" y="3886200"/>
            <a:ext cx="82296" cy="16916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877824" y="40690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77824" y="40690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08176" y="401421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One trigger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8970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flow has exactly one trigger. Change the trigger and you have a different flow — the actions may not change at 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06824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306824" y="3886200"/>
            <a:ext cx="82296" cy="16916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4526280" y="406908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26280" y="40690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401421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Actions are ordered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62856" y="448970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Each action runs after the one above it, and can read the outputs of every step before it.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80" y="3886200"/>
            <a:ext cx="3392424" cy="16916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955280" y="3886200"/>
            <a:ext cx="82296" cy="16916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174736" y="406908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174736" y="40690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401421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Dynamic content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11312" y="4489704"/>
            <a:ext cx="2898648" cy="9601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Those earlier outputs are inserted as tokens, not typed. A typed value is a constant that will be wrong tomorrow.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5724144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4400" y="5724144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Trigger, actions, outputs. Learn this once in Lab 1 and every later lab is a variation.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836445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Triggers — What Is Allowed to Start a Process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657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Four trigger families. The one you choose is a statement about who or what is allowed to start the process.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057400"/>
            <a:ext cx="2487168" cy="47548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Manual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 person presses Run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Instant cloud flow · button in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the mobile app or Teams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15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401568" y="2057400"/>
            <a:ext cx="2487168" cy="475488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015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Scheduled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 clock reaches a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Recurrence — set the time zone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or it runs on UTC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44768" y="2057400"/>
            <a:ext cx="2487168" cy="47548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447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Automated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An event happens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in a 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New form response · new email ·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new SharePoint item · new file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87968" y="2057400"/>
            <a:ext cx="2487168" cy="27432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87968" y="2057400"/>
            <a:ext cx="2487168" cy="47548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887968" y="2057400"/>
            <a:ext cx="2487168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2651760"/>
            <a:ext cx="2157984" cy="6400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Something calls in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from outside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3337560"/>
            <a:ext cx="2157984" cy="13258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HTTP request received ·</a:t>
            </a:r>
          </a:p>
          <a:p>
            <a:pPr algn="ctr"/>
            <a:r>
              <a:rPr sz="1000" b="0">
                <a:solidFill>
                  <a:srgbClr val="5B6372"/>
                </a:solidFill>
                <a:latin typeface="Arial"/>
              </a:rPr>
              <a:t>When an agent calls the workflow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17720"/>
            <a:ext cx="10835640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" y="4617720"/>
            <a:ext cx="438912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Trigger used in this course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58383" y="4617720"/>
            <a:ext cx="182880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70064" y="4617720"/>
            <a:ext cx="406908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4965192"/>
            <a:ext cx="10835640" cy="33147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6384" y="496519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Automated — new form response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58383" y="496519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1, 2,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70064" y="496519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business event starts the process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5296662"/>
            <a:ext cx="10835640" cy="33147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6384" y="529666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Request — HTTP request received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58383" y="529666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6, 7, 8, 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0064" y="529666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website posts JSON and waits for JSON back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5628132"/>
            <a:ext cx="10835640" cy="33147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6384" y="562813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Request — when an agent calls the workflow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8383" y="562813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Labs 4, 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0064" y="562813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conversation decides to call a tool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959602"/>
            <a:ext cx="10835640" cy="33147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6384" y="5959602"/>
            <a:ext cx="438912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Scheduled / Manual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58383" y="5959602"/>
            <a:ext cx="182880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Reference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70064" y="5959602"/>
            <a:ext cx="4069080" cy="33147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clock, or a person, starts it deliberately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491809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Actions — The Six Families You Will 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An action either moves data, decides something, waits for a person, or calls something outside the 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1965960"/>
            <a:ext cx="82296" cy="17830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Data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423160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Compose · Parse JSON · Initialize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variable · Select · Filter array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3154680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Shape and normalise values before anything trusts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06824" y="1965960"/>
            <a:ext cx="82296" cy="178308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2057400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Connector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2423160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Send an email (Outlook) · Add a row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(Excel) · Create item (SharePoint)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44568" y="3154680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Do the real work in a business 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55280" y="1965960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955280" y="1965960"/>
            <a:ext cx="82296" cy="178308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93024" y="2057400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Control 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93024" y="2423160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Condition · Switch · Apply to each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Scope · Terminate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3154680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Decide which path the run takes.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58368" y="3904487"/>
            <a:ext cx="82296" cy="178308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6112" y="3995927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Human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4361687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Start and wait for an approval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Human review (agent flows)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5093207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Suspend the run until a person responds.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06824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306824" y="3904487"/>
            <a:ext cx="82296" cy="178308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44568" y="3995927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Integration 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4568" y="4361687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HTTP · Response · Invoke another flow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Run a prompt (AI Builder)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44568" y="5093207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Reach outside the Power Platform, or answer the caller.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904487"/>
            <a:ext cx="3392424" cy="178308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955280" y="3904487"/>
            <a:ext cx="82296" cy="178308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93024" y="3995927"/>
            <a:ext cx="30175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Agent actions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93024" y="4361687"/>
            <a:ext cx="3017520" cy="65836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Agent node · Respond to the agent ·</a:t>
            </a:r>
          </a:p>
          <a:p>
            <a:pPr algn="l"/>
            <a:r>
              <a:rPr sz="1000" b="0">
                <a:solidFill>
                  <a:srgbClr val="161B26"/>
                </a:solidFill>
                <a:latin typeface="Arial"/>
              </a:rPr>
              <a:t>structured output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3024" y="5093207"/>
            <a:ext cx="3017520" cy="5486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Let the model decide, inside a flow that does not.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724144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724144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You will use every one of these families by the end of Lab 10.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4931305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Dynamic Content — The Token, Not the Text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Trigger runs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534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produces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Outputs exist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5341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picker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Later action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references them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5341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resolved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05156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94183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Value arrives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at run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108960"/>
            <a:ext cx="5303520" cy="19659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3218688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✓  INSERTED WITH THE PICKER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584448"/>
            <a:ext cx="4846320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value renders as a coloured token. It resolves at run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time to whatever the earlier step actually produced.</a:t>
            </a:r>
          </a:p>
          <a:p>
            <a:pPr algn="l"/>
            <a:endParaRPr sz="12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Every dynamic value in every lab is inserted this way.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108960"/>
            <a:ext cx="5303520" cy="19659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3218688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✗  TYPED BY HAND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584448"/>
            <a:ext cx="4846320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It stays dead text. The flow runs green and the value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arrives empty — because a reference to nothing resolves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to empty, not to an error.</a:t>
            </a:r>
          </a:p>
          <a:p>
            <a:pPr algn="l"/>
            <a:endParaRPr sz="12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This costs more class time than any other single mistake.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green run is not a correct run. Open the run history and read what each step actually received.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 — Trigger and Actions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Form to email confirmation  ·  Power Automate + Microsoft Forms + Outlook  ·  40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1824928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Run History — The Only Honest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The run history is the only honest account of what happened. Every lab in this course is verified from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82296" cy="21031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77824" y="228600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Open the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My flows → the flow → Run history, or the Activity tab in an agent flow.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01568" y="2103120"/>
            <a:ext cx="82296" cy="210312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621024" y="228600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210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513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Read each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Expand a step to see its inputs and its outputs — what it was given, what it produced.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47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44768" y="2103120"/>
            <a:ext cx="82296" cy="210312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364224" y="228600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642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Find the empty 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 wrong answer usually traces to a step whose input was blank, not to a red error.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87968" y="2103120"/>
            <a:ext cx="2487168" cy="2103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887968" y="2103120"/>
            <a:ext cx="82296" cy="21031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9107424" y="228600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07424" y="228600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7776" y="2231136"/>
            <a:ext cx="1536192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Fix the reference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706624"/>
            <a:ext cx="1993392" cy="1371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Re-insert the token with the picker, republish, and run one test — one change per cycle.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526280"/>
            <a:ext cx="10835640" cy="12344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4645152"/>
            <a:ext cx="103327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THREE STATES THAT LOOK ALIKE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4992624"/>
            <a:ext cx="1033272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Succeeded with the right data  ·  Succeeded with empty data  ·  Still Running because it is waiting for a person.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Only the first is done. The second is the dangerous one — it looks exactly like success.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9536174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Order Matters — Commit Before You Confirm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The order of two actions is a business decision, not a technical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530352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LOG, THEN CONFIRM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Write the row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7472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Send the email</a:t>
            </a:r>
          </a:p>
        </p:txBody>
      </p:sp>
      <p:sp>
        <p:nvSpPr>
          <p:cNvPr id="13" name="Chevron 12"/>
          <p:cNvSpPr/>
          <p:nvPr/>
        </p:nvSpPr>
        <p:spPr>
          <a:xfrm>
            <a:off x="3218688" y="2788920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6112" y="3429000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the email fails, the enquiry is still on the register and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someone can chase it. You have a record of a missed reply.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0488" y="2057400"/>
            <a:ext cx="5303520" cy="22860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28232" y="2176272"/>
            <a:ext cx="48463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CONFIRM, THEN LOG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Send the email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2606040"/>
            <a:ext cx="2194560" cy="6858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006840" y="2606040"/>
            <a:ext cx="2194560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Write the row</a:t>
            </a:r>
          </a:p>
        </p:txBody>
      </p:sp>
      <p:sp>
        <p:nvSpPr>
          <p:cNvPr id="21" name="Chevron 20"/>
          <p:cNvSpPr/>
          <p:nvPr/>
        </p:nvSpPr>
        <p:spPr>
          <a:xfrm>
            <a:off x="8750808" y="2788920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28232" y="3429000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the row fails, you have promised a customer a reply that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nobody can see. The evidence of the promise is gone.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57200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57200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Commit the record of the obligation before you create the obligation. This is Lab 2 in one sentence.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95163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0 — The Shared Course Environment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One Copilot Studio Training (Developer) environment, with Dataverse and Copilot Credits, stands behind every later lab.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446208"/>
            <a:ext cx="10972800" cy="22947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0 — Environment Setup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Copilot Studio Training (Developer) environment  ·  Power Platform admin centre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9639115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 — Form to Email Confirmation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 trigger starts a flow; actions consume the trigger's outputs as dynamic content.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58835"/>
            <a:ext cx="10972800" cy="106951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 — Trigger and Actions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Form to email confirmation  ·  Power Automate + Microsoft Forms + Outlook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3659566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1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2 — Log the Enquiry, Then Send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Commit before you confirm — the audit row is written before the acknowledgement is sent.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43248"/>
            <a:ext cx="10972800" cy="90068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2 — Log to Excel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Log the enquiry, then send the email  ·  Power Automate + Excel Online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38927265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08A73"/>
                </a:solidFill>
                <a:latin typeface="Arial"/>
              </a:rPr>
              <a:t>MODULE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Control Flow and Human in the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Conditions and branching  ·  approvals  ·  in / on / out of the loop  ·  where the human belongs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611371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Conditions — Both Paths Must Exist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 condition splits one run into two paths. Both paths must be built — including the one you hope never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057400"/>
            <a:ext cx="3200400" cy="77724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0" y="2057400"/>
            <a:ext cx="3200400" cy="7772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Condition</a:t>
            </a:r>
          </a:p>
          <a:p>
            <a:pPr algn="ctr"/>
            <a:r>
              <a:rPr sz="1300" b="1">
                <a:solidFill>
                  <a:srgbClr val="161B26"/>
                </a:solidFill>
                <a:latin typeface="Arial"/>
              </a:rPr>
              <a:t>is the value X?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8960" y="3063240"/>
            <a:ext cx="310896" cy="365760"/>
          </a:xfrm>
          <a:prstGeom prst="downArrow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Down Arrow 9"/>
          <p:cNvSpPr/>
          <p:nvPr/>
        </p:nvSpPr>
        <p:spPr>
          <a:xfrm>
            <a:off x="8732520" y="3063240"/>
            <a:ext cx="310896" cy="365760"/>
          </a:xfrm>
          <a:prstGeom prst="downArrow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280160" y="3456432"/>
            <a:ext cx="411480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08760" y="3511296"/>
            <a:ext cx="365760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845B"/>
                </a:solidFill>
                <a:latin typeface="Arial"/>
              </a:rPr>
              <a:t>IF 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785615"/>
            <a:ext cx="365760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approved path. Continue the business process.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3456432"/>
            <a:ext cx="411480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95160" y="3511296"/>
            <a:ext cx="365760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C2413A"/>
                </a:solidFill>
                <a:latin typeface="Arial"/>
              </a:rPr>
              <a:t>IF 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3785615"/>
            <a:ext cx="3657600" cy="56692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rejected path. Notify, record and stop — never fall silent.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4553712"/>
            <a:ext cx="10835640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" y="4553712"/>
            <a:ext cx="219456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Control 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3824" y="4553712"/>
            <a:ext cx="310896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does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4553712"/>
            <a:ext cx="4983480" cy="3474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Example in this course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4901184"/>
            <a:ext cx="10835640" cy="34747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86384" y="4901184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Condition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63824" y="4901184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One test, two branches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4901184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Approved or rejected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5248656"/>
            <a:ext cx="10835640" cy="347471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6384" y="5248656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Switch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824" y="5248656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One value, many branches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5248656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Leave type: Annual / Medical / Unpaid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5596128"/>
            <a:ext cx="10835640" cy="347471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6384" y="5596128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Apply to each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63824" y="5596128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Repeat actions over a list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5596128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Every row returned by a lookup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5943600"/>
            <a:ext cx="10835640" cy="347471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86384" y="5943600"/>
            <a:ext cx="21945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Terminate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5943600"/>
            <a:ext cx="310896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End the run deliberately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5943600"/>
            <a:ext cx="4983480" cy="3474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Stop with a status a reader can interpret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34039718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Human In, On, and Out of the 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Three arrangements that people use interchangeably, and that are not the same thing.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11680"/>
            <a:ext cx="26151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Pattern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39312" y="2011680"/>
            <a:ext cx="243230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Who decides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91072" y="2011680"/>
            <a:ext cx="266090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Who 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71432" y="2011680"/>
            <a:ext cx="224942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Can AI proceed alone?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2468880"/>
            <a:ext cx="10835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04672" y="2468880"/>
            <a:ext cx="261518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Human IN the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468880"/>
            <a:ext cx="24323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proposes, human decides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91072" y="2468880"/>
            <a:ext cx="26609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Human authorises, system acts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1432" y="2468880"/>
            <a:ext cx="224942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it blocks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3127248"/>
            <a:ext cx="10835640" cy="658368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3127248"/>
            <a:ext cx="261518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Human ON the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39312" y="3127248"/>
            <a:ext cx="24323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decides and acts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1072" y="3127248"/>
            <a:ext cx="26609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Human monitors, can intervene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3127248"/>
            <a:ext cx="224942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Yes — after the fact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785616"/>
            <a:ext cx="10835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785616"/>
            <a:ext cx="261518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5B6372"/>
                </a:solidFill>
                <a:latin typeface="Arial"/>
              </a:rPr>
              <a:t>Human OUT of the 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312" y="3785616"/>
            <a:ext cx="24323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decides and acts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3785616"/>
            <a:ext cx="266090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AI acts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3785616"/>
            <a:ext cx="2249424" cy="65836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5B6372"/>
                </a:solidFill>
                <a:latin typeface="Arial"/>
              </a:rPr>
              <a:t>Yes — nobody checks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4617720"/>
            <a:ext cx="10835640" cy="93268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4400" y="4718304"/>
            <a:ext cx="103327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WHERE THIS COURSE PUTS THE HUMAN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992624"/>
            <a:ext cx="10332720" cy="40233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Lab 3 — a manager approves leave.   Lab 8 — a licensed adviser approves a draft before it is sent.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Labs 6, 7, 9 and 10 are deliberately out of the loop, so you can see what that costs.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41199773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How an Approval Suspends a Running 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Request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submitted</a:t>
            </a:r>
          </a:p>
        </p:txBody>
      </p:sp>
      <p:sp>
        <p:nvSpPr>
          <p:cNvPr id="8" name="Chevron 7"/>
          <p:cNvSpPr/>
          <p:nvPr/>
        </p:nvSpPr>
        <p:spPr>
          <a:xfrm>
            <a:off x="2553004" y="22219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60980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9620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64484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Start and wait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 an approval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4256" y="2221992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2232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pause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0873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5737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run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SUSPENDS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221992"/>
            <a:ext cx="274320" cy="310896"/>
          </a:xfrm>
          <a:prstGeom prst="chevron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63485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decision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66990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person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responds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2219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1473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resume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1783080"/>
            <a:ext cx="1830628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18243" y="1837943"/>
            <a:ext cx="1720900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Condition reads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Outcome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291840"/>
            <a:ext cx="5303520" cy="1371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340156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OUTCOME = APPROVE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3730752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Send the approval message, update the record and continue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business process.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3291840"/>
            <a:ext cx="5303520" cy="13716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340156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OUTCOME = REJECT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730752"/>
            <a:ext cx="48463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Send the rejection with the approver's comments, and route it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to a named person — never to silence.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773168"/>
            <a:ext cx="10835640" cy="74980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828032"/>
            <a:ext cx="103327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SEND APPROVALS TO TEAMS, NOT OUTLOOK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102352"/>
            <a:ext cx="10332720" cy="3840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Verified on a live tenant: Outlook created the request and never delivered the mail — the run sat at Running, looking healthy.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Every human gate in these labs uses the Microsoft Teams Approvals app.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3976227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2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 running flow suspends at the approval action and branches on the human decision.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726441"/>
            <a:ext cx="10972799" cy="173430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3 — Leave Application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flow pauses for a manager  ·  Power Automate + Approvals + Outlook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3328222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Copilot Studio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new Copilot Studio — model, harness, designer  ·  workflow versus agent  ·  instructions, skills, knowledge, tools  ·  what is enforced  ·  publishing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Labs 4, 4b, 5 and 5b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3955829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Workflow or Agent — They Fail Differently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5303520" cy="35661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5303520" cy="5303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691640"/>
            <a:ext cx="5303520" cy="5303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WORKFLOW  —  Power Automate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decide the path in advance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907792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The same input always gives the same output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438144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can only do what you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68496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fails loudly, at a named step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498848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test it by checking the result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1691640"/>
            <a:ext cx="5303520" cy="356616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0488" y="1691640"/>
            <a:ext cx="5303520" cy="53035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0488" y="1691640"/>
            <a:ext cx="5303520" cy="53035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AGENT  —  Copilot Studio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377440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chooses the path at run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07792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The same input may give a different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38144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can combine what it was given in new ways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968496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It fails quietly, with a confident wrong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498848"/>
            <a:ext cx="475488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•  You test it by trying to break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44068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544068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Use a workflow where the rule is known. Use an agent where the language varies. Most real systems need both.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016752"/>
            <a:ext cx="1083564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0">
                <a:solidFill>
                  <a:srgbClr val="5B6372"/>
                </a:solidFill>
                <a:latin typeface="Arial"/>
              </a:rPr>
              <a:t>Labs 1–3 are pure workflow. Labs 4–5 are pure agent. Labs 6–10 are both, and the seam between them is the lesson.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304567559"/>
      </p:ext>
    </p:extLst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New Copilot Studio — a Model Inside a Harness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10835640" cy="2926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Copilot Studio now separates the part that reasons from the part that governs. Two ideas name that split.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83664"/>
            <a:ext cx="5303520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883664"/>
            <a:ext cx="82296" cy="157276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066544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066544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011680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6D3FD2"/>
                </a:solidFill>
                <a:latin typeface="Arial"/>
              </a:rPr>
              <a:t>The AI model — the brain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87168"/>
            <a:ext cx="4809744" cy="84124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reasoning engine. It understands language, spots patterns, generates content and decides what to do next. You choose it per agent — GPT-5.x or Claude — from the Model dropdown.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883664"/>
            <a:ext cx="5303520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1883664"/>
            <a:ext cx="82296" cy="15727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9944" y="2066544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2066544"/>
            <a:ext cx="420624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0296" y="2011680"/>
            <a:ext cx="4352544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The harness — around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487168"/>
            <a:ext cx="4809744" cy="84124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The orchestration layer the model works inside: context, tools, governance, workflows and security. The harness is model-agnostic — it turns reasoning into governed work.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602736"/>
            <a:ext cx="1083564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5B6372"/>
                </a:solidFill>
                <a:latin typeface="Arial"/>
              </a:rPr>
              <a:t>ONE MODEL, THREE HARNESSES IT CAN WORK INSIDE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913632"/>
            <a:ext cx="3429000" cy="148132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3913632"/>
            <a:ext cx="82296" cy="148132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041648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GitHub Copilot harness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517136"/>
            <a:ext cx="2935224" cy="7498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Reasoning-heavy agents and workflows. Takes a goal, breaks it into steps, uses skills and memory, edits files in a governed sandbox. Billed in Copilot Credits.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61688" y="3913632"/>
            <a:ext cx="3429000" cy="148132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61688" y="3913632"/>
            <a:ext cx="82296" cy="1481328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4041648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Standard harness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4517136"/>
            <a:ext cx="2935224" cy="7498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Rule-based agents and structured, repeatable conversations. You author the topics and paths, so the behaviour is predictable for well-understood requests.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3913632"/>
            <a:ext cx="3429000" cy="148132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5008" y="3913632"/>
            <a:ext cx="82296" cy="1481328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4041648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Copilot chat harness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517136"/>
            <a:ext cx="2935224" cy="7498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B6372"/>
                </a:solidFill>
                <a:latin typeface="Arial"/>
              </a:rPr>
              <a:t>Extends Microsoft 365 Copilot Chat with your enterprise knowledge, so employees get grounded answers inside the chat they already use.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Everything you build in Labs 4–10 is a model you chose, inside a harness you configure.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Choosing a Harness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27632"/>
            <a:ext cx="10835640" cy="42062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" y="1627632"/>
            <a:ext cx="1645920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Consideration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5184" y="1627632"/>
            <a:ext cx="3108960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GitHub Copilot harness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7024" y="1627632"/>
            <a:ext cx="2788920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Standard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78824" y="1627632"/>
            <a:ext cx="2560320" cy="42062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Copilot chat harness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048256"/>
            <a:ext cx="108356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048256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15184" y="2048256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Complex, multi-step business processes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7024" y="2048256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Rule-based agents, structured conversations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78824" y="2048256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Extending M365 Copilot Chat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2560320"/>
            <a:ext cx="10835640" cy="51206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2560320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How it works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5184" y="2560320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Reasons through a goal, step by step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07024" y="2560320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Follows the topics and rules you define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78824" y="2560320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Connects enterprise knowledge to chat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3072384"/>
            <a:ext cx="108356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3072384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When a step fails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15184" y="3072384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Retries, or finds another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7024" y="3072384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Follows only the paths you built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78824" y="3072384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584448"/>
            <a:ext cx="10835640" cy="51206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" y="3584448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Works with files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15184" y="3584448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Creates and edits Word, Excel, PowerPoint, PDF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7024" y="3584448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78824" y="3584448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4096512"/>
            <a:ext cx="108356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" y="4096512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Skills and memory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15184" y="4096512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Yes — core building blocks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07024" y="4096512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78824" y="4096512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 a focus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4608576"/>
            <a:ext cx="10835640" cy="51206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6384" y="4608576"/>
            <a:ext cx="1645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Billing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15184" y="4608576"/>
            <a:ext cx="310896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Copilot Credits — you pay for usage when you build and when you publish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07024" y="4608576"/>
            <a:ext cx="27889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Copilot Studio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78824" y="4608576"/>
            <a:ext cx="2560320" cy="51206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Consumption, or M365 Copilot seats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Start with the simplest harness that meets the need — a retrieval agent that only answers from documents does not need the reasoning loop.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Modern Orchestration — the Loop Replaces the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10835640" cy="2926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standard harness builds a plan, then runs it. The GitHub Copilot harness keeps deciding from the latest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83664"/>
            <a:ext cx="5303520" cy="28346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993392"/>
            <a:ext cx="4937760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STANDARD — PLAN, THEN EXECUTE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" y="2395728"/>
            <a:ext cx="1481328" cy="76809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432304"/>
            <a:ext cx="1408176" cy="6949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1. INTENT</a:t>
            </a:r>
          </a:p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understand</a:t>
            </a:r>
          </a:p>
        </p:txBody>
      </p:sp>
      <p:sp>
        <p:nvSpPr>
          <p:cNvPr id="11" name="Chevron 10"/>
          <p:cNvSpPr/>
          <p:nvPr/>
        </p:nvSpPr>
        <p:spPr>
          <a:xfrm>
            <a:off x="2404872" y="2651760"/>
            <a:ext cx="182880" cy="256032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96896" y="2395728"/>
            <a:ext cx="1481328" cy="76809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432304"/>
            <a:ext cx="1408176" cy="6949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2. PLAN</a:t>
            </a:r>
          </a:p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synthesise steps</a:t>
            </a:r>
          </a:p>
        </p:txBody>
      </p:sp>
      <p:sp>
        <p:nvSpPr>
          <p:cNvPr id="14" name="Chevron 13"/>
          <p:cNvSpPr/>
          <p:nvPr/>
        </p:nvSpPr>
        <p:spPr>
          <a:xfrm>
            <a:off x="4105656" y="2651760"/>
            <a:ext cx="182880" cy="256032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297680" y="2395728"/>
            <a:ext cx="1481328" cy="76809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34256" y="2432304"/>
            <a:ext cx="1408176" cy="6949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3. EXECUTE</a:t>
            </a:r>
          </a:p>
          <a:p>
            <a:pPr algn="ctr"/>
            <a:r>
              <a:rPr sz="1050" b="1">
                <a:solidFill>
                  <a:srgbClr val="161B26"/>
                </a:solidFill>
                <a:latin typeface="Arial"/>
              </a:rPr>
              <a:t>run the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3346704"/>
            <a:ext cx="4937760" cy="12801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An explicit plan object: collect inputs, execute actions, summarise. Less live replanning and easier to inspect — but a detour or a failed step ends the plan.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1883664"/>
            <a:ext cx="5303520" cy="28346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91656" y="1993392"/>
            <a:ext cx="4937760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GITHUB COPILOT — THOUGHT · ACTION · OBSERVATION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46520" y="23957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2395728"/>
            <a:ext cx="14173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THOUGHT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23957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06840" y="2395728"/>
            <a:ext cx="14173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33101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06840" y="3310128"/>
            <a:ext cx="14173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OBSERVE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6520" y="3310128"/>
            <a:ext cx="1417320" cy="56692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3310128"/>
            <a:ext cx="14173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DECIDE</a:t>
            </a:r>
          </a:p>
        </p:txBody>
      </p:sp>
      <p:sp>
        <p:nvSpPr>
          <p:cNvPr id="28" name="Chevron 27"/>
          <p:cNvSpPr/>
          <p:nvPr/>
        </p:nvSpPr>
        <p:spPr>
          <a:xfrm>
            <a:off x="8211312" y="2551176"/>
            <a:ext cx="457200" cy="256032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wn Arrow 28"/>
          <p:cNvSpPr/>
          <p:nvPr/>
        </p:nvSpPr>
        <p:spPr>
          <a:xfrm>
            <a:off x="9601200" y="2999232"/>
            <a:ext cx="237744" cy="274320"/>
          </a:xfrm>
          <a:prstGeom prst="downArrow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Left Arrow 29"/>
          <p:cNvSpPr/>
          <p:nvPr/>
        </p:nvSpPr>
        <p:spPr>
          <a:xfrm>
            <a:off x="8211312" y="3465576"/>
            <a:ext cx="457200" cy="237744"/>
          </a:xfrm>
          <a:prstGeom prst="leftArrow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Up Arrow 30"/>
          <p:cNvSpPr/>
          <p:nvPr/>
        </p:nvSpPr>
        <p:spPr>
          <a:xfrm>
            <a:off x="7040880" y="2999232"/>
            <a:ext cx="237744" cy="274320"/>
          </a:xfrm>
          <a:prstGeom prst="upArrow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82127" y="2670048"/>
            <a:ext cx="1097280" cy="8229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000" b="1">
                <a:solidFill>
                  <a:srgbClr val="6D3FD2"/>
                </a:solidFill>
                <a:latin typeface="Arial"/>
              </a:rPr>
              <a:t>latest</a:t>
            </a:r>
          </a:p>
          <a:p>
            <a:pPr algn="ctr"/>
            <a:r>
              <a:rPr sz="1000" b="1">
                <a:solidFill>
                  <a:srgbClr val="6D3FD2"/>
                </a:solidFill>
                <a:latin typeface="Arial"/>
              </a:rPr>
              <a:t>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1656" y="4041648"/>
            <a:ext cx="4937760" cy="58521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5B6372"/>
                </a:solidFill>
                <a:latin typeface="Arial"/>
              </a:rPr>
              <a:t>Reason over the latest state, call a tool, read the result, choose the next step live. It retries or reroutes on failure, and picks the task back up after a detour.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864608"/>
            <a:ext cx="10835640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What the loop buys: fewer, smarter questions (it infers what it already knows) · handles detours without losing the task · chains and parallelises tools · recovers from errors instead of surfacing them.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loop fits problem spaces you cannot map upfront. Where the path is known, that freedom is cost, not value — keep it in a workflow.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New Agent Designer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i_agent_desig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5104" y="1572768"/>
            <a:ext cx="8229600" cy="2862469"/>
          </a:xfrm>
          <a:prstGeom prst="rect">
            <a:avLst/>
          </a:prstGeom>
          <a:ln w="15240">
            <a:solidFill>
              <a:srgbClr val="D7E0EA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658368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4590288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7824" y="4645152"/>
            <a:ext cx="220370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One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937760"/>
            <a:ext cx="220370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Skills, Tools, Knowledge, Connected agents and Memory, all on one rail.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29000" y="4590288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4645152"/>
            <a:ext cx="220370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Four tabs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4937760"/>
            <a:ext cx="220370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Build · Preview · Evaluate · Monitor — author, probe, score, then watch it live.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9631" y="4590288"/>
            <a:ext cx="82296" cy="859536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7" y="4645152"/>
            <a:ext cx="220370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Model picker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7" y="4937760"/>
            <a:ext cx="220370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GPT-5.x or Claude, chosen per agent — the harness stays the same.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70264" y="4590288"/>
            <a:ext cx="260604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70264" y="4590288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4645152"/>
            <a:ext cx="220370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Memory (preview)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4937760"/>
            <a:ext cx="220370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Per-user remembered context. A maker toggle — off means unused.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Everything Lab 4 builds — instructions, skills, knowledge, tools — has a single home in this designer.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Anatomy of an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343400" y="2880360"/>
            <a:ext cx="3474720" cy="1188720"/>
          </a:xfrm>
          <a:prstGeom prst="roundRect">
            <a:avLst/>
          </a:prstGeom>
          <a:solidFill>
            <a:srgbClr val="F5F8FC"/>
          </a:solidFill>
          <a:ln w="279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43400" y="2880360"/>
            <a:ext cx="3474720" cy="11887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6D3FD2"/>
                </a:solidFill>
                <a:latin typeface="Arial"/>
              </a:rPr>
              <a:t>THE AGENT</a:t>
            </a:r>
          </a:p>
          <a:p>
            <a:pPr algn="ctr"/>
            <a:r>
              <a:rPr sz="1500" b="1">
                <a:solidFill>
                  <a:srgbClr val="6D3FD2"/>
                </a:solidFill>
                <a:latin typeface="Arial"/>
              </a:rPr>
              <a:t>name · model · description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70078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INSTRUCTIONS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2029968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Who it is and what it must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never do. Always in force.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1627632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170078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SKILLS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9944" y="2029968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Named procedures, applied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when the topic matches.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206240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7824" y="4279392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KNOWLEDGE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608576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Documents it may read.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cannot read anything else.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0488" y="4206240"/>
            <a:ext cx="5303520" cy="109728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9944" y="4279392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4608576"/>
            <a:ext cx="4846320" cy="6400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Flows it can call to act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outside the conversation.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266944"/>
            <a:ext cx="1083564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A fifth part — CONNECTED AGENTS — lets one agent hand a conversation to another with its own knowledge and audience.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1126171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Which Parts of an Agent Hold — and Which Do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500" b="0">
                <a:solidFill>
                  <a:srgbClr val="161B26"/>
                </a:solidFill>
                <a:latin typeface="Arial"/>
              </a:rPr>
              <a:t>The spine of Lab 4: which of an agent's five parts can the model ignore?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011680"/>
            <a:ext cx="10835640" cy="43891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2011680"/>
            <a:ext cx="2249424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3552" y="2011680"/>
            <a:ext cx="4352544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What it 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5552" y="2011680"/>
            <a:ext cx="3575304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Enforced?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45059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245059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Instructions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73552" y="245059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Who the agent is, always in force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5552" y="245059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probabilistic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999232"/>
            <a:ext cx="10835640" cy="54864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299923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Skill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299923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named procedure for a matching topic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45552" y="299923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NO — the model decides it applies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54787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54787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Knowledge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73552" y="354787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Documents the agent may read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45552" y="354787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PARTLY — it cannot read what it lacks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096512"/>
            <a:ext cx="10835640" cy="54864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409651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Tool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73552" y="409651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flow that acts outside the conversation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409651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YES — the flow's own logic is enforced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645152"/>
            <a:ext cx="108356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4645152"/>
            <a:ext cx="224942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Connected agent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73552" y="4645152"/>
            <a:ext cx="435254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separate agent, its own knowledge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45552" y="4645152"/>
            <a:ext cx="3575304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YES — the knowledge boundary is real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1206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1206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control the model cannot reach beats a rule you asked it to follow.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742432"/>
            <a:ext cx="10835640" cy="54864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" y="5742432"/>
            <a:ext cx="10332720" cy="54864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So: a tool the agent does NOT have is a control. And the schema beats the prompt — a field that exists will eventually be filled.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214800034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Writing Instructions That Constrain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54480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Instructions are prose, but they are not free text. Four things every agent instruction in this course states.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057400"/>
            <a:ext cx="82296" cy="14630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77824" y="224028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77824" y="22402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8176" y="21854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F6FEB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60904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"You are an HR policy information assistant."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One role, stated in one 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749039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58368" y="3749039"/>
            <a:ext cx="82296" cy="146304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77824" y="3931919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77824" y="3931919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08176" y="3877055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08A73"/>
                </a:solidFill>
                <a:latin typeface="Arial"/>
              </a:rPr>
              <a:t>Source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52543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"Answer using only the approved SharePoint HR policy source."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facts may come from.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2057400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90488" y="2057400"/>
            <a:ext cx="82296" cy="146304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9944" y="224028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9944" y="224028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2185416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C2413A"/>
                </a:solidFill>
                <a:latin typeface="Arial"/>
              </a:rPr>
              <a:t>Refusals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2660904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"Do not expose, request or infer personal employee records."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Stated as prohibitions, not preferences.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0488" y="3749039"/>
            <a:ext cx="5303520" cy="146304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190488" y="3749039"/>
            <a:ext cx="82296" cy="14630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6409944" y="3931919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09944" y="3931919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0296" y="3877055"/>
            <a:ext cx="4352544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600" b="1">
                <a:solidFill>
                  <a:srgbClr val="16845B"/>
                </a:solidFill>
                <a:latin typeface="Arial"/>
              </a:rPr>
              <a:t>Escalation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4352543"/>
            <a:ext cx="4809744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"When the source is insufficient, say so and direct the user to HR."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Where the conversation ends when it cannot continue.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413248"/>
            <a:ext cx="10835640" cy="86868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468112"/>
            <a:ext cx="103327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NEVER PASTE @{...} INTO AN INSTRUCTIONS BOX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742432"/>
            <a:ext cx="10332720" cy="47548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is a rich-text editor: it escapes underscores in node names, and a reference to a node that does not exist resolves to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EMPTY rather than erroring. Build the prose with gaps and insert every value with the ⚡ picker.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1090452348"/>
      </p:ext>
    </p:extLst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Skills — Instructions on Demand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00784"/>
            <a:ext cx="2377440" cy="96926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237744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5B6372"/>
                </a:solidFill>
                <a:latin typeface="Arial"/>
              </a:rPr>
              <a:t>TOPICS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139696"/>
            <a:ext cx="237744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50" b="0">
                <a:solidFill>
                  <a:srgbClr val="5B6372"/>
                </a:solidFill>
                <a:latin typeface="Arial"/>
              </a:rPr>
              <a:t>authored conversational paths —</a:t>
            </a:r>
          </a:p>
          <a:p>
            <a:pPr algn="ctr"/>
            <a:r>
              <a:rPr sz="950" b="0">
                <a:solidFill>
                  <a:srgbClr val="5B6372"/>
                </a:solidFill>
                <a:latin typeface="Arial"/>
              </a:rPr>
              <a:t>the legacy way to build chatbots</a:t>
            </a:r>
          </a:p>
        </p:txBody>
      </p:sp>
      <p:sp>
        <p:nvSpPr>
          <p:cNvPr id="9" name="Chevron 8"/>
          <p:cNvSpPr/>
          <p:nvPr/>
        </p:nvSpPr>
        <p:spPr>
          <a:xfrm>
            <a:off x="3182112" y="2011680"/>
            <a:ext cx="457200" cy="365760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85615" y="1700784"/>
            <a:ext cx="2377440" cy="969264"/>
          </a:xfrm>
          <a:prstGeom prst="roundRect">
            <a:avLst/>
          </a:prstGeom>
          <a:solidFill>
            <a:srgbClr val="6D3FD2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85615" y="1792224"/>
            <a:ext cx="2377440" cy="3657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SKILLS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5615" y="2139696"/>
            <a:ext cx="237744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reusable procedures, loaded</a:t>
            </a:r>
          </a:p>
          <a:p>
            <a:pPr algn="ctr"/>
            <a:r>
              <a:rPr sz="950" b="0">
                <a:solidFill>
                  <a:srgbClr val="FFFFFF"/>
                </a:solidFill>
                <a:latin typeface="Arial"/>
              </a:rPr>
              <a:t>when the scenario matches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00784"/>
            <a:ext cx="4983480" cy="10058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Topics were built for scripted chatbots — not for how these models think. A skill gives the agent a specific, repeatable task and the material to carry it out.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962656"/>
            <a:ext cx="3429000" cy="23317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962656"/>
            <a:ext cx="82296" cy="233172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090672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What a skill 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66160"/>
            <a:ext cx="2935224" cy="1600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Name + description are the routing metadata; the instructions are the core, with examples, resources and scripts alongside. Metadata sits in context — the full content loads only when the scenario fires.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1688" y="2962656"/>
            <a:ext cx="3429000" cy="23317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61688" y="2962656"/>
            <a:ext cx="82296" cy="23317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7720" y="3090672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Why it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3566160"/>
            <a:ext cx="2935224" cy="1600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instruction page stays short and readable, and context loads on demand. A large always-on prompt makes the model weigh irrelevant guidance on every turn.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2962656"/>
            <a:ext cx="3429000" cy="23317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65008" y="2962656"/>
            <a:ext cx="82296" cy="233172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090672"/>
            <a:ext cx="2953512" cy="40233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What to avoid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566160"/>
            <a:ext cx="2935224" cy="1600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Vague descriptions (the skill mis-fires or never triggers) · mega-skills that do everything · fact dumps — a skill guides, it does not replace a knowledge source.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skill is still not enforced — the model decides that it applies. The enforcement table you just saw is unchanged.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Knowledge — Giving Facts and Removing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Documents in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SharePoint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991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point at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Attached as a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knowledge source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991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wait for Ready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Indexed by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the product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9913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5087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at run time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83080"/>
            <a:ext cx="2393441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837943"/>
            <a:ext cx="2283713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Retrieved when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question matches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58368" y="3218688"/>
            <a:ext cx="82296" cy="157276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877824" y="3401568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7824" y="3401568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08176" y="3346704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It is a boundary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3822192"/>
            <a:ext cx="2898648" cy="8412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agent genuinely cannot read a document you did not give it. This is the one part of the agent that is close to enforced.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06824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06824" y="3218688"/>
            <a:ext cx="82296" cy="1572768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4526280" y="3401568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26280" y="3401568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56632" y="3346704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Turn off general knowledge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62856" y="3822192"/>
            <a:ext cx="2898648" cy="8412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Otherwise the model answers from what it learned in training, and you cannot tell which answers those were.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55280" y="3218688"/>
            <a:ext cx="3392424" cy="157276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955280" y="3218688"/>
            <a:ext cx="82296" cy="1572768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8174736" y="3401568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174736" y="3401568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05088" y="3346704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Remove "Search all websites"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11312" y="3822192"/>
            <a:ext cx="2898648" cy="84124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It is on by default. A fee from the open web is indistinguishable from a fee in your own brochure.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Grounding is not only about giving the agent facts. It is about taking away every other source of them.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9 — RAG with Knowledge Base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Cook &amp; Bake Academy, built-in knowledge  ·  Copilot Studio Knowledge + SharePoint  ·  40 min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12616571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Tools — Where the Agent Stops and the Flow Starts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User asks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for something</a:t>
            </a:r>
          </a:p>
        </p:txBody>
      </p:sp>
      <p:sp>
        <p:nvSpPr>
          <p:cNvPr id="8" name="Chevron 7"/>
          <p:cNvSpPr/>
          <p:nvPr/>
        </p:nvSpPr>
        <p:spPr>
          <a:xfrm>
            <a:off x="3115817" y="21762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923793" y="146303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intent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2433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527297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Agent decides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 tool applies</a:t>
            </a:r>
          </a:p>
        </p:txBody>
      </p:sp>
      <p:sp>
        <p:nvSpPr>
          <p:cNvPr id="12" name="Chevron 11"/>
          <p:cNvSpPr/>
          <p:nvPr/>
        </p:nvSpPr>
        <p:spPr>
          <a:xfrm>
            <a:off x="5929882" y="21762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37858" y="146303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typed inputs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6499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41363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Flow runs —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deterministic</a:t>
            </a:r>
          </a:p>
        </p:txBody>
      </p:sp>
      <p:sp>
        <p:nvSpPr>
          <p:cNvPr id="16" name="Chevron 15"/>
          <p:cNvSpPr/>
          <p:nvPr/>
        </p:nvSpPr>
        <p:spPr>
          <a:xfrm>
            <a:off x="8743948" y="217627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551924" y="146303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Respond to the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00565" y="1737360"/>
            <a:ext cx="2393441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55429" y="1792224"/>
            <a:ext cx="2283713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Result returns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to the conversation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3246120"/>
            <a:ext cx="5303520" cy="1828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96112" y="334670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THE AGENT'S PART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" y="3675887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Decides that a tool is relevant, and fills its inputs from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person said.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This part is probabilistic. It may call the wrong tool, or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call the right one with the wrong values.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0488" y="3246120"/>
            <a:ext cx="5303520" cy="1828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28232" y="3346704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THE FLOW'S PART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675887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Validates, looks up, applies the threshold, writes the audit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row, sends to the approver.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This part is enforced. Whatever the agent believed, the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flow's own logic still runs.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tool description is how the agent knows when to call it — write it for the model, not for a developer.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5895502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Multiple Agents — A Split Is a Governance Decision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One agent that knows everything has no boundaries. Splitting is how you give it some.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60" y="2011680"/>
            <a:ext cx="3200400" cy="86868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80560" y="2011680"/>
            <a:ext cx="320040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6D3FD2"/>
                </a:solidFill>
                <a:latin typeface="Arial"/>
              </a:rPr>
              <a:t>HR AGENT</a:t>
            </a:r>
          </a:p>
          <a:p>
            <a:pPr algn="ctr"/>
            <a:r>
              <a:rPr sz="1400" b="1">
                <a:solidFill>
                  <a:srgbClr val="6D3FD2"/>
                </a:solidFill>
                <a:latin typeface="Arial"/>
              </a:rPr>
              <a:t>the parent</a:t>
            </a:r>
          </a:p>
        </p:txBody>
      </p:sp>
      <p:sp>
        <p:nvSpPr>
          <p:cNvPr id="9" name="Down Arrow 8"/>
          <p:cNvSpPr/>
          <p:nvPr/>
        </p:nvSpPr>
        <p:spPr>
          <a:xfrm>
            <a:off x="1965960" y="3017520"/>
            <a:ext cx="274320" cy="329184"/>
          </a:xfrm>
          <a:prstGeom prst="downArrow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5156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Policy &amp;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Benefits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4572000" y="3017520"/>
            <a:ext cx="274320" cy="329184"/>
          </a:xfrm>
          <a:prstGeom prst="downArrow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65760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Leave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7178040" y="3017520"/>
            <a:ext cx="274320" cy="329184"/>
          </a:xfrm>
          <a:prstGeom prst="downArrow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26364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26364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Onboarding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784080" y="3017520"/>
            <a:ext cx="274320" cy="329184"/>
          </a:xfrm>
          <a:prstGeom prst="downArrow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869680" y="3474720"/>
            <a:ext cx="2103120" cy="9601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869680" y="3474720"/>
            <a:ext cx="2103120" cy="9601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Payroll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58368" y="4590288"/>
            <a:ext cx="82296" cy="96012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14400" y="4718304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Knowledge is separated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193792"/>
            <a:ext cx="2898648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Each child reads only its own documents. That boundary is real.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06824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306824" y="4590288"/>
            <a:ext cx="82296" cy="96012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62856" y="4718304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Conversation is not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62856" y="5193792"/>
            <a:ext cx="2898648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the employee said still flows across. Privacy is not automatic.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80" y="4590288"/>
            <a:ext cx="3392424" cy="96012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955280" y="4590288"/>
            <a:ext cx="82296" cy="96012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11312" y="4718304"/>
            <a:ext cx="2916936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A split is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5193792"/>
            <a:ext cx="2898648" cy="2286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are deciding who may know what — not tidying a big prompt.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  <p:extLst>
      <p:ext uri="{BB962C8B-B14F-4D97-AF65-F5344CB8AC3E}">
        <p14:creationId xmlns:p14="http://schemas.microsoft.com/office/powerpoint/2010/main" val="862407509"/>
      </p:ext>
    </p:extLst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Agent Settings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10835640" cy="2926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Every agent has a Settings page. Two of its switches decide how this course's agents behave — and neither takes effect until you save and publish.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6675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75104"/>
            <a:ext cx="274320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61B26"/>
                </a:solidFill>
                <a:latin typeface="Arial"/>
              </a:rPr>
              <a:t>Agent settings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384" y="2304288"/>
            <a:ext cx="6419088" cy="292608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F5F8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04288"/>
            <a:ext cx="6217920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5B6372"/>
                </a:solidFill>
                <a:latin typeface="Arial"/>
              </a:rPr>
              <a:t>ⓘ  Changes to settings take effect after you save and publish the agent.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761488"/>
            <a:ext cx="1691640" cy="3474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Agent details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" y="3182112"/>
            <a:ext cx="1874519" cy="347472"/>
          </a:xfrm>
          <a:prstGeom prst="round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6384" y="3182112"/>
            <a:ext cx="45720" cy="3474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3182112"/>
            <a:ext cx="1691640" cy="3474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AI &amp; behavior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3602736"/>
            <a:ext cx="1691640" cy="3474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Safety &amp; access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023360"/>
            <a:ext cx="1691640" cy="34747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Greeting &amp; prompts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8648" y="2724912"/>
            <a:ext cx="425196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AI &amp; behavior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2962655"/>
            <a:ext cx="4251960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Tune how the agent responds, reasons, and communicates.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98648" y="3255264"/>
            <a:ext cx="4251960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Orchestration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98648" y="3511296"/>
            <a:ext cx="425196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08376" y="3557016"/>
            <a:ext cx="352044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Allow other agents to connect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8376" y="3813048"/>
            <a:ext cx="3520440" cy="38404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Let other agents in your organization invoke this agent as a tool.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01968" y="3602736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830568" y="3630168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98648" y="4315968"/>
            <a:ext cx="4251960" cy="23774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50" b="1">
                <a:solidFill>
                  <a:srgbClr val="161B26"/>
                </a:solidFill>
                <a:latin typeface="Arial"/>
              </a:rPr>
              <a:t>Safety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98648" y="4572000"/>
            <a:ext cx="4251960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08376" y="4608576"/>
            <a:ext cx="306324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Moderation level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08376" y="4846320"/>
            <a:ext cx="30632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Controls how strictly responses are filtered for unsafe content.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6480" y="4727448"/>
            <a:ext cx="896112" cy="3108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99632" y="4727448"/>
            <a:ext cx="82296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00" b="0">
                <a:solidFill>
                  <a:srgbClr val="161B26"/>
                </a:solidFill>
                <a:latin typeface="Arial"/>
              </a:rPr>
              <a:t>Medium  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34656" y="1920240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534656" y="1920240"/>
            <a:ext cx="82296" cy="1060704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35824" y="1965960"/>
            <a:ext cx="359359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The toggle behind Labs 4 &amp; 4b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5824" y="2249424"/>
            <a:ext cx="3593592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A child agent can only be invoked as a connected agent while Allow other agents to connect is on. Manager cannot delegate to a child that has it off.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34656" y="3090672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34656" y="3090672"/>
            <a:ext cx="82296" cy="1060704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35824" y="3136392"/>
            <a:ext cx="359359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08A73"/>
                </a:solidFill>
                <a:latin typeface="Arial"/>
              </a:rPr>
              <a:t>Moderation is a platform control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35824" y="3419856"/>
            <a:ext cx="3593592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The moderation filter runs outside the model at the level you set — a structural control, not an instruction the agent could be talked out of.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534656" y="4261104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534656" y="4261104"/>
            <a:ext cx="82296" cy="1060704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35824" y="4306824"/>
            <a:ext cx="359359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Nothing bites until publish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35824" y="4590288"/>
            <a:ext cx="3593592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Settings changes apply only after save and publish. A changed setting that “does nothing” is usually just unpublished.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4b — Multi-Agent Content Team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Marketing Manager, Research, Blog and Review  ·  Copilot Studio connected agents  ·  60–75 min · optional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Publishing to Teams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Build and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save</a:t>
            </a:r>
          </a:p>
        </p:txBody>
      </p:sp>
      <p:sp>
        <p:nvSpPr>
          <p:cNvPr id="8" name="Chevron 7"/>
          <p:cNvSpPr/>
          <p:nvPr/>
        </p:nvSpPr>
        <p:spPr>
          <a:xfrm>
            <a:off x="2553004" y="22448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60980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probe 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09620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64484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Test in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Preview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4256" y="224485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12232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version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0873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5737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Publish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24485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63485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Teams / web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66990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Add a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channel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2448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14738" y="15544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verify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182880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18243" y="188366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Users reach it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 Teams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3383280"/>
            <a:ext cx="82296" cy="196596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77824" y="356616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7824" y="35661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5112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Preview is not published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986784"/>
            <a:ext cx="2898648" cy="12344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Changes are invisible to Teams users until you publish again. A stale answer in Teams usually means an unpublished edit.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6824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06824" y="3383280"/>
            <a:ext cx="82296" cy="196596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26280" y="356616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26280" y="35661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56632" y="35112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One change per cycle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3986784"/>
            <a:ext cx="2898648" cy="12344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Each publish-and-test cycle costs a publish plus about 25 seconds. Two simultaneous edits make a failure uninterpretable.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0" y="3383280"/>
            <a:ext cx="3392424" cy="19659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955280" y="3383280"/>
            <a:ext cx="82296" cy="19659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174736" y="356616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74736" y="356616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351129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Test as the user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1312" y="3986784"/>
            <a:ext cx="2898648" cy="12344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Open it from Teams with the account a real user would have — not from the maker's Preview pane.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 — Calling Agent from Workflow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Blog-writer agent flow  ·  Copilot Studio + M365 Copilot + Teams  ·  30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  <p:extLst>
      <p:ext uri="{BB962C8B-B14F-4D97-AF65-F5344CB8AC3E}">
        <p14:creationId xmlns:p14="http://schemas.microsoft.com/office/powerpoint/2010/main" val="1348817742"/>
      </p:ext>
    </p:extLst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Publishing an Agent — Channels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10835640" cy="29260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Publish makes a version live — a channel decides who can reach it. The publish dialog lists the channels; none of them serves your edits until you publish again.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20240"/>
            <a:ext cx="6675120" cy="340156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75104"/>
            <a:ext cx="310896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61B26"/>
                </a:solidFill>
                <a:latin typeface="Arial"/>
              </a:rPr>
              <a:t>Agent published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249424"/>
            <a:ext cx="384048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50" b="0">
                <a:solidFill>
                  <a:srgbClr val="16845B"/>
                </a:solidFill>
                <a:latin typeface="Arial"/>
              </a:rPr>
              <a:t>✓  Last published today, 7:46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" y="2596896"/>
            <a:ext cx="301752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660904"/>
            <a:ext cx="237744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Demo Website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26080"/>
            <a:ext cx="2514600" cy="40233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Shareable web link for anyone to use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" y="3456432"/>
            <a:ext cx="3017520" cy="7680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520440"/>
            <a:ext cx="237744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Web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85616"/>
            <a:ext cx="2514600" cy="40233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Embed your agent into a website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" y="4315968"/>
            <a:ext cx="3017520" cy="768096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79976"/>
            <a:ext cx="2377440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000" b="1">
                <a:solidFill>
                  <a:srgbClr val="161B26"/>
                </a:solidFill>
                <a:latin typeface="Arial"/>
              </a:rPr>
              <a:t>Teams + Microsoft 365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645152"/>
            <a:ext cx="2514600" cy="40233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Available in Copilot and Teams chats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11296" y="4407408"/>
            <a:ext cx="182880" cy="1828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93008" y="437997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5072" y="2633472"/>
            <a:ext cx="3145536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61B26"/>
                </a:solidFill>
                <a:latin typeface="Arial"/>
              </a:rPr>
              <a:t>Teams + Microsoft 365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05072" y="2944368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05072" y="2944368"/>
            <a:ext cx="123444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Channel enabled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05072" y="3291840"/>
            <a:ext cx="3145536" cy="457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Available in Copilot and Teams chats — Outlook, Word, Excel, PowerPoint and OneDrive.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5072" y="3877056"/>
            <a:ext cx="182880" cy="182880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6784" y="384962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79392" y="3822192"/>
            <a:ext cx="2871216" cy="29260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950" b="1">
                <a:solidFill>
                  <a:srgbClr val="161B26"/>
                </a:solidFill>
                <a:latin typeface="Arial"/>
              </a:rPr>
              <a:t>Make agent available in Microsoft 365 Copilot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05072" y="4187952"/>
            <a:ext cx="3145536" cy="56692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850" b="0">
                <a:solidFill>
                  <a:srgbClr val="5B6372"/>
                </a:solidFill>
                <a:latin typeface="Arial"/>
              </a:rPr>
              <a:t>Publishing to the Agent Store inside Microsoft 365 Copilot goes through your admin's approval.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5072" y="4791456"/>
            <a:ext cx="3145536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50" b="0">
                <a:solidFill>
                  <a:srgbClr val="1F6FEB"/>
                </a:solidFill>
                <a:latin typeface="Arial"/>
              </a:rPr>
              <a:t>See agent in Microsoft 365  ·  See agent in Teams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34656" y="1920240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34656" y="1920240"/>
            <a:ext cx="82296" cy="106070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35824" y="1965960"/>
            <a:ext cx="359359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Demo Website first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35824" y="2249424"/>
            <a:ext cx="3593592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The shareable link is the fastest way to put the agent in a tester's hands — no Teams, no admin, anyone with the link.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34656" y="3090672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534656" y="3090672"/>
            <a:ext cx="82296" cy="1060704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35824" y="3136392"/>
            <a:ext cx="359359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6D3FD2"/>
                </a:solidFill>
                <a:latin typeface="Arial"/>
              </a:rPr>
              <a:t>Teams + Microsoft 365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35824" y="3419856"/>
            <a:ext cx="3593592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Enable this channel and the agent appears in Teams chat and Microsoft 365 Copilot — where colleagues already work.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34656" y="4261104"/>
            <a:ext cx="3959352" cy="1060704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34656" y="4261104"/>
            <a:ext cx="82296" cy="1060704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35824" y="4306824"/>
            <a:ext cx="359359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Publish, then re-publish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35824" y="4590288"/>
            <a:ext cx="3593592" cy="658368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Channels serve the published version only. Every later edit is invisible to users until you publish again.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_deployment step publishes each agent to Microsoft Teams  ·  Copilot Studio agents  ·  45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4 — Four Agents, One Spine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An agent is instructions, skills, knowledge, tools and connected agents — and only some of those are enforced.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652032"/>
            <a:ext cx="10972800" cy="1883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 —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Procurement, HR, Sales and IT Support  ·  Copilot Studio agents + agent flows + SharePoint + Teams  ·  45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  <p:extLst>
      <p:ext uri="{BB962C8B-B14F-4D97-AF65-F5344CB8AC3E}">
        <p14:creationId xmlns:p14="http://schemas.microsoft.com/office/powerpoint/2010/main" val="2805015523"/>
      </p:ext>
    </p:extLst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4b — Multi-Agent Content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81328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One topic, four agents: the Marketing Manager owns the conversation and delegates by stage of work — and nothing is final until a person approves.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61B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048256"/>
            <a:ext cx="1664208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HUMAN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42032"/>
            <a:ext cx="1664208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gives the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5456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05456" y="2048256"/>
            <a:ext cx="1664208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MARKETING</a:t>
            </a:r>
          </a:p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MANAGER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5456" y="2542032"/>
            <a:ext cx="1664208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orchestrates,</a:t>
            </a:r>
          </a:p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never writes</a:t>
            </a:r>
          </a:p>
        </p:txBody>
      </p:sp>
      <p:sp>
        <p:nvSpPr>
          <p:cNvPr id="13" name="Chevron 12"/>
          <p:cNvSpPr/>
          <p:nvPr/>
        </p:nvSpPr>
        <p:spPr>
          <a:xfrm>
            <a:off x="2340864" y="2432304"/>
            <a:ext cx="146304" cy="274320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52544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52544" y="2048256"/>
            <a:ext cx="1664208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F6FEB"/>
                </a:solidFill>
                <a:latin typeface="Arial"/>
              </a:rPr>
              <a:t>RESEARCH</a:t>
            </a:r>
          </a:p>
          <a:p>
            <a:pPr algn="ctr"/>
            <a:r>
              <a:rPr sz="1100" b="1">
                <a:solidFill>
                  <a:srgbClr val="1F6FEB"/>
                </a:solidFill>
                <a:latin typeface="Arial"/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2544" y="2542032"/>
            <a:ext cx="1664208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brochures + web,</a:t>
            </a:r>
          </a:p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labelled apart</a:t>
            </a:r>
          </a:p>
        </p:txBody>
      </p:sp>
      <p:sp>
        <p:nvSpPr>
          <p:cNvPr id="17" name="Chevron 16"/>
          <p:cNvSpPr/>
          <p:nvPr/>
        </p:nvSpPr>
        <p:spPr>
          <a:xfrm>
            <a:off x="4187951" y="2432304"/>
            <a:ext cx="146304" cy="274320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99632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9632" y="2048256"/>
            <a:ext cx="1664208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08A73"/>
                </a:solidFill>
                <a:latin typeface="Arial"/>
              </a:rPr>
              <a:t>BLOG</a:t>
            </a:r>
          </a:p>
          <a:p>
            <a:pPr algn="ctr"/>
            <a:r>
              <a:rPr sz="1100" b="1">
                <a:solidFill>
                  <a:srgbClr val="108A73"/>
                </a:solidFill>
                <a:latin typeface="Arial"/>
              </a:rPr>
              <a:t>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2542032"/>
            <a:ext cx="1664208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writes from the</a:t>
            </a:r>
          </a:p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brief, no web</a:t>
            </a:r>
          </a:p>
        </p:txBody>
      </p:sp>
      <p:sp>
        <p:nvSpPr>
          <p:cNvPr id="21" name="Chevron 20"/>
          <p:cNvSpPr/>
          <p:nvPr/>
        </p:nvSpPr>
        <p:spPr>
          <a:xfrm>
            <a:off x="6035040" y="2432304"/>
            <a:ext cx="146304" cy="274320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46720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2048256"/>
            <a:ext cx="1664208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C77600"/>
                </a:solidFill>
                <a:latin typeface="Arial"/>
              </a:rPr>
              <a:t>REVIEW</a:t>
            </a:r>
          </a:p>
          <a:p>
            <a:pPr algn="ctr"/>
            <a:r>
              <a:rPr sz="1100" b="1">
                <a:solidFill>
                  <a:srgbClr val="C77600"/>
                </a:solidFill>
                <a:latin typeface="Arial"/>
              </a:rPr>
              <a:t>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2542032"/>
            <a:ext cx="1664208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checklist; did not</a:t>
            </a:r>
          </a:p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write the draft</a:t>
            </a:r>
          </a:p>
        </p:txBody>
      </p:sp>
      <p:sp>
        <p:nvSpPr>
          <p:cNvPr id="25" name="Chevron 24"/>
          <p:cNvSpPr/>
          <p:nvPr/>
        </p:nvSpPr>
        <p:spPr>
          <a:xfrm>
            <a:off x="7882128" y="2432304"/>
            <a:ext cx="146304" cy="274320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893808" y="1975104"/>
            <a:ext cx="1664208" cy="118872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93808" y="2048256"/>
            <a:ext cx="1664208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100" b="1">
                <a:solidFill>
                  <a:srgbClr val="16845B"/>
                </a:solidFill>
                <a:latin typeface="Arial"/>
              </a:rPr>
              <a:t>HUMAN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3808" y="2542032"/>
            <a:ext cx="1664208" cy="5486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approves the</a:t>
            </a:r>
          </a:p>
          <a:p>
            <a:pPr algn="ctr"/>
            <a:r>
              <a:rPr sz="850" b="0">
                <a:solidFill>
                  <a:srgbClr val="5B6372"/>
                </a:solidFill>
                <a:latin typeface="Arial"/>
              </a:rPr>
              <a:t>final post</a:t>
            </a:r>
          </a:p>
        </p:txBody>
      </p:sp>
      <p:sp>
        <p:nvSpPr>
          <p:cNvPr id="29" name="Chevron 28"/>
          <p:cNvSpPr/>
          <p:nvPr/>
        </p:nvSpPr>
        <p:spPr>
          <a:xfrm>
            <a:off x="9729216" y="2432304"/>
            <a:ext cx="146304" cy="274320"/>
          </a:xfrm>
          <a:prstGeom prst="chevron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58368" y="3456432"/>
            <a:ext cx="3502152" cy="17373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3456432"/>
            <a:ext cx="82296" cy="173736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3502152"/>
            <a:ext cx="313639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Split by stage, not 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" y="3785616"/>
            <a:ext cx="3136392" cy="133502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Lab 4 split agents by who may know what. This pipeline splits by what can go wrong at each stage: research, drafting and review each fail differently.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25112" y="3456432"/>
            <a:ext cx="3502152" cy="17373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25112" y="3456432"/>
            <a:ext cx="82296" cy="173736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80" y="3502152"/>
            <a:ext cx="313639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The brief is the product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3785616"/>
            <a:ext cx="3136392" cy="133502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Blog Agent has no web search and no brochures — it can only write from the brief. That makes the Research Agent's brief the single thing worth checking.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991856" y="3456432"/>
            <a:ext cx="3502152" cy="17373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91856" y="3456432"/>
            <a:ext cx="82296" cy="1737360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3024" y="3502152"/>
            <a:ext cx="3136392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Probe the approval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3024" y="3785616"/>
            <a:ext cx="3136392" cy="133502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Manager is instructed to stop for approval — a rule, not a gate. The test script tries to talk it out of the review. Contrast Lab 8, where the platform suspends the run.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4B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4b — Multi-Agent Content Team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Research → draft → review → human approval  ·  Copilot Studio connected agents  ·  60–75 min · optional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5 — Calling Agent from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Build an agent flow that collects a blog topic at the Start node, drafts the post with M365 Copilot, and posts it to the Training team's General channel.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 — Calling Agent from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Blog-writer agent flow  ·  Copilot Studio + M365 Copilot + Teams  · 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  <p:pic>
        <p:nvPicPr>
          <p:cNvPr id="15" name="Picture 14" descr="flow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5208" y="2532590"/>
            <a:ext cx="8321584" cy="2122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214620"/>
      </p:ext>
    </p:extLst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3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5b — Calling Workflow from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mirror image of Lab 5: the agent decides when to call the workflow, and the flow's inputs and outputs are the contract it programs against.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1698" y="1938528"/>
            <a:ext cx="9348603" cy="33101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5B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5b — Calling Workflow from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Blog Writer Agent runs the flow as its tool  ·  Copilot Studio + M365 Copilot  ·  30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16845B"/>
                </a:solidFill>
                <a:latin typeface="Arial"/>
              </a:rPr>
              <a:t>MODULE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Agent Flows, HTTP and the Boundary of Agency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The new workflow designer  ·  the Agent node inside a flow  ·  HTTP request and response  ·  structured output  ·  the human review gate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6, Lab 7 and Lab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  <p:extLst>
      <p:ext uri="{BB962C8B-B14F-4D97-AF65-F5344CB8AC3E}">
        <p14:creationId xmlns:p14="http://schemas.microsoft.com/office/powerpoint/2010/main" val="30421729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Agent Flows — The Model Inside the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29184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An agent flow is a Power Automate flow that may contain an Agent node — the model, inside the workflow.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HTTP trigger</a:t>
            </a:r>
          </a:p>
        </p:txBody>
      </p:sp>
      <p:sp>
        <p:nvSpPr>
          <p:cNvPr id="9" name="Chevron 8"/>
          <p:cNvSpPr/>
          <p:nvPr/>
        </p:nvSpPr>
        <p:spPr>
          <a:xfrm>
            <a:off x="2177796" y="247345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85772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JSON 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34412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89276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Compose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normalise</a:t>
            </a:r>
          </a:p>
        </p:txBody>
      </p:sp>
      <p:sp>
        <p:nvSpPr>
          <p:cNvPr id="13" name="Chevron 12"/>
          <p:cNvSpPr/>
          <p:nvPr/>
        </p:nvSpPr>
        <p:spPr>
          <a:xfrm>
            <a:off x="4053840" y="24734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861816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clean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10456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65320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SharePoint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lookup</a:t>
            </a:r>
          </a:p>
        </p:txBody>
      </p:sp>
      <p:sp>
        <p:nvSpPr>
          <p:cNvPr id="17" name="Chevron 16"/>
          <p:cNvSpPr/>
          <p:nvPr/>
        </p:nvSpPr>
        <p:spPr>
          <a:xfrm>
            <a:off x="5929884" y="24734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737860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facts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6500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41364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AGENT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apply the rules</a:t>
            </a:r>
          </a:p>
        </p:txBody>
      </p:sp>
      <p:sp>
        <p:nvSpPr>
          <p:cNvPr id="21" name="Chevron 20"/>
          <p:cNvSpPr/>
          <p:nvPr/>
        </p:nvSpPr>
        <p:spPr>
          <a:xfrm>
            <a:off x="7805928" y="247345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613904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structured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62544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17408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Condition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on the decision</a:t>
            </a:r>
          </a:p>
        </p:txBody>
      </p:sp>
      <p:sp>
        <p:nvSpPr>
          <p:cNvPr id="25" name="Chevron 24"/>
          <p:cNvSpPr/>
          <p:nvPr/>
        </p:nvSpPr>
        <p:spPr>
          <a:xfrm>
            <a:off x="9681972" y="247345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89948" y="173736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38588" y="2011680"/>
            <a:ext cx="1455420" cy="12344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093452" y="2066544"/>
            <a:ext cx="1345692" cy="11247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657600"/>
            <a:ext cx="5303520" cy="16916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96112" y="376732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WHAT THE AGENT NODE IS FOR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6112" y="4096512"/>
            <a:ext cx="4846320" cy="11430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Judgement over language: reading a free-text reason,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applying ordered rules, classifying a tone, drafting a reply.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Anything where the input varies more than a form allows.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0488" y="3657600"/>
            <a:ext cx="5303520" cy="16916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28232" y="376732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COPILOT CREDITS TRAP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28232" y="4096512"/>
            <a:ext cx="4846320" cy="11430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Agent flows consume Copilot Credits on every run. Many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Default environments have none and fail with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InsufficientMcsCredits. A licence does not fix it — licences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are per-user, credits are per-environment.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This is why Lab 0 builds a Copilot Studio Training (Developer) environment rather than a Sandbox.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New Workflow Designer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i_workflow_can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9344"/>
            <a:ext cx="6720840" cy="3644225"/>
          </a:xfrm>
          <a:prstGeom prst="rect">
            <a:avLst/>
          </a:prstGeom>
          <a:ln w="15240">
            <a:solidFill>
              <a:srgbClr val="D7E0EA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7607808" y="1609344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7808" y="1609344"/>
            <a:ext cx="82296" cy="8595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27264" y="1664208"/>
            <a:ext cx="348386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A visual canvas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956816"/>
            <a:ext cx="348386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Deterministic steps drawn as nodes — AI only where a step needs judgement.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07808" y="2578608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7808" y="2578608"/>
            <a:ext cx="82296" cy="859536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27264" y="2633472"/>
            <a:ext cx="348386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16845B"/>
                </a:solidFill>
                <a:latin typeface="Arial"/>
              </a:rPr>
              <a:t>Node-by-node testing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2926080"/>
            <a:ext cx="348386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Run test on one node, with values loaded from a previous run.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7808" y="3547872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7808" y="3547872"/>
            <a:ext cx="82296" cy="859536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27264" y="3602736"/>
            <a:ext cx="348386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Agents inside 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27264" y="3895344"/>
            <a:ext cx="348386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Drop an inline agent into one step, or call a published agent as a tool.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07808" y="4517136"/>
            <a:ext cx="3886200" cy="859536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607808" y="4517136"/>
            <a:ext cx="82296" cy="859536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27264" y="4572000"/>
            <a:ext cx="3483864" cy="27432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MCP-enabled tools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27264" y="4864608"/>
            <a:ext cx="3483864" cy="438912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200"/>
              </a:spcAft>
            </a:pPr>
            <a:r>
              <a:rPr sz="950" b="0">
                <a:solidFill>
                  <a:srgbClr val="5B6372"/>
                </a:solidFill>
                <a:latin typeface="Arial"/>
              </a:rPr>
              <a:t>Connectors and MCP tools, inside the Microsoft security boundary.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Workflows keep the structure of agent flows and add the intelligence of agents — without the unpredictability.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HTTP — A Website Calls Your Flow and Waits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Website form</a:t>
            </a:r>
          </a:p>
        </p:txBody>
      </p:sp>
      <p:sp>
        <p:nvSpPr>
          <p:cNvPr id="8" name="Chevron 7"/>
          <p:cNvSpPr/>
          <p:nvPr/>
        </p:nvSpPr>
        <p:spPr>
          <a:xfrm>
            <a:off x="2177796" y="231343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985772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submit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34412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589276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POST  JSON</a:t>
            </a:r>
          </a:p>
        </p:txBody>
      </p:sp>
      <p:sp>
        <p:nvSpPr>
          <p:cNvPr id="12" name="Chevron 11"/>
          <p:cNvSpPr/>
          <p:nvPr/>
        </p:nvSpPr>
        <p:spPr>
          <a:xfrm>
            <a:off x="4053840" y="231343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61816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over HTTPS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10456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65320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HTTP trigger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receives it</a:t>
            </a:r>
          </a:p>
        </p:txBody>
      </p:sp>
      <p:sp>
        <p:nvSpPr>
          <p:cNvPr id="16" name="Chevron 15"/>
          <p:cNvSpPr/>
          <p:nvPr/>
        </p:nvSpPr>
        <p:spPr>
          <a:xfrm>
            <a:off x="5929884" y="231343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86500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341364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Flow runs</a:t>
            </a:r>
          </a:p>
        </p:txBody>
      </p:sp>
      <p:sp>
        <p:nvSpPr>
          <p:cNvPr id="19" name="Chevron 18"/>
          <p:cNvSpPr/>
          <p:nvPr/>
        </p:nvSpPr>
        <p:spPr>
          <a:xfrm>
            <a:off x="7805928" y="231343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613904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build reply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62544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17408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returns JSON</a:t>
            </a:r>
          </a:p>
        </p:txBody>
      </p:sp>
      <p:sp>
        <p:nvSpPr>
          <p:cNvPr id="23" name="Chevron 22"/>
          <p:cNvSpPr/>
          <p:nvPr/>
        </p:nvSpPr>
        <p:spPr>
          <a:xfrm>
            <a:off x="9681972" y="231343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89948" y="1600199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render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38588" y="1874519"/>
            <a:ext cx="1455420" cy="11887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93452" y="1929384"/>
            <a:ext cx="1345692" cy="10789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Page updates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3429000"/>
            <a:ext cx="10835640" cy="40233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" y="3429000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Part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80944" y="3429000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Meaning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72784" y="3429000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In these labs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3831336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86384" y="3831336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Request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80944" y="3831336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caller sends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2784" y="3831336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JSON body matching the schema you declared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233672"/>
            <a:ext cx="10835640" cy="402336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6384" y="4233672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Schema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80944" y="4233672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shape you promise to accept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72784" y="4233672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Generated from a sample payload — then frozen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4636008"/>
            <a:ext cx="108356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86384" y="4636008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80944" y="4636008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the caller gets back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72784" y="4636008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JSON body the page can read, plus a status code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038344"/>
            <a:ext cx="10835640" cy="402336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86384" y="5038344"/>
            <a:ext cx="201167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Synchronous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80944" y="5038344"/>
            <a:ext cx="310896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page waits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72784" y="5038344"/>
            <a:ext cx="5166359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If nothing responds, the browser sees a timeout, not a result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58368" y="5349240"/>
            <a:ext cx="10835640" cy="868680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914400" y="5422392"/>
            <a:ext cx="1033272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TWO FAILURES THAT LOOK THE SAME FROM THE BROWSER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"Failed to fetch" WITH a successful run = CORS; serve the page from SharePoint, not localhost.   "Failed to fetch" with NO run at all = the flow is saved but not published, or the URL is wrong.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Structured Output — Fields, Not Prose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Structured output turns the model's answer from prose into named fields the rest of the flow can branch 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2148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PROSE — unusable downstream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4846320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"I think this application should probably be approved,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although the address looks a little unusual and you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may wish to check it."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What does a Condition test against that?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011680"/>
            <a:ext cx="5303520" cy="21488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STRUCTURED — branchable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468880"/>
            <a:ext cx="4846320" cy="1554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applicationId : APP-10432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decision      : REVIEW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reason        : address unverified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riskFlags     : [ADDRESS_MISMATCH]</a:t>
            </a:r>
          </a:p>
          <a:p>
            <a:pPr algn="l"/>
            <a:endParaRPr sz="1100" b="0">
              <a:solidFill>
                <a:srgbClr val="5B6372"/>
              </a:solidFill>
              <a:latin typeface="Arial"/>
            </a:endParaRP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Condition can read decision. A person can audit reason.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297680"/>
            <a:ext cx="10835640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370832"/>
            <a:ext cx="1033272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FOUR DECISIONS, NOT TWO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681728"/>
            <a:ext cx="10332720" cy="8686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APPROVED  ·  REJECTED  ·  DUPLICATE  ·  REVIEW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A politically exposed person is not a rejection — it is a case for a human. An agent given only two outcomes will force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every ambiguous case into one of them, and you will never see the ones it got wrong.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60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  <p:extLst>
      <p:ext uri="{BB962C8B-B14F-4D97-AF65-F5344CB8AC3E}">
        <p14:creationId xmlns:p14="http://schemas.microsoft.com/office/powerpoint/2010/main" val="5866754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Boundary of Agency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The most important design decision in the course: what the model is allowed to determine, and what it is not.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2011680"/>
            <a:ext cx="5303520" cy="475488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5303520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AI DECIDES  —  what to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70048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Which of six ordered rules applies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072384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Whether the case needs a human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474720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How to phrase the reason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877056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What risk flags to raise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2011680"/>
            <a:ext cx="5303520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190488" y="2011680"/>
            <a:ext cx="5303520" cy="475488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0488" y="2011680"/>
            <a:ext cx="5303520" cy="47548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THE FLOW DOES  —  what must always happen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70048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Normalise the identifier (Compose)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072384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Check the register for a duplicate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74720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Write the customer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77056"/>
            <a:ext cx="475488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•  Write the audit row, before the gate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572000"/>
            <a:ext cx="10835640" cy="118872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14400" y="4663440"/>
            <a:ext cx="103327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THE RECORD IS WRITTEN FROM THE COMPOSE ACTION, NEVER FROM THE MODEL'S ANSWER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992624"/>
            <a:ext cx="10332720" cy="68580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So an invented identifier has no route into the customer master. The agent's opinion reaches the decision field; it never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reaches the data. If you remember one sentence from Day 2, make it this one.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60 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  <p:extLst>
      <p:ext uri="{BB962C8B-B14F-4D97-AF65-F5344CB8AC3E}">
        <p14:creationId xmlns:p14="http://schemas.microsoft.com/office/powerpoint/2010/main" val="152647679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Agent Alone, in Public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Lab 7 is the agent working in public with nobody reviewing it. Four nodes, and two non-negotiable rules.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Chat widget</a:t>
            </a:r>
          </a:p>
        </p:txBody>
      </p:sp>
      <p:sp>
        <p:nvSpPr>
          <p:cNvPr id="9" name="Chevron 8"/>
          <p:cNvSpPr/>
          <p:nvPr/>
        </p:nvSpPr>
        <p:spPr>
          <a:xfrm>
            <a:off x="2553004" y="256489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360980" y="187452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POST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09620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64484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HTTP trigger</a:t>
            </a:r>
          </a:p>
        </p:txBody>
      </p:sp>
      <p:sp>
        <p:nvSpPr>
          <p:cNvPr id="13" name="Chevron 12"/>
          <p:cNvSpPr/>
          <p:nvPr/>
        </p:nvSpPr>
        <p:spPr>
          <a:xfrm>
            <a:off x="4804256" y="2564892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60873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215737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Compose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session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5509" y="256489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63485" y="187452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instruction · knowledge · history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2126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66990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AGENT</a:t>
            </a:r>
          </a:p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rules + facts</a:t>
            </a:r>
          </a:p>
        </p:txBody>
      </p:sp>
      <p:sp>
        <p:nvSpPr>
          <p:cNvPr id="20" name="Chevron 19"/>
          <p:cNvSpPr/>
          <p:nvPr/>
        </p:nvSpPr>
        <p:spPr>
          <a:xfrm>
            <a:off x="9306762" y="256489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14738" y="187452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reply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63379" y="214884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18243" y="2203704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Response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611880"/>
            <a:ext cx="5303520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6112" y="3675887"/>
            <a:ext cx="48463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F6FEB"/>
                </a:solidFill>
                <a:latin typeface="Arial"/>
              </a:rPr>
              <a:t>RULES LIVE IN THE INSTRUCTION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" y="3950208"/>
            <a:ext cx="4846320" cy="7680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Collect name, phone and email before answering. Never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recommend a product, predict a return or allocate savings.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A refusal that must be retrieved can miss.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0488" y="3611880"/>
            <a:ext cx="5303520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8232" y="3675887"/>
            <a:ext cx="48463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C77600"/>
                </a:solidFill>
                <a:latin typeface="Arial"/>
              </a:rPr>
              <a:t>FACTS LIVE IN THE KNOWLEDGE 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28232" y="3950208"/>
            <a:ext cx="4846320" cy="7680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Fees, timelines and services come from the FAQ PDF.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Change the PDF and the answers change — without</a:t>
            </a:r>
          </a:p>
          <a:p>
            <a:pPr algn="l"/>
            <a:r>
              <a:rPr sz="1000" b="0">
                <a:solidFill>
                  <a:srgbClr val="5B6372"/>
                </a:solidFill>
                <a:latin typeface="Arial"/>
              </a:rPr>
              <a:t>touching the instruction.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test cases in Lab 7 are written to make it fail. Read the failures aloud — that is the debrief.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7 — HTTP and Chatbot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Investment advisor chatbot  ·  Copilot Studio + SharePoint knowledge + static website  ·  40 min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  <p:extLst>
      <p:ext uri="{BB962C8B-B14F-4D97-AF65-F5344CB8AC3E}">
        <p14:creationId xmlns:p14="http://schemas.microsoft.com/office/powerpoint/2010/main" val="20260207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Human Review Node — A Gate That Blocks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Lab 8 adds the person back. The Human review node does nothing at all except wait.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532120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084831"/>
            <a:ext cx="553212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6D3FD2"/>
                </a:solidFill>
                <a:latin typeface="Arial"/>
              </a:rPr>
              <a:t>THE AGENT'S TERRITORY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classify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67128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67128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read tone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65576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65576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flag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64024" y="2468880"/>
            <a:ext cx="1170432" cy="685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64024" y="2468880"/>
            <a:ext cx="1170432" cy="6858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DRAFT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46520" y="2011680"/>
            <a:ext cx="2148840" cy="1371600"/>
          </a:xfrm>
          <a:prstGeom prst="roundRect">
            <a:avLst/>
          </a:prstGeom>
          <a:solidFill>
            <a:srgbClr val="FFFFFF"/>
          </a:solidFill>
          <a:ln w="3048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2084831"/>
            <a:ext cx="214884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C2413A"/>
                </a:solidFill>
                <a:latin typeface="Arial"/>
              </a:rPr>
              <a:t>THE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395728"/>
            <a:ext cx="214884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Human review</a:t>
            </a:r>
          </a:p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approve / reject</a:t>
            </a:r>
          </a:p>
          <a:p>
            <a:pPr algn="ctr"/>
            <a:r>
              <a:rPr sz="1200" b="1">
                <a:solidFill>
                  <a:srgbClr val="C2413A"/>
                </a:solidFill>
                <a:latin typeface="Arial"/>
              </a:rPr>
              <a:t>in Teams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51392" y="2011680"/>
            <a:ext cx="2642616" cy="137160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851392" y="2084831"/>
            <a:ext cx="2642616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845B"/>
                </a:solidFill>
                <a:latin typeface="Arial"/>
              </a:rPr>
              <a:t>THE CONSEQUENCE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51392" y="2395728"/>
            <a:ext cx="2642616" cy="8686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send · log ·</a:t>
            </a:r>
          </a:p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hand to a named person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657600"/>
            <a:ext cx="10835640" cy="1371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3767328"/>
            <a:ext cx="1033272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THE TEST OF A REAL GATE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33087"/>
            <a:ext cx="1033272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Submit an enquiry, then open Activity. The run says Running — and it will still say Running tomorrow. Nothing times out,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nothing defaults, nothing proceeds. A workflow that has done all of its work and will not take the last step.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86460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" y="486460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That pause is the deliverable. Rejected drafts go to a NAMED person who must phone the client — never to silence.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8 — HTTP and Human Review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Client rapport assistant with a Teams approval gate  ·  Copilot Studio + Human review + Excel Online + Outlook + Teams  ·  60 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  <p:extLst>
      <p:ext uri="{BB962C8B-B14F-4D97-AF65-F5344CB8AC3E}">
        <p14:creationId xmlns:p14="http://schemas.microsoft.com/office/powerpoint/2010/main" val="381579520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6 — Application Approval Agent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boundary of agency — the AI decides what to do; deterministic actions do what must always happen.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186702"/>
            <a:ext cx="10972800" cy="8137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6 — HTTP and Application Approval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Marina Trust Bank customer onboarding  ·  Copilot Studio agent flow + SharePoint + Outlook  ·  50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  <p:extLst>
      <p:ext uri="{BB962C8B-B14F-4D97-AF65-F5344CB8AC3E}">
        <p14:creationId xmlns:p14="http://schemas.microsoft.com/office/powerpoint/2010/main" val="408217827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7 — The Chatbot, Working Alone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The agent alone — rules in the instruction, facts in the knowledge source, and a refusal it must never break.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03708"/>
            <a:ext cx="10972800" cy="1179767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7 — HTTP and Chatbot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Investment advisor chatbot  ·  Copilot Studio + SharePoint knowledge + static website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  <p:extLst>
      <p:ext uri="{BB962C8B-B14F-4D97-AF65-F5344CB8AC3E}">
        <p14:creationId xmlns:p14="http://schemas.microsoft.com/office/powerpoint/2010/main" val="20762356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4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8 — The Human Review Gate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Human in the loop — the AI drafts, and the workflow physically cannot proceed until a person approves.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420151"/>
            <a:ext cx="10972800" cy="234688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8 — HTTP and Human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Client rapport assistant with a Teams approval gate  ·  Copilot Studio + Human review + Excel Online + Outlook + Teams  ·  60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  <p:extLst>
      <p:ext uri="{BB962C8B-B14F-4D97-AF65-F5344CB8AC3E}">
        <p14:creationId xmlns:p14="http://schemas.microsoft.com/office/powerpoint/2010/main" val="7041770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C77600"/>
                </a:solidFill>
                <a:latin typeface="Arial"/>
              </a:rPr>
              <a:t>MODULE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Retrieval 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Why not just paste everything  ·  ingestion and retrieval  ·  chunking, embeddings, top_k  ·  built-in versus external  ·  probing for invention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Applied in Lab 9 and Lab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  <p:extLst>
      <p:ext uri="{BB962C8B-B14F-4D97-AF65-F5344CB8AC3E}">
        <p14:creationId xmlns:p14="http://schemas.microsoft.com/office/powerpoint/2010/main" val="407187054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Why Retrieval, Rather Than a Bigger Prompt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You could paste all 20 brochures into the instruction. For 20 it works. Then the academy adds 40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5303520" cy="1874519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EVERYTHING IN THE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68880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instruction exceeds what the model can read.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starts ignoring the middle.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Every question costs the price of 60 brochures.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A fee change means editing the prompt.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011680"/>
            <a:ext cx="5303520" cy="1874519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28232" y="2121408"/>
            <a:ext cx="484632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RETRIEVE, THEN GENERATE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8232" y="2468880"/>
            <a:ext cx="4846320" cy="12801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Find the two or three brochures that resemble the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question, and give the model only those.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agent never sees the other 17.</a:t>
            </a:r>
          </a:p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answers from what matters.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13232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5" name="Chevron 14"/>
          <p:cNvSpPr/>
          <p:nvPr/>
        </p:nvSpPr>
        <p:spPr>
          <a:xfrm>
            <a:off x="2553004" y="457657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360980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vector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09620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964484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Embed the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19" name="Chevron 18"/>
          <p:cNvSpPr/>
          <p:nvPr/>
        </p:nvSpPr>
        <p:spPr>
          <a:xfrm>
            <a:off x="4804256" y="457657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12232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similarity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60873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215737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Search for the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nearest documents</a:t>
            </a:r>
          </a:p>
        </p:txBody>
      </p:sp>
      <p:sp>
        <p:nvSpPr>
          <p:cNvPr id="23" name="Chevron 22"/>
          <p:cNvSpPr/>
          <p:nvPr/>
        </p:nvSpPr>
        <p:spPr>
          <a:xfrm>
            <a:off x="7055509" y="4576572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63485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top_k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12126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66990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Paste them into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the prompt</a:t>
            </a:r>
          </a:p>
        </p:txBody>
      </p:sp>
      <p:sp>
        <p:nvSpPr>
          <p:cNvPr id="27" name="Chevron 26"/>
          <p:cNvSpPr/>
          <p:nvPr/>
        </p:nvSpPr>
        <p:spPr>
          <a:xfrm>
            <a:off x="9306762" y="4576572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114738" y="388620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generate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63379" y="4160520"/>
            <a:ext cx="1830628" cy="11430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718243" y="4215383"/>
            <a:ext cx="1720900" cy="1033271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Grounded</a:t>
            </a:r>
          </a:p>
          <a:p>
            <a:pPr algn="ctr"/>
            <a:r>
              <a:rPr sz="1100" b="1">
                <a:solidFill>
                  <a:srgbClr val="161B26"/>
                </a:solidFill>
                <a:latin typeface="Arial"/>
              </a:rPr>
              <a:t>answer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RAG = retrieval + generation. The retrieval decides whether the generation can possibly be right.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  <p:extLst>
      <p:ext uri="{BB962C8B-B14F-4D97-AF65-F5344CB8AC3E}">
        <p14:creationId xmlns:p14="http://schemas.microsoft.com/office/powerpoint/2010/main" val="75993577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The RAG Pipeline, and the Four Words That Matter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Two phases. Ingestion happens once; retrieval happens on every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965960"/>
            <a:ext cx="182880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INGESTION — 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Documents</a:t>
            </a:r>
          </a:p>
        </p:txBody>
      </p:sp>
      <p:sp>
        <p:nvSpPr>
          <p:cNvPr id="10" name="Chevron 9"/>
          <p:cNvSpPr/>
          <p:nvPr/>
        </p:nvSpPr>
        <p:spPr>
          <a:xfrm>
            <a:off x="3115817" y="25877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923793" y="20116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split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2433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7297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Chunk</a:t>
            </a:r>
          </a:p>
        </p:txBody>
      </p:sp>
      <p:sp>
        <p:nvSpPr>
          <p:cNvPr id="14" name="Chevron 13"/>
          <p:cNvSpPr/>
          <p:nvPr/>
        </p:nvSpPr>
        <p:spPr>
          <a:xfrm>
            <a:off x="5929882" y="2587752"/>
            <a:ext cx="274320" cy="310896"/>
          </a:xfrm>
          <a:prstGeom prst="chevron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737858" y="20116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86499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41363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Embed</a:t>
            </a:r>
          </a:p>
        </p:txBody>
      </p:sp>
      <p:sp>
        <p:nvSpPr>
          <p:cNvPr id="18" name="Chevron 17"/>
          <p:cNvSpPr/>
          <p:nvPr/>
        </p:nvSpPr>
        <p:spPr>
          <a:xfrm>
            <a:off x="8743948" y="2587752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51924" y="2011680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index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00565" y="2286000"/>
            <a:ext cx="2393441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55429" y="2340864"/>
            <a:ext cx="2283713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Store as vectors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474720"/>
            <a:ext cx="2651760" cy="29260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RETRIEVAL — every question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3232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Question</a:t>
            </a:r>
          </a:p>
        </p:txBody>
      </p:sp>
      <p:sp>
        <p:nvSpPr>
          <p:cNvPr id="25" name="Chevron 24"/>
          <p:cNvSpPr/>
          <p:nvPr/>
        </p:nvSpPr>
        <p:spPr>
          <a:xfrm>
            <a:off x="2553004" y="4251960"/>
            <a:ext cx="274320" cy="310896"/>
          </a:xfrm>
          <a:prstGeom prst="chevron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60980" y="3675888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same model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09620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08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64484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Embed</a:t>
            </a:r>
          </a:p>
        </p:txBody>
      </p:sp>
      <p:sp>
        <p:nvSpPr>
          <p:cNvPr id="29" name="Chevron 28"/>
          <p:cNvSpPr/>
          <p:nvPr/>
        </p:nvSpPr>
        <p:spPr>
          <a:xfrm>
            <a:off x="4804256" y="4251960"/>
            <a:ext cx="274320" cy="310896"/>
          </a:xfrm>
          <a:prstGeom prst="chevron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12232" y="3675888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similarity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60873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215737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Nearest top_k</a:t>
            </a:r>
          </a:p>
        </p:txBody>
      </p:sp>
      <p:sp>
        <p:nvSpPr>
          <p:cNvPr id="33" name="Chevron 32"/>
          <p:cNvSpPr/>
          <p:nvPr/>
        </p:nvSpPr>
        <p:spPr>
          <a:xfrm>
            <a:off x="7055509" y="4251960"/>
            <a:ext cx="274320" cy="310896"/>
          </a:xfrm>
          <a:prstGeom prst="chevron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63485" y="3675888"/>
            <a:ext cx="676656" cy="23774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900" b="0">
                <a:solidFill>
                  <a:srgbClr val="5B6372"/>
                </a:solidFill>
                <a:latin typeface="Arial"/>
              </a:rPr>
              <a:t>context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12126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466990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Into the prompt</a:t>
            </a:r>
          </a:p>
        </p:txBody>
      </p:sp>
      <p:sp>
        <p:nvSpPr>
          <p:cNvPr id="37" name="Chevron 36"/>
          <p:cNvSpPr/>
          <p:nvPr/>
        </p:nvSpPr>
        <p:spPr>
          <a:xfrm>
            <a:off x="9306762" y="4251960"/>
            <a:ext cx="274320" cy="310896"/>
          </a:xfrm>
          <a:prstGeom prst="chevron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9663379" y="3950208"/>
            <a:ext cx="1830628" cy="9144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718243" y="4005072"/>
            <a:ext cx="1720900" cy="80467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161B26"/>
                </a:solidFill>
                <a:latin typeface="Arial"/>
              </a:rPr>
              <a:t>Answer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58368" y="5029200"/>
            <a:ext cx="82296" cy="1143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9144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F6FEB"/>
                </a:solidFill>
                <a:latin typeface="Arial"/>
              </a:rPr>
              <a:t>Chunk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How a document is split. Here: one brochure = one record.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015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401568" y="5029200"/>
            <a:ext cx="82296" cy="1143000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6576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108A73"/>
                </a:solidFill>
                <a:latin typeface="Arial"/>
              </a:rPr>
              <a:t>Embedding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Text as a list of numbers. llama-text-embed-v2, 1024 dimensions.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447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144768" y="5029200"/>
            <a:ext cx="82296" cy="114300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008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Similarity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Nearness of two vectors — the machine's idea of "related".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887968" y="5029200"/>
            <a:ext cx="2487168" cy="114300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8887968" y="5029200"/>
            <a:ext cx="82296" cy="114300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9144000" y="5157216"/>
            <a:ext cx="2011680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top_k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44000" y="5632704"/>
            <a:ext cx="1993392" cy="41148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How many documents come back. Here: 3.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  <p:extLst>
      <p:ext uri="{BB962C8B-B14F-4D97-AF65-F5344CB8AC3E}">
        <p14:creationId xmlns:p14="http://schemas.microsoft.com/office/powerpoint/2010/main" val="175146190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Built-in Knowledge or Your Own Vector Store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164592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867912" y="1645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 9 — built-in 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4112" y="1645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LAB 10 — Pinecone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1031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04672" y="21031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Nodes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7912" y="2103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4112" y="2103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5603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04672" y="25603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Ingestion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7912" y="2560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Upload to SharePoint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54112" y="2560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A Python script, run once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0175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" y="30175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Embedding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67912" y="3017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54112" y="3017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llama-text-embed-v2, 1024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4747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4747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Chunking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67912" y="34747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54112" y="34747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One brochure = one record — your call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39319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4672" y="39319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top_k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67912" y="3931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Hidden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54112" y="39319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3 — your call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43891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4672" y="43891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Citation markers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67912" y="4389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Leak into the reply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3891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None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4846320"/>
            <a:ext cx="1083564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04672" y="48463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A changed fee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7912" y="4846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Edit, wait for re-crawl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54112" y="48463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Edit, then re-ingest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5303520"/>
            <a:ext cx="10835640" cy="457200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04672" y="5303520"/>
            <a:ext cx="284378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1">
                <a:solidFill>
                  <a:srgbClr val="161B26"/>
                </a:solidFill>
                <a:latin typeface="Arial"/>
              </a:rPr>
              <a:t>When it answers badly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867912" y="5303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Rewrite the prompt and hope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54112" y="5303520"/>
            <a:ext cx="36667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100" b="0">
                <a:solidFill>
                  <a:srgbClr val="5B6372"/>
                </a:solidFill>
                <a:latin typeface="Arial"/>
              </a:rPr>
              <a:t>Four levers to pull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687568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5687568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Neither is the right answer. Which is right depends on whether the person maintaining it will ever need those levers.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  <p:extLst>
      <p:ext uri="{BB962C8B-B14F-4D97-AF65-F5344CB8AC3E}">
        <p14:creationId xmlns:p14="http://schemas.microsoft.com/office/powerpoint/2010/main" val="236149613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Probing for Invention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A grounded agent still invents. You find out by asking for things that do not exist.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" y="2121408"/>
            <a:ext cx="29718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2413A"/>
                </a:solidFill>
                <a:latin typeface="Arial"/>
              </a:rPr>
              <a:t>A course you do not 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2633472"/>
            <a:ext cx="297180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"Do you have a course on cake sculpture?"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3429000"/>
            <a:ext cx="297180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say it does not — not improvise a syllabus.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77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2121408"/>
            <a:ext cx="29718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C77600"/>
                </a:solidFill>
                <a:latin typeface="Arial"/>
              </a:rPr>
              <a:t>A fact in no brochure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633472"/>
            <a:ext cx="297180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"Is there parking at the east campus?"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429000"/>
            <a:ext cx="297180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say the brochures do not cover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2011680"/>
            <a:ext cx="3392424" cy="237744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74736" y="2121408"/>
            <a:ext cx="29718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300" b="1">
                <a:solidFill>
                  <a:srgbClr val="6D3FD2"/>
                </a:solidFill>
                <a:latin typeface="Arial"/>
              </a:rPr>
              <a:t>A discount that does not exist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2633472"/>
            <a:ext cx="2971800" cy="73152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161B26"/>
                </a:solidFill>
                <a:latin typeface="Arial"/>
              </a:rPr>
              <a:t>"What is the student discount?"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3429000"/>
            <a:ext cx="2971800" cy="82296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It must not invent a percentage to be helpful.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572000"/>
            <a:ext cx="10835640" cy="868680"/>
          </a:xfrm>
          <a:prstGeom prst="roundRect">
            <a:avLst/>
          </a:prstGeom>
          <a:solidFill>
            <a:srgbClr val="F5F8FC"/>
          </a:solidFill>
          <a:ln w="2286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626864"/>
            <a:ext cx="1033272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A CONFIDENT WRONG ANSWER RAISES NO ERROR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901184"/>
            <a:ext cx="10332720" cy="475488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run is green. The reply is fluent. Nothing in the run history is red. In every lab here the wrong answer looks exactly</a:t>
            </a:r>
          </a:p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like a right one — which is why the test tables include the probes they 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9 — RAG with Knowledge Base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Cook &amp; Bake Academy, built-in knowledge  ·  Copilot Studio Knowledge + SharePoint  ·  40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  <p:extLst>
      <p:ext uri="{BB962C8B-B14F-4D97-AF65-F5344CB8AC3E}">
        <p14:creationId xmlns:p14="http://schemas.microsoft.com/office/powerpoint/2010/main" val="102997595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9 — RAG with Built-in Knowledge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RAG as a product setting — three nodes, no ingestion, and nothing you can inspect.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522573"/>
            <a:ext cx="10972800" cy="214203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9 — RAG with Knowledge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Cook &amp; Bake Academy, built-in knowledge  ·  Copilot Studio Knowledge + SharePoint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  <p:extLst>
      <p:ext uri="{BB962C8B-B14F-4D97-AF65-F5344CB8AC3E}">
        <p14:creationId xmlns:p14="http://schemas.microsoft.com/office/powerpoint/2010/main" val="300825865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MODULE 5 · LAB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Lab 10 — RAG with Pinecone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17904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300" b="0">
                <a:solidFill>
                  <a:srgbClr val="5B6372"/>
                </a:solidFill>
                <a:latin typeface="Arial"/>
              </a:rPr>
              <a:t>What the convenience cost — chunking, embeddings, dimension and top_k, back in your hands.</a:t>
            </a:r>
          </a:p>
        </p:txBody>
      </p:sp>
      <p:pic>
        <p:nvPicPr>
          <p:cNvPr id="7" name="Picture 6" descr="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711970"/>
            <a:ext cx="10972800" cy="176324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8368" y="5559552"/>
            <a:ext cx="10835640" cy="7132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1684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841248" y="5687568"/>
            <a:ext cx="1051560" cy="457200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1248" y="5687568"/>
            <a:ext cx="105156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LAB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5577840"/>
            <a:ext cx="9235440" cy="32918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Lab 10 — RAG with Pinecone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907024"/>
            <a:ext cx="9235440" cy="31089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100" b="0">
                <a:solidFill>
                  <a:srgbClr val="5B6372"/>
                </a:solidFill>
                <a:latin typeface="Arial"/>
              </a:rPr>
              <a:t>The same chatbot, with the levers back  ·  Copilot Studio + Power Automate + Pinecone  ·  40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  <p:extLst>
      <p:ext uri="{BB962C8B-B14F-4D97-AF65-F5344CB8AC3E}">
        <p14:creationId xmlns:p14="http://schemas.microsoft.com/office/powerpoint/2010/main" val="394750964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58368" y="1737360"/>
            <a:ext cx="10835640" cy="3291840"/>
          </a:xfrm>
          <a:prstGeom prst="roundRect">
            <a:avLst/>
          </a:prstGeom>
          <a:solidFill>
            <a:srgbClr val="F5F8FC"/>
          </a:solidFill>
          <a:ln w="25400">
            <a:solidFill>
              <a:srgbClr val="6D3F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58368" y="1737360"/>
            <a:ext cx="128016" cy="329184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280160" y="2148840"/>
            <a:ext cx="9875520" cy="36576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500" b="1">
                <a:solidFill>
                  <a:srgbClr val="6D3FD2"/>
                </a:solidFill>
                <a:latin typeface="Arial"/>
              </a:rPr>
              <a:t>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06040"/>
            <a:ext cx="9875520" cy="8686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3400" b="1">
                <a:solidFill>
                  <a:srgbClr val="161B26"/>
                </a:solidFill>
                <a:latin typeface="Arial"/>
              </a:rPr>
              <a:t>Taking This Back to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11880"/>
            <a:ext cx="9875520" cy="1005840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Choosing the pattern  ·  the pre-production checklist  ·  the six sentences worth 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  <p:extLst>
      <p:ext uri="{BB962C8B-B14F-4D97-AF65-F5344CB8AC3E}">
        <p14:creationId xmlns:p14="http://schemas.microsoft.com/office/powerpoint/2010/main" val="253661115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Choosing the Right Pattern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835640" cy="310896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161B26"/>
                </a:solidFill>
                <a:latin typeface="Arial"/>
              </a:rPr>
              <a:t>Back at work, this is the decision you will actually make.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965960"/>
            <a:ext cx="10835640" cy="457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965960"/>
            <a:ext cx="426110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If the situation is…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5232" y="1965960"/>
            <a:ext cx="362102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…build this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25712" y="1965960"/>
            <a:ext cx="2295144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Seen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423160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2423160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rule is written down and never varies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85232" y="2423160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6845B"/>
                </a:solidFill>
                <a:latin typeface="Arial"/>
              </a:rPr>
              <a:t>Workflow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5712" y="2423160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1–3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3026664"/>
            <a:ext cx="108356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026664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rule varies, but the outcome is high-stakes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85232" y="3026664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2413A"/>
                </a:solidFill>
                <a:latin typeface="Arial"/>
              </a:rPr>
              <a:t>Agent decides, flow enforces, human approves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3026664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6, 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630168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3630168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input is language, the output is an answer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2" y="3630168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6D3FD2"/>
                </a:solidFill>
                <a:latin typeface="Arial"/>
              </a:rPr>
              <a:t>Agent grounded in your documents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712" y="3630168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7, 9, 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233672"/>
            <a:ext cx="108356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4233672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Several audiences, different things they may know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85232" y="4233672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08A73"/>
                </a:solidFill>
                <a:latin typeface="Arial"/>
              </a:rPr>
              <a:t>Connected agents, one per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25712" y="4233672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 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4837176"/>
            <a:ext cx="1083564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4837176"/>
            <a:ext cx="426110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0">
                <a:solidFill>
                  <a:srgbClr val="5B6372"/>
                </a:solidFill>
                <a:latin typeface="Arial"/>
              </a:rPr>
              <a:t>The answer must be traceable to a 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85232" y="4837176"/>
            <a:ext cx="362102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C77600"/>
                </a:solidFill>
                <a:latin typeface="Arial"/>
              </a:rPr>
              <a:t>RAG, and turn general knowledge off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25712" y="4837176"/>
            <a:ext cx="2295144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Labs 9, 10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557784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557784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Ask who pays for the mistake. That answer sizes the agent's authority and places the human.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  <p:extLst>
      <p:ext uri="{BB962C8B-B14F-4D97-AF65-F5344CB8AC3E}">
        <p14:creationId xmlns:p14="http://schemas.microsoft.com/office/powerpoint/2010/main" val="13979970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Before Anything Reaches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691640"/>
            <a:ext cx="82296" cy="171907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77824" y="1874520"/>
            <a:ext cx="420624" cy="42062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77824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81965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9514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Correct environment selected in BOTH products; Copilot Credits confirmed.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06824" y="1691640"/>
            <a:ext cx="82296" cy="1719072"/>
          </a:xfrm>
          <a:prstGeom prst="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526280" y="1874520"/>
            <a:ext cx="420624" cy="420624"/>
          </a:xfrm>
          <a:prstGeom prst="ellipse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26280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81965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2413A"/>
                </a:solidFill>
                <a:latin typeface="Arial"/>
              </a:rPr>
              <a:t>Data 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229514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No model output writes to a system of record without a deterministic action in between.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80" y="169164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80" y="1691640"/>
            <a:ext cx="82296" cy="1719072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174736" y="1874520"/>
            <a:ext cx="420624" cy="420624"/>
          </a:xfrm>
          <a:prstGeom prst="ellipse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74736" y="187452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81965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Refusals tested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29514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Every prohibition has a probe that tries to break it, and the probe is in the test set.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58368" y="3566160"/>
            <a:ext cx="82296" cy="1719072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77824" y="3749040"/>
            <a:ext cx="420624" cy="420624"/>
          </a:xfrm>
          <a:prstGeom prst="ellipse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7824" y="374904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8176" y="369417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Human placed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416966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Consequential paths end at a named person, not at a queue nobody watches.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06824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06824" y="3566160"/>
            <a:ext cx="82296" cy="1719072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526280" y="3749040"/>
            <a:ext cx="420624" cy="420624"/>
          </a:xfrm>
          <a:prstGeom prst="ellipse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26280" y="374904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56632" y="369417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Audit before the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62856" y="416966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The audit row is written before the approval, so rejected cases still leave a trace.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955280" y="3566160"/>
            <a:ext cx="3392424" cy="171907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955280" y="3566160"/>
            <a:ext cx="82296" cy="1719072"/>
          </a:xfrm>
          <a:prstGeom prst="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8174736" y="3749040"/>
            <a:ext cx="420624" cy="420624"/>
          </a:xfrm>
          <a:prstGeom prst="ellipse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174736" y="3749040"/>
            <a:ext cx="420624" cy="42062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05088" y="3694176"/>
            <a:ext cx="2441448" cy="40233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08A73"/>
                </a:solidFill>
                <a:latin typeface="Arial"/>
              </a:rPr>
              <a:t>Sources closed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11312" y="4169664"/>
            <a:ext cx="2898648" cy="987552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General knowledge off, "Search all websites" removed, knowledge status Ready.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5532120"/>
            <a:ext cx="10835640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C241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14400" y="5532120"/>
            <a:ext cx="103327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green run is not a correct run, and a fluent answer is not a true one. Verify both before anyone depends on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  <p:extLst>
      <p:ext uri="{BB962C8B-B14F-4D97-AF65-F5344CB8AC3E}">
        <p14:creationId xmlns:p14="http://schemas.microsoft.com/office/powerpoint/2010/main" val="270757836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10896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SYNTHESIS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21792"/>
            <a:ext cx="10789920" cy="603504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Six Sentences Worth Keeping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04672" y="1828800"/>
            <a:ext cx="438912" cy="438912"/>
          </a:xfrm>
          <a:prstGeom prst="roundRect">
            <a:avLst/>
          </a:prstGeom>
          <a:solidFill>
            <a:srgbClr val="C2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1828800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737360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control the model cannot reach beats a rule you asked it to follow.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487168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04672" y="2578608"/>
            <a:ext cx="438912" cy="438912"/>
          </a:xfrm>
          <a:prstGeom prst="round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4672" y="2578608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487168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reference to nothing resolves to empty, not to an error.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236976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04672" y="3328416"/>
            <a:ext cx="438912" cy="438912"/>
          </a:xfrm>
          <a:prstGeom prst="round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" y="3328416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3236976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Commit the record of the obligation before you create the obligation.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986783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04672" y="4078223"/>
            <a:ext cx="438912" cy="438912"/>
          </a:xfrm>
          <a:prstGeom prst="round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04672" y="4078223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986783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The AI decides what to do; deterministic actions do what must always happen.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736592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04672" y="4828032"/>
            <a:ext cx="438912" cy="438912"/>
          </a:xfrm>
          <a:prstGeom prst="round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4672" y="4828032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4736592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A pause that will still be paused tomorrow is a real gate.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86400"/>
            <a:ext cx="10835640" cy="621792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04672" y="5577840"/>
            <a:ext cx="438912" cy="438912"/>
          </a:xfrm>
          <a:prstGeom prst="roundRect">
            <a:avLst/>
          </a:prstGeom>
          <a:solidFill>
            <a:srgbClr val="108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04672" y="5577840"/>
            <a:ext cx="438912" cy="43891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20" y="5486400"/>
            <a:ext cx="9921240" cy="62179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400" b="1">
                <a:solidFill>
                  <a:srgbClr val="161B26"/>
                </a:solidFill>
                <a:latin typeface="Arial"/>
              </a:rPr>
              <a:t>Retrieval decides whether generation can possibly be right.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035040"/>
            <a:ext cx="10835640" cy="27432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200" b="0">
                <a:solidFill>
                  <a:srgbClr val="5B6372"/>
                </a:solidFill>
                <a:latin typeface="Arial"/>
              </a:rPr>
              <a:t>Six sentences. If you keep only these, you can rebuild the judgement behind every lab in this course.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BEFORE THE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Place phones and other materials under the table or on the floor.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photos or recording of assessment scripts.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discussion during the assessment.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Use a black/blue pen for hard-copy assessments.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No liquid paper / correction tape.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Scripts are collected when time is up.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201168" cy="1353312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8368" y="347472"/>
            <a:ext cx="10789920" cy="256032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2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789920" cy="566928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2900" b="1">
                <a:solidFill>
                  <a:srgbClr val="161B26"/>
                </a:solidFill>
                <a:latin typeface="Arial"/>
              </a:rPr>
              <a:t>Assessment &amp;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71600"/>
            <a:ext cx="10835640" cy="13716"/>
          </a:xfrm>
          <a:prstGeom prst="rect">
            <a:avLst/>
          </a:prstGeom>
          <a:solidFill>
            <a:srgbClr val="D7E0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583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58368" y="1828800"/>
            <a:ext cx="82296" cy="3977639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859536" y="2029968"/>
            <a:ext cx="457200" cy="457200"/>
          </a:xfrm>
          <a:prstGeom prst="ellipse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9536" y="2029968"/>
            <a:ext cx="457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6464" y="1975104"/>
            <a:ext cx="2423160" cy="4114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700" b="1">
                <a:solidFill>
                  <a:srgbClr val="1F6FEB"/>
                </a:solidFill>
                <a:latin typeface="Arial"/>
              </a:rPr>
              <a:t>Written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68880"/>
            <a:ext cx="2907792" cy="3227831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1 hour · open book
Modules 1–5 and the lab concepts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15968" y="1828800"/>
            <a:ext cx="82296" cy="3977639"/>
          </a:xfrm>
          <a:prstGeom prst="rect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4517136" y="2029968"/>
            <a:ext cx="457200" cy="457200"/>
          </a:xfrm>
          <a:prstGeom prst="ellipse">
            <a:avLst/>
          </a:prstGeom>
          <a:solidFill>
            <a:srgbClr val="108A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17136" y="2029968"/>
            <a:ext cx="457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1975104"/>
            <a:ext cx="2423160" cy="4114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700" b="1">
                <a:solidFill>
                  <a:srgbClr val="108A73"/>
                </a:solidFill>
                <a:latin typeface="Arial"/>
              </a:rPr>
              <a:t>Practical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68880"/>
            <a:ext cx="2907792" cy="3227831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1 hour · open book
Build and verify a working flow and agent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28800"/>
            <a:ext cx="3383280" cy="3977639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73568" y="1828800"/>
            <a:ext cx="82296" cy="3977639"/>
          </a:xfrm>
          <a:prstGeom prst="rect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174736" y="2029968"/>
            <a:ext cx="457200" cy="457200"/>
          </a:xfrm>
          <a:prstGeom prst="ellipse">
            <a:avLst/>
          </a:prstGeom>
          <a:solidFill>
            <a:srgbClr val="6D3F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174736" y="2029968"/>
            <a:ext cx="457200" cy="45720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1975104"/>
            <a:ext cx="2423160" cy="411480"/>
          </a:xfrm>
          <a:prstGeom prst="rect">
            <a:avLst/>
          </a:prstGeom>
          <a:noFill/>
        </p:spPr>
        <p:txBody>
          <a:bodyPr wrap="square" lIns="73152" tIns="73152" rIns="73152" bIns="73152" anchor="ctr">
            <a:spAutoFit/>
          </a:bodyPr>
          <a:lstStyle/>
          <a:p>
            <a:pPr algn="l"/>
            <a:r>
              <a:rPr sz="1700" b="1">
                <a:solidFill>
                  <a:srgbClr val="6D3FD2"/>
                </a:solidFill>
                <a:latin typeface="Arial"/>
              </a:rPr>
              <a:t>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68880"/>
            <a:ext cx="2907792" cy="3227831"/>
          </a:xfrm>
          <a:prstGeom prst="rect">
            <a:avLst/>
          </a:prstGeom>
          <a:noFill/>
        </p:spPr>
        <p:txBody>
          <a:bodyPr wrap="square" lIns="73152" tIns="73152" rIns="73152" bIns="73152" anchor="t">
            <a:spAutoFit/>
          </a:bodyPr>
          <a:lstStyle/>
          <a:p>
            <a:pPr algn="l"/>
            <a:r>
              <a:rPr sz="1400" b="0">
                <a:solidFill>
                  <a:srgbClr val="5B6372"/>
                </a:solidFill>
                <a:latin typeface="Arial"/>
              </a:rPr>
              <a:t>Submit on the LMS
Competent result + attendance requirement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8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355080"/>
            <a:ext cx="10835640" cy="219456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r"/>
            <a:r>
              <a:rPr sz="8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  <p:pic>
        <p:nvPicPr>
          <p:cNvPr id="10" name="Picture 9" descr="lms-portal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28800"/>
            <a:ext cx="3244174" cy="3977639"/>
          </a:xfrm>
          <a:prstGeom prst="rect">
            <a:avLst/>
          </a:prstGeom>
          <a:ln w="15240">
            <a:solidFill>
              <a:srgbClr val="D7E0EA"/>
            </a:solidFill>
          </a:ln>
        </p:spPr>
      </p:pic>
      <p:sp>
        <p:nvSpPr>
          <p:cNvPr id="11" name="Rounded Rectangle 10"/>
          <p:cNvSpPr/>
          <p:nvPr/>
        </p:nvSpPr>
        <p:spPr>
          <a:xfrm>
            <a:off x="4341454" y="182880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1454" y="1828800"/>
            <a:ext cx="82296" cy="15087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4334" y="1920240"/>
            <a:ext cx="3018492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F6FEB"/>
                </a:solidFill>
                <a:latin typeface="Arial"/>
              </a:rPr>
              <a:t>1 · Sign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4334" y="2286000"/>
            <a:ext cx="3018492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lms-tms.tertiaryinfotech.com — log in with your registered email (OTP or password).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00027" y="182880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27" y="1828800"/>
            <a:ext cx="82296" cy="1508760"/>
          </a:xfrm>
          <a:prstGeom prst="rect">
            <a:avLst/>
          </a:prstGeom>
          <a:solidFill>
            <a:srgbClr val="6D3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2907" y="1920240"/>
            <a:ext cx="3018492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6D3FD2"/>
                </a:solidFill>
                <a:latin typeface="Arial"/>
              </a:rPr>
              <a:t>2 · Download materials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2907" y="2286000"/>
            <a:ext cx="3018492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Slides and the Learner Guide from the course page — your open-book references.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1454" y="352044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1454" y="3520440"/>
            <a:ext cx="82296" cy="1508760"/>
          </a:xfrm>
          <a:prstGeom prst="rect">
            <a:avLst/>
          </a:prstGeom>
          <a:solidFill>
            <a:srgbClr val="168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4334" y="3611880"/>
            <a:ext cx="3018492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16845B"/>
                </a:solidFill>
                <a:latin typeface="Arial"/>
              </a:rPr>
              <a:t>3 · Submit answers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4334" y="3977639"/>
            <a:ext cx="3018492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Upload your Written Assessment and Practical Performance answers on the LMS.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0027" y="3520440"/>
            <a:ext cx="3384252" cy="1508760"/>
          </a:xfrm>
          <a:prstGeom prst="roundRect">
            <a:avLst/>
          </a:prstGeom>
          <a:solidFill>
            <a:srgbClr val="F5F8FC"/>
          </a:solidFill>
          <a:ln w="15240">
            <a:solidFill>
              <a:srgbClr val="D7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00027" y="3520440"/>
            <a:ext cx="82296" cy="1508760"/>
          </a:xfrm>
          <a:prstGeom prst="rect">
            <a:avLst/>
          </a:prstGeom>
          <a:solidFill>
            <a:srgbClr val="C77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82907" y="3611880"/>
            <a:ext cx="3018492" cy="329184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1400" b="1">
                <a:solidFill>
                  <a:srgbClr val="C77600"/>
                </a:solidFill>
                <a:latin typeface="Arial"/>
              </a:rPr>
              <a:t>4 · TRAQOM survey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2907" y="3977639"/>
            <a:ext cx="3018492" cy="9601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Complete the TRAQOM survey via the QR code shown on the LMS.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1454" y="5349240"/>
            <a:ext cx="7042825" cy="566928"/>
          </a:xfrm>
          <a:prstGeom prst="roundRect">
            <a:avLst/>
          </a:prstGeom>
          <a:solidFill>
            <a:srgbClr val="F5F8FC"/>
          </a:solidFill>
          <a:ln w="2032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1454" y="5349240"/>
            <a:ext cx="7042825" cy="56692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600" b="1">
                <a:solidFill>
                  <a:srgbClr val="1F6FEB"/>
                </a:solidFill>
                <a:latin typeface="Arial"/>
              </a:rPr>
              <a:t>https://lms-tms.tertiaryinfotech.com/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Written Assessment (SAQ) — 1 hour. Practical Performance (PP) — 1 hour.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Open book: slides, Learner Guide and approved materials only.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Remember to take the Assessment digital attendance (TRAQOM).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Submit your completed answers on the LMS at https://lms-tms.tertiaryinfotech.com/.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TRAQOM survey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Sit WA (SAQ)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497580"/>
            <a:ext cx="38404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8803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It is mandatory to take the AM, PM and Assessment digital attendance for WSQ-funded courses.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The trainer/administrator displays the digital attendance QR code from the SSG portal.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Scan the QR code with your mobile phone camera and submit your attendance.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161B26"/>
                </a:solidFill>
                <a:latin typeface="Arial"/>
              </a:rPr>
              <a:t>•  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FF29D-2E00-A7A1-232C-5186174A1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5E0239-BFD9-3216-03B0-6B95650725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b="1">
                <a:solidFill>
                  <a:srgbClr val="7C3AED"/>
                </a:solidFill>
              </a:rPr>
              <a:t>Now go automate something — questions welcome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73952"/>
            <a:ext cx="8412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Business Process Automation with Power Automate &amp; Copilot Studio Agents  ·  TGS-2022017524  ·  © 2026 Tertiary Infotech Academy Pte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73952"/>
            <a:ext cx="566928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  <p:extLst>
      <p:ext uri="{BB962C8B-B14F-4D97-AF65-F5344CB8AC3E}">
        <p14:creationId xmlns:p14="http://schemas.microsoft.com/office/powerpoint/2010/main" val="39387120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2148472114]">
  <a:themeElements>
    <a:clrScheme name="Office">
      <a:dk1>
        <a:srgbClr val="1B1B2F"/>
      </a:dk1>
      <a:lt1>
        <a:srgbClr val="FFFFFF"/>
      </a:lt1>
      <a:dk2>
        <a:srgbClr val="2B2B40"/>
      </a:dk2>
      <a:lt2>
        <a:srgbClr val="F3F5FB"/>
      </a:lt2>
      <a:accent1>
        <a:srgbClr val="2563EB"/>
      </a:accent1>
      <a:accent2>
        <a:srgbClr val="7C3AED"/>
      </a:accent2>
      <a:accent3>
        <a:srgbClr val="06B6D4"/>
      </a:accent3>
      <a:accent4>
        <a:srgbClr val="DB2777"/>
      </a:accent4>
      <a:accent5>
        <a:srgbClr val="10B981"/>
      </a:accent5>
      <a:accent6>
        <a:srgbClr val="F59E0B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DBB792-EE95-D44E-9920-6DFB61B67727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e129c31c-d639-492d-b1a1-2a7d8dffa55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1552</TotalTime>
  <Words>8518</Words>
  <Application>Microsoft Macintosh PowerPoint</Application>
  <PresentationFormat>Widescreen</PresentationFormat>
  <Paragraphs>1242</Paragraphs>
  <Slides>83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7" baseType="lpstr">
      <vt:lpstr>Arial</vt:lpstr>
      <vt:lpstr>Segoe UI</vt:lpstr>
      <vt:lpstr>Segoe UI Semibold</vt:lpstr>
      <vt:lpstr>Office Theme [1782148472114]</vt:lpstr>
      <vt:lpstr>Business Process Automation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Tertiary Infotech Admin</dc:creator>
  <cp:lastModifiedBy>Alfred Ang</cp:lastModifiedBy>
  <cp:revision>3</cp:revision>
  <dcterms:created xsi:type="dcterms:W3CDTF">2026-06-22T17:06:55Z</dcterms:created>
  <dcterms:modified xsi:type="dcterms:W3CDTF">2026-08-05T16:33:41Z</dcterms:modified>
</cp:coreProperties>
</file>