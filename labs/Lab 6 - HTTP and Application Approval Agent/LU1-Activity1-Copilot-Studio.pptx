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LEARNING UNIT 1 · ACTIVITY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Retail Banking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Customer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Build an AI agent that decides account applications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78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Microsoft Copilot Studio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07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SharePoint Lists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36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90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Building AI Agents for Work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362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Why Marina Trust Bank needs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Marina Trust Bank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342900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Paper and re-keying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Applications arrive on paper. Staff type them into a spreadsheet by hand. Every keystroke is a chance to introduce an error.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19072"/>
            <a:ext cx="342900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Days, not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Applications sit in a queue for 3–5 working days before anyone makes a decision. Applicants hear nothing in the meantime.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10144" y="1719072"/>
            <a:ext cx="342900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Rules in a binder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Eligibility rules are printed and kept at the branch. Different officers read them differently, so outcomes vary.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480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Marina Trust Bank is fictitious. All data in this lab is mock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goes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one checks the register first, so the same person is onboarded twice under slightly different spellings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Inconsistent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Two officers, same application, different outcome — because the rules are applied from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Missed confirmations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Emails are typed one at a time, and some are simply forgotten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audit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When the regulator asks why an application was rejected, nobody can say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Every decision should take twenty seconds,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follow the same rules, and leave a record.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That is what you are going to build.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What You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The moving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whole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883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68883" y="2313432"/>
            <a:ext cx="196596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187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HTTP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Application arrives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from the website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3131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0875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890875" y="2313432"/>
            <a:ext cx="196596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7179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SharePoint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7179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Is this NRIC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already known?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75123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2867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112867" y="2313432"/>
            <a:ext cx="196596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9171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AI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9171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Applies the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six rules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7115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34859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334859" y="2313432"/>
            <a:ext cx="196596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1163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1163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Decision back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 the page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19107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56851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556851" y="2313432"/>
            <a:ext cx="196596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3155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Send 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3155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Confirmation to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applicant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8795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Response comes BEFORE the email on purpose: the applicant sees the decision even if mail delivery later fails. Never couple the user's answer to a side effect.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342900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HTTP Request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 public URL that starts the flow. Any website can POST an application to it. Same idea as a webhook — the flow sits waiting until data arrives.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19072"/>
            <a:ext cx="342900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Agent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decision maker. You give it the bank's rules in plain English and a JSON schema for its answer. It reasons over the application and returns a structured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10144" y="1719072"/>
            <a:ext cx="342900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SharePoint Lists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bank's records. Customers is the register to check against; OnboardingLog is the audit trail. Reads and writes,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...and the fourth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342900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Response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Sends the decision back to whoever called the flow. Without it, the website gets an empty reply and can display nothing.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19072"/>
            <a:ext cx="342900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trigger and the response are a matched pair. One opens the conversation with the website, the other closes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10144" y="1719072"/>
            <a:ext cx="342900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Order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SharePoint lookup runs BEFORE the agent, so the agent already knows whether this person is an existing customer.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Inside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What the Agent node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Six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11155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6537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system prompt. The rules, the definitions, the output contract. Everything the agent knows about its job lives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63500" cy="11155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6537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7C3AED"/>
                </a:solidFill>
                <a:latin typeface="Arial"/>
              </a:rPr>
              <a:t>Microsoft 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Grounds the agent in your organisation's work context — people, meetings, documents, app signals from Microsoft 365.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9923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" y="2999232"/>
            <a:ext cx="63500" cy="11155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4553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7472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Systems the agent can call itself: SharePoint, Outlook, Teams, OneDrive, Excel Online, Dataverse, MCP servers, any connector.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9923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17920" y="2999232"/>
            <a:ext cx="63500" cy="11155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14553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7C3AED"/>
                </a:solidFill>
                <a:latin typeface="Arial"/>
              </a:rPr>
              <a:t>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7472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Trusted reference material the agent reads from when answering, instead of relying on what the model already knows.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7939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40080" y="4279392"/>
            <a:ext cx="63500" cy="11155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2569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Request human assistance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When the agent is unsure, it emails the connection owner and waits for a person to weigh in before continuing.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7939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17920" y="4279392"/>
            <a:ext cx="63500" cy="11155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42569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0B981"/>
                </a:solidFill>
                <a:latin typeface="Arial"/>
              </a:rPr>
              <a:t>Web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5488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Lets the agent look things up on the public web. Off by default, and best left off for regulated decisions.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Activity 1 uses Instructions and Structured output only. Everything else is off — deliberately, because a bank decision should depend on the bank's own data and nothing else.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you find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pic>
        <p:nvPicPr>
          <p:cNvPr id="8" name="Picture 7" descr="13-node-agent-schema.png"/>
          <p:cNvPicPr>
            <a:picLocks noChangeAspect="1"/>
          </p:cNvPicPr>
          <p:nvPr/>
        </p:nvPicPr>
        <p:blipFill>
          <a:blip r:embed="rId2"/>
          <a:srcRect l="30000" t="12000" r="1000" b="8000"/>
          <a:stretch>
            <a:fillRect/>
          </a:stretch>
        </p:blipFill>
        <p:spPr>
          <a:xfrm>
            <a:off x="640080" y="1719072"/>
            <a:ext cx="5426049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All six sit together at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bottom of the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Agent panel: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Microsoft IQ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Tools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Knowledge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Request human assistance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Web search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Output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Activity 1 leaves both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toggles 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SEVENTH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342900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Text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agent replies in prose. Fine for a chat assistant, useless when a website has to read the answer and render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19072"/>
            <a:ext cx="342900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Structured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 predefined shape. The agent must fill in the fields you specified, so downstream steps can rely on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10144" y="1719072"/>
            <a:ext cx="342900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Custom structured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You supply the JSON Schema. This is what Activity 1 uses — with an enum on 'decision' so only four values are possible.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480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schema turns the model from something that writes an answer into something that returns data your flow can act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Six rules,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THE AGENT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rules stop at the first 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7240" y="1819656"/>
            <a:ext cx="868680" cy="34747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5623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NRIC already in the Customers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85623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DUPLICATE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5915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77240" y="2459736"/>
            <a:ext cx="8686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9631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Applicant is under 18 years 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49631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REJECTED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9923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3099816"/>
            <a:ext cx="868680" cy="34747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13639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PEP, foreign tax resident, or high-risk funds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13639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3931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77240" y="3739896"/>
            <a:ext cx="8686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77647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Employment or income fails the product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77647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REJECTED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7939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77240" y="4379976"/>
            <a:ext cx="8686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41655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Initial deposit below the product minimum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41655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REJECTED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1947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77240" y="5020056"/>
            <a:ext cx="868680" cy="34747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STEP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05663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Nothing fired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505663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APPROVED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4243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Order is the point. An applicant who is under 18 AND a PEP is REJECTED, not REVIEW — Step 2 fires first and stops the ladder.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RULES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product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Employment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Savings — none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Joint Savings — none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Student Account — must be Student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Current — gainfully employed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Fixed Deposit — income ≥ SGD 30,000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Multi-Currency — ≥ SGD 60,000 + employed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Minimum initial deposit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Savings — SGD 500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Joint Savings — SGD 1,000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Student Account — SGD 0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Current — SGD 3,000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Fixed Deposit — SGD 10,000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Multi-Currency — SGD 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6811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agent judges the applicant only against the account type they actually asked for.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STRUCTURED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the agent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Every decision comes back in this exact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10881360" cy="2377440"/>
          </a:xfrm>
          <a:prstGeom prst="roundRect">
            <a:avLst/>
          </a:prstGeom>
          <a:solidFill>
            <a:srgbClr val="F2F5F9"/>
          </a:solidFill>
          <a:ln w="1587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"applicationId": "APP-20260801085935",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"decision": "APPROVED",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"reason": "The application has been reviewed and all eligibility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           criteria for a Savings account have been met.",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"riskFlags": []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 JSON schema with an enum on 'decision' stops the model inventing values the website cannot render.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Five nodes,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COPILOT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finished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pic>
        <p:nvPicPr>
          <p:cNvPr id="8" name="Picture 7" descr="07-flow-canvas.png"/>
          <p:cNvPicPr>
            <a:picLocks noChangeAspect="1"/>
          </p:cNvPicPr>
          <p:nvPr/>
        </p:nvPicPr>
        <p:blipFill>
          <a:blip r:embed="rId2"/>
          <a:srcRect l="5000" t="10000" r="2000" b="30000"/>
          <a:stretch>
            <a:fillRect/>
          </a:stretch>
        </p:blipFill>
        <p:spPr>
          <a:xfrm>
            <a:off x="1220267" y="1719072"/>
            <a:ext cx="9751161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81558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Trigger → SharePoint lookup → Agent → Response → Email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Node 1 — HTTP request trigger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pic>
        <p:nvPicPr>
          <p:cNvPr id="8" name="Picture 7" descr="08-node-trigger.png"/>
          <p:cNvPicPr>
            <a:picLocks noChangeAspect="1"/>
          </p:cNvPicPr>
          <p:nvPr/>
        </p:nvPicPr>
        <p:blipFill>
          <a:blip r:embed="rId2"/>
          <a:srcRect l="30000" t="12000" r="1000" b="10000"/>
          <a:stretch>
            <a:fillRect/>
          </a:stretch>
        </p:blipFill>
        <p:spPr>
          <a:xfrm>
            <a:off x="640080" y="1719072"/>
            <a:ext cx="5565179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METHOD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POST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WHO CAN TRIGGER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Anyone (no authentication)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RELATIVE PATH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Leave blank — a value here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breaks Publish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POST URL appears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only after you save.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Node 2 — SharePoint lookup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pic>
        <p:nvPicPr>
          <p:cNvPr id="8" name="Picture 7" descr="11-node-sharepoint-filter.png"/>
          <p:cNvPicPr>
            <a:picLocks noChangeAspect="1"/>
          </p:cNvPicPr>
          <p:nvPr/>
        </p:nvPicPr>
        <p:blipFill>
          <a:blip r:embed="rId2"/>
          <a:srcRect l="30000" t="12000" r="1000" b="10000"/>
          <a:stretch>
            <a:fillRect/>
          </a:stretch>
        </p:blipFill>
        <p:spPr>
          <a:xfrm>
            <a:off x="640080" y="1719072"/>
            <a:ext cx="5565179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SITE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Marina Trust Bank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Onboarding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LIST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Customers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FILTER QUERY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NRIC eq '&lt;toUpper&gt;'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toUpper matters: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lowercase input must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still match the register.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Node 3 — the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pic>
        <p:nvPicPr>
          <p:cNvPr id="8" name="Picture 7" descr="12-node-agent.png"/>
          <p:cNvPicPr>
            <a:picLocks noChangeAspect="1"/>
          </p:cNvPicPr>
          <p:nvPr/>
        </p:nvPicPr>
        <p:blipFill>
          <a:blip r:embed="rId2"/>
          <a:srcRect l="30000" t="12000" r="1000" b="10000"/>
          <a:stretch>
            <a:fillRect/>
          </a:stretch>
        </p:blipFill>
        <p:spPr>
          <a:xfrm>
            <a:off x="640080" y="1719072"/>
            <a:ext cx="5565179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INSTRUCTIONS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six rules, plus the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application data at the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bottom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OUTPUT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Custom structured output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There is no separate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input field — the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application goes in the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Node 4 — the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pic>
        <p:nvPicPr>
          <p:cNvPr id="8" name="Picture 7" descr="15-node-response.png"/>
          <p:cNvPicPr>
            <a:picLocks noChangeAspect="1"/>
          </p:cNvPicPr>
          <p:nvPr/>
        </p:nvPicPr>
        <p:blipFill>
          <a:blip r:embed="rId2"/>
          <a:srcRect l="30000" t="12000" r="1000" b="10000"/>
          <a:stretch>
            <a:fillRect/>
          </a:stretch>
        </p:blipFill>
        <p:spPr>
          <a:xfrm>
            <a:off x="640080" y="1719072"/>
            <a:ext cx="5565179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STATUS CODE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200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HEADERS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Content-Type: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application/json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BODY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agent's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structuredOutput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is what the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website renders.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GOTCHAS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Six things that will catch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65836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Publish, do not just save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HTTP endpoint always serves the published version. Check the Version history panel if an edit seems to do nothing.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96312"/>
            <a:ext cx="10881360" cy="65836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63500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877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Relative path must be empty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706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Typing a path there makes Publish fail with an 'inputs.relativePath is not valid' error.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73552"/>
            <a:ext cx="10881360" cy="65836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" y="3273552"/>
            <a:ext cx="63500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649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The trigger validates types strictly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478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Numbers must arrive as numbers, booleans as booleans. HTML forms send strings — the website has to cast them first.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50792"/>
            <a:ext cx="10881360" cy="65836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0080" y="4050792"/>
            <a:ext cx="63500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22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Rich-text fields eat expressions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251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email Body and the agent Instructions need the token picker or code mode. Pasted @{...} stays as dead 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28032"/>
            <a:ext cx="10881360" cy="65836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40080" y="4828032"/>
            <a:ext cx="63500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9194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The email To field needs the picker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023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typed expression arrives with a trailing newline and Outlook rejects the address. Insert the Email token with the picker instead.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605272"/>
            <a:ext cx="10881360" cy="65836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0080" y="5605272"/>
            <a:ext cx="63500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6967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HTTP 200 does not mean it worked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Once Response runs first, later actions fail invisibly. Judge success from the Activity tab, not the status code.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SharePoint as the bank's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SHAREPOINT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 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register to check against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NRIC · Full Name · Date of Birth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Email · Account Type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Annual Income · Onboarded On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Seeded with 5 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OnboardingLog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audit trail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Timestamp · Application ID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NRIC · Account Type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Decision · Reason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One row per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6811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Title is mandatory on every SharePoint item and cannot be removed. The flow sets it to the NRIC.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SHAREPOINT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Customers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pic>
        <p:nvPicPr>
          <p:cNvPr id="8" name="Picture 7" descr="05-sharepoint-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311" y="1719072"/>
            <a:ext cx="6291072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81558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is what the duplicate check queries on every application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The applicant's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application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pic>
        <p:nvPicPr>
          <p:cNvPr id="8" name="Picture 7" descr="01-websi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311" y="1719072"/>
            <a:ext cx="6291072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81558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Paste your HTTP POST URL into Lab configuration, then submit an application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approved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pic>
        <p:nvPicPr>
          <p:cNvPr id="8" name="Picture 7" descr="03-result-appro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6291072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HAPPENED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1. Form posted the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    application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2. SharePoint found no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    matching NRIC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3. Agent applied the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    rules, nothing fired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4. Decision returned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    and rendered here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existing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pic>
        <p:nvPicPr>
          <p:cNvPr id="8" name="Picture 7" descr="04-result-dupl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6291072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HAPPENED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1. Form posted the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    application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2. SharePoint FOUND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    the NRIC in Customers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3. Step 1 fired and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    stopped the ladder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4. No account opened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every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457200"/>
          </a:xfrm>
          <a:prstGeom prst="roundRect">
            <a:avLst/>
          </a:prstGeom>
          <a:solidFill>
            <a:srgbClr val="E7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TEST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9424"/>
            <a:ext cx="10881360" cy="4206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TC1 Happy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New NRIC, Savings, SGD 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072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TC2 Existing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07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S8412345D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8072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DUPLICATE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10881360" cy="4206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32826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TC5 Messy casing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826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s8412345d lowercase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282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581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TC6 Politically exposed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581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PEP = 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7581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REVIEW + PEP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51376"/>
            <a:ext cx="10881360" cy="4206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4233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TC7 Under 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233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Date of birth 2010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2336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REJECTED + MINOR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TC8 Deposit too 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70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Savings, SGD 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709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REJECTED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3892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TC5 is the one to demonstrate: same NRIC as TC2 but lowercase. Without normalisation it would be approved and create a duplicate.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Expect about twenty seconds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per application.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The SharePoint lookup and the model call are both network round-trips. It has not hung.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Step or Tool?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Two ways to give an agent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"Why didn't we add SharePoint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as a Tool in the agent?"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A fair question — and the answer is the most important idea in this learning unit.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APPROACH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 — SharePoint as a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9879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779879" y="2313432"/>
            <a:ext cx="196596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6183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6183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Application arrives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64127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01871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001871" y="2313432"/>
            <a:ext cx="196596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8175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SharePoint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8175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Lookup ALWAYS runs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6119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3863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23863" y="2313432"/>
            <a:ext cx="196596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0167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Reads the result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208111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45855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445855" y="2313432"/>
            <a:ext cx="196596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159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2159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Decision 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8795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You decided the order at design time. The lookup cannot be skipped, because it is not the agent's choice to make.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APPROACH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1b — SharePoint as a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0875" y="2313432"/>
            <a:ext cx="1965960" cy="1618488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890875" y="2313432"/>
            <a:ext cx="196596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7179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7179" y="3118104"/>
            <a:ext cx="16733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Application arrives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75123" y="3022092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12867" y="2313432"/>
            <a:ext cx="1965960" cy="1618488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112867" y="2313432"/>
            <a:ext cx="196596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9171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9171" y="3118104"/>
            <a:ext cx="16733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Decides to look up,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calls SharePoint,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reads, continues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97115" y="3022092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4859" y="2313432"/>
            <a:ext cx="1965960" cy="1618488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334859" y="2313432"/>
            <a:ext cx="196596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1163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1163" y="3118104"/>
            <a:ext cx="16733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Decision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agent decides at run time whether and when to check. The lookup is inside its reasoning, not on the canvas.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DEEP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tradeoff in full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475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8379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3794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SharePoint as a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3794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SharePoint as a TOOL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108813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3865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Who decides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8658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You, at design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38658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Agent, at run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98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Lookup guaranteed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89864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Yes — structural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89864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— instructed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10128"/>
            <a:ext cx="108813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Model calls per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41071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41071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2 or more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227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922776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922776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Higher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34256"/>
            <a:ext cx="108813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Visible on canvas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43484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43484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— inside the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46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94690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Read the run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94690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Read the reasoning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358384"/>
            <a:ext cx="108813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" y="54589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Handles the unexpected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45896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Only what you built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545896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Can adapt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2531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Neither column is the right answer. The question is always: does this task need guarantees, or does it need judgement?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Activity 1 uses a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 1 says "always first"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 a step that is structurally guaranteed. As a tool you are trusting the model to always call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failure is expensive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agent that skips the duplicate check opens a second account for an existing customer — the exact thing this automation exists to prevent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regulator will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"Show me that you checked." A step appears in every run history. A tool call is buried in the agent's reasoning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Credits are finite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Tool use means reason, call, reason again. In a Developer environment with a class running tests, that adds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is not a limitation of Copilot Studio. It is a design decision, and it is the kind you will make on every real project.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When to use which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Use a STEP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check is mandatory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Order is a compliance requirement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Every run must behave the same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You need it provable, not likely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Volume makes cost per run matter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Use a TOOL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path is not known in advance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Some lookups are only sometimes needed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agent may need to call it repeatedly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Flexibility beats predictability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task genuinely needs judgement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6811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Most production systems use both — steps for what must happen, tools for what requires judgement.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Build it both ways.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Run them side by side.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Activity 1b is the same decision with SharePoint as a tool. The decisions match; everything else differs.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Going Further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Extend the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Write the customer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 Create item on the APPROVED branch, so an approved applicant joins the register — resubmit and it returns DUPLICATE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Write the audit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 Create item to OnboardingLog for every decision, whatever the outcome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review for REVIEW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Route PEP and high-risk applications to an approval step instead of straight to the applicant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Compare with the n8n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Same scenario, same rules, different platform — see what each makes easy and what each makes hard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Full step-by-step instructions, every expression and every prompt: see LAB-GUIDE.md in the lab folder.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LAB-GUIDE.md has the complete build, expression by expression.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LU1 · Activity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