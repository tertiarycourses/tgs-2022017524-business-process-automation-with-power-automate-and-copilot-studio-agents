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73736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1F6FEB"/>
                </a:solidFill>
                <a:latin typeface="Arial"/>
              </a:rPr>
              <a:t>LEARNING UNIT 2 · ACTIVITY 2b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194560"/>
            <a:ext cx="10515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4000" b="1">
                <a:solidFill>
                  <a:srgbClr val="161B26"/>
                </a:solidFill>
                <a:latin typeface="Arial"/>
              </a:rPr>
              <a:t>Client Rapport Assistant</a:t>
            </a:r>
          </a:p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4000" b="1">
                <a:solidFill>
                  <a:srgbClr val="161B26"/>
                </a:solidFill>
                <a:latin typeface="Arial"/>
              </a:rPr>
              <a:t>with Human Handover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79476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900" b="0">
                <a:solidFill>
                  <a:srgbClr val="5B6372"/>
                </a:solidFill>
                <a:latin typeface="Arial"/>
              </a:rPr>
              <a:t>The agent drafts. A licensed human approves. Nothing sends unsupervised.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4572000"/>
            <a:ext cx="3108960" cy="868680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1078992" y="4700016"/>
            <a:ext cx="2743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PLATFORM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" y="4974336"/>
            <a:ext cx="2743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Microsoft Copilot Studio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51960" y="4572000"/>
            <a:ext cx="3108960" cy="868680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4507992" y="4700016"/>
            <a:ext cx="2743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APPROVAL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07992" y="4974336"/>
            <a:ext cx="2743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Microsoft Teams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680960" y="4572000"/>
            <a:ext cx="3108960" cy="868680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7936992" y="4700016"/>
            <a:ext cx="2743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DURATION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36992" y="4974336"/>
            <a:ext cx="2743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90 minutes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594360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Building AI Agents for Work Automation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6236208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Tertiary Infotech Academy Pte Ltd · UEN 201200696W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1371600"/>
            <a:ext cx="54864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9600" b="1">
                <a:solidFill>
                  <a:srgbClr val="E3ECF9"/>
                </a:solidFill>
                <a:latin typeface="Arial"/>
              </a:rPr>
              <a:t>01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3200400"/>
            <a:ext cx="104241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800" b="1">
                <a:solidFill>
                  <a:srgbClr val="161B26"/>
                </a:solidFill>
                <a:latin typeface="Arial"/>
              </a:rPr>
              <a:t>The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4206240"/>
            <a:ext cx="104241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5B6372"/>
                </a:solidFill>
                <a:latin typeface="Arial"/>
              </a:rPr>
              <a:t>Why Meridian cannot just automate this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2971800"/>
            <a:ext cx="1371600" cy="762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LU2 · Activity 2b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206240" y="6473952"/>
            <a:ext cx="3840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11535" y="6473952"/>
            <a:ext cx="777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881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SCENARIO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58952"/>
            <a:ext cx="108813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Meridian Asset Management today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417320"/>
            <a:ext cx="1051560" cy="508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LU2 · Activity 2b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206240" y="6473952"/>
            <a:ext cx="3840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11535" y="6473952"/>
            <a:ext cx="777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719072"/>
            <a:ext cx="3429000" cy="3200400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ectangle 8"/>
          <p:cNvSpPr/>
          <p:nvPr/>
        </p:nvSpPr>
        <p:spPr>
          <a:xfrm>
            <a:off x="640080" y="1719072"/>
            <a:ext cx="3429000" cy="635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77824" y="1993392"/>
            <a:ext cx="2971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>
                <a:solidFill>
                  <a:srgbClr val="1F6FEB"/>
                </a:solidFill>
                <a:latin typeface="Arial"/>
              </a:rPr>
              <a:t>Clients write in scared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77824" y="2587752"/>
            <a:ext cx="297180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50" b="0">
                <a:solidFill>
                  <a:srgbClr val="5B6372"/>
                </a:solidFill>
                <a:latin typeface="Arial"/>
              </a:rPr>
              <a:t>Six discretionary portfolios. When markets move, clients email — worried about performance, volatility and NAV. They are anxious about their own money.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25112" y="1719072"/>
            <a:ext cx="3429000" cy="3200400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ectangle 12"/>
          <p:cNvSpPr/>
          <p:nvPr/>
        </p:nvSpPr>
        <p:spPr>
          <a:xfrm>
            <a:off x="4325112" y="1719072"/>
            <a:ext cx="3429000" cy="635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62856" y="1993392"/>
            <a:ext cx="2971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>
                <a:solidFill>
                  <a:srgbClr val="10B981"/>
                </a:solidFill>
                <a:latin typeface="Arial"/>
              </a:rPr>
              <a:t>Replies take three days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62856" y="2587752"/>
            <a:ext cx="297180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50" b="0">
                <a:solidFill>
                  <a:srgbClr val="5B6372"/>
                </a:solidFill>
                <a:latin typeface="Arial"/>
              </a:rPr>
              <a:t>The relationship managers are drowning. Some clients get a warm, careful answer. Some get a rushed one. Consistency is a matter of who was on duty.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10144" y="1719072"/>
            <a:ext cx="3429000" cy="3200400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ectangle 16"/>
          <p:cNvSpPr/>
          <p:nvPr/>
        </p:nvSpPr>
        <p:spPr>
          <a:xfrm>
            <a:off x="8010144" y="1719072"/>
            <a:ext cx="3429000" cy="6350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47888" y="1993392"/>
            <a:ext cx="2971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>
                <a:solidFill>
                  <a:srgbClr val="7C3AED"/>
                </a:solidFill>
                <a:latin typeface="Arial"/>
              </a:rPr>
              <a:t>One sentence is a breach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47888" y="2587752"/>
            <a:ext cx="297180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50" b="0">
                <a:solidFill>
                  <a:srgbClr val="5B6372"/>
                </a:solidFill>
                <a:latin typeface="Arial"/>
              </a:rPr>
              <a:t>A manager under pressure once wrote “don’t worry, it always bounces back.” That is unlicensed financial advice in every jurisdiction that has a regulator.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5148072"/>
            <a:ext cx="10881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The team wants AI to reply faster. Compliance says no. Both are right.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05840" y="2286000"/>
            <a:ext cx="101498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3600" b="1">
                <a:solidFill>
                  <a:srgbClr val="161B26"/>
                </a:solidFill>
                <a:latin typeface="Arial"/>
              </a:rPr>
              <a:t>The AI is drafting a letter from a licensed firm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3600" b="1">
                <a:solidFill>
                  <a:srgbClr val="161B26"/>
                </a:solidFill>
                <a:latin typeface="Arial"/>
              </a:rPr>
              <a:t>to a retail investor about their money.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05840" y="4206240"/>
            <a:ext cx="101498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800" b="0">
                <a:solidFill>
                  <a:srgbClr val="5B6372"/>
                </a:solidFill>
                <a:latin typeface="Arial"/>
              </a:rPr>
              <a:t>Getting the tone wrong is embarrassing. Getting the content wrong — “hold on, it will recover” — is an offence.</a:t>
            </a:r>
          </a:p>
        </p:txBody>
      </p:sp>
      <p:sp>
        <p:nvSpPr>
          <p:cNvPr id="4" name="Rectangle 3"/>
          <p:cNvSpPr/>
          <p:nvPr/>
        </p:nvSpPr>
        <p:spPr>
          <a:xfrm>
            <a:off x="1005840" y="1920240"/>
            <a:ext cx="1371600" cy="762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LU2 · Activity 2b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206240" y="6473952"/>
            <a:ext cx="3840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11535" y="6473952"/>
            <a:ext cx="777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1371600"/>
            <a:ext cx="54864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9600" b="1">
                <a:solidFill>
                  <a:srgbClr val="E3ECF9"/>
                </a:solidFill>
                <a:latin typeface="Arial"/>
              </a:rPr>
              <a:t>02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3200400"/>
            <a:ext cx="104241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800" b="1">
                <a:solidFill>
                  <a:srgbClr val="161B26"/>
                </a:solidFill>
                <a:latin typeface="Arial"/>
              </a:rPr>
              <a:t>Human in the Loop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4206240"/>
            <a:ext cx="104241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5B6372"/>
                </a:solidFill>
                <a:latin typeface="Arial"/>
              </a:rPr>
              <a:t>What the phrase actually means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2971800"/>
            <a:ext cx="1371600" cy="762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LU2 · Activity 2b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206240" y="6473952"/>
            <a:ext cx="3840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11535" y="6473952"/>
            <a:ext cx="777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881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DEFINITIONS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58952"/>
            <a:ext cx="108813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Three patterns, often confused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417320"/>
            <a:ext cx="1051560" cy="508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LU2 · Activity 2b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206240" y="6473952"/>
            <a:ext cx="3840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11535" y="6473952"/>
            <a:ext cx="777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719072"/>
            <a:ext cx="10881360" cy="475488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68680" y="1837944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0" y="1837944"/>
            <a:ext cx="3794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HUMAN IN THE LOOP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35240" y="1837944"/>
            <a:ext cx="3794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400" b="1">
                <a:solidFill>
                  <a:srgbClr val="7C3AED"/>
                </a:solidFill>
                <a:latin typeface="Arial"/>
              </a:rPr>
              <a:t>ON / OUT OF THE LOOP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2286000"/>
            <a:ext cx="10881360" cy="457200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868680" y="2386584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Who decides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840480" y="2386584"/>
            <a:ext cx="3794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AI proposes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35240" y="2386584"/>
            <a:ext cx="3794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AI decides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" y="2898648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Who acts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840480" y="2898648"/>
            <a:ext cx="3794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Human authorises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635240" y="2898648"/>
            <a:ext cx="3794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AI acts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" y="3310128"/>
            <a:ext cx="10881360" cy="457200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868680" y="3410712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Can AI proceed alone?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840480" y="3410712"/>
            <a:ext cx="3794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No — it blocks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635240" y="3410712"/>
            <a:ext cx="3794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Yes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68680" y="3922776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Supervision happens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840480" y="3922776"/>
            <a:ext cx="3794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Before the act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635240" y="3922776"/>
            <a:ext cx="3794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After, if at all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40080" y="4334256"/>
            <a:ext cx="10881360" cy="457200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868680" y="4434840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Failure mode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840480" y="4434840"/>
            <a:ext cx="3794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Delay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635240" y="4434840"/>
            <a:ext cx="3794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The client already read it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0080" y="4901184"/>
            <a:ext cx="108813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1350" b="0">
                <a:solidFill>
                  <a:srgbClr val="5B6372"/>
                </a:solidFill>
                <a:latin typeface="Arial"/>
              </a:rPr>
              <a:t>LU1's onboarding flow and LU2's investment advisor are both OUT of the loop. This lab is the only one genuinely IN it.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881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THE SHAPE OF THIS WORKFLOW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58952"/>
            <a:ext cx="108813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Where the loop closes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417320"/>
            <a:ext cx="1051560" cy="508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LU2 · Activity 2b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206240" y="6473952"/>
            <a:ext cx="3840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11535" y="6473952"/>
            <a:ext cx="777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779879" y="2313432"/>
            <a:ext cx="1965960" cy="1618488"/>
          </a:xfrm>
          <a:prstGeom prst="roundRect">
            <a:avLst/>
          </a:prstGeom>
          <a:solidFill>
            <a:srgbClr val="F5F8FC"/>
          </a:solidFill>
          <a:ln w="15875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ectangle 8"/>
          <p:cNvSpPr/>
          <p:nvPr/>
        </p:nvSpPr>
        <p:spPr>
          <a:xfrm>
            <a:off x="1779879" y="2313432"/>
            <a:ext cx="1965960" cy="635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926183" y="2551176"/>
            <a:ext cx="167335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Client writes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926183" y="3118104"/>
            <a:ext cx="1673352" cy="7040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  <a:spcAft>
                <a:spcPts val="2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A worried message</a:t>
            </a:r>
          </a:p>
          <a:p>
            <a:pPr algn="ctr">
              <a:lnSpc>
                <a:spcPct val="120000"/>
              </a:lnSpc>
              <a:spcAft>
                <a:spcPts val="2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arrives from the</a:t>
            </a:r>
          </a:p>
          <a:p>
            <a:pPr algn="ctr">
              <a:lnSpc>
                <a:spcPct val="120000"/>
              </a:lnSpc>
              <a:spcAft>
                <a:spcPts val="2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website widget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3764127" y="3022092"/>
            <a:ext cx="219456" cy="201168"/>
          </a:xfrm>
          <a:prstGeom prst="rightArrow">
            <a:avLst/>
          </a:prstGeom>
          <a:solidFill>
            <a:srgbClr val="B6C2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4001871" y="2313432"/>
            <a:ext cx="1965960" cy="1618488"/>
          </a:xfrm>
          <a:prstGeom prst="roundRect">
            <a:avLst/>
          </a:prstGeom>
          <a:solidFill>
            <a:srgbClr val="F5F8FC"/>
          </a:solidFill>
          <a:ln w="15875">
            <a:solidFill>
              <a:srgbClr val="7C3A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Rectangle 13"/>
          <p:cNvSpPr/>
          <p:nvPr/>
        </p:nvSpPr>
        <p:spPr>
          <a:xfrm>
            <a:off x="4001871" y="2313432"/>
            <a:ext cx="1965960" cy="6350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148175" y="2551176"/>
            <a:ext cx="167335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400" b="1">
                <a:solidFill>
                  <a:srgbClr val="7C3AED"/>
                </a:solidFill>
                <a:latin typeface="Arial"/>
              </a:rPr>
              <a:t>Agent works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48175" y="3118104"/>
            <a:ext cx="1673352" cy="7040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  <a:spcAft>
                <a:spcPts val="2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Classify · read tone</a:t>
            </a:r>
          </a:p>
          <a:p>
            <a:pPr algn="ctr">
              <a:lnSpc>
                <a:spcPct val="120000"/>
              </a:lnSpc>
              <a:spcAft>
                <a:spcPts val="2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flag · DRAFT</a:t>
            </a:r>
          </a:p>
          <a:p>
            <a:pPr algn="ctr">
              <a:lnSpc>
                <a:spcPct val="120000"/>
              </a:lnSpc>
              <a:spcAft>
                <a:spcPts val="2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(never sends)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5986119" y="3022092"/>
            <a:ext cx="219456" cy="201168"/>
          </a:xfrm>
          <a:prstGeom prst="rightArrow">
            <a:avLst/>
          </a:prstGeom>
          <a:solidFill>
            <a:srgbClr val="B6C2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223863" y="2313432"/>
            <a:ext cx="1965960" cy="1618488"/>
          </a:xfrm>
          <a:prstGeom prst="roundRect">
            <a:avLst/>
          </a:prstGeom>
          <a:solidFill>
            <a:srgbClr val="F5F8FC"/>
          </a:solidFill>
          <a:ln w="15875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Rectangle 18"/>
          <p:cNvSpPr/>
          <p:nvPr/>
        </p:nvSpPr>
        <p:spPr>
          <a:xfrm>
            <a:off x="6223863" y="2313432"/>
            <a:ext cx="1965960" cy="63500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70167" y="2551176"/>
            <a:ext cx="167335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400" b="1">
                <a:solidFill>
                  <a:srgbClr val="D97706"/>
                </a:solidFill>
                <a:latin typeface="Arial"/>
              </a:rPr>
              <a:t>▶ HUMAN ◀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70167" y="3118104"/>
            <a:ext cx="1673352" cy="7040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  <a:spcAft>
                <a:spcPts val="2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The run STOPS</a:t>
            </a:r>
          </a:p>
          <a:p>
            <a:pPr algn="ctr">
              <a:lnSpc>
                <a:spcPct val="120000"/>
              </a:lnSpc>
              <a:spcAft>
                <a:spcPts val="2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until a person</a:t>
            </a:r>
          </a:p>
          <a:p>
            <a:pPr algn="ctr">
              <a:lnSpc>
                <a:spcPct val="120000"/>
              </a:lnSpc>
              <a:spcAft>
                <a:spcPts val="2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acts in Teams</a:t>
            </a:r>
          </a:p>
        </p:txBody>
      </p:sp>
      <p:sp>
        <p:nvSpPr>
          <p:cNvPr id="22" name="Right Arrow 21"/>
          <p:cNvSpPr/>
          <p:nvPr/>
        </p:nvSpPr>
        <p:spPr>
          <a:xfrm>
            <a:off x="8208111" y="3022092"/>
            <a:ext cx="219456" cy="201168"/>
          </a:xfrm>
          <a:prstGeom prst="rightArrow">
            <a:avLst/>
          </a:prstGeom>
          <a:solidFill>
            <a:srgbClr val="B6C2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8445855" y="2313432"/>
            <a:ext cx="1965960" cy="1618488"/>
          </a:xfrm>
          <a:prstGeom prst="roundRect">
            <a:avLst/>
          </a:prstGeom>
          <a:solidFill>
            <a:srgbClr val="F5F8FC"/>
          </a:solidFill>
          <a:ln w="15875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Rectangle 23"/>
          <p:cNvSpPr/>
          <p:nvPr/>
        </p:nvSpPr>
        <p:spPr>
          <a:xfrm>
            <a:off x="8445855" y="2313432"/>
            <a:ext cx="1965960" cy="635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592159" y="2551176"/>
            <a:ext cx="167335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Consequence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592159" y="3118104"/>
            <a:ext cx="1673352" cy="7040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  <a:spcAft>
                <a:spcPts val="2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Send + log, or</a:t>
            </a:r>
          </a:p>
          <a:p>
            <a:pPr algn="ctr">
              <a:lnSpc>
                <a:spcPct val="120000"/>
              </a:lnSpc>
              <a:spcAft>
                <a:spcPts val="2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assign a named</a:t>
            </a:r>
          </a:p>
          <a:p>
            <a:pPr algn="ctr">
              <a:lnSpc>
                <a:spcPct val="120000"/>
              </a:lnSpc>
              <a:spcAft>
                <a:spcPts val="2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person to call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" y="4389120"/>
            <a:ext cx="108813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40000"/>
              </a:lnSpc>
              <a:spcAft>
                <a:spcPts val="600"/>
              </a:spcAft>
            </a:pPr>
            <a:r>
              <a:rPr sz="1500" b="0">
                <a:solidFill>
                  <a:srgbClr val="5B6372"/>
                </a:solidFill>
                <a:latin typeface="Arial"/>
              </a:rPr>
              <a:t>Everything before the gate is a proposal. Everything after it is a consequence. The node between them does nothing at all except wait.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05840" y="2286000"/>
            <a:ext cx="101498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3600" b="1">
                <a:solidFill>
                  <a:srgbClr val="161B26"/>
                </a:solidFill>
                <a:latin typeface="Arial"/>
              </a:rPr>
              <a:t>The test of a real gate: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3600" b="1">
                <a:solidFill>
                  <a:srgbClr val="161B26"/>
                </a:solidFill>
                <a:latin typeface="Arial"/>
              </a:rPr>
              <a:t>submit an enquiry, then walk away.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05840" y="4206240"/>
            <a:ext cx="101498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800" b="0">
                <a:solidFill>
                  <a:srgbClr val="5B6372"/>
                </a:solidFill>
                <a:latin typeface="Arial"/>
              </a:rPr>
              <a:t>The run says Running. It will still say Running tomorrow. Nothing times out, nothing defaults, nothing proceeds.</a:t>
            </a:r>
          </a:p>
        </p:txBody>
      </p:sp>
      <p:sp>
        <p:nvSpPr>
          <p:cNvPr id="4" name="Rectangle 3"/>
          <p:cNvSpPr/>
          <p:nvPr/>
        </p:nvSpPr>
        <p:spPr>
          <a:xfrm>
            <a:off x="1005840" y="1920240"/>
            <a:ext cx="1371600" cy="76200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LU2 · Activity 2b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206240" y="6473952"/>
            <a:ext cx="3840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11535" y="6473952"/>
            <a:ext cx="777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1371600"/>
            <a:ext cx="54864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9600" b="1">
                <a:solidFill>
                  <a:srgbClr val="E3ECF9"/>
                </a:solidFill>
                <a:latin typeface="Arial"/>
              </a:rPr>
              <a:t>03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3200400"/>
            <a:ext cx="104241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800" b="1">
                <a:solidFill>
                  <a:srgbClr val="161B26"/>
                </a:solidFill>
                <a:latin typeface="Arial"/>
              </a:rPr>
              <a:t>What You Build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4206240"/>
            <a:ext cx="104241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5B6372"/>
                </a:solidFill>
                <a:latin typeface="Arial"/>
              </a:rPr>
              <a:t>Eleven nodes, one gate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2971800"/>
            <a:ext cx="1371600" cy="762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LU2 · Activity 2b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206240" y="6473952"/>
            <a:ext cx="3840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11535" y="6473952"/>
            <a:ext cx="777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881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COPILOT STUDIO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58952"/>
            <a:ext cx="108813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The workflow on the canvas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417320"/>
            <a:ext cx="1051560" cy="508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LU2 · Activity 2b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206240" y="6473952"/>
            <a:ext cx="3840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11535" y="6473952"/>
            <a:ext cx="777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719072"/>
            <a:ext cx="10881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DC2626"/>
                </a:solidFill>
                <a:latin typeface="Arial"/>
              </a:rPr>
              <a:t>[missing screenshot: lu2b-10-flow-canvas.png]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881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BUILD ORDER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58952"/>
            <a:ext cx="108813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The eleven nodes, in order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417320"/>
            <a:ext cx="1051560" cy="508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LU2 · Activity 2b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206240" y="6473952"/>
            <a:ext cx="3840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11535" y="6473952"/>
            <a:ext cx="777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11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719072"/>
            <a:ext cx="10881360" cy="749808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ectangle 8"/>
          <p:cNvSpPr/>
          <p:nvPr/>
        </p:nvSpPr>
        <p:spPr>
          <a:xfrm>
            <a:off x="640080" y="1719072"/>
            <a:ext cx="63500" cy="74980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96112" y="1901952"/>
            <a:ext cx="384048" cy="38404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81328" y="1837944"/>
            <a:ext cx="9784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When a HTTP request is received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81328" y="2139696"/>
            <a:ext cx="97840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Anyone (no auth) · relative path blank · six-field schema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2615184"/>
            <a:ext cx="10881360" cy="749808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Rectangle 13"/>
          <p:cNvSpPr/>
          <p:nvPr/>
        </p:nvSpPr>
        <p:spPr>
          <a:xfrm>
            <a:off x="640080" y="2615184"/>
            <a:ext cx="63500" cy="74980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896112" y="2798064"/>
            <a:ext cx="384048" cy="38404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81328" y="2734056"/>
            <a:ext cx="9784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Normalise_Enquiry (Compose)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81328" y="3035808"/>
            <a:ext cx="97840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Ticket ID, trimmed name, lowercased email — the safety control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3511296"/>
            <a:ext cx="10881360" cy="749808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Rectangle 18"/>
          <p:cNvSpPr/>
          <p:nvPr/>
        </p:nvSpPr>
        <p:spPr>
          <a:xfrm>
            <a:off x="640080" y="3511296"/>
            <a:ext cx="63500" cy="74980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896112" y="3694176"/>
            <a:ext cx="384048" cy="38404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481328" y="3630168"/>
            <a:ext cx="9784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Rapport_Agent (Agent)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81328" y="3931920"/>
            <a:ext cx="97840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No knowledge source · temperature 0.2 · structured output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40080" y="4407408"/>
            <a:ext cx="10881360" cy="749808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Rectangle 23"/>
          <p:cNvSpPr/>
          <p:nvPr/>
        </p:nvSpPr>
        <p:spPr>
          <a:xfrm>
            <a:off x="640080" y="4407408"/>
            <a:ext cx="63500" cy="74980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896112" y="4590288"/>
            <a:ext cx="384048" cy="38404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481328" y="4526280"/>
            <a:ext cx="9784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Response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481328" y="4828032"/>
            <a:ext cx="97840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Five fields back to the browser. The draft is not one of them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40080" y="5303520"/>
            <a:ext cx="10881360" cy="749808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ectangle 28"/>
          <p:cNvSpPr/>
          <p:nvPr/>
        </p:nvSpPr>
        <p:spPr>
          <a:xfrm>
            <a:off x="640080" y="5303520"/>
            <a:ext cx="63500" cy="74980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896112" y="5486400"/>
            <a:ext cx="384048" cy="38404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481328" y="5422392"/>
            <a:ext cx="9784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Log_Draft (Excel)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481328" y="5724144"/>
            <a:ext cx="97840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Thirteen columns. The draft exists; no human has seen it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40080" y="6199632"/>
            <a:ext cx="10881360" cy="749808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Rectangle 33"/>
          <p:cNvSpPr/>
          <p:nvPr/>
        </p:nvSpPr>
        <p:spPr>
          <a:xfrm>
            <a:off x="640080" y="6199632"/>
            <a:ext cx="63500" cy="74980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896112" y="6382512"/>
            <a:ext cx="384048" cy="38404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481328" y="6318504"/>
            <a:ext cx="9784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Human review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481328" y="6620256"/>
            <a:ext cx="97840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Assigned to a licensed person · delivered in Teams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40080" y="7095744"/>
            <a:ext cx="10881360" cy="749808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9" name="Rectangle 38"/>
          <p:cNvSpPr/>
          <p:nvPr/>
        </p:nvSpPr>
        <p:spPr>
          <a:xfrm>
            <a:off x="640080" y="7095744"/>
            <a:ext cx="63500" cy="74980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896112" y="7278624"/>
            <a:ext cx="384048" cy="38404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7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481328" y="7214616"/>
            <a:ext cx="9784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If/Else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481328" y="7516368"/>
            <a:ext cx="97840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Outcome Equals Approve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40080" y="5806440"/>
            <a:ext cx="10881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Then four branch nodes: send + log on approve, assign + email on reject.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1371600"/>
            <a:ext cx="54864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9600" b="1">
                <a:solidFill>
                  <a:srgbClr val="E3ECF9"/>
                </a:solidFill>
                <a:latin typeface="Arial"/>
              </a:rPr>
              <a:t>04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3200400"/>
            <a:ext cx="104241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800" b="1">
                <a:solidFill>
                  <a:srgbClr val="161B26"/>
                </a:solidFill>
                <a:latin typeface="Arial"/>
              </a:rPr>
              <a:t>Inside the Agent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4206240"/>
            <a:ext cx="104241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5B6372"/>
                </a:solidFill>
                <a:latin typeface="Arial"/>
              </a:rPr>
              <a:t>What it may and may not write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2971800"/>
            <a:ext cx="1371600" cy="762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LU2 · Activity 2b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206240" y="6473952"/>
            <a:ext cx="3840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11535" y="6473952"/>
            <a:ext cx="777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881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SEVEN PROHIBITIONS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58952"/>
            <a:ext cx="108813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The non-advisory rule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417320"/>
            <a:ext cx="1051560" cy="508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LU2 · Activity 2b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206240" y="6473952"/>
            <a:ext cx="3840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11535" y="6473952"/>
            <a:ext cx="777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13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719072"/>
            <a:ext cx="5303520" cy="1115568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ectangle 8"/>
          <p:cNvSpPr/>
          <p:nvPr/>
        </p:nvSpPr>
        <p:spPr>
          <a:xfrm>
            <a:off x="640080" y="1719072"/>
            <a:ext cx="63500" cy="1115568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1865376"/>
            <a:ext cx="48006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50" b="1">
                <a:solidFill>
                  <a:srgbClr val="DC2626"/>
                </a:solidFill>
                <a:latin typeface="Arial"/>
              </a:rPr>
              <a:t>Never recommend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194560"/>
            <a:ext cx="4800600" cy="521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8000"/>
              </a:lnSpc>
              <a:spcAft>
                <a:spcPts val="60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Buying, selling, holding, switching or redeeming anything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1719072"/>
            <a:ext cx="5303520" cy="1115568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ectangle 12"/>
          <p:cNvSpPr/>
          <p:nvPr/>
        </p:nvSpPr>
        <p:spPr>
          <a:xfrm>
            <a:off x="6217920" y="1719072"/>
            <a:ext cx="63500" cy="1115568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92240" y="1865376"/>
            <a:ext cx="48006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50" b="1">
                <a:solidFill>
                  <a:srgbClr val="DC2626"/>
                </a:solidFill>
                <a:latin typeface="Arial"/>
              </a:rPr>
              <a:t>Never predict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92240" y="2194560"/>
            <a:ext cx="4800600" cy="521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8000"/>
              </a:lnSpc>
              <a:spcAft>
                <a:spcPts val="60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Future returns, prices or NAV — no forecasts, no estimates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2999232"/>
            <a:ext cx="5303520" cy="1115568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ectangle 16"/>
          <p:cNvSpPr/>
          <p:nvPr/>
        </p:nvSpPr>
        <p:spPr>
          <a:xfrm>
            <a:off x="640080" y="2999232"/>
            <a:ext cx="63500" cy="1115568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3145536"/>
            <a:ext cx="48006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50" b="1">
                <a:solidFill>
                  <a:srgbClr val="DC2626"/>
                </a:solidFill>
                <a:latin typeface="Arial"/>
              </a:rPr>
              <a:t>Never guarantee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3474720"/>
            <a:ext cx="4800600" cy="521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8000"/>
              </a:lnSpc>
              <a:spcAft>
                <a:spcPts val="60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“Markets always recover” · “you will not lose money”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17920" y="2999232"/>
            <a:ext cx="5303520" cy="1115568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ectangle 20"/>
          <p:cNvSpPr/>
          <p:nvPr/>
        </p:nvSpPr>
        <p:spPr>
          <a:xfrm>
            <a:off x="6217920" y="2999232"/>
            <a:ext cx="63500" cy="1115568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92240" y="3145536"/>
            <a:ext cx="48006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50" b="1">
                <a:solidFill>
                  <a:srgbClr val="DC2626"/>
                </a:solidFill>
                <a:latin typeface="Arial"/>
              </a:rPr>
              <a:t>Never judge suitability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92240" y="3474720"/>
            <a:ext cx="4800600" cy="521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8000"/>
              </a:lnSpc>
              <a:spcAft>
                <a:spcPts val="60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Not safe, not risky, not right for them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0080" y="4279392"/>
            <a:ext cx="5303520" cy="1115568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ectangle 24"/>
          <p:cNvSpPr/>
          <p:nvPr/>
        </p:nvSpPr>
        <p:spPr>
          <a:xfrm>
            <a:off x="640080" y="4279392"/>
            <a:ext cx="63500" cy="1115568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14400" y="4425696"/>
            <a:ext cx="48006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50" b="1">
                <a:solidFill>
                  <a:srgbClr val="DC2626"/>
                </a:solidFill>
                <a:latin typeface="Arial"/>
              </a:rPr>
              <a:t>Never time the market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4400" y="4754880"/>
            <a:ext cx="4800600" cy="521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8000"/>
              </a:lnSpc>
              <a:spcAft>
                <a:spcPts val="60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No comment on whether now is a good or bad moment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217920" y="4279392"/>
            <a:ext cx="5303520" cy="1115568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ectangle 28"/>
          <p:cNvSpPr/>
          <p:nvPr/>
        </p:nvSpPr>
        <p:spPr>
          <a:xfrm>
            <a:off x="6217920" y="4279392"/>
            <a:ext cx="63500" cy="1115568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92240" y="4425696"/>
            <a:ext cx="48006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50" b="1">
                <a:solidFill>
                  <a:srgbClr val="DC2626"/>
                </a:solidFill>
                <a:latin typeface="Arial"/>
              </a:rPr>
              <a:t>Never invent a figure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92240" y="4754880"/>
            <a:ext cx="4800600" cy="521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8000"/>
              </a:lnSpc>
              <a:spcAft>
                <a:spcPts val="60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No fee, NAV or return that was not in the client's own message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0080" y="5577840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And what it MAY do: name the emotion, restate the concern, explain the process, offer a call with a licensed manager.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05840" y="2286000"/>
            <a:ext cx="101498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3600" b="1">
                <a:solidFill>
                  <a:srgbClr val="161B26"/>
                </a:solidFill>
                <a:latin typeface="Arial"/>
              </a:rPr>
              <a:t>When in doubt, say less and offer the call.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05840" y="4206240"/>
            <a:ext cx="101498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800" b="0">
                <a:solidFill>
                  <a:srgbClr val="5B6372"/>
                </a:solidFill>
                <a:latin typeface="Arial"/>
              </a:rPr>
              <a:t>That single sentence does more compliance work than the six prohibitions above it.</a:t>
            </a:r>
          </a:p>
        </p:txBody>
      </p:sp>
      <p:sp>
        <p:nvSpPr>
          <p:cNvPr id="4" name="Rectangle 3"/>
          <p:cNvSpPr/>
          <p:nvPr/>
        </p:nvSpPr>
        <p:spPr>
          <a:xfrm>
            <a:off x="1005840" y="1920240"/>
            <a:ext cx="1371600" cy="762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LU2 · Activity 2b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206240" y="6473952"/>
            <a:ext cx="3840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11535" y="6473952"/>
            <a:ext cx="777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881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WHAT THE AGENT RAISES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58952"/>
            <a:ext cx="108813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Six compliance flags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417320"/>
            <a:ext cx="1051560" cy="508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LU2 · Activity 2b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206240" y="6473952"/>
            <a:ext cx="3840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11535" y="6473952"/>
            <a:ext cx="777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15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719072"/>
            <a:ext cx="10881360" cy="548640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777240" y="1819656"/>
            <a:ext cx="868680" cy="347472"/>
          </a:xfrm>
          <a:prstGeom prst="round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ADVICE_REQUESTED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28800" y="1856232"/>
            <a:ext cx="56692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asks what they should do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80960" y="1856232"/>
            <a:ext cx="36576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1400" b="1">
                <a:solidFill>
                  <a:srgbClr val="DC2626"/>
                </a:solidFill>
                <a:latin typeface="Arial"/>
              </a:rPr>
              <a:t>ESCALATE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2359152"/>
            <a:ext cx="10881360" cy="548640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777240" y="2459736"/>
            <a:ext cx="868680" cy="347472"/>
          </a:xfrm>
          <a:prstGeom prst="round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GUARANTEE_SOUGHT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828800" y="2496312"/>
            <a:ext cx="56692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wants a promise about returns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80960" y="2496312"/>
            <a:ext cx="36576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1400" b="1">
                <a:solidFill>
                  <a:srgbClr val="DC2626"/>
                </a:solidFill>
                <a:latin typeface="Arial"/>
              </a:rPr>
              <a:t>ESCALATE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2999232"/>
            <a:ext cx="10881360" cy="548640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777240" y="3099816"/>
            <a:ext cx="868680" cy="347472"/>
          </a:xfrm>
          <a:prstGeom prst="round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VULNERABLE_CLIENT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828800" y="3136392"/>
            <a:ext cx="56692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distress, illness, savings they cannot lose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680960" y="3136392"/>
            <a:ext cx="36576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1400" b="1">
                <a:solidFill>
                  <a:srgbClr val="DC2626"/>
                </a:solidFill>
                <a:latin typeface="Arial"/>
              </a:rPr>
              <a:t>ESCALATE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0080" y="3639312"/>
            <a:ext cx="10881360" cy="548640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777240" y="3739896"/>
            <a:ext cx="868680" cy="347472"/>
          </a:xfrm>
          <a:prstGeom prst="round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LEGAL_OR_MEDIA_THREAT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828800" y="3776472"/>
            <a:ext cx="56692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mentions a lawyer, MAS, the press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680960" y="3776472"/>
            <a:ext cx="36576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1400" b="1">
                <a:solidFill>
                  <a:srgbClr val="DC2626"/>
                </a:solidFill>
                <a:latin typeface="Arial"/>
              </a:rPr>
              <a:t>ESCALATE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0080" y="4279392"/>
            <a:ext cx="10881360" cy="548640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777240" y="4379976"/>
            <a:ext cx="868680" cy="347472"/>
          </a:xfrm>
          <a:prstGeom prst="round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COMPLAINT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828800" y="4416552"/>
            <a:ext cx="56692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dissatisfied with Meridian or its fees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680960" y="4416552"/>
            <a:ext cx="36576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1400" b="1">
                <a:solidFill>
                  <a:srgbClr val="D97706"/>
                </a:solidFill>
                <a:latin typeface="Arial"/>
              </a:rPr>
              <a:t>log only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40080" y="4919472"/>
            <a:ext cx="10881360" cy="548640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777240" y="5020056"/>
            <a:ext cx="868680" cy="347472"/>
          </a:xfrm>
          <a:prstGeom prst="round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WITHDRAWAL_INTENT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828800" y="5056632"/>
            <a:ext cx="56692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raises redeeming or closing the account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680960" y="5056632"/>
            <a:ext cx="36576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1400" b="1">
                <a:solidFill>
                  <a:srgbClr val="D97706"/>
                </a:solidFill>
                <a:latin typeface="Arial"/>
              </a:rPr>
              <a:t>log only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0080" y="5742432"/>
            <a:ext cx="10881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The four that escalate are the four that cannot be answered by a drafted email at all. For those, the correct output is a draft that says so.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881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STRUCTURED OUTPUT · EIGHT FIELDS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58952"/>
            <a:ext cx="108813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The output contract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417320"/>
            <a:ext cx="1051560" cy="508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LU2 · Activity 2b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206240" y="6473952"/>
            <a:ext cx="3840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11535" y="6473952"/>
            <a:ext cx="777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16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719072"/>
            <a:ext cx="108813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Custom structured output — not a Parse JSON node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103120"/>
            <a:ext cx="10881360" cy="3200400"/>
          </a:xfrm>
          <a:prstGeom prst="roundRect">
            <a:avLst/>
          </a:prstGeom>
          <a:solidFill>
            <a:srgbClr val="F2F5F9"/>
          </a:solidFill>
          <a:ln w="15875">
            <a:solidFill>
              <a:srgbClr val="D5DD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68680" y="2304288"/>
            <a:ext cx="10424160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250">
                <a:solidFill>
                  <a:srgbClr val="161B26"/>
                </a:solidFill>
                <a:latin typeface="Consolas"/>
              </a:rPr>
              <a:t>{</a:t>
            </a:r>
          </a:p>
          <a:p>
            <a:pPr>
              <a:spcAft>
                <a:spcPts val="200"/>
              </a:spcAft>
            </a:pPr>
            <a:r>
              <a:rPr sz="1250">
                <a:solidFill>
                  <a:srgbClr val="161B26"/>
                </a:solidFill>
                <a:latin typeface="Consolas"/>
              </a:rPr>
              <a:t>  "ticketId":         "MAM-20260802-a607f8",</a:t>
            </a:r>
          </a:p>
          <a:p>
            <a:pPr>
              <a:spcAft>
                <a:spcPts val="200"/>
              </a:spcAft>
            </a:pPr>
            <a:r>
              <a:rPr sz="1250">
                <a:solidFill>
                  <a:srgbClr val="161B26"/>
                </a:solidFill>
                <a:latin typeface="Consolas"/>
              </a:rPr>
              <a:t>  "concernCategory":  "Portfolio Performance",</a:t>
            </a:r>
          </a:p>
          <a:p>
            <a:pPr>
              <a:spcAft>
                <a:spcPts val="200"/>
              </a:spcAft>
            </a:pPr>
            <a:r>
              <a:rPr sz="1250">
                <a:solidFill>
                  <a:srgbClr val="161B26"/>
                </a:solidFill>
                <a:latin typeface="Consolas"/>
              </a:rPr>
              <a:t>  "emotionalTone":    "Concerned",</a:t>
            </a:r>
          </a:p>
          <a:p>
            <a:pPr>
              <a:spcAft>
                <a:spcPts val="200"/>
              </a:spcAft>
            </a:pPr>
            <a:r>
              <a:rPr sz="1250">
                <a:solidFill>
                  <a:srgbClr val="161B26"/>
                </a:solidFill>
                <a:latin typeface="Consolas"/>
              </a:rPr>
              <a:t>  "urgency":          "Medium",</a:t>
            </a:r>
          </a:p>
          <a:p>
            <a:pPr>
              <a:spcAft>
                <a:spcPts val="200"/>
              </a:spcAft>
            </a:pPr>
            <a:r>
              <a:rPr sz="1250">
                <a:solidFill>
                  <a:srgbClr val="161B26"/>
                </a:solidFill>
                <a:latin typeface="Consolas"/>
              </a:rPr>
              <a:t>  "complianceFlags":  ["ADVICE_REQUESTED", "WITHDRAWAL_INTENT"],</a:t>
            </a:r>
          </a:p>
          <a:p>
            <a:pPr>
              <a:spcAft>
                <a:spcPts val="200"/>
              </a:spcAft>
            </a:pPr>
            <a:r>
              <a:rPr sz="1250">
                <a:solidFill>
                  <a:srgbClr val="161B26"/>
                </a:solidFill>
                <a:latin typeface="Consolas"/>
              </a:rPr>
              <a:t>  "escalate":         true,</a:t>
            </a:r>
          </a:p>
          <a:p>
            <a:pPr>
              <a:spcAft>
                <a:spcPts val="200"/>
              </a:spcAft>
            </a:pPr>
            <a:r>
              <a:rPr sz="1250">
                <a:solidFill>
                  <a:srgbClr val="161B26"/>
                </a:solidFill>
                <a:latin typeface="Consolas"/>
              </a:rPr>
              <a:t>  "suggestedSubject": "Your enquiry about recent performance (MAM-...)",</a:t>
            </a:r>
          </a:p>
          <a:p>
            <a:pPr>
              <a:spcAft>
                <a:spcPts val="200"/>
              </a:spcAft>
            </a:pPr>
            <a:r>
              <a:rPr sz="1250">
                <a:solidFill>
                  <a:srgbClr val="161B26"/>
                </a:solidFill>
                <a:latin typeface="Consolas"/>
              </a:rPr>
              <a:t>  "draftReply":       "&lt;p&gt;Thank you for writing, and I am sorry ...&lt;/p&gt;"</a:t>
            </a:r>
          </a:p>
          <a:p>
            <a:pPr>
              <a:spcAft>
                <a:spcPts val="200"/>
              </a:spcAft>
            </a:pPr>
            <a:r>
              <a:rPr sz="1250">
                <a:solidFill>
                  <a:srgbClr val="161B26"/>
                </a:solidFill>
                <a:latin typeface="Consolas"/>
              </a:rPr>
              <a:t>}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5486400"/>
            <a:ext cx="108813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1350" b="0">
                <a:solidFill>
                  <a:srgbClr val="5B6372"/>
                </a:solidFill>
                <a:latin typeface="Arial"/>
              </a:rPr>
              <a:t>emotionalTone is a FIELD, not a paragraph. That is what lets you sort a queue and show a manager that the angriest client has waited longest. Prose cannot be sorted.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881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A RULE THE MODEL CANNOT BREAK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58952"/>
            <a:ext cx="108813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Why structured output, not Parse JSON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417320"/>
            <a:ext cx="1051560" cy="508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LU2 · Activity 2b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206240" y="6473952"/>
            <a:ext cx="3840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11535" y="6473952"/>
            <a:ext cx="777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17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719072"/>
            <a:ext cx="10881360" cy="841248"/>
          </a:xfrm>
          <a:prstGeom prst="roundRect">
            <a:avLst/>
          </a:prstGeom>
          <a:solidFill>
            <a:srgbClr val="FDF6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ectangle 8"/>
          <p:cNvSpPr/>
          <p:nvPr/>
        </p:nvSpPr>
        <p:spPr>
          <a:xfrm>
            <a:off x="640080" y="1719072"/>
            <a:ext cx="63500" cy="841248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0120" y="1810512"/>
            <a:ext cx="10241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50" b="1">
                <a:solidFill>
                  <a:srgbClr val="D97706"/>
                </a:solidFill>
                <a:latin typeface="Arial"/>
              </a:rPr>
              <a:t>With Text response you are asking and hoping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2176272"/>
            <a:ext cx="10241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The model eventually wraps its answer in ```json fences, or opens with “Here is the JSON” — and the parse fails.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2679192"/>
            <a:ext cx="10881360" cy="841248"/>
          </a:xfrm>
          <a:prstGeom prst="roundRect">
            <a:avLst/>
          </a:prstGeom>
          <a:solidFill>
            <a:srgbClr val="FDF6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ectangle 12"/>
          <p:cNvSpPr/>
          <p:nvPr/>
        </p:nvSpPr>
        <p:spPr>
          <a:xfrm>
            <a:off x="640080" y="2679192"/>
            <a:ext cx="63500" cy="841248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0120" y="2770632"/>
            <a:ext cx="10241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50" b="1">
                <a:solidFill>
                  <a:srgbClr val="D97706"/>
                </a:solidFill>
                <a:latin typeface="Arial"/>
              </a:rPr>
              <a:t>Structured output makes malformed JSON impossible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" y="3136392"/>
            <a:ext cx="10241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The schema is enforced at generation time. There is nothing to hope for.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3639312"/>
            <a:ext cx="10881360" cy="841248"/>
          </a:xfrm>
          <a:prstGeom prst="roundRect">
            <a:avLst/>
          </a:prstGeom>
          <a:solidFill>
            <a:srgbClr val="FDF6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ectangle 16"/>
          <p:cNvSpPr/>
          <p:nvPr/>
        </p:nvSpPr>
        <p:spPr>
          <a:xfrm>
            <a:off x="640080" y="3639312"/>
            <a:ext cx="63500" cy="841248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60120" y="3730752"/>
            <a:ext cx="10241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50" b="1">
                <a:solidFill>
                  <a:srgbClr val="D97706"/>
                </a:solidFill>
                <a:latin typeface="Arial"/>
              </a:rPr>
              <a:t>Same discipline as the disclaimer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0120" y="4096512"/>
            <a:ext cx="10241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A rule the model physically cannot break beats a rule it is told not to break.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0080" y="4599432"/>
            <a:ext cx="10881360" cy="841248"/>
          </a:xfrm>
          <a:prstGeom prst="roundRect">
            <a:avLst/>
          </a:prstGeom>
          <a:solidFill>
            <a:srgbClr val="FDF6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ectangle 20"/>
          <p:cNvSpPr/>
          <p:nvPr/>
        </p:nvSpPr>
        <p:spPr>
          <a:xfrm>
            <a:off x="640080" y="4599432"/>
            <a:ext cx="63500" cy="841248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60120" y="4690872"/>
            <a:ext cx="10241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50" b="1">
                <a:solidFill>
                  <a:srgbClr val="D97706"/>
                </a:solidFill>
                <a:latin typeface="Arial"/>
              </a:rPr>
              <a:t>Reference it with a slash, not nested brackets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60120" y="5056632"/>
            <a:ext cx="10241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body('Rapport_Agent')?['structuredOutput/draftReply']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1371600"/>
            <a:ext cx="54864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9600" b="1">
                <a:solidFill>
                  <a:srgbClr val="E3ECF9"/>
                </a:solidFill>
                <a:latin typeface="Arial"/>
              </a:rPr>
              <a:t>05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3200400"/>
            <a:ext cx="104241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800" b="1">
                <a:solidFill>
                  <a:srgbClr val="161B26"/>
                </a:solidFill>
                <a:latin typeface="Arial"/>
              </a:rPr>
              <a:t>The Gate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4206240"/>
            <a:ext cx="104241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5B6372"/>
                </a:solidFill>
                <a:latin typeface="Arial"/>
              </a:rPr>
              <a:t>Node 6 — Human review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2971800"/>
            <a:ext cx="1371600" cy="762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LU2 · Activity 2b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206240" y="6473952"/>
            <a:ext cx="3840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11535" y="6473952"/>
            <a:ext cx="777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881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HUMAN REVIEW · MESSAGE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58952"/>
            <a:ext cx="108813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What the approver is shown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417320"/>
            <a:ext cx="1051560" cy="508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LU2 · Activity 2b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206240" y="6473952"/>
            <a:ext cx="3840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11535" y="6473952"/>
            <a:ext cx="777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19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719072"/>
            <a:ext cx="10881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DC2626"/>
                </a:solidFill>
                <a:latin typeface="Arial"/>
              </a:rPr>
              <a:t>[missing screenshot: lu2b-11-human-review.png]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881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WHAT THE APPROVER FILLS IN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58952"/>
            <a:ext cx="108813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The two inputs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417320"/>
            <a:ext cx="1051560" cy="508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LU2 · Activity 2b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206240" y="6473952"/>
            <a:ext cx="3840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11535" y="6473952"/>
            <a:ext cx="777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20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719072"/>
            <a:ext cx="5303520" cy="4636008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ectangle 8"/>
          <p:cNvSpPr/>
          <p:nvPr/>
        </p:nvSpPr>
        <p:spPr>
          <a:xfrm>
            <a:off x="640080" y="1719072"/>
            <a:ext cx="5303520" cy="635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1975104"/>
            <a:ext cx="4754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Outcome  ·  choice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542032"/>
            <a:ext cx="4754880" cy="3630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40000"/>
              </a:lnSpc>
              <a:spcAft>
                <a:spcPts val="300"/>
              </a:spcAft>
            </a:pPr>
            <a:r>
              <a:rPr sz="1500" b="0">
                <a:solidFill>
                  <a:srgbClr val="5B6372"/>
                </a:solidFill>
                <a:latin typeface="Arial"/>
              </a:rPr>
              <a:t>Approve  /  Reject</a:t>
            </a:r>
          </a:p>
          <a:p>
            <a:pPr algn="l">
              <a:lnSpc>
                <a:spcPct val="140000"/>
              </a:lnSpc>
              <a:spcAft>
                <a:spcPts val="300"/>
              </a:spcAft>
            </a:pPr>
            <a:r>
              <a:rPr sz="1500" b="0">
                <a:solidFill>
                  <a:srgbClr val="5B6372"/>
                </a:solidFill>
                <a:latin typeface="Arial"/>
              </a:rPr>
              <a:t/>
            </a:r>
          </a:p>
          <a:p>
            <a:pPr algn="l">
              <a:lnSpc>
                <a:spcPct val="140000"/>
              </a:lnSpc>
              <a:spcAft>
                <a:spcPts val="300"/>
              </a:spcAft>
            </a:pPr>
            <a:r>
              <a:rPr sz="1500" b="0">
                <a:solidFill>
                  <a:srgbClr val="5B6372"/>
                </a:solidFill>
                <a:latin typeface="Arial"/>
              </a:rPr>
              <a:t>Drives the If/Else branch.</a:t>
            </a:r>
          </a:p>
          <a:p>
            <a:pPr algn="l">
              <a:lnSpc>
                <a:spcPct val="140000"/>
              </a:lnSpc>
              <a:spcAft>
                <a:spcPts val="300"/>
              </a:spcAft>
            </a:pPr>
            <a:r>
              <a:rPr sz="1500" b="0">
                <a:solidFill>
                  <a:srgbClr val="5B6372"/>
                </a:solidFill>
                <a:latin typeface="Arial"/>
              </a:rPr>
              <a:t/>
            </a:r>
          </a:p>
          <a:p>
            <a:pPr algn="l">
              <a:lnSpc>
                <a:spcPct val="140000"/>
              </a:lnSpc>
              <a:spcAft>
                <a:spcPts val="300"/>
              </a:spcAft>
            </a:pPr>
            <a:r>
              <a:rPr sz="1500" b="0">
                <a:solidFill>
                  <a:srgbClr val="5B6372"/>
                </a:solidFill>
                <a:latin typeface="Arial"/>
              </a:rPr>
              <a:t>⚠  Leave the DEFAULT BLANK.</a:t>
            </a:r>
          </a:p>
          <a:p>
            <a:pPr algn="l">
              <a:lnSpc>
                <a:spcPct val="140000"/>
              </a:lnSpc>
              <a:spcAft>
                <a:spcPts val="300"/>
              </a:spcAft>
            </a:pPr>
            <a:r>
              <a:rPr sz="1500" b="0">
                <a:solidFill>
                  <a:srgbClr val="5B6372"/>
                </a:solidFill>
                <a:latin typeface="Arial"/>
              </a:rPr>
              <a:t>Pre-filling it with ‘Approve’ turns</a:t>
            </a:r>
          </a:p>
          <a:p>
            <a:pPr algn="l">
              <a:lnSpc>
                <a:spcPct val="140000"/>
              </a:lnSpc>
              <a:spcAft>
                <a:spcPts val="300"/>
              </a:spcAft>
            </a:pPr>
            <a:r>
              <a:rPr sz="1500" b="0">
                <a:solidFill>
                  <a:srgbClr val="5B6372"/>
                </a:solidFill>
                <a:latin typeface="Arial"/>
              </a:rPr>
              <a:t>the gate into a rubber stamp with a</a:t>
            </a:r>
          </a:p>
          <a:p>
            <a:pPr algn="l">
              <a:lnSpc>
                <a:spcPct val="140000"/>
              </a:lnSpc>
              <a:spcAft>
                <a:spcPts val="300"/>
              </a:spcAft>
            </a:pPr>
            <a:r>
              <a:rPr sz="1500" b="0">
                <a:solidFill>
                  <a:srgbClr val="5B6372"/>
                </a:solidFill>
                <a:latin typeface="Arial"/>
              </a:rPr>
              <a:t>one-word setting nobody can see on</a:t>
            </a:r>
          </a:p>
          <a:p>
            <a:pPr algn="l">
              <a:lnSpc>
                <a:spcPct val="140000"/>
              </a:lnSpc>
              <a:spcAft>
                <a:spcPts val="300"/>
              </a:spcAft>
            </a:pPr>
            <a:r>
              <a:rPr sz="1500" b="0">
                <a:solidFill>
                  <a:srgbClr val="5B6372"/>
                </a:solidFill>
                <a:latin typeface="Arial"/>
              </a:rPr>
              <a:t>the canvas.</a:t>
            </a:r>
          </a:p>
          <a:p>
            <a:pPr algn="l">
              <a:lnSpc>
                <a:spcPct val="140000"/>
              </a:lnSpc>
              <a:spcAft>
                <a:spcPts val="300"/>
              </a:spcAft>
            </a:pPr>
            <a:r>
              <a:rPr sz="1500" b="0">
                <a:solidFill>
                  <a:srgbClr val="5B6372"/>
                </a:solidFill>
                <a:latin typeface="Arial"/>
              </a:rPr>
              <a:t/>
            </a:r>
          </a:p>
          <a:p>
            <a:pPr algn="l">
              <a:lnSpc>
                <a:spcPct val="140000"/>
              </a:lnSpc>
              <a:spcAft>
                <a:spcPts val="300"/>
              </a:spcAft>
            </a:pPr>
            <a:r>
              <a:rPr sz="1500" b="0">
                <a:solidFill>
                  <a:srgbClr val="5B6372"/>
                </a:solidFill>
                <a:latin typeface="Arial"/>
              </a:rPr>
              <a:t>If a default is required, use Reject —</a:t>
            </a:r>
          </a:p>
          <a:p>
            <a:pPr algn="l">
              <a:lnSpc>
                <a:spcPct val="140000"/>
              </a:lnSpc>
              <a:spcAft>
                <a:spcPts val="300"/>
              </a:spcAft>
            </a:pPr>
            <a:r>
              <a:rPr sz="1500" b="0">
                <a:solidFill>
                  <a:srgbClr val="5B6372"/>
                </a:solidFill>
                <a:latin typeface="Arial"/>
              </a:rPr>
              <a:t>then inattention fails safe.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1719072"/>
            <a:ext cx="5303520" cy="4636008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ectangle 12"/>
          <p:cNvSpPr/>
          <p:nvPr/>
        </p:nvSpPr>
        <p:spPr>
          <a:xfrm>
            <a:off x="6217920" y="1719072"/>
            <a:ext cx="5303520" cy="635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92240" y="1975104"/>
            <a:ext cx="4754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10B981"/>
                </a:solidFill>
                <a:latin typeface="Arial"/>
              </a:rPr>
              <a:t>Name  ·  text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92240" y="2542032"/>
            <a:ext cx="4754880" cy="3630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40000"/>
              </a:lnSpc>
              <a:spcAft>
                <a:spcPts val="300"/>
              </a:spcAft>
            </a:pPr>
            <a:r>
              <a:rPr sz="1500" b="0">
                <a:solidFill>
                  <a:srgbClr val="5B6372"/>
                </a:solidFill>
                <a:latin typeface="Arial"/>
              </a:rPr>
              <a:t>The approver types their own name.</a:t>
            </a:r>
          </a:p>
          <a:p>
            <a:pPr algn="l">
              <a:lnSpc>
                <a:spcPct val="140000"/>
              </a:lnSpc>
              <a:spcAft>
                <a:spcPts val="300"/>
              </a:spcAft>
            </a:pPr>
            <a:r>
              <a:rPr sz="1500" b="0">
                <a:solidFill>
                  <a:srgbClr val="5B6372"/>
                </a:solidFill>
                <a:latin typeface="Arial"/>
              </a:rPr>
              <a:t/>
            </a:r>
          </a:p>
          <a:p>
            <a:pPr algn="l">
              <a:lnSpc>
                <a:spcPct val="140000"/>
              </a:lnSpc>
              <a:spcAft>
                <a:spcPts val="300"/>
              </a:spcAft>
            </a:pPr>
            <a:r>
              <a:rPr sz="1500" b="0">
                <a:solidFill>
                  <a:srgbClr val="5B6372"/>
                </a:solidFill>
                <a:latin typeface="Arial"/>
              </a:rPr>
              <a:t>Lands in the Approved By column of</a:t>
            </a:r>
          </a:p>
          <a:p>
            <a:pPr algn="l">
              <a:lnSpc>
                <a:spcPct val="140000"/>
              </a:lnSpc>
              <a:spcAft>
                <a:spcPts val="300"/>
              </a:spcAft>
            </a:pPr>
            <a:r>
              <a:rPr sz="1500" b="0">
                <a:solidFill>
                  <a:srgbClr val="5B6372"/>
                </a:solidFill>
                <a:latin typeface="Arial"/>
              </a:rPr>
              <a:t>the audit table.</a:t>
            </a:r>
          </a:p>
          <a:p>
            <a:pPr algn="l">
              <a:lnSpc>
                <a:spcPct val="140000"/>
              </a:lnSpc>
              <a:spcAft>
                <a:spcPts val="300"/>
              </a:spcAft>
            </a:pPr>
            <a:r>
              <a:rPr sz="1500" b="0">
                <a:solidFill>
                  <a:srgbClr val="5B6372"/>
                </a:solidFill>
                <a:latin typeface="Arial"/>
              </a:rPr>
              <a:t/>
            </a:r>
          </a:p>
          <a:p>
            <a:pPr algn="l">
              <a:lnSpc>
                <a:spcPct val="140000"/>
              </a:lnSpc>
              <a:spcAft>
                <a:spcPts val="300"/>
              </a:spcAft>
            </a:pPr>
            <a:r>
              <a:rPr sz="1500" b="0">
                <a:solidFill>
                  <a:srgbClr val="5B6372"/>
                </a:solidFill>
                <a:latin typeface="Arial"/>
              </a:rPr>
              <a:t>⚠  It is SELF-DECLARED. The node</a:t>
            </a:r>
          </a:p>
          <a:p>
            <a:pPr algn="l">
              <a:lnSpc>
                <a:spcPct val="140000"/>
              </a:lnSpc>
              <a:spcAft>
                <a:spcPts val="300"/>
              </a:spcAft>
            </a:pPr>
            <a:r>
              <a:rPr sz="1500" b="0">
                <a:solidFill>
                  <a:srgbClr val="5B6372"/>
                </a:solidFill>
                <a:latin typeface="Arial"/>
              </a:rPr>
              <a:t>publishes no responder identity, so</a:t>
            </a:r>
          </a:p>
          <a:p>
            <a:pPr algn="l">
              <a:lnSpc>
                <a:spcPct val="140000"/>
              </a:lnSpc>
              <a:spcAft>
                <a:spcPts val="300"/>
              </a:spcAft>
            </a:pPr>
            <a:r>
              <a:rPr sz="1500" b="0">
                <a:solidFill>
                  <a:srgbClr val="5B6372"/>
                </a:solidFill>
                <a:latin typeface="Arial"/>
              </a:rPr>
              <a:t>nothing stops someone typing ‘Bob’.</a:t>
            </a:r>
          </a:p>
          <a:p>
            <a:pPr algn="l">
              <a:lnSpc>
                <a:spcPct val="140000"/>
              </a:lnSpc>
              <a:spcAft>
                <a:spcPts val="300"/>
              </a:spcAft>
            </a:pPr>
            <a:r>
              <a:rPr sz="1500" b="0">
                <a:solidFill>
                  <a:srgbClr val="5B6372"/>
                </a:solidFill>
                <a:latin typeface="Arial"/>
              </a:rPr>
              <a:t/>
            </a:r>
          </a:p>
          <a:p>
            <a:pPr algn="l">
              <a:lnSpc>
                <a:spcPct val="140000"/>
              </a:lnSpc>
              <a:spcAft>
                <a:spcPts val="300"/>
              </a:spcAft>
            </a:pPr>
            <a:r>
              <a:rPr sz="1500" b="0">
                <a:solidFill>
                  <a:srgbClr val="5B6372"/>
                </a:solidFill>
                <a:latin typeface="Arial"/>
              </a:rPr>
              <a:t>A convention — where a captured</a:t>
            </a:r>
          </a:p>
          <a:p>
            <a:pPr algn="l">
              <a:lnSpc>
                <a:spcPct val="140000"/>
              </a:lnSpc>
              <a:spcAft>
                <a:spcPts val="300"/>
              </a:spcAft>
            </a:pPr>
            <a:r>
              <a:rPr sz="1500" b="0">
                <a:solidFill>
                  <a:srgbClr val="5B6372"/>
                </a:solidFill>
                <a:latin typeface="Arial"/>
              </a:rPr>
              <a:t>identity would be evidence.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881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TEAMS · APPROVALS APP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58952"/>
            <a:ext cx="108813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Approving in Microsoft Teams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417320"/>
            <a:ext cx="1051560" cy="508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LU2 · Activity 2b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206240" y="6473952"/>
            <a:ext cx="3840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11535" y="6473952"/>
            <a:ext cx="777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21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719072"/>
            <a:ext cx="10881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DC2626"/>
                </a:solidFill>
                <a:latin typeface="Arial"/>
              </a:rPr>
              <a:t>[missing screenshot: lu2b-12-teams-approval.png]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1371600"/>
            <a:ext cx="54864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9600" b="1">
                <a:solidFill>
                  <a:srgbClr val="E3ECF9"/>
                </a:solidFill>
                <a:latin typeface="Arial"/>
              </a:rPr>
              <a:t>06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3200400"/>
            <a:ext cx="104241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800" b="1">
                <a:solidFill>
                  <a:srgbClr val="161B26"/>
                </a:solidFill>
                <a:latin typeface="Arial"/>
              </a:rPr>
              <a:t>The Client's 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4206240"/>
            <a:ext cx="104241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5B6372"/>
                </a:solidFill>
                <a:latin typeface="Arial"/>
              </a:rPr>
              <a:t>What the browser is allowed to see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2971800"/>
            <a:ext cx="1371600" cy="762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LU2 · Activity 2b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206240" y="6473952"/>
            <a:ext cx="3840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11535" y="6473952"/>
            <a:ext cx="777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22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881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INDEX.HTML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58952"/>
            <a:ext cx="108813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The Meridian client portal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417320"/>
            <a:ext cx="1051560" cy="508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LU2 · Activity 2b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206240" y="6473952"/>
            <a:ext cx="3840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11535" y="6473952"/>
            <a:ext cx="777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23</a:t>
            </a:r>
          </a:p>
        </p:txBody>
      </p:sp>
      <p:pic>
        <p:nvPicPr>
          <p:cNvPr id="8" name="Picture 7" descr="lu2b-01-website-her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64865" y="1719072"/>
            <a:ext cx="5661964" cy="3931920"/>
          </a:xfrm>
          <a:prstGeom prst="rect">
            <a:avLst/>
          </a:prstGeom>
          <a:ln w="12700">
            <a:solidFill>
              <a:srgbClr val="D5DDE8"/>
            </a:solidFill>
          </a:ln>
        </p:spPr>
      </p:pic>
      <p:sp>
        <p:nvSpPr>
          <p:cNvPr id="9" name="TextBox 8"/>
          <p:cNvSpPr txBox="1"/>
          <p:nvPr/>
        </p:nvSpPr>
        <p:spPr>
          <a:xfrm>
            <a:off x="640080" y="5815584"/>
            <a:ext cx="10881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A floating chat widget on a single-page asset-management site. The lab configuration panel holds the workflow URL.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881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THE CHAT WIDGET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58952"/>
            <a:ext cx="108813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Raising a concern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417320"/>
            <a:ext cx="1051560" cy="508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LU2 · Activity 2b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206240" y="6473952"/>
            <a:ext cx="3840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11535" y="6473952"/>
            <a:ext cx="777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24</a:t>
            </a:r>
          </a:p>
        </p:txBody>
      </p:sp>
      <p:pic>
        <p:nvPicPr>
          <p:cNvPr id="8" name="Picture 7" descr="lu2b-05-chat-widge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719072"/>
            <a:ext cx="6291072" cy="3931920"/>
          </a:xfrm>
          <a:prstGeom prst="rect">
            <a:avLst/>
          </a:prstGeom>
          <a:ln w="12700">
            <a:solidFill>
              <a:srgbClr val="D5DDE8"/>
            </a:solidFill>
          </a:ln>
        </p:spPr>
      </p:pic>
      <p:sp>
        <p:nvSpPr>
          <p:cNvPr id="9" name="Rounded Rectangle 8"/>
          <p:cNvSpPr/>
          <p:nvPr/>
        </p:nvSpPr>
        <p:spPr>
          <a:xfrm>
            <a:off x="8183879" y="1719072"/>
            <a:ext cx="3337560" cy="3931920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39911" y="1956816"/>
            <a:ext cx="2825496" cy="34564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2000"/>
              </a:lnSpc>
              <a:spcAft>
                <a:spcPts val="10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Name, email, account reference and</a:t>
            </a:r>
          </a:p>
          <a:p>
            <a:pPr algn="l">
              <a:lnSpc>
                <a:spcPct val="132000"/>
              </a:lnSpc>
              <a:spcAft>
                <a:spcPts val="10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portfolio — then the message.</a:t>
            </a:r>
          </a:p>
          <a:p>
            <a:pPr algn="l">
              <a:lnSpc>
                <a:spcPct val="132000"/>
              </a:lnSpc>
              <a:spcAft>
                <a:spcPts val="10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/>
            </a:r>
          </a:p>
          <a:p>
            <a:pPr algn="l">
              <a:lnSpc>
                <a:spcPct val="132000"/>
              </a:lnSpc>
              <a:spcAft>
                <a:spcPts val="10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The trainer dropdown fills all of it</a:t>
            </a:r>
          </a:p>
          <a:p>
            <a:pPr algn="l">
              <a:lnSpc>
                <a:spcPct val="132000"/>
              </a:lnSpc>
              <a:spcAft>
                <a:spcPts val="10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except the email, which it clears</a:t>
            </a:r>
          </a:p>
          <a:p>
            <a:pPr algn="l">
              <a:lnSpc>
                <a:spcPct val="132000"/>
              </a:lnSpc>
              <a:spcAft>
                <a:spcPts val="10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on purpose.</a:t>
            </a:r>
          </a:p>
          <a:p>
            <a:pPr algn="l">
              <a:lnSpc>
                <a:spcPct val="132000"/>
              </a:lnSpc>
              <a:spcAft>
                <a:spcPts val="10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/>
            </a:r>
          </a:p>
          <a:p>
            <a:pPr algn="l">
              <a:lnSpc>
                <a:spcPct val="132000"/>
              </a:lnSpc>
              <a:spcAft>
                <a:spcPts val="10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The approved reply is a REAL email.</a:t>
            </a:r>
          </a:p>
          <a:p>
            <a:pPr algn="l">
              <a:lnSpc>
                <a:spcPct val="132000"/>
              </a:lnSpc>
              <a:spcAft>
                <a:spcPts val="10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Always use your own address.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881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NODE 4 · RESPONSE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58952"/>
            <a:ext cx="108813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The receipt — and what is missing from it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417320"/>
            <a:ext cx="1051560" cy="508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LU2 · Activity 2b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206240" y="6473952"/>
            <a:ext cx="3840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11535" y="6473952"/>
            <a:ext cx="777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25</a:t>
            </a:r>
          </a:p>
        </p:txBody>
      </p:sp>
      <p:pic>
        <p:nvPicPr>
          <p:cNvPr id="8" name="Picture 7" descr="lu2b-06-receip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719072"/>
            <a:ext cx="6291072" cy="3931920"/>
          </a:xfrm>
          <a:prstGeom prst="rect">
            <a:avLst/>
          </a:prstGeom>
          <a:ln w="12700">
            <a:solidFill>
              <a:srgbClr val="D5DDE8"/>
            </a:solidFill>
          </a:ln>
        </p:spPr>
      </p:pic>
      <p:sp>
        <p:nvSpPr>
          <p:cNvPr id="9" name="Rounded Rectangle 8"/>
          <p:cNvSpPr/>
          <p:nvPr/>
        </p:nvSpPr>
        <p:spPr>
          <a:xfrm>
            <a:off x="8183879" y="1719072"/>
            <a:ext cx="3337560" cy="3931920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39911" y="1956816"/>
            <a:ext cx="2825496" cy="34564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2000"/>
              </a:lnSpc>
              <a:spcAft>
                <a:spcPts val="10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Reference, priority, and — because</a:t>
            </a:r>
          </a:p>
          <a:p>
            <a:pPr algn="l">
              <a:lnSpc>
                <a:spcPct val="132000"/>
              </a:lnSpc>
              <a:spcAft>
                <a:spcPts val="10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TC2 escalates — a line saying a</a:t>
            </a:r>
          </a:p>
          <a:p>
            <a:pPr algn="l">
              <a:lnSpc>
                <a:spcPct val="132000"/>
              </a:lnSpc>
              <a:spcAft>
                <a:spcPts val="10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manager will call.</a:t>
            </a:r>
          </a:p>
          <a:p>
            <a:pPr algn="l">
              <a:lnSpc>
                <a:spcPct val="132000"/>
              </a:lnSpc>
              <a:spcAft>
                <a:spcPts val="10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/>
            </a:r>
          </a:p>
          <a:p>
            <a:pPr algn="l">
              <a:lnSpc>
                <a:spcPct val="132000"/>
              </a:lnSpc>
              <a:spcAft>
                <a:spcPts val="10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NOT returned: the draft itself,</a:t>
            </a:r>
          </a:p>
          <a:p>
            <a:pPr algn="l">
              <a:lnSpc>
                <a:spcPct val="132000"/>
              </a:lnSpc>
              <a:spcAft>
                <a:spcPts val="10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emotionalTone, concernCategory,</a:t>
            </a:r>
          </a:p>
          <a:p>
            <a:pPr algn="l">
              <a:lnSpc>
                <a:spcPct val="132000"/>
              </a:lnSpc>
              <a:spcAft>
                <a:spcPts val="10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complianceFlags.</a:t>
            </a:r>
          </a:p>
          <a:p>
            <a:pPr algn="l">
              <a:lnSpc>
                <a:spcPct val="132000"/>
              </a:lnSpc>
              <a:spcAft>
                <a:spcPts val="10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/>
            </a:r>
          </a:p>
          <a:p>
            <a:pPr algn="l">
              <a:lnSpc>
                <a:spcPct val="132000"/>
              </a:lnSpc>
              <a:spcAft>
                <a:spcPts val="10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“We have classified you as Angry and</a:t>
            </a:r>
          </a:p>
          <a:p>
            <a:pPr algn="l">
              <a:lnSpc>
                <a:spcPct val="132000"/>
              </a:lnSpc>
              <a:spcAft>
                <a:spcPts val="10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flagged you as a COMPLAINT” is a</a:t>
            </a:r>
          </a:p>
          <a:p>
            <a:pPr algn="l">
              <a:lnSpc>
                <a:spcPct val="132000"/>
              </a:lnSpc>
              <a:spcAft>
                <a:spcPts val="10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disclosure no compliance officer</a:t>
            </a:r>
          </a:p>
          <a:p>
            <a:pPr algn="l">
              <a:lnSpc>
                <a:spcPct val="132000"/>
              </a:lnSpc>
              <a:spcAft>
                <a:spcPts val="10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would sign.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05840" y="2286000"/>
            <a:ext cx="101498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3600" b="1">
                <a:solidFill>
                  <a:srgbClr val="161B26"/>
                </a:solidFill>
                <a:latin typeface="Arial"/>
              </a:rPr>
              <a:t>Five fields go back to the browser.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3600" b="1">
                <a:solidFill>
                  <a:srgbClr val="161B26"/>
                </a:solidFill>
                <a:latin typeface="Arial"/>
              </a:rPr>
              <a:t>The draft is not one of them.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05840" y="4206240"/>
            <a:ext cx="101498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800" b="0">
                <a:solidFill>
                  <a:srgbClr val="5B6372"/>
                </a:solidFill>
                <a:latin typeface="Arial"/>
              </a:rPr>
              <a:t>The agent's assessment of a person is an internal record. The browser is not where it belongs.</a:t>
            </a:r>
          </a:p>
        </p:txBody>
      </p:sp>
      <p:sp>
        <p:nvSpPr>
          <p:cNvPr id="4" name="Rectangle 3"/>
          <p:cNvSpPr/>
          <p:nvPr/>
        </p:nvSpPr>
        <p:spPr>
          <a:xfrm>
            <a:off x="1005840" y="1920240"/>
            <a:ext cx="1371600" cy="7620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LU2 · Activity 2b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206240" y="6473952"/>
            <a:ext cx="3840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11535" y="6473952"/>
            <a:ext cx="777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26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1371600"/>
            <a:ext cx="54864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9600" b="1">
                <a:solidFill>
                  <a:srgbClr val="E3ECF9"/>
                </a:solidFill>
                <a:latin typeface="Arial"/>
              </a:rPr>
              <a:t>07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3200400"/>
            <a:ext cx="104241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800" b="1">
                <a:solidFill>
                  <a:srgbClr val="161B26"/>
                </a:solidFill>
                <a:latin typeface="Arial"/>
              </a:rPr>
              <a:t>Run 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4206240"/>
            <a:ext cx="104241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5B6372"/>
                </a:solidFill>
                <a:latin typeface="Arial"/>
              </a:rPr>
              <a:t>Eight test cases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2971800"/>
            <a:ext cx="1371600" cy="762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LU2 · Activity 2b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206240" y="6473952"/>
            <a:ext cx="3840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11535" y="6473952"/>
            <a:ext cx="777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27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881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SAMPLE-QUERIES.CSV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58952"/>
            <a:ext cx="108813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The test matrix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417320"/>
            <a:ext cx="1051560" cy="508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LU2 · Activity 2b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206240" y="6473952"/>
            <a:ext cx="3840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11535" y="6473952"/>
            <a:ext cx="777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28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719072"/>
            <a:ext cx="10881360" cy="457200"/>
          </a:xfrm>
          <a:prstGeom prst="roundRect">
            <a:avLst/>
          </a:prstGeom>
          <a:solidFill>
            <a:srgbClr val="E7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14400" y="1828800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150" b="1">
                <a:solidFill>
                  <a:srgbClr val="10B981"/>
                </a:solidFill>
                <a:latin typeface="Arial"/>
              </a:rPr>
              <a:t>TEST CASE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0" y="182880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150" b="1">
                <a:solidFill>
                  <a:srgbClr val="10B981"/>
                </a:solidFill>
                <a:latin typeface="Arial"/>
              </a:rPr>
              <a:t>INPUT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55279" y="1828800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150" b="1">
                <a:solidFill>
                  <a:srgbClr val="10B981"/>
                </a:solidFill>
                <a:latin typeface="Arial"/>
              </a:rPr>
              <a:t>EXPECTED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2249424"/>
            <a:ext cx="10881360" cy="420624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14400" y="2331720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50" b="1">
                <a:solidFill>
                  <a:srgbClr val="161B26"/>
                </a:solidFill>
                <a:latin typeface="Arial"/>
              </a:rPr>
              <a:t>TC1 · Calm volatility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0" y="233172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“dipped 6%, could someone explain?”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955279" y="2331720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50" b="1">
                <a:solidFill>
                  <a:srgbClr val="10B981"/>
                </a:solidFill>
                <a:latin typeface="Arial"/>
              </a:rPr>
              <a:t>no flags → Approve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2807208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50" b="1">
                <a:solidFill>
                  <a:srgbClr val="161B26"/>
                </a:solidFill>
                <a:latin typeface="Arial"/>
              </a:rPr>
              <a:t>TC2 · Asks what to do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14800" y="2807208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“Should I move everything to cash?”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955279" y="2807208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50" b="1">
                <a:solidFill>
                  <a:srgbClr val="10B981"/>
                </a:solidFill>
                <a:latin typeface="Arial"/>
              </a:rPr>
              <a:t>ADVICE_REQUESTED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" y="3200400"/>
            <a:ext cx="10881360" cy="420624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914400" y="3282696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50" b="1">
                <a:solidFill>
                  <a:srgbClr val="161B26"/>
                </a:solidFill>
                <a:latin typeface="Arial"/>
              </a:rPr>
              <a:t>TC3 · Wants a guarantee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114800" y="3282696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“promise I will not lose money”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955279" y="3282696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50" b="1">
                <a:solidFill>
                  <a:srgbClr val="10B981"/>
                </a:solidFill>
                <a:latin typeface="Arial"/>
              </a:rPr>
              <a:t>GUARANTEE_SOUGHT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" y="3758184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50" b="1">
                <a:solidFill>
                  <a:srgbClr val="161B26"/>
                </a:solidFill>
                <a:latin typeface="Arial"/>
              </a:rPr>
              <a:t>TC4 · Angry about fees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114800" y="3758184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“furious · unacceptable · evasive”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955279" y="3758184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50" b="1">
                <a:solidFill>
                  <a:srgbClr val="10B981"/>
                </a:solidFill>
                <a:latin typeface="Arial"/>
              </a:rPr>
              <a:t>COMPLAINT → Reject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40080" y="4151376"/>
            <a:ext cx="10881360" cy="420624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914400" y="4233672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50" b="1">
                <a:solidFill>
                  <a:srgbClr val="161B26"/>
                </a:solidFill>
                <a:latin typeface="Arial"/>
              </a:rPr>
              <a:t>TC5 · Wants to redeem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114800" y="4233672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“redeem my entire holding”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955279" y="4233672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50" b="1">
                <a:solidFill>
                  <a:srgbClr val="10B981"/>
                </a:solidFill>
                <a:latin typeface="Arial"/>
              </a:rPr>
              <a:t>WITHDRAWAL_INTENT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4400" y="4709160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50" b="1">
                <a:solidFill>
                  <a:srgbClr val="161B26"/>
                </a:solidFill>
                <a:latin typeface="Arial"/>
              </a:rPr>
              <a:t>TC6 · Distressed retiree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114800" y="470916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“I am 68, cannot afford to lose this”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955279" y="4709160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50" b="1">
                <a:solidFill>
                  <a:srgbClr val="10B981"/>
                </a:solidFill>
                <a:latin typeface="Arial"/>
              </a:rPr>
              <a:t>VULNERABLE → Reject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40080" y="5102352"/>
            <a:ext cx="10881360" cy="420624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TextBox 33"/>
          <p:cNvSpPr txBox="1"/>
          <p:nvPr/>
        </p:nvSpPr>
        <p:spPr>
          <a:xfrm>
            <a:off x="914400" y="5184648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50" b="1">
                <a:solidFill>
                  <a:srgbClr val="161B26"/>
                </a:solidFill>
                <a:latin typeface="Arial"/>
              </a:rPr>
              <a:t>TC7 · Lawyer and MAS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114800" y="5184648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“I have spoken to my lawyer”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955279" y="5184648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50" b="1">
                <a:solidFill>
                  <a:srgbClr val="10B981"/>
                </a:solidFill>
                <a:latin typeface="Arial"/>
              </a:rPr>
              <a:t>LEGAL → Reject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14400" y="5660136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50" b="1">
                <a:solidFill>
                  <a:srgbClr val="161B26"/>
                </a:solidFill>
                <a:latin typeface="Arial"/>
              </a:rPr>
              <a:t>TC8 · Factual NAV query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114800" y="5660136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“how is the NAV calculated?”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955279" y="5660136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50" b="1">
                <a:solidFill>
                  <a:srgbClr val="10B981"/>
                </a:solidFill>
                <a:latin typeface="Arial"/>
              </a:rPr>
              <a:t>no flags → Approve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40080" y="6089904"/>
            <a:ext cx="108813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1350" b="0">
                <a:solidFill>
                  <a:srgbClr val="5B6372"/>
                </a:solidFill>
                <a:latin typeface="Arial"/>
              </a:rPr>
              <a:t>Afterwards: Drafts has 8 rows, Approved_Replies has 5, Handover_Queue has 3.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881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WHERE THE LESSON LANDS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58952"/>
            <a:ext cx="108813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Read the drafts, not just the flags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417320"/>
            <a:ext cx="1051560" cy="508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LU2 · Activity 2b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206240" y="6473952"/>
            <a:ext cx="3840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11535" y="6473952"/>
            <a:ext cx="777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29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719072"/>
            <a:ext cx="5303520" cy="3717036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ectangle 8"/>
          <p:cNvSpPr/>
          <p:nvPr/>
        </p:nvSpPr>
        <p:spPr>
          <a:xfrm>
            <a:off x="640080" y="1719072"/>
            <a:ext cx="5303520" cy="635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1975104"/>
            <a:ext cx="4754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What a good TC2 draft does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542032"/>
            <a:ext cx="4754880" cy="27111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40000"/>
              </a:lnSpc>
              <a:spcAft>
                <a:spcPts val="300"/>
              </a:spcAft>
            </a:pPr>
            <a:r>
              <a:rPr sz="1500" b="0">
                <a:solidFill>
                  <a:srgbClr val="5B6372"/>
                </a:solidFill>
                <a:latin typeface="Arial"/>
              </a:rPr>
              <a:t>Names the emotion in the first sentence.</a:t>
            </a:r>
          </a:p>
          <a:p>
            <a:pPr algn="l">
              <a:lnSpc>
                <a:spcPct val="140000"/>
              </a:lnSpc>
              <a:spcAft>
                <a:spcPts val="300"/>
              </a:spcAft>
            </a:pPr>
            <a:r>
              <a:rPr sz="1500" b="0">
                <a:solidFill>
                  <a:srgbClr val="5B6372"/>
                </a:solidFill>
                <a:latin typeface="Arial"/>
              </a:rPr>
              <a:t/>
            </a:r>
          </a:p>
          <a:p>
            <a:pPr algn="l">
              <a:lnSpc>
                <a:spcPct val="140000"/>
              </a:lnSpc>
              <a:spcAft>
                <a:spcPts val="300"/>
              </a:spcAft>
            </a:pPr>
            <a:r>
              <a:rPr sz="1500" b="0">
                <a:solidFill>
                  <a:srgbClr val="5B6372"/>
                </a:solidFill>
                <a:latin typeface="Arial"/>
              </a:rPr>
              <a:t>Says plainly that the manager cannot give</a:t>
            </a:r>
          </a:p>
          <a:p>
            <a:pPr algn="l">
              <a:lnSpc>
                <a:spcPct val="140000"/>
              </a:lnSpc>
              <a:spcAft>
                <a:spcPts val="300"/>
              </a:spcAft>
            </a:pPr>
            <a:r>
              <a:rPr sz="1500" b="0">
                <a:solidFill>
                  <a:srgbClr val="5B6372"/>
                </a:solidFill>
                <a:latin typeface="Arial"/>
              </a:rPr>
              <a:t>a recommendation by email.</a:t>
            </a:r>
          </a:p>
          <a:p>
            <a:pPr algn="l">
              <a:lnSpc>
                <a:spcPct val="140000"/>
              </a:lnSpc>
              <a:spcAft>
                <a:spcPts val="300"/>
              </a:spcAft>
            </a:pPr>
            <a:r>
              <a:rPr sz="1500" b="0">
                <a:solidFill>
                  <a:srgbClr val="5B6372"/>
                </a:solidFill>
                <a:latin typeface="Arial"/>
              </a:rPr>
              <a:t/>
            </a:r>
          </a:p>
          <a:p>
            <a:pPr algn="l">
              <a:lnSpc>
                <a:spcPct val="140000"/>
              </a:lnSpc>
              <a:spcAft>
                <a:spcPts val="300"/>
              </a:spcAft>
            </a:pPr>
            <a:r>
              <a:rPr sz="1500" b="0">
                <a:solidFill>
                  <a:srgbClr val="5B6372"/>
                </a:solidFill>
                <a:latin typeface="Arial"/>
              </a:rPr>
              <a:t>Offers a call with a licensed person.</a:t>
            </a:r>
          </a:p>
          <a:p>
            <a:pPr algn="l">
              <a:lnSpc>
                <a:spcPct val="140000"/>
              </a:lnSpc>
              <a:spcAft>
                <a:spcPts val="300"/>
              </a:spcAft>
            </a:pPr>
            <a:r>
              <a:rPr sz="1500" b="0">
                <a:solidFill>
                  <a:srgbClr val="5B6372"/>
                </a:solidFill>
                <a:latin typeface="Arial"/>
              </a:rPr>
              <a:t/>
            </a:r>
          </a:p>
          <a:p>
            <a:pPr algn="l">
              <a:lnSpc>
                <a:spcPct val="140000"/>
              </a:lnSpc>
              <a:spcAft>
                <a:spcPts val="300"/>
              </a:spcAft>
            </a:pPr>
            <a:r>
              <a:rPr sz="1500" b="0">
                <a:solidFill>
                  <a:srgbClr val="5B6372"/>
                </a:solidFill>
                <a:latin typeface="Arial"/>
              </a:rPr>
              <a:t>Contains no figure the client did not</a:t>
            </a:r>
          </a:p>
          <a:p>
            <a:pPr algn="l">
              <a:lnSpc>
                <a:spcPct val="140000"/>
              </a:lnSpc>
              <a:spcAft>
                <a:spcPts val="300"/>
              </a:spcAft>
            </a:pPr>
            <a:r>
              <a:rPr sz="1500" b="0">
                <a:solidFill>
                  <a:srgbClr val="5B6372"/>
                </a:solidFill>
                <a:latin typeface="Arial"/>
              </a:rPr>
              <a:t>supply.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1719072"/>
            <a:ext cx="5303520" cy="3717036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ectangle 12"/>
          <p:cNvSpPr/>
          <p:nvPr/>
        </p:nvSpPr>
        <p:spPr>
          <a:xfrm>
            <a:off x="6217920" y="1719072"/>
            <a:ext cx="5303520" cy="635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92240" y="1975104"/>
            <a:ext cx="4754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10B981"/>
                </a:solidFill>
                <a:latin typeface="Arial"/>
              </a:rPr>
              <a:t>What a bad TC2 draft does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92240" y="2542032"/>
            <a:ext cx="4754880" cy="27111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40000"/>
              </a:lnSpc>
              <a:spcAft>
                <a:spcPts val="300"/>
              </a:spcAft>
            </a:pPr>
            <a:r>
              <a:rPr sz="1500" b="0">
                <a:solidFill>
                  <a:srgbClr val="5B6372"/>
                </a:solidFill>
                <a:latin typeface="Arial"/>
              </a:rPr>
              <a:t>“Markets typically recover over the</a:t>
            </a:r>
          </a:p>
          <a:p>
            <a:pPr algn="l">
              <a:lnSpc>
                <a:spcPct val="140000"/>
              </a:lnSpc>
              <a:spcAft>
                <a:spcPts val="300"/>
              </a:spcAft>
            </a:pPr>
            <a:r>
              <a:rPr sz="1500" b="0">
                <a:solidFill>
                  <a:srgbClr val="5B6372"/>
                </a:solidFill>
                <a:latin typeface="Arial"/>
              </a:rPr>
              <a:t>long term.”</a:t>
            </a:r>
          </a:p>
          <a:p>
            <a:pPr algn="l">
              <a:lnSpc>
                <a:spcPct val="140000"/>
              </a:lnSpc>
              <a:spcAft>
                <a:spcPts val="300"/>
              </a:spcAft>
            </a:pPr>
            <a:r>
              <a:rPr sz="1500" b="0">
                <a:solidFill>
                  <a:srgbClr val="5B6372"/>
                </a:solidFill>
                <a:latin typeface="Arial"/>
              </a:rPr>
              <a:t/>
            </a:r>
          </a:p>
          <a:p>
            <a:pPr algn="l">
              <a:lnSpc>
                <a:spcPct val="140000"/>
              </a:lnSpc>
              <a:spcAft>
                <a:spcPts val="300"/>
              </a:spcAft>
            </a:pPr>
            <a:r>
              <a:rPr sz="1500" b="0">
                <a:solidFill>
                  <a:srgbClr val="5B6372"/>
                </a:solidFill>
                <a:latin typeface="Arial"/>
              </a:rPr>
              <a:t>You have just watched a language model</a:t>
            </a:r>
          </a:p>
          <a:p>
            <a:pPr algn="l">
              <a:lnSpc>
                <a:spcPct val="140000"/>
              </a:lnSpc>
              <a:spcAft>
                <a:spcPts val="300"/>
              </a:spcAft>
            </a:pPr>
            <a:r>
              <a:rPr sz="1500" b="0">
                <a:solidFill>
                  <a:srgbClr val="5B6372"/>
                </a:solidFill>
                <a:latin typeface="Arial"/>
              </a:rPr>
              <a:t>commit a regulatory offence — in front</a:t>
            </a:r>
          </a:p>
          <a:p>
            <a:pPr algn="l">
              <a:lnSpc>
                <a:spcPct val="140000"/>
              </a:lnSpc>
              <a:spcAft>
                <a:spcPts val="300"/>
              </a:spcAft>
            </a:pPr>
            <a:r>
              <a:rPr sz="1500" b="0">
                <a:solidFill>
                  <a:srgbClr val="5B6372"/>
                </a:solidFill>
                <a:latin typeface="Arial"/>
              </a:rPr>
              <a:t>of the whole room.</a:t>
            </a:r>
          </a:p>
          <a:p>
            <a:pPr algn="l">
              <a:lnSpc>
                <a:spcPct val="140000"/>
              </a:lnSpc>
              <a:spcAft>
                <a:spcPts val="300"/>
              </a:spcAft>
            </a:pPr>
            <a:r>
              <a:rPr sz="1500" b="0">
                <a:solidFill>
                  <a:srgbClr val="5B6372"/>
                </a:solidFill>
                <a:latin typeface="Arial"/>
              </a:rPr>
              <a:t/>
            </a:r>
          </a:p>
          <a:p>
            <a:pPr algn="l">
              <a:lnSpc>
                <a:spcPct val="140000"/>
              </a:lnSpc>
              <a:spcAft>
                <a:spcPts val="300"/>
              </a:spcAft>
            </a:pPr>
            <a:r>
              <a:rPr sz="1500" b="0">
                <a:solidFill>
                  <a:srgbClr val="5B6372"/>
                </a:solidFill>
                <a:latin typeface="Arial"/>
              </a:rPr>
              <a:t>And the approval gate caught it.</a:t>
            </a:r>
          </a:p>
          <a:p>
            <a:pPr algn="l">
              <a:lnSpc>
                <a:spcPct val="140000"/>
              </a:lnSpc>
              <a:spcAft>
                <a:spcPts val="300"/>
              </a:spcAft>
            </a:pPr>
            <a:r>
              <a:rPr sz="1500" b="0">
                <a:solidFill>
                  <a:srgbClr val="5B6372"/>
                </a:solidFill>
                <a:latin typeface="Arial"/>
              </a:rPr>
              <a:t>That is what it is for.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5618988"/>
            <a:ext cx="10881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This is the most valuable failure in the lab. Do not fix it quietly.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881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THE AUDIT TRAIL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58952"/>
            <a:ext cx="108813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Neither table has an empty accountability column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417320"/>
            <a:ext cx="1051560" cy="508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LU2 · Activity 2b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206240" y="6473952"/>
            <a:ext cx="3840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11535" y="6473952"/>
            <a:ext cx="777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30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719072"/>
            <a:ext cx="10881360" cy="841248"/>
          </a:xfrm>
          <a:prstGeom prst="roundRect">
            <a:avLst/>
          </a:prstGeom>
          <a:solidFill>
            <a:srgbClr val="FDF6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ectangle 8"/>
          <p:cNvSpPr/>
          <p:nvPr/>
        </p:nvSpPr>
        <p:spPr>
          <a:xfrm>
            <a:off x="640080" y="1719072"/>
            <a:ext cx="63500" cy="841248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0120" y="1810512"/>
            <a:ext cx="10241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50" b="1">
                <a:solidFill>
                  <a:srgbClr val="D97706"/>
                </a:solidFill>
                <a:latin typeface="Arial"/>
              </a:rPr>
              <a:t>Approved_Replies names who authorised the email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2176272"/>
            <a:ext cx="10241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That person is answerable for what reached the client.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2679192"/>
            <a:ext cx="10881360" cy="841248"/>
          </a:xfrm>
          <a:prstGeom prst="roundRect">
            <a:avLst/>
          </a:prstGeom>
          <a:solidFill>
            <a:srgbClr val="FDF6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ectangle 12"/>
          <p:cNvSpPr/>
          <p:nvPr/>
        </p:nvSpPr>
        <p:spPr>
          <a:xfrm>
            <a:off x="640080" y="2679192"/>
            <a:ext cx="63500" cy="841248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0120" y="2770632"/>
            <a:ext cx="10241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50" b="1">
                <a:solidFill>
                  <a:srgbClr val="D97706"/>
                </a:solidFill>
                <a:latin typeface="Arial"/>
              </a:rPr>
              <a:t>Handover_Queue names who owes the client a call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" y="3136392"/>
            <a:ext cx="10241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A decline is a reassignment, not a deletion — the client is still waiting.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3639312"/>
            <a:ext cx="10881360" cy="841248"/>
          </a:xfrm>
          <a:prstGeom prst="roundRect">
            <a:avLst/>
          </a:prstGeom>
          <a:solidFill>
            <a:srgbClr val="FDF6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ectangle 16"/>
          <p:cNvSpPr/>
          <p:nvPr/>
        </p:nvSpPr>
        <p:spPr>
          <a:xfrm>
            <a:off x="640080" y="3639312"/>
            <a:ext cx="63500" cy="841248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60120" y="3730752"/>
            <a:ext cx="10241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50" b="1">
                <a:solidFill>
                  <a:srgbClr val="D97706"/>
                </a:solidFill>
                <a:latin typeface="Arial"/>
              </a:rPr>
              <a:t>The regulator's question is not ‘what did the machine decide’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0120" y="4096512"/>
            <a:ext cx="10241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It is ‘which licensed person is answerable for it’.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0080" y="4599432"/>
            <a:ext cx="10881360" cy="841248"/>
          </a:xfrm>
          <a:prstGeom prst="roundRect">
            <a:avLst/>
          </a:prstGeom>
          <a:solidFill>
            <a:srgbClr val="FDF6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ectangle 20"/>
          <p:cNvSpPr/>
          <p:nvPr/>
        </p:nvSpPr>
        <p:spPr>
          <a:xfrm>
            <a:off x="640080" y="4599432"/>
            <a:ext cx="63500" cy="841248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60120" y="4690872"/>
            <a:ext cx="10241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50" b="1">
                <a:solidFill>
                  <a:srgbClr val="D97706"/>
                </a:solidFill>
                <a:latin typeface="Arial"/>
              </a:rPr>
              <a:t>Drafts records what the machine proposed, including rejected drafts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60120" y="5056632"/>
            <a:ext cx="10241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Asset or liability in litigation? Argue both sides in the debrief.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1371600"/>
            <a:ext cx="54864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9600" b="1">
                <a:solidFill>
                  <a:srgbClr val="E3ECF9"/>
                </a:solidFill>
                <a:latin typeface="Arial"/>
              </a:rPr>
              <a:t>08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3200400"/>
            <a:ext cx="104241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800" b="1">
                <a:solidFill>
                  <a:srgbClr val="161B26"/>
                </a:solidFill>
                <a:latin typeface="Arial"/>
              </a:rPr>
              <a:t>What Goes Wrong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4206240"/>
            <a:ext cx="104241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5B6372"/>
                </a:solidFill>
                <a:latin typeface="Arial"/>
              </a:rPr>
              <a:t>Field-tested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2971800"/>
            <a:ext cx="1371600" cy="762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LU2 · Activity 2b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206240" y="6473952"/>
            <a:ext cx="3840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11535" y="6473952"/>
            <a:ext cx="777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31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881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DESIGNER QUIRKS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58952"/>
            <a:ext cx="108813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The four that cost the most time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417320"/>
            <a:ext cx="1051560" cy="508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LU2 · Activity 2b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206240" y="6473952"/>
            <a:ext cx="3840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11535" y="6473952"/>
            <a:ext cx="777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32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719072"/>
            <a:ext cx="10881360" cy="841248"/>
          </a:xfrm>
          <a:prstGeom prst="roundRect">
            <a:avLst/>
          </a:prstGeom>
          <a:solidFill>
            <a:srgbClr val="FDF6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ectangle 8"/>
          <p:cNvSpPr/>
          <p:nvPr/>
        </p:nvSpPr>
        <p:spPr>
          <a:xfrm>
            <a:off x="640080" y="1719072"/>
            <a:ext cx="63500" cy="841248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0120" y="1810512"/>
            <a:ext cx="10241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50" b="1">
                <a:solidFill>
                  <a:srgbClr val="D97706"/>
                </a:solidFill>
                <a:latin typeface="Arial"/>
              </a:rPr>
              <a:t>There is no workflow() function in this designer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2176272"/>
            <a:ext cx="10241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Unknown function: workflow. Use guid() for the ticket ID instead.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2679192"/>
            <a:ext cx="10881360" cy="841248"/>
          </a:xfrm>
          <a:prstGeom prst="roundRect">
            <a:avLst/>
          </a:prstGeom>
          <a:solidFill>
            <a:srgbClr val="FDF6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ectangle 12"/>
          <p:cNvSpPr/>
          <p:nvPr/>
        </p:nvSpPr>
        <p:spPr>
          <a:xfrm>
            <a:off x="640080" y="2679192"/>
            <a:ext cx="63500" cy="841248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0120" y="2770632"/>
            <a:ext cx="10241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50" b="1">
                <a:solidFill>
                  <a:srgbClr val="D97706"/>
                </a:solidFill>
                <a:latin typeface="Arial"/>
              </a:rPr>
              <a:t>The Instructions box escapes underscores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" y="3136392"/>
            <a:ext cx="10241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A pasted reference becomes Normalise\_Enquiry, resolves to EMPTY, and the agent says ‘no enquiry was included’. Always use the ⚡ picker.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3639312"/>
            <a:ext cx="10881360" cy="841248"/>
          </a:xfrm>
          <a:prstGeom prst="roundRect">
            <a:avLst/>
          </a:prstGeom>
          <a:solidFill>
            <a:srgbClr val="FDF6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ectangle 16"/>
          <p:cNvSpPr/>
          <p:nvPr/>
        </p:nvSpPr>
        <p:spPr>
          <a:xfrm>
            <a:off x="640080" y="3639312"/>
            <a:ext cx="63500" cy="841248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60120" y="3730752"/>
            <a:ext cx="10241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50" b="1">
                <a:solidFill>
                  <a:srgbClr val="D97706"/>
                </a:solidFill>
                <a:latin typeface="Arial"/>
              </a:rPr>
              <a:t>The Agent node has no separate user-message field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0120" y="4096512"/>
            <a:ext cx="10241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The enquiry is appended to the END of the Instructions.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0080" y="4599432"/>
            <a:ext cx="10881360" cy="841248"/>
          </a:xfrm>
          <a:prstGeom prst="roundRect">
            <a:avLst/>
          </a:prstGeom>
          <a:solidFill>
            <a:srgbClr val="FDF6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ectangle 20"/>
          <p:cNvSpPr/>
          <p:nvPr/>
        </p:nvSpPr>
        <p:spPr>
          <a:xfrm>
            <a:off x="640080" y="4599432"/>
            <a:ext cx="63500" cy="841248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60120" y="4690872"/>
            <a:ext cx="10241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50" b="1">
                <a:solidFill>
                  <a:srgbClr val="D97706"/>
                </a:solidFill>
                <a:latin typeface="Arial"/>
              </a:rPr>
              <a:t>assignedTo must be a tenant user, picked from the dropdown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60120" y="5056632"/>
            <a:ext cx="10241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External addresses and tabbed-away text both fail at runtime with BadRequest.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881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CONFIGURATION TRAPS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58952"/>
            <a:ext cx="108813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Two that change behaviour silently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417320"/>
            <a:ext cx="1051560" cy="508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LU2 · Activity 2b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206240" y="6473952"/>
            <a:ext cx="3840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11535" y="6473952"/>
            <a:ext cx="777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33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719072"/>
            <a:ext cx="10881360" cy="841248"/>
          </a:xfrm>
          <a:prstGeom prst="roundRect">
            <a:avLst/>
          </a:prstGeom>
          <a:solidFill>
            <a:srgbClr val="FDF6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ectangle 8"/>
          <p:cNvSpPr/>
          <p:nvPr/>
        </p:nvSpPr>
        <p:spPr>
          <a:xfrm>
            <a:off x="640080" y="1719072"/>
            <a:ext cx="63500" cy="841248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0120" y="1810512"/>
            <a:ext cx="10241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50" b="1">
                <a:solidFill>
                  <a:srgbClr val="D97706"/>
                </a:solidFill>
                <a:latin typeface="Arial"/>
              </a:rPr>
              <a:t>escalated must be UNQUOTED in the Response body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2176272"/>
            <a:ext cx="10241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Quoted, it returns the string “false” — and Boolean(“false”) is true. Every calm client is told a manager is calling.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2679192"/>
            <a:ext cx="10881360" cy="841248"/>
          </a:xfrm>
          <a:prstGeom prst="roundRect">
            <a:avLst/>
          </a:prstGeom>
          <a:solidFill>
            <a:srgbClr val="FDF6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ectangle 12"/>
          <p:cNvSpPr/>
          <p:nvPr/>
        </p:nvSpPr>
        <p:spPr>
          <a:xfrm>
            <a:off x="640080" y="2679192"/>
            <a:ext cx="63500" cy="841248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0120" y="2770632"/>
            <a:ext cx="10241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50" b="1">
                <a:solidFill>
                  <a:srgbClr val="D97706"/>
                </a:solidFill>
                <a:latin typeface="Arial"/>
              </a:rPr>
              <a:t>Compliance Flags must be wrapped in join()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" y="3136392"/>
            <a:ext cx="10241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It is an array. Without join() Excel writes System.Object[] and the audit column is useless.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3639312"/>
            <a:ext cx="10881360" cy="841248"/>
          </a:xfrm>
          <a:prstGeom prst="roundRect">
            <a:avLst/>
          </a:prstGeom>
          <a:solidFill>
            <a:srgbClr val="FDF6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ectangle 16"/>
          <p:cNvSpPr/>
          <p:nvPr/>
        </p:nvSpPr>
        <p:spPr>
          <a:xfrm>
            <a:off x="640080" y="3639312"/>
            <a:ext cx="63500" cy="841248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60120" y="3730752"/>
            <a:ext cx="10241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50" b="1">
                <a:solidFill>
                  <a:srgbClr val="D97706"/>
                </a:solidFill>
                <a:latin typeface="Arial"/>
              </a:rPr>
              <a:t>Web search must be OFF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0120" y="4096512"/>
            <a:ext cx="10241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On, the agent can pull live market commentary into a client letter. One toggle undoes the entire non-advisory rule.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0080" y="4599432"/>
            <a:ext cx="10881360" cy="841248"/>
          </a:xfrm>
          <a:prstGeom prst="roundRect">
            <a:avLst/>
          </a:prstGeom>
          <a:solidFill>
            <a:srgbClr val="FDF6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ectangle 20"/>
          <p:cNvSpPr/>
          <p:nvPr/>
        </p:nvSpPr>
        <p:spPr>
          <a:xfrm>
            <a:off x="640080" y="4599432"/>
            <a:ext cx="63500" cy="841248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60120" y="4690872"/>
            <a:ext cx="10241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50" b="1">
                <a:solidFill>
                  <a:srgbClr val="D97706"/>
                </a:solidFill>
                <a:latin typeface="Arial"/>
              </a:rPr>
              <a:t>If the approval never arrives, switch Channel to Teams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60120" y="5056632"/>
            <a:ext cx="10241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The Outlook route silently fails to deliver on some tenants while the run still shows Running.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1371600"/>
            <a:ext cx="54864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9600" b="1">
                <a:solidFill>
                  <a:srgbClr val="E3ECF9"/>
                </a:solidFill>
                <a:latin typeface="Arial"/>
              </a:rPr>
              <a:t>09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3200400"/>
            <a:ext cx="104241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800" b="1">
                <a:solidFill>
                  <a:srgbClr val="161B26"/>
                </a:solidFill>
                <a:latin typeface="Arial"/>
              </a:rPr>
              <a:t>Debrief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4206240"/>
            <a:ext cx="104241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5B6372"/>
                </a:solidFill>
                <a:latin typeface="Arial"/>
              </a:rPr>
              <a:t>The questions worth arguing about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2971800"/>
            <a:ext cx="1371600" cy="762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LU2 · Activity 2b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206240" y="6473952"/>
            <a:ext cx="3840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11535" y="6473952"/>
            <a:ext cx="777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34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881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DISCUSSION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58952"/>
            <a:ext cx="108813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Ask these before anyone packs up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417320"/>
            <a:ext cx="1051560" cy="508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LU2 · Activity 2b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206240" y="6473952"/>
            <a:ext cx="3840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11535" y="6473952"/>
            <a:ext cx="777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35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719072"/>
            <a:ext cx="10881360" cy="749808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ectangle 8"/>
          <p:cNvSpPr/>
          <p:nvPr/>
        </p:nvSpPr>
        <p:spPr>
          <a:xfrm>
            <a:off x="640080" y="1719072"/>
            <a:ext cx="63500" cy="74980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96112" y="1901952"/>
            <a:ext cx="384048" cy="38404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81328" y="1837944"/>
            <a:ext cx="9784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TC6 is the hard one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81328" y="2139696"/>
            <a:ext cx="97840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Should a distressed 68-year-old's enquiry have reached the AI at all?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2615184"/>
            <a:ext cx="10881360" cy="749808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Rectangle 13"/>
          <p:cNvSpPr/>
          <p:nvPr/>
        </p:nvSpPr>
        <p:spPr>
          <a:xfrm>
            <a:off x="640080" y="2615184"/>
            <a:ext cx="63500" cy="74980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896112" y="2798064"/>
            <a:ext cx="384048" cy="38404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81328" y="2734056"/>
            <a:ext cx="9784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The approval button is a rubber stamp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81328" y="3035808"/>
            <a:ext cx="97840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After forty of these, what makes careful reading the path of least resistance?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3511296"/>
            <a:ext cx="10881360" cy="749808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Rectangle 18"/>
          <p:cNvSpPr/>
          <p:nvPr/>
        </p:nvSpPr>
        <p:spPr>
          <a:xfrm>
            <a:off x="640080" y="3511296"/>
            <a:ext cx="63500" cy="74980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896112" y="3694176"/>
            <a:ext cx="384048" cy="38404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481328" y="3630168"/>
            <a:ext cx="9784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emotionalTone is a judgement about a person, in a spreadsheet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81328" y="3931920"/>
            <a:ext cx="97840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Under the PDPA, is that personal data? Who can see it? How long is it kept?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40080" y="4407408"/>
            <a:ext cx="10881360" cy="749808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Rectangle 23"/>
          <p:cNvSpPr/>
          <p:nvPr/>
        </p:nvSpPr>
        <p:spPr>
          <a:xfrm>
            <a:off x="640080" y="4407408"/>
            <a:ext cx="63500" cy="74980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896112" y="4590288"/>
            <a:ext cx="384048" cy="38404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481328" y="4526280"/>
            <a:ext cx="9784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Three controls, ranked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481328" y="4828032"/>
            <a:ext cx="97840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Which is probabilistic, which procedural, and which structural?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40080" y="5303520"/>
            <a:ext cx="10881360" cy="749808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ectangle 28"/>
          <p:cNvSpPr/>
          <p:nvPr/>
        </p:nvSpPr>
        <p:spPr>
          <a:xfrm>
            <a:off x="640080" y="5303520"/>
            <a:ext cx="63500" cy="74980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896112" y="5486400"/>
            <a:ext cx="384048" cy="38404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481328" y="5422392"/>
            <a:ext cx="9784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Approved By is self-declared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481328" y="5724144"/>
            <a:ext cx="97840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Is that an audit trail? What would close the gap?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40080" y="6199632"/>
            <a:ext cx="10881360" cy="749808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Rectangle 33"/>
          <p:cNvSpPr/>
          <p:nvPr/>
        </p:nvSpPr>
        <p:spPr>
          <a:xfrm>
            <a:off x="640080" y="6199632"/>
            <a:ext cx="63500" cy="74980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896112" y="6382512"/>
            <a:ext cx="384048" cy="38404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481328" y="6318504"/>
            <a:ext cx="9784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Compare with LU1 and Activity 2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481328" y="6620256"/>
            <a:ext cx="97840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Same platform, same shape, no gate. What is the actual variable?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40080" y="5806440"/>
            <a:ext cx="10881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It is not the technology, and it is not the chance of the model being wrong.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05840" y="2286000"/>
            <a:ext cx="101498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3600" b="1">
                <a:solidFill>
                  <a:srgbClr val="161B26"/>
                </a:solidFill>
                <a:latin typeface="Arial"/>
              </a:rPr>
              <a:t>The variable is not how likely the model is to be wrong.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3600" b="1">
                <a:solidFill>
                  <a:srgbClr val="161B26"/>
                </a:solidFill>
                <a:latin typeface="Arial"/>
              </a:rPr>
              <a:t>It is what a wrong sentence costs — and to whom.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05840" y="4206240"/>
            <a:ext cx="101498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800" b="0">
                <a:solidFill>
                  <a:srgbClr val="5B6372"/>
                </a:solidFill>
                <a:latin typeface="Arial"/>
              </a:rPr>
              <a:t>Generalities to the public can go unsupervised. This client's money cannot.</a:t>
            </a:r>
          </a:p>
        </p:txBody>
      </p:sp>
      <p:sp>
        <p:nvSpPr>
          <p:cNvPr id="4" name="Rectangle 3"/>
          <p:cNvSpPr/>
          <p:nvPr/>
        </p:nvSpPr>
        <p:spPr>
          <a:xfrm>
            <a:off x="1005840" y="1920240"/>
            <a:ext cx="1371600" cy="7620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LU2 · Activity 2b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206240" y="6473952"/>
            <a:ext cx="3840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11535" y="6473952"/>
            <a:ext cx="777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36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1371600"/>
            <a:ext cx="54864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9600" b="1">
                <a:solidFill>
                  <a:srgbClr val="E3ECF9"/>
                </a:solidFill>
                <a:latin typeface="Arial"/>
              </a:rPr>
              <a:t>10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3200400"/>
            <a:ext cx="104241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800" b="1">
                <a:solidFill>
                  <a:srgbClr val="161B26"/>
                </a:solidFill>
                <a:latin typeface="Arial"/>
              </a:rPr>
              <a:t>Going Further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4206240"/>
            <a:ext cx="104241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5B6372"/>
                </a:solidFill>
                <a:latin typeface="Arial"/>
              </a:rPr>
              <a:t>Where this goes next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2971800"/>
            <a:ext cx="1371600" cy="762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LU2 · Activity 2b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206240" y="6473952"/>
            <a:ext cx="3840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11535" y="6473952"/>
            <a:ext cx="777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37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881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EXTENSIONS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58952"/>
            <a:ext cx="108813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If you had another day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417320"/>
            <a:ext cx="1051560" cy="508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LU2 · Activity 2b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206240" y="6473952"/>
            <a:ext cx="3840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11535" y="6473952"/>
            <a:ext cx="777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38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719072"/>
            <a:ext cx="3429000" cy="3200400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ectangle 8"/>
          <p:cNvSpPr/>
          <p:nvPr/>
        </p:nvSpPr>
        <p:spPr>
          <a:xfrm>
            <a:off x="640080" y="1719072"/>
            <a:ext cx="3429000" cy="635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77824" y="1993392"/>
            <a:ext cx="2971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>
                <a:solidFill>
                  <a:srgbClr val="1F6FEB"/>
                </a:solidFill>
                <a:latin typeface="Arial"/>
              </a:rPr>
              <a:t>Make rejection informative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77824" y="2587752"/>
            <a:ext cx="297180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50" b="0">
                <a:solidFill>
                  <a:srgbClr val="5B6372"/>
                </a:solidFill>
                <a:latin typeface="Arial"/>
              </a:rPr>
              <a:t>Add a required Comments input on reject. Right now Handover_Queue records that a draft was refused but never why — every Status cell says the same sentence.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25112" y="1719072"/>
            <a:ext cx="3429000" cy="3200400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ectangle 12"/>
          <p:cNvSpPr/>
          <p:nvPr/>
        </p:nvSpPr>
        <p:spPr>
          <a:xfrm>
            <a:off x="4325112" y="1719072"/>
            <a:ext cx="3429000" cy="635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62856" y="1993392"/>
            <a:ext cx="2971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>
                <a:solidFill>
                  <a:srgbClr val="10B981"/>
                </a:solidFill>
                <a:latin typeface="Arial"/>
              </a:rPr>
              <a:t>Route before the model sees it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62856" y="2587752"/>
            <a:ext cx="297180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50" b="0">
                <a:solidFill>
                  <a:srgbClr val="5B6372"/>
                </a:solidFill>
                <a:latin typeface="Arial"/>
              </a:rPr>
              <a:t>A keyword pre-filter that sends distress straight to a human, with no draft at all. What does it cost, and what does it buy?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10144" y="1719072"/>
            <a:ext cx="3429000" cy="3200400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ectangle 16"/>
          <p:cNvSpPr/>
          <p:nvPr/>
        </p:nvSpPr>
        <p:spPr>
          <a:xfrm>
            <a:off x="8010144" y="1719072"/>
            <a:ext cx="3429000" cy="6350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47888" y="1993392"/>
            <a:ext cx="2971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>
                <a:solidFill>
                  <a:srgbClr val="7C3AED"/>
                </a:solidFill>
                <a:latin typeface="Arial"/>
              </a:rPr>
              <a:t>Close the identity gap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47888" y="2587752"/>
            <a:ext cx="297180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50" b="0">
                <a:solidFill>
                  <a:srgbClr val="5B6372"/>
                </a:solidFill>
                <a:latin typeface="Arial"/>
              </a:rPr>
              <a:t>The node will not tell you who approved. What would you have to build to capture it — and is an audit trail you must remember to maintain an audit trail at all?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