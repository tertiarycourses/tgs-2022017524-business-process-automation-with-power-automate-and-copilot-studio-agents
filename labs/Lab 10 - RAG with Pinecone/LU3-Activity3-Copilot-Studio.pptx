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LEARNING UNIT 3 · ACTIVITY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Customer Care FAQ Chatbot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The agent answers only from the brochures — or admits it does not know.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572000"/>
            <a:ext cx="31089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78992" y="47000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49743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Copilot Studio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4572000"/>
            <a:ext cx="31089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07992" y="47000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VECTOR 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49743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Pinecone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4572000"/>
            <a:ext cx="31089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936992" y="47000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49743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90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Building AI Agents for Work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362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Tertiary Infotech Academy Pte Ltd · UEN 201200696W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Why RAG?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The problem that retrieval solves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Customer Care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342900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40 times a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Cook &amp; Bake Academy runs 20 courses across two campuses. Two people answer the same questions: how much, how long, where, what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5112" y="1719072"/>
            <a:ext cx="342900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The answer already exists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It is in the course brochures. Nobody is short of information — somebody has to find the right file, read it, and retype a sentence.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10144" y="1719072"/>
            <a:ext cx="3429000" cy="63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7C3AED"/>
                </a:solidFill>
                <a:latin typeface="Arial"/>
              </a:rPr>
              <a:t>Memory drifts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When the team is busy they answer from memory. Last month someone quoted a fee that was six months out of date.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480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language model could answer all of this — if it had ever seen the brochures.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NAIVE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Not Just Paste the Brochures In?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5303520" cy="35661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530352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75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Paste all 20 into the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Works today, with 20 short brochures.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Then the academy adds 40 more courses.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prompt exceeds what the model can read.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It starts ignoring the middle of long input.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Every question costs the price of 60 brochures.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19072"/>
            <a:ext cx="5303520" cy="35661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719072"/>
            <a:ext cx="530352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75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Retrieve only what is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42032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Search for the 3 brochures that resemble the question.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Send only those.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Cost stays flat as the catalogue grows.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model reads 3 documents carefully instead of 60 badly.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This is RAG.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6811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RAG is not a smarter model. It is a smaller, better-chosen prompt.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2860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Retrieval Augmented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062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Retrieve the few documents that answer the question, then let the model generate an answer from those and nothing else.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92024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CLEARING THREE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RAG Is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342900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Not fine-tuning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No training. No model weights change. You are choosing what goes in the prompt, not rebuilding the model.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5112" y="1719072"/>
            <a:ext cx="342900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Not a database 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There is no exact match. You ask for the nearest meanings, and you always get results — even for a question nothing answers.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10144" y="1719072"/>
            <a:ext cx="3429000" cy="63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7C3AED"/>
                </a:solidFill>
                <a:latin typeface="Arial"/>
              </a:rPr>
              <a:t>Not a guarantee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Retrieval supplies facts. Only the instruction stops the model adding its own. Both halves are required.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480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If you remember one thing: RAG changes the prompt, not the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Tokens, embeddings, dimensions, similarity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CONCEPT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Step 0 — Tokenization: How a Model Reads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96138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model never sees letters — it sees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39696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Text is split into pieces of roughly ¾ of a word. "sourdough" might be two tokens: "sour" + "dough".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34056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2734056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297637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5292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Everything is counted in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154680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Context limits, pricing and speed are all measured in tokens — not words, not characters.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40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3749040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39913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86791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rule of thumb for English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169664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token ≈ 4 characters ≈ ¾ of a word. One 2,700-character brochure is roughly 700 tokens.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64024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0080" y="4764024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50063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88289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 this matters for 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184648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20 brochures ≈ 14,000 tokens in every prompt. Retrieve 3 instead and you send ~2,100 — the same answer for a seventh of the input.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Tokenization is why "just paste everything in" has a ceiling, and why retrieval saves money.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CONCEPT 1, MADE CONCRETE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Tokenization, On One Real Sentence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5303520" cy="38267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530352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75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The sentence a customer typed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4754880" cy="2820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“How much is the sourdough course?”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The model does not see 7 words. It sees 8 tokens: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How | much | is | the | sour | dough | course | ?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“sourdough” is rare enough that the tokenizer splits it into two familiar pieces.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Punctuation counts — the “?” is a token of its 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19072"/>
            <a:ext cx="5303520" cy="38267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719072"/>
            <a:ext cx="530352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75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Why you should 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42032"/>
            <a:ext cx="4754880" cy="2820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Tokens are the unit of BILLING. Not words, not characters.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Tokens are the unit of the CONTEXT LIMIT. “Too long” is measured here.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Rare words cost more. A brochure full of “viennoiserie” and “sashimi” splits into more pieces than one about “bread”.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English ≈ 4 characters per token. A 2,700-character brochure is ~700 tokens; twenty of them ~14,000 — in every prompt, if you paste them all 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2871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Count the tokens in your own text at platform.openai.com/tokenizer — the split is often surprising.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CONCEPT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Step 1 — Embedding: Turning Text Into Coordinates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96138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Text in, numbers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39696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 embedding model converts a piece of text into a fixed-length list of numbers — a vector.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34056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2734056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297637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5292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Position encodes meaning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154680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model places text so that similar meanings land near each other. This is learned, not programmed.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40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3749040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39913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86791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Same model, every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169664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Brochures and questions must be embedded by the SAME model, or the coordinates are not comparable.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64024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0080" y="4764024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50063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88289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 this lab it is invisible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184648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Pinecone's hosted model (llama-text-embed-v2) embeds server-side. You send text, not numbers.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 embedding is a position in meaning-space. Nothing more mysterious than that.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CONCEPT 2, MADE CONCRETE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Embedding, On Four Real Phrases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96138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"How much is the sourdough course?"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39696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→  [0.021, −0.184, 0.077, … ]   1024 numbers. Lands in the bread region of meaning-space.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34056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2734056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297637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5292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"What does BAK-101 cost?"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154680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→  [0.019, −0.176, 0.081, … ]   Almost the SAME numbers — different words, same meaning.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40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3749040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39913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86791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"How much is the sushi course?"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169664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→  [−0.203, 0.115, −0.042, … ]  Very different numbers. One word changed; the meaning moved.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64024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0080" y="4764024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50063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88289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"sourdough" (the word alone)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184648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→  near the first two, but not identical. A word and a question about that word are related, not the same.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Rows 1 and 2 share almost no letters and nearly all of their meaning. That gap is exactly what keyword search cannot cross.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CONCEPT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Semantic Search: Near Means Similar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856232"/>
            <a:ext cx="5852160" cy="3566160"/>
          </a:xfrm>
          <a:prstGeom prst="rect">
            <a:avLst/>
          </a:prstGeom>
          <a:solidFill>
            <a:srgbClr val="FAFCFF"/>
          </a:solidFill>
          <a:ln w="1587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2450592" y="2783433"/>
            <a:ext cx="155448" cy="155448"/>
          </a:xfrm>
          <a:prstGeom prst="ellipse">
            <a:avLst/>
          </a:prstGeom>
          <a:solidFill>
            <a:srgbClr val="1F6FE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266456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1F6FEB"/>
                </a:solidFill>
                <a:latin typeface="Arial"/>
              </a:rPr>
              <a:t>sourdough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1F6FEB"/>
                </a:solidFill>
                <a:latin typeface="Arial"/>
              </a:rPr>
              <a:t>brochure</a:t>
            </a:r>
          </a:p>
        </p:txBody>
      </p:sp>
      <p:sp>
        <p:nvSpPr>
          <p:cNvPr id="11" name="Oval 10"/>
          <p:cNvSpPr/>
          <p:nvPr/>
        </p:nvSpPr>
        <p:spPr>
          <a:xfrm>
            <a:off x="3035808" y="3140049"/>
            <a:ext cx="155448" cy="155448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6976" y="3021177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"how much is the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sourdough course?"</a:t>
            </a:r>
          </a:p>
        </p:txBody>
      </p:sp>
      <p:sp>
        <p:nvSpPr>
          <p:cNvPr id="13" name="Oval 12"/>
          <p:cNvSpPr/>
          <p:nvPr/>
        </p:nvSpPr>
        <p:spPr>
          <a:xfrm>
            <a:off x="2801721" y="2355494"/>
            <a:ext cx="155448" cy="155448"/>
          </a:xfrm>
          <a:prstGeom prst="ellipse">
            <a:avLst/>
          </a:prstGeom>
          <a:solidFill>
            <a:srgbClr val="1F6FE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2889" y="223662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1F6FEB"/>
                </a:solidFill>
                <a:latin typeface="Arial"/>
              </a:rPr>
              <a:t>bread making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1F6FEB"/>
                </a:solidFill>
                <a:latin typeface="Arial"/>
              </a:rPr>
              <a:t>brochure</a:t>
            </a:r>
          </a:p>
        </p:txBody>
      </p:sp>
      <p:sp>
        <p:nvSpPr>
          <p:cNvPr id="15" name="Oval 14"/>
          <p:cNvSpPr/>
          <p:nvPr/>
        </p:nvSpPr>
        <p:spPr>
          <a:xfrm>
            <a:off x="5727801" y="4495190"/>
            <a:ext cx="155448" cy="15544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28969" y="437631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10B981"/>
                </a:solidFill>
                <a:latin typeface="Arial"/>
              </a:rPr>
              <a:t>sushi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10B981"/>
                </a:solidFill>
                <a:latin typeface="Arial"/>
              </a:rPr>
              <a:t>brochure</a:t>
            </a:r>
          </a:p>
        </p:txBody>
      </p:sp>
      <p:sp>
        <p:nvSpPr>
          <p:cNvPr id="17" name="Oval 16"/>
          <p:cNvSpPr/>
          <p:nvPr/>
        </p:nvSpPr>
        <p:spPr>
          <a:xfrm>
            <a:off x="5259628" y="4923129"/>
            <a:ext cx="155448" cy="15544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60796" y="4804257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10B981"/>
                </a:solidFill>
                <a:latin typeface="Arial"/>
              </a:rPr>
              <a:t>sashimi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10B981"/>
                </a:solidFill>
                <a:latin typeface="Arial"/>
              </a:rPr>
              <a:t>brochure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9194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Distance here = difference in meaning, not in spelling.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1856232"/>
            <a:ext cx="3931920" cy="35661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863840" y="211226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What the picture shows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587752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question lands next to the sourdough brochure and far from the sushi one — even though the question and the brochure share almost no words.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keyword search would need the exact word. A vector search needs only the meaning.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Real embeddings do this in 1024 dimensions, not 2. You cannot draw that, but the idea is identical: near = similar.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50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This is why a customer who misspells “viennoiserie” still finds BAK-102.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CONCEPT 3,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Keyword Search vs Vector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5303520" cy="30175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5303520" cy="635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DC2626"/>
                </a:solidFill>
                <a:latin typeface="Arial"/>
              </a:rPr>
              <a:t>Keyword search — matches characters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2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“viennoiserie” misspelt  →  zero results.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“french pastry classes”  →  no match, because the brochure never uses the word “classes”.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Finds documents that contain your letters.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Fails silently on synonyms, plurals and typos.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19072"/>
            <a:ext cx="5303520" cy="30175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719072"/>
            <a:ext cx="530352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5681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Vector search — matches meaning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96312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“vienoiserie” (misspelt)  →  still finds BAK-102.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“french pastry classes”  →  finds BAK-102 French Pastry &amp; Viennoiserie.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Finds documents that mean what you asked.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Always returns something — even for a question nothing answers.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92624"/>
            <a:ext cx="10881360" cy="713232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5175504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That last line cuts both ways: vector search never says “no results”. Guarding against a confident answer built on a poor match is the instruction's job.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CONCEPT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Step 2 — Dimension: How Many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96138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dimension is the length of the vector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39696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llama-text-embed-v2 produces 1024 numbers per piece of text. Gemini's gemini-embedding-001 produces 3072.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34056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2734056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297637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5292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More dimensions ≠ better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154680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is a different model with a different trade-off between nuance, storage and speed. Not a quality dial.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40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3749040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39913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86791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index is fixed at one dimension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169664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 index built for 1024 accepts 1024-length vectors and nothing else.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64024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0080" y="4764024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50063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88289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rule you cannot break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184648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ingestion model == query model == the index's dimension. All three, or the search is meaningless.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Break rule 4 and you get either a loud error or — far worse — quietly poor results.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Two Ways Dimension Bites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5303520" cy="35661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530352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75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Loud failure — you will notice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1536-dim query against a 3072-dim index.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Pinecone rejects it with an error naming both numbers.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Annoying, but it stops you immediately.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Fixed in five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19072"/>
            <a:ext cx="5303520" cy="35661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719072"/>
            <a:ext cx="530352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75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Silent failure — you will not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42032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Both models give 3072 numbers — but they are different models.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index accepts every vector. No error, ever.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Retrieval just returns slightly wrong brochures, forever.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This is the one that reaches production.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6811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Gemini also needs taskType RETRIEVAL_DOCUMENT when ingesting and RETRIEVAL_QUERY when searching. Both return 3072 numbers, so getting it wrong throws no error at all.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SETTING THAT DECIDES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Step 3 — Chunking: The Biggest Lever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96138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chunk is the unit that gets embedded and returned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39696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Search does not return “a document”. It returns whichever chunk matched.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34056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2734056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297637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5292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Chunk too small: 1,000 characters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154680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2,700-character brochure becomes 3 fragments. The fragment saying “sourdough” is not the fragment saying “S$680”.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40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3749040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39913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86791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result is an honest, useless answer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169664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Retrieval finds the sourdough fragment. The agent never sees the fee. It tells the customer it does not know the price. No error is raised.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64024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0080" y="4764024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50063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88289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This lab: one brochure = one chunk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184648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2,700 characters, well within the model's 2,048-token limit. One search returns the code, the fee, the duration and the campus together.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rule: a chunk is the smallest piece of text that still answers a question on its own. For a brochure that is the whole brochure. For a 400-page manual it is not.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PUTTING THE FOUR CONCEPTS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RAG Pipeline,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8883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68883" y="2313432"/>
            <a:ext cx="1965960" cy="6350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187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20 brochures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187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SharePoint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source of truth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53131" y="2921508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90875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890875" y="2313432"/>
            <a:ext cx="1965960" cy="63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7179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Embed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7179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each brochure →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1024 numbers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75123" y="2921508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12867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112867" y="2313432"/>
            <a:ext cx="196596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9171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9171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Pinecone index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20 vectors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97115" y="2921508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34859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334859" y="2313432"/>
            <a:ext cx="196596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81163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1163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question → vector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→ 3 nearest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319107" y="2921508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56851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9556851" y="2313432"/>
            <a:ext cx="1965960" cy="635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03155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97706"/>
                </a:solidFill>
                <a:latin typeface="Arial"/>
              </a:rPr>
              <a:t>Generate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3155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agent answers from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those 3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8795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first three run ONCE (ingestion). The last two run on EVERY question (retrieval). That split is why RAG is cheap to operate and slow to set up.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Five nodes, one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Are Building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pic>
        <p:nvPicPr>
          <p:cNvPr id="8" name="Picture 7" descr="lu3-01-hero.png"/>
          <p:cNvPicPr>
            <a:picLocks noChangeAspect="1"/>
          </p:cNvPicPr>
          <p:nvPr/>
        </p:nvPicPr>
        <p:blipFill>
          <a:blip r:embed="rId2"/>
          <a:srcRect b="10000"/>
          <a:stretch>
            <a:fillRect/>
          </a:stretch>
        </p:blipFill>
        <p:spPr>
          <a:xfrm>
            <a:off x="2600807" y="1719072"/>
            <a:ext cx="6990080" cy="3931920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40080" y="5815584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academy's website. The 💬 button opens a chat widget that posts to your flow.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COPILOT STUDIO · LAB 3 -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One Flow, Five Nodes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8883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68883" y="2313432"/>
            <a:ext cx="1965960" cy="6350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187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187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HTTP request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question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53131" y="2921508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90875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890875" y="2313432"/>
            <a:ext cx="196596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7179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HTTP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7179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POST to Pinecone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retrieval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75123" y="2921508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12867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112867" y="2313432"/>
            <a:ext cx="1965960" cy="63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9171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Compose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9171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question +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brochures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97115" y="2921508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34859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334859" y="2313432"/>
            <a:ext cx="196596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81163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1163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writes the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answer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319107" y="2921508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56851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9556851" y="2313432"/>
            <a:ext cx="1965960" cy="635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03155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97706"/>
                </a:solidFill>
                <a:latin typeface="Arial"/>
              </a:rPr>
              <a:t>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3155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{ reply }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back to browser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8795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Plus Task 1, which ran once before any of this existed: create the index, upload the 20 brochures as text. Notice there is no embeddings node — Pinecone hosts the model.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RUN ONCE, BEFORE ANY FLOW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Task 1 — Ingest: Create the 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96138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POST /indexes/create-for-model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39696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One call creates a serverless index with an INTEGRATED embedding model — Pinecone hosts the model, so you upload words, not numbers.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34056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2734056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297637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5292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model: llama-text-embed-v2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154680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1024 dimensions, 2048-token limit. You did not pick the dimension — it is a property of the model.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40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3749040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39913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86791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field_map: { text: chunk_text 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169664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embedding configuration. It says: embed whatever arrives in the field called chunk_text.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64024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0080" y="4764024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50063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88289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Get that name wrong and nothing errors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184648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Records are stored with no vector at all. Retrieval returns nothing, forever, and no log says why.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python3 ingest_brochures.py  —  the script is 150 commented lines and is the only place in this lab where the embedding decisions are visible.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 TEXT, NOT AS VECTORS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Task 1 — Ingest: Upload the Brochures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96138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POST /records/namespaces/__default__/upsert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39696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Content-Type: application/x-ndjson — one JSON object per line, no wrapping array, no commas between lines.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34056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2734056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297637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5292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One record per brochure, whole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154680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{"_id":"BAK-101", "chunk_text":"…2,740 characters…", "course_code":"BAK-101"}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40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3749040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39913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86791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chunk_text is embedded — everything else is metadata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169664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source and course_code come back with each hit and can be filtered on. They are never embedded.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64024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0080" y="4764024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50063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88289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Verify before you build the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184648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20 vectors in the index, and “How much is the sourdough course?” returns BAK-101 at 0.53. If that fails, no flow will save you.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~685 tokens per brochure — comfortably inside the model's 2,048-token limit, so nothing is truncated and nothing is split.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BIG DIFFERENCE FROM N8N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Did the Embedding Model Go?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5303520" cy="33055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5303520" cy="635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DC2626"/>
                </a:solidFill>
                <a:latin typeface="Arial"/>
              </a:rPr>
              <a:t>n8n Activity 3 — you attach it TWICE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2"/>
            <a:ext cx="4754880" cy="234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Vector Store node  +  Embeddings node.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Retrieval tool  +  Embeddings node.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You pick the model: gemini-embedding-001, 3072 dims.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taskType: passage to write, query to read.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Get either wrong → no error, quietly worse.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19072"/>
            <a:ext cx="5303520" cy="33055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719072"/>
            <a:ext cx="530352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5681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This lab — it lives inside the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96312"/>
            <a:ext cx="4754880" cy="234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The flow has ONE HTTP node. No embeddings node anywhere.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You send the sentence. Pinecone embeds it server-side.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The model was fixed when the index was created.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passage-vs-query is handled by the index.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Nothing to mismatch — there is nothing to choose.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80660"/>
            <a:ext cx="10881360" cy="713232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54635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You bought: a whole class of silent failure, removed. You paid: you cannot change the model, the dimension, or use a domain-specific embedding without rebuilding the index.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IT LOOKS LIKE WHEN FINISHED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Flow on the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pic>
        <p:nvPicPr>
          <p:cNvPr id="8" name="Picture 7" descr="lu3-04-flow-canvas.png"/>
          <p:cNvPicPr>
            <a:picLocks noChangeAspect="1"/>
          </p:cNvPicPr>
          <p:nvPr/>
        </p:nvPicPr>
        <p:blipFill>
          <a:blip r:embed="rId2"/>
          <a:srcRect l="4000" t="45000" r="2000" b="28000"/>
          <a:stretch>
            <a:fillRect/>
          </a:stretch>
        </p:blipFill>
        <p:spPr>
          <a:xfrm>
            <a:off x="655167" y="1719072"/>
            <a:ext cx="10881360" cy="1953435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40080" y="3837099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Published, five nodes, no “Needs setup” badges.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WHERE THE TRUTH LIVES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Task 0 — The Brochures in SharePoint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pic>
        <p:nvPicPr>
          <p:cNvPr id="8" name="Picture 7" descr="lu3-06-sharepoint.png"/>
          <p:cNvPicPr>
            <a:picLocks noChangeAspect="1"/>
          </p:cNvPicPr>
          <p:nvPr/>
        </p:nvPicPr>
        <p:blipFill>
          <a:blip r:embed="rId2"/>
          <a:srcRect t="6000" b="5000"/>
          <a:stretch>
            <a:fillRect/>
          </a:stretch>
        </p:blipFill>
        <p:spPr>
          <a:xfrm>
            <a:off x="640080" y="1719072"/>
            <a:ext cx="7068620" cy="3931920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8183879" y="1719072"/>
            <a:ext cx="3337560" cy="39319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39911" y="1956816"/>
            <a:ext cx="2825496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Create a NEW site — do not reuse another lab's.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search and knowledge connectors index at folder level. Point a course assistant at a library that also holds banking policy and it will answer a sourdough question out of a KYC document.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Confirm the library shows 20 items. Nineteen means one upload silently failed — and that course becomes an “I don't have that” you will blame on the agent.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FIRST HALF OF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Task 2 — The HTTP Node: Retrieval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pic>
        <p:nvPicPr>
          <p:cNvPr id="8" name="Picture 7" descr="lu3-05-http-node.png"/>
          <p:cNvPicPr>
            <a:picLocks noChangeAspect="1"/>
          </p:cNvPicPr>
          <p:nvPr/>
        </p:nvPicPr>
        <p:blipFill>
          <a:blip r:embed="rId2"/>
          <a:srcRect l="70000" t="14000" r="1000" b="2000"/>
          <a:stretch>
            <a:fillRect/>
          </a:stretch>
        </p:blipFill>
        <p:spPr>
          <a:xfrm>
            <a:off x="640080" y="1719072"/>
            <a:ext cx="2171917" cy="3931920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8183879" y="1719072"/>
            <a:ext cx="3337560" cy="39319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39911" y="1956816"/>
            <a:ext cx="2825496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Method is a SEPARATE dropdown — do not type POST into the URI.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__default__ is literal. Pinecone's default namespace is "" in its stats but __default__ in the URL path.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Three headers. Paste the KEY, not the words PINECONE_API_KEY — Power Automate cannot read a .env file.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key goes in Headers, never in Authentication.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Body sends the question as plain text. Pinecone embeds it server-side.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BUILDING THE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Task 3 — The Compose Node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96138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Agent node has NO input 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39696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Only Instructions. So the per-question data has to be assembled somewhere else, and referenced from there.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34056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2734056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297637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5292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concat() glues three things together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154680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customer's question, a label, and the retrieved brochures.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40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3749040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39913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86791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string() does the escaping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169664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HTTP response is JSON full of quotes and newlines. string() turns it into safe text. Without it the prompt breaks.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64024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0080" y="4764024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50063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88289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It is also your debugger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184648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Compose's output appears in the run history — so you can see exactly what the agent was given, which is how you diagnose an empty answer.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concat('Customer question: ', triggerBody()?['message'], '\n\nCourse brochures:\n', string(body('HTTP')))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SECOND HALF OF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Task 4 — The Agent Node: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96138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Instructions carry the rules, not the 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39696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Answer only from the brochures. Never invent a fee, date, duration, code, instructor or discount. Say so when you do not know.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34056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2734056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297637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5292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Then insert the Compose reference with the ⚡ picker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154680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Put the cursor at the end of the instructions and pick Compose → Outputs from the dynamic content tree. A blue chip appears.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40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3749040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39913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86791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NEVER paste an expression into Instructions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169664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is a rich-text editor. Pasted references are stored as plain text or have their underscores escaped.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64024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0080" y="4764024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50063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88289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broken reference resolves to EMPTY, not an error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184648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node stays green, the run succeeds, and the agent silently receives nothing at all.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Symptom: the agent replies “the course brochures weren't included in your message”. It is telling you exactly what is wrong, in the one place nobody looks.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2860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A reference to nothing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resolves to empty — not an error.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062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Green node. Successful run. No answer. This one failure mode costs more debugging time than every other mistake in this lab combined.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920240"/>
            <a:ext cx="1371600" cy="76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GETTING THE ANSWER BACK TO THE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Task 5 — The Response Node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96138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Status code 200, body { "reply": …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39696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chat widget reads data.reply. A different shape shows [object Object] in the bubble.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34056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2734056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297637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5292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field is called Agent Response — not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154680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the ⚡ picker. Typing body/text yields an empty string with no error, and the flow looks broken for reasons unrelated to RAG.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40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3749040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39913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86791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Then PUBLISH — not just Save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169664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HTTP endpoint serves the PUBLISHED version. Check ⋯ → Version history: LIVE and CURRENT DRAFT must match.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64024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0080" y="4764024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50063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88289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Copy the HTTP POST URL from the trigger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184648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ends with sig=… — if that is missing, the URL was truncated on copy and every call will fail.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The Same Bot, Without the Vector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Lab 3a — a built-in knowledge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2860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In Copilot Studio,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RAG is not a node.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062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No ingestion workflow. No embedding model. No vector store. No chunk size. No top_k. Attach a SharePoint folder to the Agent node and retrieval simply happens.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920240"/>
            <a:ext cx="1371600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ENTIRE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3a — Three Nodes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0875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2890875" y="2313432"/>
            <a:ext cx="1965960" cy="6350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7179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7179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question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arrives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75123" y="2921508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12867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112867" y="2313432"/>
            <a:ext cx="196596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9171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9171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searches Knowledge,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then answers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97115" y="2921508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34859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334859" y="2313432"/>
            <a:ext cx="1965960" cy="635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81163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97706"/>
                </a:solidFill>
                <a:latin typeface="Arial"/>
              </a:rPr>
              <a:t>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1163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{ reply }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back to browser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8795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Lab 3b needed five nodes, a Python ingestion script, a Pinecone index and an API key. Everything in the middle collapsed into one setting on the Agent node.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WHERE THE WORK WENT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Replaced the Ingestion Half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96138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Upload the 20 brochures to SharePoint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39696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folder called CourseBrochures. That is the ingestion step — there is no script and nothing to run.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34056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2734056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297637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5292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Point the Agent's Knowledge at that folder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154680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Knowledge → + → SharePoint → paste the folder URL. There is no file upload in the picker; SharePoint is the only route 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40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3749040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39913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86791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Wait for SharePoint to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169664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Minutes, not seconds, and there is no progress bar. A source that is still indexing returns nothing, and the agent looks broken when it is merely empty.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64024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0080" y="4764024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50063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88289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Change the instruction wording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184648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Lab 3b says "the brochures provided below". Nothing is provided below here — the agent must SEARCH. This one line is the whole difference, and getting it wrong costs an afternoon.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Point at the FOLDER, not the library root — a shared root will answer a sourdough question out of a banking policy.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2860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An empty answer means the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instruction premise is wrong.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062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Lab 3a built by copying Lab 3b inherits "answer using only the brochures provided below" — with nothing below it. The agent is told its only source is empty, so it returns nothing at all. Not even a refusal. The run is green and takes 25 seconds.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920240"/>
            <a:ext cx="1371600" cy="76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 3A, IN THE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Same Question. Same Answer. No Vector Store.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pic>
        <p:nvPicPr>
          <p:cNvPr id="8" name="Picture 7" descr="lu3-02-chat-ans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19072"/>
            <a:ext cx="6291072" cy="3931920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8183879" y="1719072"/>
            <a:ext cx="3337560" cy="39319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39911" y="1956816"/>
            <a:ext cx="2825496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customer asks the same TC1 question and gets the same grounded answer — BAK-101, SGD $680, 4 weeks, the early-bird discount.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Behind this reply there is no Pinecone index, no ingestion script, no API key and no embedding model. Just a SharePoint folder attached to the Agent node.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Nothing about the page changed. Nothing about the agent's rules changed. You replaced the entire retrieval half and the chatbot did not notice — which is the debrief question worth asking.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DECISION THIS LAB EXISTS TO INFORM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Built-in Knowledge Base vs External Vector Store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5303520" cy="36758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5303520" cy="635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5681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DC2626"/>
                </a:solidFill>
                <a:latin typeface="Arial"/>
              </a:rPr>
              <a:t>Built-in knowledge base  (Lab 3a)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2"/>
            <a:ext cx="4754880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+  Three nodes. No ingestion, no API key, no index.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+  Nothing to mismatch — no dimension, no second model.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+  Re-crawls on its own when a document changes.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+  Permissions follow SharePoint.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−  No chunk size, no top_k, no model, no metric.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−  Citation markers leak into the reply.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−  Indexing you cannot observe or trigger.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19072"/>
            <a:ext cx="5303520" cy="36758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719072"/>
            <a:ext cx="530352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5681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External vector store  (Lab 3b)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96312"/>
            <a:ext cx="4754880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+  You own all four levers.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+  Portable — the same index serves n8n or a script.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+  Retrieval is inspectable in the run history.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+  Scales past a document library.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−  Five nodes, a script, an API key, an index.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−  Four new failures: dimension, credential, namespace, name.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−  A changed document needs a RE-INGEST.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650992"/>
            <a:ext cx="10881360" cy="713232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583387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Choose by asking who maintains it. Levers you never pull are pure cost; levers you need and do not have are a rebuild.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NOT A TIE — IT DEPENDS ON 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When Each One Is The Right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5303520" cy="38267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530352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75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Reach for the built-in knowledge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4754880" cy="2820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The documents already live in SharePoint, and someone already maintains them.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The corpus is small — tens to low hundreds of documents.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Nobody on the team wants to own a database.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Document permissions matter and must be inherited.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You need it working this afternoon.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19072"/>
            <a:ext cx="5303520" cy="38267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719072"/>
            <a:ext cx="530352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75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Reach for an external vector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42032"/>
            <a:ext cx="4754880" cy="2820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Retrieval quality is the product, and you will need to tune it.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The corpus is large, growing, or not in Microsoft 365 at all.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The same knowledge must serve more than one application.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You need to see exactly what was retrieved for a given answer.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Audit rules demand a reproducible pipeline.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2871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honest default for a 20-brochure FAQ is the built-in one. Lab 3b exists so you know what you gave up.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FOUR HIDDEN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the Convenience Actually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96138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Chunking — the biggest lever, now invisible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39696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Lab 3b keeps each brochure whole, so one hit returns the code, fee, duration and campus together. Lab 3a chunks however it likes, and you cannot see or change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34056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2734056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297637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5292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top_k — how many documents reach the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154680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Lab 3b sets 3. Lab 3a decides for you. When TC6 answers about macarons and goes quiet about cookies, retrieval returned one document — and there is no setting to raise.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40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3749040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39913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86791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embedding model and its dimension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169664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Lab 3b: llama-text-embed-v2, 1024, printed by the ingestion script. Lab 3a: unknown, unstated, unchangeable.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64024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0080" y="4764024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50063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88289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What you can do when it answers badly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184648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Lab 3b gives you four levers. Lab 3a gives you the prompt. That is the entire difference, and it only shows up on the day it retrieves the wrong brochure.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Neither is wrong. But you cannot make this trade knowingly unless you have built both — which is why this lab has two halves.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Why the browser blocks an answer the flow already 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RULE THAT SURPRISES EVERYONE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CORS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96138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webpage may not read a response from another origin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39696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Origin = scheme + host + port. A page on localhost:8000 calling *.powerplatform.com is cross-origin, and the browser polices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34056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2734056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297637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5292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SERVER decides, the BROWSER enforces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154680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server must send Access-Control-Allow-Origin. If it does not, the browser discards a response it already received.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40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3749040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39913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86791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Only browsers care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169664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curl, Postman and your flow's own HTTP node ignore CORS entirely. That is why a curl test can pass while the web page fails.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64024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0080" y="4764024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50063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88289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tell-tale pair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184648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"Failed to fetch" in the page + a GREEN run in Activity. The request arrived, the flow worked, the answer was blocked on the way back.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CORS protects the USER from a malicious page reading their data elsewhere — it is not about protecting your flow.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THE BROWSER DOES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Preflight — The Request Before The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79879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779879" y="2313432"/>
            <a:ext cx="1965960" cy="6350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6183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OPTIONS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6183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browser asks: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may I POST here?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764127" y="2921508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01871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001871" y="2313432"/>
            <a:ext cx="196596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8175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204 + headers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8175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server replies: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allow-origin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6119" y="2921508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23863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23863" y="2313432"/>
            <a:ext cx="1965960" cy="63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0167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only now does the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real request go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208111" y="2921508"/>
            <a:ext cx="219456" cy="201168"/>
          </a:xfrm>
          <a:prstGeom prst="rightArrow">
            <a:avLst/>
          </a:prstGeom>
          <a:solidFill>
            <a:srgbClr val="B6C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45855" y="2313432"/>
            <a:ext cx="1965960" cy="1417320"/>
          </a:xfrm>
          <a:prstGeom prst="roundRect">
            <a:avLst/>
          </a:prstGeom>
          <a:solidFill>
            <a:srgbClr val="F5F8FC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445855" y="2313432"/>
            <a:ext cx="1965960" cy="635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2159" y="2551176"/>
            <a:ext cx="1673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97706"/>
                </a:solidFill>
                <a:latin typeface="Arial"/>
              </a:rPr>
              <a:t>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2159" y="3118104"/>
            <a:ext cx="1673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read only if the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headers allowed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18795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POST with Content-Type: application/json always triggers preflight. If OPTIONS fails, your POST never happens at all.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VERIFIED AGAINST A LIVE TENANT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CORS In This Lab — Measured, Not Assumed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5303520" cy="35661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530352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75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The old advice was wrong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For years the guidance was: “Power Automate sends no CORS header — serve the page from SharePoint.”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Tested with curl —  OPTIONS &lt;flow url&gt;,  Origin: null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→  204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→  access-control-allow-origin: *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→  access-control-allow-headers: content-type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And Origin: null IS what file:// sends.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19072"/>
            <a:ext cx="5303520" cy="35661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719072"/>
            <a:ext cx="530352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75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So what you can actually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42032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Double-click index.html. It works.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No local web server. No SharePoint hosting. No proxy. No browser flags.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Never disable web security to make a lab work — it is global, and here there was nothing to work around.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6811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Classic Power Automate (*.logic.azure.com) may still differ — check the host, then test.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2860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“Failed to fetch” plus a green run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is a diagnosis, not a mystery.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062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The request arrived and the flow ran. Only the reply was blocked. Before blaming CORS, check the two cheaper causes: the URL lost its sig= on copy, or the flow was saved but never Published.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920240"/>
            <a:ext cx="1371600" cy="76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Try to make it lie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It Works — A Grounded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pic>
        <p:nvPicPr>
          <p:cNvPr id="8" name="Picture 7" descr="lu3-02-chat-answer.png"/>
          <p:cNvPicPr>
            <a:picLocks noChangeAspect="1"/>
          </p:cNvPicPr>
          <p:nvPr/>
        </p:nvPicPr>
        <p:blipFill>
          <a:blip r:embed="rId2"/>
          <a:srcRect l="50000" t="18000" r="2000" b="4000"/>
          <a:stretch>
            <a:fillRect/>
          </a:stretch>
        </p:blipFill>
        <p:spPr>
          <a:xfrm>
            <a:off x="640080" y="1719072"/>
            <a:ext cx="3871428" cy="3931920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8183879" y="1719072"/>
            <a:ext cx="3337560" cy="39319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39911" y="1956816"/>
            <a:ext cx="2825496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Course code BAK-101. Fee SGD $680. Duration 4 weeks. Intakes Jan, Apr, Jul, Oct. The 10% early-bird discount. The enrolment phone and email.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one of those facts is in the brochure. None came from the model's own training.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Round trip: about 15 seconds. Set expectations in class — this is not a database lookup.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SAMPLE-QUESTIONS.CSV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Ten Test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457200"/>
          </a:xfrm>
          <a:prstGeom prst="roundRect">
            <a:avLst/>
          </a:prstGeom>
          <a:solidFill>
            <a:srgbClr val="E7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8288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828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A GOOD ANSWER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12848"/>
            <a:ext cx="10881360" cy="365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2677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TC1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26771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How much is the sourdough course?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2677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BAK-101 + exact fee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6380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TC2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638044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How long is the French Pastry course?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63804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BAK-102 + duration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53512"/>
            <a:ext cx="10881360" cy="365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" y="30083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TC3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00837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Where are your campuses?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00837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Both, with addresses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3787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TC4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37870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Cooking courses for beginners?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3787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Two or three, not twenty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694176"/>
            <a:ext cx="10881360" cy="365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4400" y="3749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TC5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7490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is CUL-203 about?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7490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Sushi &amp; Sashimi + curriculum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1193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TC6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11937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Cheaper — macarons or cookies?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1193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Both fees + which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434840"/>
            <a:ext cx="10881360" cy="365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14400" y="44897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TC7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489704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Vietnamese pho course?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48970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DC2626"/>
                </a:solidFill>
                <a:latin typeface="Arial"/>
              </a:rPr>
              <a:t>WE DON'T RUN THAT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8600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TC8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486003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Who teaches the macaron class?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486003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DC2626"/>
                </a:solidFill>
                <a:latin typeface="Arial"/>
              </a:rPr>
              <a:t>NOT IN OUR INFORMATION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175504"/>
            <a:ext cx="10881360" cy="365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14400" y="52303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TC9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523036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40% alumni discount on sushi?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52303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DC2626"/>
                </a:solidFill>
                <a:latin typeface="Arial"/>
              </a:rPr>
              <a:t>DOES NOT CONFIRM 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6007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D97706"/>
                </a:solidFill>
                <a:latin typeface="Arial"/>
              </a:rPr>
              <a:t>TC10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56007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Recommend a restaurant?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56007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Declines, steers back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971032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The first six prove retrieval works. The last four are the ones that matter.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SLIDE THAT JUSTIFIES THE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TC7 — The Agent Refuses to Invent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pic>
        <p:nvPicPr>
          <p:cNvPr id="8" name="Picture 7" descr="lu3-03-refusal.png"/>
          <p:cNvPicPr>
            <a:picLocks noChangeAspect="1"/>
          </p:cNvPicPr>
          <p:nvPr/>
        </p:nvPicPr>
        <p:blipFill>
          <a:blip r:embed="rId2"/>
          <a:srcRect l="50000" t="16000" r="2000" b="4000"/>
          <a:stretch>
            <a:fillRect/>
          </a:stretch>
        </p:blipFill>
        <p:spPr>
          <a:xfrm>
            <a:off x="640080" y="1719072"/>
            <a:ext cx="3774643" cy="3931920"/>
          </a:xfrm>
          <a:prstGeom prst="rect">
            <a:avLst/>
          </a:prstGeom>
          <a:ln w="12700">
            <a:solidFill>
              <a:srgbClr val="D5DDE8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8183879" y="1719072"/>
            <a:ext cx="3337560" cy="393192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39911" y="1956816"/>
            <a:ext cx="2825496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Asked for a course the academy does not run.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It says so plainly — then offers CUL-202 Thai Street Food and CUL-208 Vegetarian &amp; Vegan, with their real fees.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 ungrounded model would have invented a pho course, a fee and a schedule. Fluently. And the customer would have quoted it back to you.</a:t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1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Retrieval alone would not have produced this. The instruction “if we do not run a course, say so plainly” is what turns a weak match into an honest refusal.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ADVERSARIAL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Three Probes, and Why They Are Different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342900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TC7 — a thing that does not exist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Invites the model to invent a course. Easy to resist, because nothing in the brochures resembles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5112" y="1719072"/>
            <a:ext cx="342900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TC8 — a fact in no brochure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Instructors are not in the course information. The model must distinguish “not retrieved” from “does not exist”.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10144" y="1719072"/>
            <a:ext cx="3429000" cy="63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7C3AED"/>
                </a:solidFill>
                <a:latin typeface="Arial"/>
              </a:rPr>
              <a:t>TC9 — a false premise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The nastiest. The question ASSUMES a 40% discount exists. A model that wants to be helpful confirms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480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Any confident answer to these is a failure, however fluent. If yours invents an instructor, do not add instructors to the brochures — fix the instruction, then ask what else it might invent.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WHY RETRIEVAL ALONE IS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Grounding: The Four Lines That Do the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5303520" cy="35661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530352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75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What retrieval gives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three most similar brochures.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That is all. It is a search engine, not a conscience.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It always returns something — even when nothing fits.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weak match still looks like a match.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19072"/>
            <a:ext cx="5303520" cy="35661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719072"/>
            <a:ext cx="530352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75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What the instruction must add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42032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Answer ONLY from the brochures below.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If they do not answer it, say “I don't have that”.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Never invent a fee, date, duration, code, instructor or discount.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If we do not run a course, say so, then list the closest.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6811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Retrieval supplies the facts. The instruction forbids everything else. Ship one without the other and you have a confident liar or a useless one.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3ECF9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What you built, and what it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PRICE OF CONVENIENCE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the Platform Chose For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96138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37944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Embedding model — llama-text-embed-v2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139696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 never picked one. Change it and every stored vector becomes meaningless until you re-ingest.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34056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2734056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2976372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5292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Dimension — 1024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154680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Fixed when the index was created. You cannot change it; you create a new index.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40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3749040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3991356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86791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Chunking — one brochure, one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169664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single most consequential setting in the system, decided at upload time, invisible afterwards.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64024"/>
            <a:ext cx="10881360" cy="868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0080" y="4764024"/>
            <a:ext cx="635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500634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4882896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Retrieved count — top_k: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184648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one knob you did turn. Set it to 1 and comparisons fail; set it to 20 and you are back to pasting the catalogue.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This is a genuine feature and a genuine cost: you cannot tune what you cannot see.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Five Questions for the Room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881360" cy="457200"/>
          </a:xfrm>
          <a:prstGeom prst="roundRect">
            <a:avLst/>
          </a:prstGeom>
          <a:solidFill>
            <a:srgbClr val="E7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8288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828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Arial"/>
              </a:rPr>
              <a:t>A GOOD ANSWER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12848"/>
            <a:ext cx="10881360" cy="365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2677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26771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bot said “I don't have that” for TC8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2677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Good answer or bad?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6380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638044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top_k is 3 — try 1, then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63804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Which failure is worse?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53512"/>
            <a:ext cx="10881360" cy="365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" y="30083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00837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Change a fee and re-ingest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00837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Who owns accuracy now?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3787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37870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LU1 matched an NRIC exactly; this matches meaning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3787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When do you choose which?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694176"/>
            <a:ext cx="10881360" cy="3657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4400" y="3749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7490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You never chose an embedding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7490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When does that stop being OK?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119372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Question 3 is the one that changes how a team organises itself: the person who maintains the brochures now owns what the chatbot says.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HARD-WON, IN THIS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Three Failures Worth Remembering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51560" cy="50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3429000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A reference that resolves to empty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Pasted into the rich-text Instructions box. Green node, successful run, no answer. Insert with the ⚡ picker, never paste.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5112" y="1719072"/>
            <a:ext cx="342900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The wrong output field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Agent Response, not text. Guessing gives you an empty string and no error to explain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719072"/>
            <a:ext cx="3429000" cy="3200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10144" y="1719072"/>
            <a:ext cx="3429000" cy="63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933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7C3AED"/>
                </a:solidFill>
                <a:latin typeface="Arial"/>
              </a:rPr>
              <a:t>The key that was a variable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587752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B6372"/>
                </a:solidFill>
                <a:latin typeface="Arial"/>
              </a:rPr>
              <a:t>PINECONE_API_KEY pasted as the header VALUE. Power Automate cannot read a .env file. Unauthorized.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4807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All three fail quietly. None of them is about RAG — and together they cost more time than the retrieval, the embedding and the grounding combined.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2860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RAG changes the prompt,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not the model.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2062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Retrieve the few documents that answer the question. Instruct the model to use nothing else. Then spend your testing time trying to make it lie.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920240"/>
            <a:ext cx="1371600" cy="76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LU3 · Activity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6473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